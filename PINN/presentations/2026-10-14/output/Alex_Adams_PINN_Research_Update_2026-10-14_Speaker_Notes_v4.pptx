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2.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3.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6.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7.xml" ContentType="application/vnd.openxmlformats-officedocument.drawingml.chart+xml"/>
  <Override PartName="/ppt/slides/charts/chart8.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fe4e4b0f8d64c82" /><Relationship Type="http://schemas.openxmlformats.org/officeDocument/2006/relationships/extended-properties" Target="/docProps/app.xml" Id="R3a15f210ec0f4662" /><Relationship Type="http://schemas.openxmlformats.org/officeDocument/2006/relationships/officeDocument" Target="/ppt/presentation.xml" Id="Re804dfd243a840af" /></Relationships>
</file>

<file path=ppt/presentation.xml><?xml version="1.0" encoding="utf-8"?>
<p:presentation xmlns:p="http://schemas.openxmlformats.org/presentationml/2006/main">
  <p:sldMasterIdLst>
    <p:sldMasterId xmlns:r="http://schemas.openxmlformats.org/officeDocument/2006/relationships" id="2147483648" r:id="Rbb3655de8cd64bb5"/>
  </p:sldMasterIdLst>
  <p:notesMasterIdLst>
    <p:notesMasterId xmlns:r="http://schemas.openxmlformats.org/officeDocument/2006/relationships" r:id="R3b997b14f61a469f"/>
  </p:notesMasterIdLst>
  <p:sldIdLst>
    <p:sldId xmlns:r="http://schemas.openxmlformats.org/officeDocument/2006/relationships" id="256" r:id="Rd29bfa7427ef4dc1"/>
    <p:sldId xmlns:r="http://schemas.openxmlformats.org/officeDocument/2006/relationships" id="257" r:id="R6289146274904d11"/>
    <p:sldId xmlns:r="http://schemas.openxmlformats.org/officeDocument/2006/relationships" id="258" r:id="R96d6941634574776"/>
    <p:sldId xmlns:r="http://schemas.openxmlformats.org/officeDocument/2006/relationships" id="259" r:id="R8cb1e90db384481c"/>
    <p:sldId xmlns:r="http://schemas.openxmlformats.org/officeDocument/2006/relationships" id="260" r:id="R28c10c06c78f411e"/>
    <p:sldId xmlns:r="http://schemas.openxmlformats.org/officeDocument/2006/relationships" id="261" r:id="R268dbcd893154e70"/>
    <p:sldId xmlns:r="http://schemas.openxmlformats.org/officeDocument/2006/relationships" id="262" r:id="R69b6eb914a1e4757"/>
    <p:sldId xmlns:r="http://schemas.openxmlformats.org/officeDocument/2006/relationships" id="263" r:id="Rf29f84d96cf54d08"/>
    <p:sldId xmlns:r="http://schemas.openxmlformats.org/officeDocument/2006/relationships" id="264" r:id="Rcd423a00e1f64539"/>
    <p:sldId xmlns:r="http://schemas.openxmlformats.org/officeDocument/2006/relationships" id="265" r:id="R153cb40725784628"/>
    <p:sldId xmlns:r="http://schemas.openxmlformats.org/officeDocument/2006/relationships" id="266" r:id="R1b34b017ddad4f42"/>
    <p:sldId xmlns:r="http://schemas.openxmlformats.org/officeDocument/2006/relationships" id="267" r:id="R4e2de0b10c374ff0"/>
    <p:sldId xmlns:r="http://schemas.openxmlformats.org/officeDocument/2006/relationships" id="268" r:id="R7d8eb76cc1b8495c"/>
    <p:sldId xmlns:r="http://schemas.openxmlformats.org/officeDocument/2006/relationships" id="269" r:id="Rd8d2692c5f434d40"/>
    <p:sldId xmlns:r="http://schemas.openxmlformats.org/officeDocument/2006/relationships" id="270" r:id="R8e4ef63a9d4c4ad9"/>
    <p:sldId xmlns:r="http://schemas.openxmlformats.org/officeDocument/2006/relationships" id="271" r:id="R8f82bc35f84c4c05"/>
    <p:sldId xmlns:r="http://schemas.openxmlformats.org/officeDocument/2006/relationships" id="272" r:id="Red0adc3993e04c8a"/>
    <p:sldId xmlns:r="http://schemas.openxmlformats.org/officeDocument/2006/relationships" id="273" r:id="Rcafb507deed74114"/>
    <p:sldId xmlns:r="http://schemas.openxmlformats.org/officeDocument/2006/relationships" id="274" r:id="Rc69ed5b27f244d6b"/>
    <p:sldId xmlns:r="http://schemas.openxmlformats.org/officeDocument/2006/relationships" id="275" r:id="Rf23145ab24544fdb"/>
    <p:sldId xmlns:r="http://schemas.openxmlformats.org/officeDocument/2006/relationships" id="276" r:id="Rb399939cacf54d94"/>
    <p:sldId xmlns:r="http://schemas.openxmlformats.org/officeDocument/2006/relationships" id="277" r:id="R8ec1a9a7e3c240c4"/>
    <p:sldId xmlns:r="http://schemas.openxmlformats.org/officeDocument/2006/relationships" id="278" r:id="R6196f5d05403409a"/>
    <p:sldId xmlns:r="http://schemas.openxmlformats.org/officeDocument/2006/relationships" id="279" r:id="Rfa281e4ef8d54e9d"/>
  </p:sldIdLst>
  <p:sldSz cx="9144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深色样式 2 - 强调 5/强调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42f37314d2c41b4" /><Relationship Type="http://schemas.openxmlformats.org/officeDocument/2006/relationships/slideMaster" Target="/ppt/slideMasters/slideMaster1.xml" Id="Rbb3655de8cd64bb5" /><Relationship Type="http://schemas.openxmlformats.org/officeDocument/2006/relationships/notesMaster" Target="/ppt/notesMasters/notesMaster1.xml" Id="R3b997b14f61a469f" /><Relationship Type="http://schemas.openxmlformats.org/officeDocument/2006/relationships/presProps" Target="/ppt/presProps.xml" Id="Rfe60e3f3530a46ef" /><Relationship Type="http://schemas.openxmlformats.org/officeDocument/2006/relationships/viewProps" Target="/ppt/viewProps.xml" Id="R13d68c0a472d4878" /><Relationship Type="http://schemas.openxmlformats.org/officeDocument/2006/relationships/tableStyles" Target="/ppt/tableStyles.xml" Id="R45457796840d4cff" /><Relationship Type="http://schemas.openxmlformats.org/officeDocument/2006/relationships/slide" Target="/ppt/slides/slide1.xml" Id="Rd29bfa7427ef4dc1" /><Relationship Type="http://schemas.openxmlformats.org/officeDocument/2006/relationships/slide" Target="/ppt/slides/slide2.xml" Id="R6289146274904d11" /><Relationship Type="http://schemas.openxmlformats.org/officeDocument/2006/relationships/slide" Target="/ppt/slides/slide3.xml" Id="R96d6941634574776" /><Relationship Type="http://schemas.openxmlformats.org/officeDocument/2006/relationships/slide" Target="/ppt/slides/slide4.xml" Id="R8cb1e90db384481c" /><Relationship Type="http://schemas.openxmlformats.org/officeDocument/2006/relationships/slide" Target="/ppt/slides/slide5.xml" Id="R28c10c06c78f411e" /><Relationship Type="http://schemas.openxmlformats.org/officeDocument/2006/relationships/slide" Target="/ppt/slides/slide6.xml" Id="R268dbcd893154e70" /><Relationship Type="http://schemas.openxmlformats.org/officeDocument/2006/relationships/slide" Target="/ppt/slides/slide7.xml" Id="R69b6eb914a1e4757" /><Relationship Type="http://schemas.openxmlformats.org/officeDocument/2006/relationships/slide" Target="/ppt/slides/slide8.xml" Id="Rf29f84d96cf54d08" /><Relationship Type="http://schemas.openxmlformats.org/officeDocument/2006/relationships/slide" Target="/ppt/slides/slide9.xml" Id="Rcd423a00e1f64539" /><Relationship Type="http://schemas.openxmlformats.org/officeDocument/2006/relationships/slide" Target="/ppt/slides/slide10.xml" Id="R153cb40725784628" /><Relationship Type="http://schemas.openxmlformats.org/officeDocument/2006/relationships/slide" Target="/ppt/slides/slide11.xml" Id="R1b34b017ddad4f42" /><Relationship Type="http://schemas.openxmlformats.org/officeDocument/2006/relationships/slide" Target="/ppt/slides/slide12.xml" Id="R4e2de0b10c374ff0" /><Relationship Type="http://schemas.openxmlformats.org/officeDocument/2006/relationships/slide" Target="/ppt/slides/slide13.xml" Id="R7d8eb76cc1b8495c" /><Relationship Type="http://schemas.openxmlformats.org/officeDocument/2006/relationships/slide" Target="/ppt/slides/slide14.xml" Id="Rd8d2692c5f434d40" /><Relationship Type="http://schemas.openxmlformats.org/officeDocument/2006/relationships/slide" Target="/ppt/slides/slide15.xml" Id="R8e4ef63a9d4c4ad9" /><Relationship Type="http://schemas.openxmlformats.org/officeDocument/2006/relationships/slide" Target="/ppt/slides/slide16.xml" Id="R8f82bc35f84c4c05" /><Relationship Type="http://schemas.openxmlformats.org/officeDocument/2006/relationships/slide" Target="/ppt/slides/slide17.xml" Id="Red0adc3993e04c8a" /><Relationship Type="http://schemas.openxmlformats.org/officeDocument/2006/relationships/slide" Target="/ppt/slides/slide18.xml" Id="Rcafb507deed74114" /><Relationship Type="http://schemas.openxmlformats.org/officeDocument/2006/relationships/slide" Target="/ppt/slides/slide19.xml" Id="Rc69ed5b27f244d6b" /><Relationship Type="http://schemas.openxmlformats.org/officeDocument/2006/relationships/slide" Target="/ppt/slides/slide20.xml" Id="Rf23145ab24544fdb" /><Relationship Type="http://schemas.openxmlformats.org/officeDocument/2006/relationships/slide" Target="/ppt/slides/slide21.xml" Id="Rb399939cacf54d94" /><Relationship Type="http://schemas.openxmlformats.org/officeDocument/2006/relationships/slide" Target="/ppt/slides/slide22.xml" Id="R8ec1a9a7e3c240c4" /><Relationship Type="http://schemas.openxmlformats.org/officeDocument/2006/relationships/slide" Target="/ppt/slides/slide23.xml" Id="R6196f5d05403409a" /><Relationship Type="http://schemas.openxmlformats.org/officeDocument/2006/relationships/slide" Target="/ppt/slides/slide24.xml" Id="Rfa281e4ef8d54e9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afa5315419d49a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Georgia"/>
        <a:ea typeface="ＭＳ Ｐゴシック"/>
        <a:cs typeface="ＭＳ Ｐゴシック"/>
      </a:majorFont>
      <a:minorFont>
        <a:latin typeface="Georgia"/>
        <a:ea typeface="ＭＳ Ｐゴシック"/>
        <a:cs typeface="ＭＳ Ｐゴシック"/>
      </a:minorFont>
    </a:fontScheme>
    <a:fmtScheme name="Blank Presentation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cef241d49754be3" /><Relationship Type="http://schemas.openxmlformats.org/officeDocument/2006/relationships/notesMaster" Target="/ppt/notesMasters/notesMaster1.xml" Id="R79c9322dd2e546fa" /></Relationships>
</file>

<file path=ppt/notesSlides/_rels/notesSlide2.xml.rels>&#65279;<?xml version="1.0" encoding="utf-8"?><Relationships xmlns="http://schemas.openxmlformats.org/package/2006/relationships"><Relationship Type="http://schemas.openxmlformats.org/officeDocument/2006/relationships/slide" Target="/ppt/slides/slide2.xml" Id="R0125b2a5a2284881" /><Relationship Type="http://schemas.openxmlformats.org/officeDocument/2006/relationships/notesMaster" Target="/ppt/notesMasters/notesMaster1.xml" Id="R188b5ff5c50f43b5" /></Relationships>
</file>

<file path=ppt/notesSlides/_rels/notesSlide3.xml.rels>&#65279;<?xml version="1.0" encoding="utf-8"?><Relationships xmlns="http://schemas.openxmlformats.org/package/2006/relationships"><Relationship Type="http://schemas.openxmlformats.org/officeDocument/2006/relationships/slide" Target="/ppt/slides/slide3.xml" Id="Rd2832968e5c04c18" /><Relationship Type="http://schemas.openxmlformats.org/officeDocument/2006/relationships/notesMaster" Target="/ppt/notesMasters/notesMaster1.xml" Id="Rcfdc216113c04541" /></Relationships>
</file>

<file path=ppt/notesSlides/_rels/notesSlide4.xml.rels>&#65279;<?xml version="1.0" encoding="utf-8"?><Relationships xmlns="http://schemas.openxmlformats.org/package/2006/relationships"><Relationship Type="http://schemas.openxmlformats.org/officeDocument/2006/relationships/slide" Target="/ppt/slides/slide4.xml" Id="R024a9475289d451f" /><Relationship Type="http://schemas.openxmlformats.org/officeDocument/2006/relationships/notesMaster" Target="/ppt/notesMasters/notesMaster1.xml" Id="Re9d5e9167cb74de7" /></Relationships>
</file>

<file path=ppt/notesSlides/_rels/notesSlide5.xml.rels>&#65279;<?xml version="1.0" encoding="utf-8"?><Relationships xmlns="http://schemas.openxmlformats.org/package/2006/relationships"><Relationship Type="http://schemas.openxmlformats.org/officeDocument/2006/relationships/slide" Target="/ppt/slides/slide5.xml" Id="R4c754da4bd3f448d" /><Relationship Type="http://schemas.openxmlformats.org/officeDocument/2006/relationships/notesMaster" Target="/ppt/notesMasters/notesMaster1.xml" Id="R08d3cc94993f440d" /></Relationships>
</file>

<file path=ppt/notesSlides/_rels/notesSlide6.xml.rels>&#65279;<?xml version="1.0" encoding="utf-8"?><Relationships xmlns="http://schemas.openxmlformats.org/package/2006/relationships"><Relationship Type="http://schemas.openxmlformats.org/officeDocument/2006/relationships/slide" Target="/ppt/slides/slide6.xml" Id="Raceaad945f104179" /><Relationship Type="http://schemas.openxmlformats.org/officeDocument/2006/relationships/notesMaster" Target="/ppt/notesMasters/notesMaster1.xml" Id="Rb209b5995a134c53" /></Relationships>
</file>

<file path=ppt/notesSlides/_rels/notesSlide7.xml.rels>&#65279;<?xml version="1.0" encoding="utf-8"?><Relationships xmlns="http://schemas.openxmlformats.org/package/2006/relationships"><Relationship Type="http://schemas.openxmlformats.org/officeDocument/2006/relationships/slide" Target="/ppt/slides/slide7.xml" Id="Re5035caacc5e408b" /><Relationship Type="http://schemas.openxmlformats.org/officeDocument/2006/relationships/notesMaster" Target="/ppt/notesMasters/notesMaster1.xml" Id="R39176dcca5624281" /></Relationships>
</file>

<file path=ppt/notesSlides/_rels/notesSlide8.xml.rels>&#65279;<?xml version="1.0" encoding="utf-8"?><Relationships xmlns="http://schemas.openxmlformats.org/package/2006/relationships"><Relationship Type="http://schemas.openxmlformats.org/officeDocument/2006/relationships/slide" Target="/ppt/slides/slide8.xml" Id="Ra88352a83465457d" /><Relationship Type="http://schemas.openxmlformats.org/officeDocument/2006/relationships/notesMaster" Target="/ppt/notesMasters/notesMaster1.xml" Id="R5b071077e68c41c8" /></Relationships>
</file>

<file path=ppt/notesSlides/_rels/notesSlide9.xml.rels>&#65279;<?xml version="1.0" encoding="utf-8"?><Relationships xmlns="http://schemas.openxmlformats.org/package/2006/relationships"><Relationship Type="http://schemas.openxmlformats.org/officeDocument/2006/relationships/slide" Target="/ppt/slides/slide9.xml" Id="R6379a31204da427c" /><Relationship Type="http://schemas.openxmlformats.org/officeDocument/2006/relationships/notesMaster" Target="/ppt/notesMasters/notesMaster1.xml" Id="Rf341e64a640c412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ba3389be1534d68" /><Relationship Type="http://schemas.openxmlformats.org/officeDocument/2006/relationships/notesMaster" Target="/ppt/notesMasters/notesMaster1.xml" Id="R170b5370bc18424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17874187ee8449c" /><Relationship Type="http://schemas.openxmlformats.org/officeDocument/2006/relationships/notesMaster" Target="/ppt/notesMasters/notesMaster1.xml" Id="R5b7dfd38f09145f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5152c0dc6b84e93" /><Relationship Type="http://schemas.openxmlformats.org/officeDocument/2006/relationships/notesMaster" Target="/ppt/notesMasters/notesMaster1.xml" Id="R90c9a71107cb44f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6bc20d7bac44c4e" /><Relationship Type="http://schemas.openxmlformats.org/officeDocument/2006/relationships/notesMaster" Target="/ppt/notesMasters/notesMaster1.xml" Id="Rf7f58b0079bd44b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a0ef7f691964aaf" /><Relationship Type="http://schemas.openxmlformats.org/officeDocument/2006/relationships/notesMaster" Target="/ppt/notesMasters/notesMaster1.xml" Id="R18e482e7ee8a434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d47eaedb1aa40a5" /><Relationship Type="http://schemas.openxmlformats.org/officeDocument/2006/relationships/notesMaster" Target="/ppt/notesMasters/notesMaster1.xml" Id="R72f8536a0e594b0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bfce10e60494245" /><Relationship Type="http://schemas.openxmlformats.org/officeDocument/2006/relationships/notesMaster" Target="/ppt/notesMasters/notesMaster1.xml" Id="R02f0f2c579294e3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2de059af61248ce" /><Relationship Type="http://schemas.openxmlformats.org/officeDocument/2006/relationships/notesMaster" Target="/ppt/notesMasters/notesMaster1.xml" Id="R7c4c67f53a584bb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9e6cc1ec3e14a04" /><Relationship Type="http://schemas.openxmlformats.org/officeDocument/2006/relationships/notesMaster" Target="/ppt/notesMasters/notesMaster1.xml" Id="R500e6f3c729446f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f3196557f40408b" /><Relationship Type="http://schemas.openxmlformats.org/officeDocument/2006/relationships/notesMaster" Target="/ppt/notesMasters/notesMaster1.xml" Id="R7b863a70575140c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c9ed175ce594ebf" /><Relationship Type="http://schemas.openxmlformats.org/officeDocument/2006/relationships/notesMaster" Target="/ppt/notesMasters/notesMaster1.xml" Id="Rbf5e7c3b73884e3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105ecdf26a142ec" /><Relationship Type="http://schemas.openxmlformats.org/officeDocument/2006/relationships/notesMaster" Target="/ppt/notesMasters/notesMaster1.xml" Id="R1a568ae138b0430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361365ce49c4cf0" /><Relationship Type="http://schemas.openxmlformats.org/officeDocument/2006/relationships/notesMaster" Target="/ppt/notesMasters/notesMaster1.xml" Id="Rb055b90d3601418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9a6d860a8ec4f7d" /><Relationship Type="http://schemas.openxmlformats.org/officeDocument/2006/relationships/notesMaster" Target="/ppt/notesMasters/notesMaster1.xml" Id="R62e8233bc3764b0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e061952dac0472b" /><Relationship Type="http://schemas.openxmlformats.org/officeDocument/2006/relationships/notesMaster" Target="/ppt/notesMasters/notesMaster1.xml" Id="R0dd704e9c290409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endParaRPr>
              <a:latin typeface="Arial"/>
              <a:ea typeface="Arial"/>
              <a:cs typeface="Arial"/>
            </a:endParaRPr>
          </a:p>
          <a:p xmlns:a="http://schemas.openxmlformats.org/drawingml/2006/main">
            <a:r>
              <a:t>Today I will walk through how we implemented a physics-informed model for bonded thickness in PDMS dip coating, what the first tests show, and what we plan to do next. The practical goal is to predict bonded thickness while incorporating physical restrictions we already know. We are evaluating two separate questions: whether a prediction respects those restrictions, and whether it is accurate on measurements the model has not seen. The numerical results come from runs archived through October 11. The data-preparation status reflects our October 14 update: values needed for every proposed loss term are available, but some datasets still need aggregation and preprocessing.</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TRANSITION</a:t>
            </a:r>
            <a:endParaRPr>
              <a:latin typeface="Arial"/>
              <a:ea typeface="Arial"/>
              <a:cs typeface="Arial"/>
            </a:endParaRPr>
          </a:p>
          <a:p xmlns:a="http://schemas.openxmlformats.org/drawingml/2006/main">
            <a:r>
              <a:t>First, I will explain what a physics-informed neural network is without assuming an ML background.</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TECHNICAL REFERENCE AND SOURCES</a:t>
            </a:r>
            <a:endParaRPr>
              <a:latin typeface="Arial"/>
              <a:ea typeface="Arial"/>
              <a:cs typeface="Arial"/>
            </a:endParaRPr>
          </a:p>
          <a:p xmlns:a="http://schemas.openxmlformats.org/drawingml/2006/main">
            <a:r>
              <a:t>Research update for October 14, 2026. Results available through October 11, 2026. All numbers in this deck come from archived PINN runs. The supplied September deck provides the theme and layout reference. No new training runs were executed for this presentation.</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https://github.com/aadams2006/Pitt-ML-MSE-Project/tree/c771a486fe82b1ea13e7a70e156f64f01db03128/PINN/RUN_LOG.md</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endParaRPr>
              <a:latin typeface="Arial"/>
              <a:ea typeface="Arial"/>
              <a:cs typeface="Arial"/>
            </a:endParaRPr>
          </a:p>
          <a:p xmlns:a="http://schemas.openxmlformats.org/drawingml/2006/main">
            <a:r>
              <a:t>Think of a neural network as an adjustable mathematical relationship between measured inputs and an output. Its parameters are numerical coefficients, rather than separately identified physical constants. Training means repeatedly adjusting those coefficients so predictions agree better with examples. A physics-informed neural network, or PINN, also uses physical knowledge to guide the relationship. Following the diagram, inputs enter the network, the network predicts bonded thickness, and we score agreement with measurements and selected physical rules. Those scores guide the next parameter update. A loss is simply the numerical error score that training tries to reduce. Classical PINNs often use governing differential equations. Our current model uses a thickness bound and smoothness penalties; it does not solve an established governing adsorption equation. The diagram illustrates the training idea, while the later architecture slide shows the actual network size.</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IF ASKED</a:t>
            </a:r>
            <a:endParaRPr>
              <a:latin typeface="Arial"/>
              <a:ea typeface="Arial"/>
              <a:cs typeface="Arial"/>
            </a:endParaRPr>
          </a:p>
          <a:p xmlns:a="http://schemas.openxmlformats.org/drawingml/2006/main">
            <a:r>
              <a:t>A rule can enter as a hard restriction that every output must satisfy, or as a soft penalty that discourages undesirable behavior. Our thickness bound is hard. The derivative penalties are soft.</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TRANSITION</a:t>
            </a:r>
            <a:endParaRPr>
              <a:latin typeface="Arial"/>
              <a:ea typeface="Arial"/>
              <a:cs typeface="Arial"/>
            </a:endParaRPr>
          </a:p>
          <a:p xmlns:a="http://schemas.openxmlformats.org/drawingml/2006/main">
            <a:r>
              <a:t>With that framework, here is what we have implemented and what the initial evidence says.</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TECHNICAL REFERENCE AND SOURCES</a:t>
            </a:r>
            <a:endParaRPr>
              <a:latin typeface="Arial"/>
              <a:ea typeface="Arial"/>
              <a:cs typeface="Arial"/>
            </a:endParaRPr>
          </a:p>
          <a:p xmlns:a="http://schemas.openxmlformats.org/drawingml/2006/main">
            <a:r>
              <a:t>PINN means physics-informed neural network. The network is an adjustable mathematical function, and training repeatedly changes its parameters to reduce prediction errors and selected physical residuals. A loss is the numerical score used for this adjustment. Classical PINNs commonly use governing differential equations. Our present implementation is physics-constrained tabular regression: the output transform enforces the thickness bound and the default loss adds a curvature prior. No governing adsorption PDE is solved. The illustrative training loop depicts optional physics penalties conceptually, rather than asserting that all four candidate constraints are active. Generated conceptual diagram using the built-in image-generation tool; node count is schematic and is not the implemented architecture. See the later architecture slide for the exact two 16-unit layers.</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https://maziarraissi.github.io/PINNs/</a:t>
            </a:r>
            <a:endParaRPr>
              <a:latin typeface="Arial"/>
              <a:ea typeface="Arial"/>
              <a:cs typeface="Arial"/>
            </a:endParaRPr>
          </a:p>
          <a:p xmlns:a="http://schemas.openxmlformats.org/drawingml/2006/main">
            <a:r>
              <a:t>https://github.com/aadams2006/Pitt-ML-MSE-Project/tree/c771a486fe82b1ea13e7a70e156f64f01db03128/PINN/DESIGN_DECISIONS.md</a:t>
            </a:r>
            <a:endParaRPr>
              <a:latin typeface="Arial"/>
              <a:ea typeface="Arial"/>
              <a:cs typeface="Arial"/>
            </a:endParaRPr>
          </a:p>
          <a:p xmlns:a="http://schemas.openxmlformats.org/drawingml/2006/main">
            <a:r>
              <a:t>https://github.com/aadams2006/Pitt-ML-MSE-Project/tree/c771a486fe82b1ea13e7a70e156f64f01db03128/PINN/core.py</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endParaRPr>
              <a:latin typeface="Arial"/>
              <a:ea typeface="Arial"/>
              <a:cs typeface="Arial"/>
            </a:endParaRPr>
          </a:p>
          <a:p xmlns:a="http://schemas.openxmlformats.org/drawingml/2006/main">
            <a:r>
              <a:t>We now have a compact network, comparison models, and a record of each experiment. The comparison models tell us whether the added physics actually helps, rather than assuming a more sophisticated model must be better. On measured data, the PINN's root mean squared error is about 0.122 nanometers, while gradient boosting reaches about 0.065 nanometers on the same held-out rows. Lower error is better. On the synthetic test, the PINN reaches about 0.056 nanometers, but random forest still performs better. These are different datasets and test distributions, so the lower synthetic error is not evidence that experimental performance improved. The strongest established property is the thickness bound. The current tests do not yet establish an accuracy benefit from the added penalties.</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IF ASKED</a:t>
            </a:r>
            <a:endParaRPr>
              <a:latin typeface="Arial"/>
              <a:ea typeface="Arial"/>
              <a:cs typeface="Arial"/>
            </a:endParaRPr>
          </a:p>
          <a:p xmlns:a="http://schemas.openxmlformats.org/drawingml/2006/main">
            <a:r>
              <a:t>A baseline is a reference model. An ablation removes or changes one component so we can investigate what that component contributes.</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TRANSITION</a:t>
            </a:r>
            <a:endParaRPr>
              <a:latin typeface="Arial"/>
              <a:ea typeface="Arial"/>
              <a:cs typeface="Arial"/>
            </a:endParaRPr>
          </a:p>
          <a:p xmlns:a="http://schemas.openxmlformats.org/drawingml/2006/main">
            <a:r>
              <a:t>The implementation developed in several stages, which this next slide summarizes.</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TECHNICAL REFERENCE AND SOURCES</a:t>
            </a:r>
            <a:endParaRPr>
              <a:latin typeface="Arial"/>
              <a:ea typeface="Arial"/>
              <a:cs typeface="Arial"/>
            </a:endParaRPr>
          </a:p>
          <a:p xmlns:a="http://schemas.openxmlformats.org/drawingml/2006/main">
            <a:r>
              <a:t>The current PINN is physics-constrained tabular regression. It does not yet solve a governing PDE or identify an adsorption mechanism. Its inputs include measured total thickness, so recipe-only process forecasting remains a separate objective.</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https://github.com/aadams2006/Pitt-ML-MSE-Project/tree/c771a486fe82b1ea13e7a70e156f64f01db03128/PINN/DESIGN_DECISIONS.md</a:t>
            </a:r>
            <a:endParaRPr>
              <a:latin typeface="Arial"/>
              <a:ea typeface="Arial"/>
              <a:cs typeface="Arial"/>
            </a:endParaRPr>
          </a:p>
          <a:p xmlns:a="http://schemas.openxmlformats.org/drawingml/2006/main">
            <a:r>
              <a:t>https://github.com/aadams2006/Pitt-ML-MSE-Project/tree/c771a486fe82b1ea13e7a70e156f64f01db03128/PINN/runs/v020_experimental_grouped/metrics.csv</a:t>
            </a:r>
            <a:endParaRPr>
              <a:latin typeface="Arial"/>
              <a:ea typeface="Arial"/>
              <a:cs typeface="Arial"/>
            </a:endParaRPr>
          </a:p>
          <a:p xmlns:a="http://schemas.openxmlformats.org/drawingml/2006/main">
            <a:r>
              <a:t>https://github.com/aadams2006/Pitt-ML-MSE-Project/tree/c771a486fe82b1ea13e7a70e156f64f01db03128/PINN/runs/v020_synthetic_grouped/metrics.csv</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endParaRPr>
              <a:latin typeface="Arial"/>
              <a:ea typeface="Arial"/>
              <a:cs typeface="Arial"/>
            </a:endParaRPr>
          </a:p>
          <a:p xmlns:a="http://schemas.openxmlformats.org/drawingml/2006/main">
            <a:r>
              <a:t>Version 0.1 established a measured-data baseline with three inputs, a bounded neural network, and a smoothness penalty. We then evaluated it against simpler alternatives and checked behavior at concentrations beyond the training range. Version 0.2 added the larger synthetic study with seven inputs, an exploratory concentration-monotonicity test, and support for the remaining physics terms. Monotonicity means testing whether the prediction should consistently increase or decrease as a chosen input changes. We also added a dated run register and saved the exact code, configurations, and results. The versions identify implementation changes; they do not imply that every new version is more accurate. The remaining loss inputs are available, and the next integration step is to aggregate and preprocess their datasets.</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TRANSITION</a:t>
            </a:r>
            <a:endParaRPr>
              <a:latin typeface="Arial"/>
              <a:ea typeface="Arial"/>
              <a:cs typeface="Arial"/>
            </a:endParaRPr>
          </a:p>
          <a:p xmlns:a="http://schemas.openxmlformats.org/drawingml/2006/main">
            <a:r>
              <a:t>Before discussing the model itself, I will distinguish the measured and synthetic data used in these tests.</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TECHNICAL REFERENCE AND SOURCES</a:t>
            </a:r>
            <a:endParaRPr>
              <a:latin typeface="Arial"/>
              <a:ea typeface="Arial"/>
              <a:cs typeface="Arial"/>
            </a:endParaRPr>
          </a:p>
          <a:p xmlns:a="http://schemas.openxmlformats.org/drawingml/2006/main">
            <a:r>
              <a:t>Implementation completed October 11, 2026. v0.1 runs predate prospective execution timestamps. v0.2 adds timestamped lifecycle records and seven-input synthetic benchmarks. The measured rerun reproduces v0.1 results. The code and artifacts are published on codex/pinn-physics-and-run-tracking with draft PR #6.</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https://github.com/aadams2006/Pitt-ML-MSE-Project/tree/c771a486fe82b1ea13e7a70e156f64f01db03128/PINN/CHANGELOG.md</a:t>
            </a:r>
            <a:endParaRPr>
              <a:latin typeface="Arial"/>
              <a:ea typeface="Arial"/>
              <a:cs typeface="Arial"/>
            </a:endParaRPr>
          </a:p>
          <a:p xmlns:a="http://schemas.openxmlformats.org/drawingml/2006/main">
            <a:r>
              <a:t>https://github.com/aadams2006/Pitt-ML-MSE-Project/pull/6</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endParaRPr>
              <a:latin typeface="Arial"/>
              <a:ea typeface="Arial"/>
              <a:cs typeface="Arial"/>
            </a:endParaRPr>
          </a:p>
          <a:p xmlns:a="http://schemas.openxmlformats.org/drawingml/2006/main">
            <a:r>
              <a:t>The measured baseline contains 58 observations and 16 concentration levels. That is a small dataset for estimating a flexible relationship. The synthetic source contains 3,000 rows, which are generated examples rather than 3,000 new laboratory measurements. We screened the source for invalid numerical or physical values. Some rows have nonpositive concentration or total thickness, and some have bonded thickness greater than total thickness. A row can fail more than one check, so the exclusion counts overlap. We excluded 192 unique rows and retained 2,808. This screening makes the data consistent with our input and output requirements; it does not establish experimental independence or validate the synthetic generator. We also preserve original row identities so exclusions remain traceable.</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IF ASKED</a:t>
            </a:r>
            <a:endParaRPr>
              <a:latin typeface="Arial"/>
              <a:ea typeface="Arial"/>
              <a:cs typeface="Arial"/>
            </a:endParaRPr>
          </a:p>
          <a:p xmlns:a="http://schemas.openxmlformats.org/drawingml/2006/main">
            <a:r>
              <a:t>Synthetic data can help test optimization and represented relationships, but performance on synthetic examples needs separate confirmation on independent measurements.</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TRANSITION</a:t>
            </a:r>
            <a:endParaRPr>
              <a:latin typeface="Arial"/>
              <a:ea typeface="Arial"/>
              <a:cs typeface="Arial"/>
            </a:endParaRPr>
          </a:p>
          <a:p xmlns:a="http://schemas.openxmlformats.org/drawingml/2006/main">
            <a:r>
              <a:t>The next slide shows exactly which quantities each archived model received as inputs.</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TECHNICAL REFERENCE AND SOURCES</a:t>
            </a:r>
            <a:endParaRPr>
              <a:latin typeface="Arial"/>
              <a:ea typeface="Arial"/>
              <a:cs typeface="Arial"/>
            </a:endParaRPr>
          </a:p>
          <a:p xmlns:a="http://schemas.openxmlformats.org/drawingml/2006/main">
            <a:r>
              <a:t>Counts overlap: 182+6+113 is not the number excluded. The union of invalid checks is 192, leaving 2808. The default physical checks also reject negative bonded values, negative layer inputs, missing/nonfinite values and invalid log inputs. There were no additional excluded rows under these checks for this benchmark. The combined synthetic source remains byte-identical to its original snapshot. Parent-row provenance is unavailable.</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https://github.com/aadams2006/Pitt-ML-MSE-Project/tree/c771a486fe82b1ea13e7a70e156f64f01db03128/PINN/datasets/provenance.json</a:t>
            </a:r>
            <a:endParaRPr>
              <a:latin typeface="Arial"/>
              <a:ea typeface="Arial"/>
              <a:cs typeface="Arial"/>
            </a:endParaRPr>
          </a:p>
          <a:p xmlns:a="http://schemas.openxmlformats.org/drawingml/2006/main">
            <a:r>
              <a:t>https://github.com/aadams2006/Pitt-ML-MSE-Project/tree/c771a486fe82b1ea13e7a70e156f64f01db03128/PINN/runs/v020_synthetic_grouped/data_audit.json</a:t>
            </a:r>
            <a:endParaRPr>
              <a:latin typeface="Arial"/>
              <a:ea typeface="Arial"/>
              <a:cs typeface="Arial"/>
            </a:endParaRPr>
          </a:p>
          <a:p xmlns:a="http://schemas.openxmlformats.org/drawingml/2006/main">
            <a:r>
              <a:t>https://github.com/aadams2006/Pitt-ML-MSE-Project/tree/c771a486fe82b1ea13e7a70e156f64f01db03128/PINN/SYNTHETIC_BENCHMARK.md</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endParaRPr>
              <a:latin typeface="Arial"/>
              <a:ea typeface="Arial"/>
              <a:cs typeface="Arial"/>
            </a:endParaRPr>
          </a:p>
          <a:p xmlns:a="http://schemas.openxmlformats.org/drawingml/2006/main">
            <a:r>
              <a:t>A feature is an input quantity given to the model. The measured run used concentration, uncoated-layer thickness, and total thickness. The synthetic run added four solvent descriptors. This table describes the prepared tables used in the reported runs, rather than the full set of values now available across our datasets. Bonded thickness is the quantity we predict, so it is never supplied as an input. We take the natural logarithm of concentration to compress its wide numerical range. We then standardize inputs by subtracting their training-set mean and dividing by their training-set standard deviation. This puts different quantities on comparable numerical scales without claiming they have the same physical effect. Only training data determine those transformations. Because measured total thickness is an input, this is conditional inference from film state, rather than prediction from recipe settings alone.</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IF ASKED</a:t>
            </a:r>
            <a:endParaRPr>
              <a:latin typeface="Arial"/>
              <a:ea typeface="Arial"/>
              <a:cs typeface="Arial"/>
            </a:endParaRPr>
          </a:p>
          <a:p xmlns:a="http://schemas.openxmlformats.org/drawingml/2006/main">
            <a:r>
              <a:t>Preprocessing includes matching samples, harmonizing units, checking values, and applying transformations. We must confirm the recorded concentration units before giving the fitted relationship a mechanistic interpretation.</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TRANSITION</a:t>
            </a:r>
            <a:endParaRPr>
              <a:latin typeface="Arial"/>
              <a:ea typeface="Arial"/>
              <a:cs typeface="Arial"/>
            </a:endParaRPr>
          </a:p>
          <a:p xmlns:a="http://schemas.openxmlformats.org/drawingml/2006/main">
            <a:r>
              <a:t>Here is how those inputs pass through the network and how we enforce the physical bound.</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TECHNICAL REFERENCE AND SOURCES</a:t>
            </a:r>
            <a:endParaRPr>
              <a:latin typeface="Arial"/>
              <a:ea typeface="Arial"/>
              <a:cs typeface="Arial"/>
            </a:endParaRPr>
          </a:p>
          <a:p xmlns:a="http://schemas.openxmlformats.org/drawingml/2006/main">
            <a:r>
              <a:t>Recorded concentration spans 0.02 to 10 in the measured CSV, a 500-fold range. A natural log reduces scale imbalance. The source labels say g/mL, but high values and differences between workbooks and derived tables require lab confirmation. StandardScaler fits the training rows only. Bonded thickness never enters the input set. Total thickness is also the raw output envelope and is required at inference. Solvent descriptors have only three solvent-associated combinations in the synthetic data.</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https://github.com/aadams2006/Pitt-ML-MSE-Project/tree/c771a486fe82b1ea13e7a70e156f64f01db03128/PINN/config.json</a:t>
            </a:r>
            <a:endParaRPr>
              <a:latin typeface="Arial"/>
              <a:ea typeface="Arial"/>
              <a:cs typeface="Arial"/>
            </a:endParaRPr>
          </a:p>
          <a:p xmlns:a="http://schemas.openxmlformats.org/drawingml/2006/main">
            <a:r>
              <a:t>https://github.com/aadams2006/Pitt-ML-MSE-Project/tree/c771a486fe82b1ea13e7a70e156f64f01db03128/PINN/config_synthetic.json</a:t>
            </a:r>
            <a:endParaRPr>
              <a:latin typeface="Arial"/>
              <a:ea typeface="Arial"/>
              <a:cs typeface="Arial"/>
            </a:endParaRPr>
          </a:p>
          <a:p xmlns:a="http://schemas.openxmlformats.org/drawingml/2006/main">
            <a:r>
              <a:t>https://github.com/aadams2006/Pitt-ML-MSE-Project/tree/c771a486fe82b1ea13e7a70e156f64f01db03128/PINN/DESIGN_DECISIONS.md</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endParaRPr>
              <a:latin typeface="Arial"/>
              <a:ea typeface="Arial"/>
              <a:cs typeface="Arial"/>
            </a:endParaRPr>
          </a:p>
          <a:p xmlns:a="http://schemas.openxmlformats.org/drawingml/2006/main">
            <a:r>
              <a:t>The implemented network has two internal layers, with 16 units in each. A unit forms an adjustable combination of its inputs and applies a smooth nonlinear function. Tanh, or hyperbolic tangent, is the smooth function used inside these layers. We chose it because the loss calculation needs second derivatives. In the equation, z represents the standardized inputs, theta represents the adjustable parameters, and f is the network's raw output. The sigmoid function maps that raw output into a fraction between zero and one. Multiplying the fraction by measured total thickness gives predicted bonded thickness. The hat means predicted, B means bonded, and T means total. This construction guarantees a nonnegative prediction no larger than a valid positive total. The model has 353 adjustable parameters with three inputs and 417 with seven inputs.</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IF ASKED</a:t>
            </a:r>
            <a:endParaRPr>
              <a:latin typeface="Arial"/>
              <a:ea typeface="Arial"/>
              <a:cs typeface="Arial"/>
            </a:endParaRPr>
          </a:p>
          <a:p xmlns:a="http://schemas.openxmlformats.org/drawingml/2006/main">
            <a:r>
              <a:t>The guarantee concerns the allowed range of the prediction. A value can satisfy that range and still be far from the actual bonded thickness. These fitted parameters are not independently identified adsorption constants.</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TRANSITION</a:t>
            </a:r>
            <a:endParaRPr>
              <a:latin typeface="Arial"/>
              <a:ea typeface="Arial"/>
              <a:cs typeface="Arial"/>
            </a:endParaRPr>
          </a:p>
          <a:p xmlns:a="http://schemas.openxmlformats.org/drawingml/2006/main">
            <a:r>
              <a:t>The output transformation supplies the bound. The following loss terms guide how the model learns within that bound.</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TECHNICAL REFERENCE AND SOURCES</a:t>
            </a:r>
            <a:endParaRPr>
              <a:latin typeface="Arial"/>
              <a:ea typeface="Arial"/>
              <a:cs typeface="Arial"/>
            </a:endParaRPr>
          </a:p>
          <a:p xmlns:a="http://schemas.openxmlformats.org/drawingml/2006/main">
            <a:r>
              <a:t>Architecture: d inputs, Linear(d,16), tanh, Linear(16,16), tanh, Linear(16,1), then sigmoid multiplied by raw measured total thickness. Parameter count is 16d+16+272+17, giving 353 for d=3 and 417 for d=7. Xavier-uniform weights and zero biases initialize the network. A positive measured total is required in data loading. Finite logits approach the endpoints asymptotically. The standard-NN ablation retains the same hidden layers but uses a linear unbounded output. Diagram structure is reused from slide 15 of the provided reference.</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https://github.com/aadams2006/Pitt-ML-MSE-Project/tree/c771a486fe82b1ea13e7a70e156f64f01db03128/PINN/core.py</a:t>
            </a:r>
            <a:endParaRPr>
              <a:latin typeface="Arial"/>
              <a:ea typeface="Arial"/>
              <a:cs typeface="Arial"/>
            </a:endParaRPr>
          </a:p>
          <a:p xmlns:a="http://schemas.openxmlformats.org/drawingml/2006/main">
            <a:r>
              <a:t>https://github.com/aadams2006/Pitt-ML-MSE-Project/tree/c771a486fe82b1ea13e7a70e156f64f01db03128/PINN/DESIGN_DECISIONS.md</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endParaRPr>
              <a:latin typeface="Arial"/>
              <a:ea typeface="Arial"/>
              <a:cs typeface="Arial"/>
            </a:endParaRPr>
          </a:p>
          <a:p xmlns:a="http://schemas.openxmlformats.org/drawingml/2006/main">
            <a:r>
              <a:t>The loss combines an error score for each selected objective. The data term penalizes disagreement with measured bonded thickness. The curvature term discourages a highly wavy fitted response. Lambda denotes a coefficient that controls the importance of a penalty relative to data fit. In the reported default PINN runs, the data coefficient is one and the curvature coefficient is 0.001. The separate concentration experiment uses a monotonicity coefficient of 0.01. Velocity curvature and the hydrodynamic residual have zero coefficients in the reported runs, so they do not influence those fits. We have the values required for all of these terms. The remaining datasets still need aggregation and preprocessing before we activate them. A zero coefficient describes what we used in those runs; it does not mean the physical values are unavailable.</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IF ASKED</a:t>
            </a:r>
            <a:endParaRPr>
              <a:latin typeface="Arial"/>
              <a:ea typeface="Arial"/>
              <a:cs typeface="Arial"/>
            </a:endParaRPr>
          </a:p>
          <a:p xmlns:a="http://schemas.openxmlformats.org/drawingml/2006/main">
            <a:r>
              <a:t>The thickness bound has no coefficient here because the architecture enforces it directly. A weighted penalty can trade off against other errors; a hard output restriction cannot be violated by that tradeoff.</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TRANSITION</a:t>
            </a:r>
            <a:endParaRPr>
              <a:latin typeface="Arial"/>
              <a:ea typeface="Arial"/>
              <a:cs typeface="Arial"/>
            </a:endParaRPr>
          </a:p>
          <a:p xmlns:a="http://schemas.openxmlformats.org/drawingml/2006/main">
            <a:r>
              <a:t>The next slide gives the mathematical definitions, but the main idea is the behavior each term discourages.</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TECHNICAL REFERENCE AND SOURCES</a:t>
            </a:r>
            <a:endParaRPr>
              <a:latin typeface="Arial"/>
              <a:ea typeface="Arial"/>
              <a:cs typeface="Arial"/>
            </a:endParaRPr>
          </a:p>
          <a:p xmlns:a="http://schemas.openxmlformats.org/drawingml/2006/main">
            <a:r>
              <a:t>Ldata = mean(((hB_hat-hB)/sy)^2), with sy the population standard deviation of training targets floored at 1e-6. Lsmooth is a diagonal-Hessian curvature prior of hB_hat/sy in standardized/log-transformed coordinates, not a full Hessian norm. Differentiate the total-thickness envelope too. v0.2 evaluates derivative terms on up to 256 deterministic training-row samples per epoch. No arbitrary Cartesian collocation is added. Monotonic penalties are local soft penalties on normalized gradients. Weight decay is an optimizer parameter, separate from the displayed loss. October 14, 2026 project-status clarification from Alexander Adams: values required for all proposed loss terms are available. The remaining datasets require aggregation and preprocessing before these terms can enter training. Their zero weights describe the archived runs, not missing measurements. The LLD residual applies to the mobile layer.</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https://github.com/aadams2006/Pitt-ML-MSE-Project/tree/c771a486fe82b1ea13e7a70e156f64f01db03128/PINN/core.py</a:t>
            </a:r>
            <a:endParaRPr>
              <a:latin typeface="Arial"/>
              <a:ea typeface="Arial"/>
              <a:cs typeface="Arial"/>
            </a:endParaRPr>
          </a:p>
          <a:p xmlns:a="http://schemas.openxmlformats.org/drawingml/2006/main">
            <a:r>
              <a:t>https://github.com/aadams2006/Pitt-ML-MSE-Project/tree/c771a486fe82b1ea13e7a70e156f64f01db03128/PINN/config_synthetic_monotonic.json</a:t>
            </a:r>
            <a:endParaRPr>
              <a:latin typeface="Arial"/>
              <a:ea typeface="Arial"/>
              <a:cs typeface="Arial"/>
            </a:endParaRPr>
          </a:p>
          <a:p xmlns:a="http://schemas.openxmlformats.org/drawingml/2006/main">
            <a:r>
              <a:t>https://github.com/aadams2006/Pitt-ML-MSE-Project/tree/c771a486fe82b1ea13e7a70e156f64f01db03128/PINN/physics.py</a:t>
            </a:r>
            <a:endParaRPr>
              <a:latin typeface="Arial"/>
              <a:ea typeface="Arial"/>
              <a:cs typeface="Arial"/>
            </a:endParaRPr>
          </a:p>
          <a:p xmlns:a="http://schemas.openxmlformats.org/drawingml/2006/main">
            <a:r>
              <a:t>Project status clarification from Alexander Adams, October 14, 2026</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endParaRPr>
              <a:latin typeface="Arial"/>
              <a:ea typeface="Arial"/>
              <a:cs typeface="Arial"/>
            </a:endParaRPr>
          </a:p>
          <a:p xmlns:a="http://schemas.openxmlformats.org/drawingml/2006/main">
            <a:r>
              <a:t>There is no need to read every summation aloud. Each summation averages an error over a set of training rows. The first expression squares the difference between predicted and measured bonded thickness, after scaling by the training target's standard deviation. In the other expressions, q is the scaled prediction and z is a standardized input. A first derivative is the local slope of the prediction as an input changes. A second derivative describes how quickly that slope changes, or curvature. The smoothness term penalizes curvature across input directions. The monotonicity term penalizes slopes with the opposite sign to a selected hypothesis. The velocity term applies curvature penalization specifically to the velocity input. Here, n counts data rows, m counts rows used for derivatives, and d counts input features.</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IF ASKED</a:t>
            </a:r>
            <a:endParaRPr>
              <a:latin typeface="Arial"/>
              <a:ea typeface="Arial"/>
              <a:cs typeface="Arial"/>
            </a:endParaRPr>
          </a:p>
          <a:p xmlns:a="http://schemas.openxmlformats.org/drawingml/2006/main">
            <a:r>
              <a:t>J is the selected set of monotonic inputs, and s chooses the expected direction for each. These are local, soft penalties. The derivatives are taken in standardized coordinates, so their magnitudes are not raw physical-unit derivatives. Automatic differentiation computes them from the model's mathematical operations, rather than estimating them from noisy neighboring measurements.</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TRANSITION</a:t>
            </a:r>
            <a:endParaRPr>
              <a:latin typeface="Arial"/>
              <a:ea typeface="Arial"/>
              <a:cs typeface="Arial"/>
            </a:endParaRPr>
          </a:p>
          <a:p xmlns:a="http://schemas.openxmlformats.org/drawingml/2006/main">
            <a:r>
              <a:t>These terms connect to the four physical constraints originally proposed for the project.</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TECHNICAL REFERENCE AND SOURCES</a:t>
            </a:r>
            <a:endParaRPr>
              <a:latin typeface="Arial"/>
              <a:ea typeface="Arial"/>
              <a:cs typeface="Arial"/>
            </a:endParaRPr>
          </a:p>
          <a:p xmlns:a="http://schemas.openxmlformats.org/drawingml/2006/main">
            <a:r>
              <a:t>The symbols reproduce the implementation exactly. q is predicted bonded thickness divided by s_y, the population standard deviation of training targets with floor 1e-6 nm. n is the count of training data rows, m is the count selected for derivatives (up to 256 per epoch), and d is the number of inputs. z contains standardized transformed predictors, including log concentration. J is the configured set of monotonic features and s_j is their selected direction, positive or negative. z_U is the standardized withdrawal-velocity coordinate; this is not an unscaled SI-velocity derivative. All derivatives include the total-thickness output envelope. Curvature is a diagonal Hessian penalty, not the full Hessian norm. Monotonicity is a soft local penalty. No derivative penalty is evaluated on the held-out test. LaTeX sources for all equations are retained in assets/equations.tex.</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https://github.com/aadams2006/Pitt-ML-MSE-Project/tree/c771a486fe82b1ea13e7a70e156f64f01db03128/PINN/core.py</a:t>
            </a:r>
            <a:endParaRPr>
              <a:latin typeface="Arial"/>
              <a:ea typeface="Arial"/>
              <a:cs typeface="Arial"/>
            </a:endParaRPr>
          </a:p>
          <a:p xmlns:a="http://schemas.openxmlformats.org/drawingml/2006/main">
            <a:r>
              <a:t>https://github.com/aadams2006/Pitt-ML-MSE-Project/tree/c771a486fe82b1ea13e7a70e156f64f01db03128/PINN/physics.py</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endParaRPr>
              <a:latin typeface="Arial"/>
              <a:ea typeface="Arial"/>
              <a:cs typeface="Arial"/>
            </a:endParaRPr>
          </a:p>
          <a:p xmlns:a="http://schemas.openxmlformats.org/drawingml/2006/main">
            <a:r>
              <a:t>This slide separates the proposed constraints from what actually influenced the reported fits. The thickness bound is active by construction. General input curvature is also active in the default PINN loss, although it is not a direct test of withdrawal-velocity smoothness. We separately tested a positive concentration-monotonicity penalty. Velocity curvature and hydrodynamic scaling are implemented, and their required values are available, but their datasets still need aggregation and preprocessing. We should therefore describe them as awaiting data preparation. For the other monotonic relationships, we also need to inspect the prepared data and assess whether a consistent direction is justified. Having a value available does not automatically establish the physical hypothesis. No result shown later should be interpreted as including the currently inactive terms.</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TRANSITION</a:t>
            </a:r>
            <a:endParaRPr>
              <a:latin typeface="Arial"/>
              <a:ea typeface="Arial"/>
              <a:cs typeface="Arial"/>
            </a:endParaRPr>
          </a:p>
          <a:p xmlns:a="http://schemas.openxmlformats.org/drawingml/2006/main">
            <a:r>
              <a:t>The hydrodynamic term is a useful example of both the physics and the preparation needed before activation.</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TECHNICAL REFERENCE AND SOURCES</a:t>
            </a:r>
            <a:endParaRPr>
              <a:latin typeface="Arial"/>
              <a:ea typeface="Arial"/>
              <a:cs typeface="Arial"/>
            </a:endParaRPr>
          </a:p>
          <a:p xmlns:a="http://schemas.openxmlformats.org/drawingml/2006/main">
            <a:r>
              <a:t>Status update supplied by Alexander Adams on October 14, 2026: the values required for all proposed loss functions are available. Aggregation and preprocessing of the other datasets remain outstanding. The reported archived runs used data fit and the general curvature prior, plus a separate positive-concentration monotonicity ablation. Velocity curvature and the LLD residual remain off in these runs; this reflects dataset preparation status rather than unavailable measurements. The bound is an output transform, not a weighted loss. The concentration sign remains an exploratory hypothesis, and data availability alone does not validate a causal viscosity relationship or hydrodynamic applicability. The nonnegative mobile layer follows from the bound and is not an independent constraint.</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https://github.com/aadams2006/Pitt-ML-MSE-Project/tree/c771a486fe82b1ea13e7a70e156f64f01db03128/PINN/PHYSICS_CONSTRAINTS.md</a:t>
            </a:r>
            <a:endParaRPr>
              <a:latin typeface="Arial"/>
              <a:ea typeface="Arial"/>
              <a:cs typeface="Arial"/>
            </a:endParaRPr>
          </a:p>
          <a:p xmlns:a="http://schemas.openxmlformats.org/drawingml/2006/main">
            <a:r>
              <a:t>Project status clarification from Alexander Adams, October 14, 2026</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endParaRPr>
              <a:latin typeface="Arial"/>
              <a:ea typeface="Arial"/>
              <a:cs typeface="Arial"/>
            </a:endParaRPr>
          </a:p>
          <a:p xmlns:a="http://schemas.openxmlformats.org/drawingml/2006/main">
            <a:r>
              <a:t>LLD refers to Landau-Levich-Derjaguin dip-coating scaling. The capillary number compares viscous effects with surface-tension effects. It combines viscosity, withdrawal velocity, and surface tension. The next expression estimates wet coating thickness for the applicable flat-plate, Newtonian regime. We apply a separately supplied wet-to-dry factor before comparing that estimate with predicted dry mobile thickness. The predicted mobile thickness is total thickness minus predicted bonded thickness. That distinction matters: this residual constrains the mobile layer and does not establish a governing law for bonded adsorption. The needed values are available. We must aggregate matching samples, harmonize units, and preprocess the datasets before using the term. We also check the applicability flag, conversion factor, and capillary-number gate for each eligible row.</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IF ASKED</a:t>
            </a:r>
            <a:endParaRPr>
              <a:latin typeface="Arial"/>
              <a:ea typeface="Arial"/>
              <a:cs typeface="Arial"/>
            </a:endParaRPr>
          </a:p>
          <a:p xmlns:a="http://schemas.openxmlformats.org/drawingml/2006/main">
            <a:r>
              <a:t>A residual is the mismatch between a model prediction and a physical relation. Only eligible rows enter this residual. The wet-to-dry factor must be independent of the bonded target, so we do not build the answer into the constraint. The small-capillary-number threshold is an initial gate, not a guarantee that every other assumption holds.</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TRANSITION</a:t>
            </a:r>
            <a:endParaRPr>
              <a:latin typeface="Arial"/>
              <a:ea typeface="Arial"/>
              <a:cs typeface="Arial"/>
            </a:endParaRPr>
          </a:p>
          <a:p xmlns:a="http://schemas.openxmlformats.org/drawingml/2006/main">
            <a:r>
              <a:t>With the architecture and loss defined, here is how the parameters were fitted and how we made the comparisons fair.</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TECHNICAL REFERENCE AND SOURCES</a:t>
            </a:r>
            <a:endParaRPr>
              <a:latin typeface="Arial"/>
              <a:ea typeface="Arial"/>
              <a:cs typeface="Arial"/>
            </a:endParaRPr>
          </a:p>
          <a:p xmlns:a="http://schemas.openxmlformats.org/drawingml/2006/main">
            <a:r>
              <a:t>The 0.9458 classical plate coefficient is supported by the JFM two-liquid dip-coating paper. U in mm/s converts by 1e-3 to m/s, viscosity cP by 1e-3 to Pa*s, surface tension mN/m by 1e-3 to N/m, and wet thickness m to nm by 1e9. rho is kg/m3 and g=9.81 m/s2. The conversion factor must be independent of the bonded target, positive and &lt;=1. The Ca threshold is a conservative starting gate, not a universal regime guarantee. Geometry, wetting, evaporation and interface validity are supplied by the lab flag. Current runs leave this loss off. October 14, 2026 project-status clarification from Alexander Adams: values required for all proposed loss terms are available. The remaining datasets require aggregation and preprocessing before these terms can enter training. Their zero weights describe the archived runs, not missing measurements. The LLD residual applies to the mobile layer.</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https://github.com/aadams2006/Pitt-ML-MSE-Project/tree/c771a486fe82b1ea13e7a70e156f64f01db03128/PINN/physics.py</a:t>
            </a:r>
            <a:endParaRPr>
              <a:latin typeface="Arial"/>
              <a:ea typeface="Arial"/>
              <a:cs typeface="Arial"/>
            </a:endParaRPr>
          </a:p>
          <a:p xmlns:a="http://schemas.openxmlformats.org/drawingml/2006/main">
            <a:r>
              <a:t>https://github.com/aadams2006/Pitt-ML-MSE-Project/tree/c771a486fe82b1ea13e7a70e156f64f01db03128/PINN/config_measured_physics.example.json</a:t>
            </a:r>
            <a:endParaRPr>
              <a:latin typeface="Arial"/>
              <a:ea typeface="Arial"/>
              <a:cs typeface="Arial"/>
            </a:endParaRPr>
          </a:p>
          <a:p xmlns:a="http://schemas.openxmlformats.org/drawingml/2006/main">
            <a:r>
              <a:t>https://www.cambridge.org/core/journals/journal-of-fluid-mechanics/article/dipcoating-flow-in-the-presence-of-two-immiscible-liquids/CB484EB73B1903B5933AB087847C642E</a:t>
            </a:r>
            <a:endParaRPr>
              <a:latin typeface="Arial"/>
              <a:ea typeface="Arial"/>
              <a:cs typeface="Arial"/>
            </a:endParaRPr>
          </a:p>
          <a:p xmlns:a="http://schemas.openxmlformats.org/drawingml/2006/main">
            <a:r>
              <a:t>Project status clarification from Alexander Adams, October 14, 2026</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endParaRPr>
              <a:latin typeface="Arial"/>
              <a:ea typeface="Arial"/>
              <a:cs typeface="Arial"/>
            </a:endParaRPr>
          </a:p>
          <a:p xmlns:a="http://schemas.openxmlformats.org/drawingml/2006/main">
            <a:r>
              <a:t>Adam is the numerical optimizer that adjusts network parameters using the slope of the loss. The learning rate controls the size of those adjustments. An epoch is one training iteration over the full training set in this implementation. We allow up to 1,500 epochs and stop early if validation error does not improve for 150 epochs. Gradient clipping limits unusually large updates, and weight decay discourages unnecessarily large parameter values. A fixed seed controls random initialization and sampling so a run can be reproduced, but one seed does not establish robustness. The bounded network comparison uses the same bound without the physics penalties. The standard network uses the same internal layers with an unrestricted output. Random forest averages many decision trees, while gradient boosting builds a sequence of trees that correct earlier errors.</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IF ASKED</a:t>
            </a:r>
            <a:endParaRPr>
              <a:latin typeface="Arial"/>
              <a:ea typeface="Arial"/>
              <a:cs typeface="Arial"/>
            </a:endParaRPr>
          </a:p>
          <a:p xmlns:a="http://schemas.openxmlformats.org/drawingml/2006/main">
            <a:r>
              <a:t>A decision tree makes predictions through a sequence of input-based branching rules. Matching data splits and keeping the test out of model selection is more important than making these different model families look architecturally identical.</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TRANSITION</a:t>
            </a:r>
            <a:endParaRPr>
              <a:latin typeface="Arial"/>
              <a:ea typeface="Arial"/>
              <a:cs typeface="Arial"/>
            </a:endParaRPr>
          </a:p>
          <a:p xmlns:a="http://schemas.openxmlformats.org/drawingml/2006/main">
            <a:r>
              <a:t>The next slide explains what training, validation, and test mean in these experiments.</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TECHNICAL REFERENCE AND SOURCES</a:t>
            </a:r>
            <a:endParaRPr>
              <a:latin typeface="Arial"/>
              <a:ea typeface="Arial"/>
              <a:cs typeface="Arial"/>
            </a:endParaRPr>
          </a:p>
          <a:p xmlns:a="http://schemas.openxmlformats.org/drawingml/2006/main">
            <a:r>
              <a:t>All neural models use full-batch supervised training, training-only preprocessing and normalized data loss. Adam uses coupled weight decay as implemented by torch.optim.Adam. Torch uses float32 tensors, one CPU thread and deterministic operations. Early stopping counts epochs without validation improvement &gt;1e-7 and restores the selected state. v0.2 experimental PINN selects epoch 76 and stops after epoch 226. Synthetic PINNs select epoch 1500. RF and GB settings are fixed untuned baselines.</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https://github.com/aadams2006/Pitt-ML-MSE-Project/tree/c771a486fe82b1ea13e7a70e156f64f01db03128/PINN/config.json</a:t>
            </a:r>
            <a:endParaRPr>
              <a:latin typeface="Arial"/>
              <a:ea typeface="Arial"/>
              <a:cs typeface="Arial"/>
            </a:endParaRPr>
          </a:p>
          <a:p xmlns:a="http://schemas.openxmlformats.org/drawingml/2006/main">
            <a:r>
              <a:t>https://github.com/aadams2006/Pitt-ML-MSE-Project/tree/c771a486fe82b1ea13e7a70e156f64f01db03128/PINN/core.py</a:t>
            </a:r>
            <a:endParaRPr>
              <a:latin typeface="Arial"/>
              <a:ea typeface="Arial"/>
              <a:cs typeface="Arial"/>
            </a:endParaRPr>
          </a:p>
          <a:p xmlns:a="http://schemas.openxmlformats.org/drawingml/2006/main">
            <a:r>
              <a:t>https://github.com/aadams2006/Pitt-ML-MSE-Project/tree/c771a486fe82b1ea13e7a70e156f64f01db03128/PINN/train.py</a:t>
            </a:r>
            <a:endParaRPr>
              <a:latin typeface="Arial"/>
              <a:ea typeface="Arial"/>
              <a:cs typeface="Arial"/>
            </a:endParaRPr>
          </a:p>
          <a:p xmlns:a="http://schemas.openxmlformats.org/drawingml/2006/main">
            <a:r>
              <a:t>https://github.com/aadams2006/Pitt-ML-MSE-Project/tree/c771a486fe82b1ea13e7a70e156f64f01db03128/PINN/runs/v020_experimental_grouped/run_record.json</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endParaRPr>
              <a:latin typeface="Arial"/>
              <a:ea typeface="Arial"/>
              <a:cs typeface="Arial"/>
            </a:endParaRPr>
          </a:p>
          <a:p xmlns:a="http://schemas.openxmlformats.org/drawingml/2006/main">
            <a:r>
              <a:t>Training rows determine the adjustable model parameters. Validation rows help select a checkpoint, meaning a saved set of parameters from a particular training stage. Test rows provide the final held-out comparison and do not select the checkpoint. We grouped rows by concentration, so an entire concentration level stays in one partition instead of being spread across training and test. This is a harder and more relevant check than randomly separating nearly identical examples. The high-concentration test asks whether the model can predict beyond the range represented in training. The measured and synthetic studies have different sample counts and distributions, so comparisons should be made within each shared split. Synthetic parent identities remain unresolved, so concentration grouping alone does not prove that the underlying source experiments are independent.</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IF ASKED</a:t>
            </a:r>
            <a:endParaRPr>
              <a:latin typeface="Arial"/>
              <a:ea typeface="Arial"/>
              <a:cs typeface="Arial"/>
            </a:endParaRPr>
          </a:p>
          <a:p xmlns:a="http://schemas.openxmlformats.org/drawingml/2006/main">
            <a:r>
              <a:t>Data leakage means information that should be reserved for evaluation influences training or selection. Fitting preprocessing only on training rows prevents one common form, but it cannot by itself resolve unknown synthetic ancestry.</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TRANSITION</a:t>
            </a:r>
            <a:endParaRPr>
              <a:latin typeface="Arial"/>
              <a:ea typeface="Arial"/>
              <a:cs typeface="Arial"/>
            </a:endParaRPr>
          </a:p>
          <a:p xmlns:a="http://schemas.openxmlformats.org/drawingml/2006/main">
            <a:r>
              <a:t>Now we can interpret the first measured-data benchmark.</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TECHNICAL REFERENCE AND SOURCES</a:t>
            </a:r>
            <a:endParaRPr>
              <a:latin typeface="Arial"/>
              <a:ea typeface="Arial"/>
              <a:cs typeface="Arial"/>
            </a:endParaRPr>
          </a:p>
          <a:p xmlns:a="http://schemas.openxmlformats.org/drawingml/2006/main">
            <a:r>
              <a:t>Grouped split reserves 20% of concentration groups for test and then 20% of remaining groups for validation, so row proportions vary. Extrapolation reserves the largest four of sixteen measured concentration levels. The v0.2 synthetic default and monotonicity runs use identical retained rows and partitions. Existing historical stratified-CV RF scores in the September deck use other protocols and are not direct competitors for these single-split results. True independent batches/specimens should replace concentration as the grouping unit when available.</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https://github.com/aadams2006/Pitt-ML-MSE-Project/tree/c771a486fe82b1ea13e7a70e156f64f01db03128/PINN/train.py</a:t>
            </a:r>
            <a:endParaRPr>
              <a:latin typeface="Arial"/>
              <a:ea typeface="Arial"/>
              <a:cs typeface="Arial"/>
            </a:endParaRPr>
          </a:p>
          <a:p xmlns:a="http://schemas.openxmlformats.org/drawingml/2006/main">
            <a:r>
              <a:t>https://github.com/aadams2006/Pitt-ML-MSE-Project/tree/c771a486fe82b1ea13e7a70e156f64f01db03128/PINN/runs/legacy_initial_extrapolation/splits.csv</a:t>
            </a:r>
            <a:endParaRPr>
              <a:latin typeface="Arial"/>
              <a:ea typeface="Arial"/>
              <a:cs typeface="Arial"/>
            </a:endParaRPr>
          </a:p>
          <a:p xmlns:a="http://schemas.openxmlformats.org/drawingml/2006/main">
            <a:r>
              <a:t>https://github.com/aadams2006/Pitt-ML-MSE-Project/tree/c771a486fe82b1ea13e7a70e156f64f01db03128/PINN/runs/v020_synthetic_grouped/splits.csv</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endParaRPr>
              <a:latin typeface="Arial"/>
              <a:ea typeface="Arial"/>
              <a:cs typeface="Arial"/>
            </a:endParaRPr>
          </a:p>
          <a:p xmlns:a="http://schemas.openxmlformats.org/drawingml/2006/main">
            <a:r>
              <a:t>Every model here predicts the same 18 held-out measured rows. The bars show root mean squared error, or RMSE, in nanometers. It squares each prediction error, averages those squares, and takes the square root, so larger misses receive extra emphasis. Lower bars are better. The PINN is about 0.1223 nanometers, while gradient boosting is about 0.0649 nanometers. The bounded network without the curvature penalty is almost identical to the PINN, so this test does not establish an accuracy benefit from the default penalty. MAE is mean absolute error, the average magnitude of a miss. R-squared compares squared error with predicting the held-out set's own mean. A negative value means worse squared error than that reference. Zero observed bound violations is a separate result from predictive accuracy.</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IF ASKED</a:t>
            </a:r>
            <a:endParaRPr>
              <a:latin typeface="Arial"/>
              <a:ea typeface="Arial"/>
              <a:cs typeface="Arial"/>
            </a:endParaRPr>
          </a:p>
          <a:p xmlns:a="http://schemas.openxmlformats.org/drawingml/2006/main">
            <a:r>
              <a:t>The tree models also had no observed violations on these test rows, but only the bounded architecture guarantees the range for any valid total. A single small holdout is exploratory evidence, not a stable estimate across independent batches.</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TRANSITION</a:t>
            </a:r>
            <a:endParaRPr>
              <a:latin typeface="Arial"/>
              <a:ea typeface="Arial"/>
              <a:cs typeface="Arial"/>
            </a:endParaRPr>
          </a:p>
          <a:p xmlns:a="http://schemas.openxmlformats.org/drawingml/2006/main">
            <a:r>
              <a:t>The next test shows particularly clearly why satisfying the bound does not ensure accurate extrapolation.</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TECHNICAL REFERENCE AND SOURCES</a:t>
            </a:r>
            <a:endParaRPr>
              <a:latin typeface="Arial"/>
              <a:ea typeface="Arial"/>
              <a:cs typeface="Arial"/>
            </a:endParaRPr>
          </a:p>
          <a:p xmlns:a="http://schemas.openxmlformats.org/drawingml/2006/main">
            <a:r>
              <a:t>v0.2 experimental grouped run reproduces the original measured grouped results. Metrics refer only to 18 test observations on held-out concentration levels. PINN MAE 0.111693 nm, RMSE 0.122251 nm, R2 -0.391624. GB MAE 0.055622 nm, RMSE 0.064933 nm, R2 0.607406. All five observed violation fractions are zero, but only bounded outputs guarantee the inequality. Negative R2 means worse than a constant test-set-mean predictor on this small split. This is not evidence that neural models cannot work after a separate validation-based study.</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https://github.com/aadams2006/Pitt-ML-MSE-Project/tree/c771a486fe82b1ea13e7a70e156f64f01db03128/PINN/runs/v020_experimental_grouped/metrics.csv</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endParaRPr>
              <a:latin typeface="Arial"/>
              <a:ea typeface="Arial"/>
              <a:cs typeface="Arial"/>
            </a:endParaRPr>
          </a:p>
          <a:p xmlns:a="http://schemas.openxmlformats.org/drawingml/2006/main">
            <a:r>
              <a:t>The horizontal axis is recorded concentration and the vertical axis is bonded thickness. The symbols compare actual measurements with PINN and random-forest predictions at concentrations reserved for testing. Extrapolation means predicting beyond the training range, where the fitted relationship has less direct support. At the high end, the PINN predictions rise well above the observed bonded thickness. Its RMSE is about 0.617 nanometers, compared with about 0.0294 for random forest. The PINN still remains below total thickness, so the bound works even though the prediction is inaccurate. All models have negative R-squared here. The observed bonded values span a very narrow range, so that metric has a small reference variance and can become extremely negative. We should read it alongside error in nanometers and the actual points.</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IF ASKED</a:t>
            </a:r>
            <a:endParaRPr>
              <a:latin typeface="Arial"/>
              <a:ea typeface="Arial"/>
              <a:cs typeface="Arial"/>
            </a:endParaRPr>
          </a:p>
          <a:p xmlns:a="http://schemas.openxmlformats.org/drawingml/2006/main">
            <a:r>
              <a:t>The increasing measured total-thickness envelope may contribute when the predicted fraction extrapolates poorly, but we have not established that as the cause. A monotonicity or physics prior must be tested rather than assumed to fix this failure.</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TRANSITION</a:t>
            </a:r>
            <a:endParaRPr>
              <a:latin typeface="Arial"/>
              <a:ea typeface="Arial"/>
              <a:cs typeface="Arial"/>
            </a:endParaRPr>
          </a:p>
          <a:p xmlns:a="http://schemas.openxmlformats.org/drawingml/2006/main">
            <a:r>
              <a:t>The larger synthetic study answers a different question: how the model fits the represented generated distribution.</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TECHNICAL REFERENCE AND SOURCES</a:t>
            </a:r>
            <a:endParaRPr>
              <a:latin typeface="Arial"/>
              <a:ea typeface="Arial"/>
              <a:cs typeface="Arial"/>
            </a:endParaRPr>
          </a:p>
          <a:p xmlns:a="http://schemas.openxmlformats.org/drawingml/2006/main">
            <a:r>
              <a:t>Legacy v0.1 extrapolation uses 36 training, 12 validation and 10 test rows. RF RMSE is 0.029366 and R2 -0.724719, GB RMSE 0.029637 and R2 -0.756752. Test bonded values range only 0.50 to 0.57 nm, so R2 is highly sensitive to small error. At recorded concentration 10 the PINN predicts about 1.839 nm for observed 0.51 nm, still below measured total 13.18 nm. Multiplication by increasing total may contribute to error when the learned fraction extrapolates poorly. This is a plausible explanation, not a proven mechanism. No subsequent tuning used this test.</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https://github.com/aadams2006/Pitt-ML-MSE-Project/tree/c771a486fe82b1ea13e7a70e156f64f01db03128/PINN/runs/legacy_initial_extrapolation/metrics.csv</a:t>
            </a:r>
            <a:endParaRPr>
              <a:latin typeface="Arial"/>
              <a:ea typeface="Arial"/>
              <a:cs typeface="Arial"/>
            </a:endParaRPr>
          </a:p>
          <a:p xmlns:a="http://schemas.openxmlformats.org/drawingml/2006/main">
            <a:r>
              <a:t>https://github.com/aadams2006/Pitt-ML-MSE-Project/tree/c771a486fe82b1ea13e7a70e156f64f01db03128/PINN/runs/legacy_initial_extrapolation/predictions.csv</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endParaRPr>
              <a:latin typeface="Arial"/>
              <a:ea typeface="Arial"/>
              <a:cs typeface="Arial"/>
            </a:endParaRPr>
          </a:p>
          <a:p xmlns:a="http://schemas.openxmlformats.org/drawingml/2006/main">
            <a:r>
              <a:t>This benchmark uses the 2,808 retained synthetic rows, seven inputs, and 442 shared held-out rows. The PINN's RMSE is about 0.0557 nanometers and its R-squared is about 0.905. This indicates a reasonably close fit within this synthetic test distribution. Random forest still has the lowest error, about 0.0359 nanometers. The bounded and standard neural networks are also slightly better than the default PINN on this split, so we still do not have evidence that the curvature term improves accuracy. These results cannot be compared directly with the measured benchmark as an experimental improvement. The data source, feature count, and distribution all changed. Zero observed bound violations again describes these test rows, while the architecture provides the explicit global range restriction for valid totals.</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TRANSITION</a:t>
            </a:r>
            <a:endParaRPr>
              <a:latin typeface="Arial"/>
              <a:ea typeface="Arial"/>
              <a:cs typeface="Arial"/>
            </a:endParaRPr>
          </a:p>
          <a:p xmlns:a="http://schemas.openxmlformats.org/drawingml/2006/main">
            <a:r>
              <a:t>The parity plots make the individual prediction errors easier to see.</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TECHNICAL REFERENCE AND SOURCES</a:t>
            </a:r>
            <a:endParaRPr>
              <a:latin typeface="Arial"/>
              <a:ea typeface="Arial"/>
              <a:cs typeface="Arial"/>
            </a:endParaRPr>
          </a:p>
          <a:p xmlns:a="http://schemas.openxmlformats.org/drawingml/2006/main">
            <a:r>
              <a:t>PINN MAE 0.043595 nm, RMSE 0.055718 nm, R2 0.905199. RF MAE 0.020570 nm, RMSE 0.035903 nm, R2 0.960637. This is one synthetic-distribution holdout with seed 42. It cannot be compared as an accuracy improvement over the 58-row measured study because data, feature count, regime composition and test distribution differ. Synthetic siblings and generator statistics may leak without parent provenance. All test violation fractions are zero.</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https://github.com/aadams2006/Pitt-ML-MSE-Project/tree/c771a486fe82b1ea13e7a70e156f64f01db03128/PINN/runs/v020_synthetic_grouped/metrics.csv</a:t>
            </a:r>
            <a:endParaRPr>
              <a:latin typeface="Arial"/>
              <a:ea typeface="Arial"/>
              <a:cs typeface="Arial"/>
            </a:endParaRPr>
          </a:p>
          <a:p xmlns:a="http://schemas.openxmlformats.org/drawingml/2006/main">
            <a:r>
              <a:t>https://github.com/aadams2006/Pitt-ML-MSE-Project/tree/c771a486fe82b1ea13e7a70e156f64f01db03128/PINN/SYNTHETIC_BENCHMARK.md</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endParaRPr>
              <a:latin typeface="Arial"/>
              <a:ea typeface="Arial"/>
              <a:cs typeface="Arial"/>
            </a:endParaRPr>
          </a:p>
          <a:p xmlns:a="http://schemas.openxmlformats.org/drawingml/2006/main">
            <a:r>
              <a:t>Each point represents one of the same 442 held-out synthetic rows. Observed bonded thickness is on the horizontal axis and predicted bonded thickness is on the vertical axis. A perfect prediction lies on the diagonal. Points above the line are overpredictions, and points below it are underpredictions. Both panels use matching axes, so we can compare the scatter fairly. The random-forest predictions lie closer to the diagonal overall, consistent with its lower RMSE. The PINN shows a wider spread, especially in parts of the lower and middle range. Overlapping points may hide repeated or very similar synthetic examples. Their density should not be interpreted as an equal number of independent laboratory observations.</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IF ASKED</a:t>
            </a:r>
            <a:endParaRPr>
              <a:latin typeface="Arial"/>
              <a:ea typeface="Arial"/>
              <a:cs typeface="Arial"/>
            </a:endParaRPr>
          </a:p>
          <a:p xmlns:a="http://schemas.openxmlformats.org/drawingml/2006/main">
            <a:r>
              <a:t>These plots show prediction agreement, not calibrated uncertainty. The spread of points does not give a confidence interval for a new experimental sample.</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TRANSITION</a:t>
            </a:r>
            <a:endParaRPr>
              <a:latin typeface="Arial"/>
              <a:ea typeface="Arial"/>
              <a:cs typeface="Arial"/>
            </a:endParaRPr>
          </a:p>
          <a:p xmlns:a="http://schemas.openxmlformats.org/drawingml/2006/main">
            <a:r>
              <a:t>We then changed one loss setting to investigate the concentration-monotonicity hypothesis.</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TECHNICAL REFERENCE AND SOURCES</a:t>
            </a:r>
            <a:endParaRPr>
              <a:latin typeface="Arial"/>
              <a:ea typeface="Arial"/>
              <a:cs typeface="Arial"/>
            </a:endParaRPr>
          </a:p>
          <a:p xmlns:a="http://schemas.openxmlformats.org/drawingml/2006/main">
            <a:r>
              <a:t>Each point is one archived held-out synthetic row. Axes are equal in both panels, from 0.15 to 1.15 nm, and the gray diagonal marks predicted=observed. Repeated or overlapping points are not jittered. The raw dataset contains synthetic replicates, so apparent point density does not indicate independent experimental replication. Random forest predictions lie closer to the diagonal on this run.</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https://github.com/aadams2006/Pitt-ML-MSE-Project/tree/c771a486fe82b1ea13e7a70e156f64f01db03128/PINN/runs/v020_synthetic_grouped/predictions.csv</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endParaRPr>
              <a:latin typeface="Arial"/>
              <a:ea typeface="Arial"/>
              <a:cs typeface="Arial"/>
            </a:endParaRPr>
          </a:p>
          <a:p xmlns:a="http://schemas.openxmlformats.org/drawingml/2006/main">
            <a:r>
              <a:t>An ablation is a controlled comparison in which we change one component while holding the rest fixed. Here we added a penalty against negative concentration slopes. A partial derivative asks how the model changes with concentration while the other model inputs are held fixed. The fraction of training rows with a negative local concentration slope fell from about 43.44 percent to 40.99 percent. That is a modest reduction, rather than a guarantee of monotonic behavior everywhere. Held-out RMSE became slightly worse, from about 0.055718 to 0.056009 nanometers. The bars break the training-gradient diagnostic into viscosity-associated groups. These correlated synthetic solvent groups do not isolate a causal viscosity effect. This experiment therefore tests a hypothesis and does not justify adopting the penalty as the default.</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IF ASKED</a:t>
            </a:r>
            <a:endParaRPr>
              <a:latin typeface="Arial"/>
              <a:ea typeface="Arial"/>
              <a:cs typeface="Arial"/>
            </a:endParaRPr>
          </a:p>
          <a:p xmlns:a="http://schemas.openxmlformats.org/drawingml/2006/main">
            <a:r>
              <a:t>The slope percentages are training-set diagnostics; they were not estimated by tuning to the test set. A soft local penalty can leave violations and can trade off against data fit.</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TRANSITION</a:t>
            </a:r>
            <a:endParaRPr>
              <a:latin typeface="Arial"/>
              <a:ea typeface="Arial"/>
              <a:cs typeface="Arial"/>
            </a:endParaRPr>
          </a:p>
          <a:p xmlns:a="http://schemas.openxmlformats.org/drawingml/2006/main">
            <a:r>
              <a:t>The learning curves show another part of the initial testing: how the fitting process evolved over time.</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TECHNICAL REFERENCE AND SOURCES</a:t>
            </a:r>
            <a:endParaRPr>
              <a:latin typeface="Arial"/>
              <a:ea typeface="Arial"/>
              <a:cs typeface="Arial"/>
            </a:endParaRPr>
          </a:p>
          <a:p xmlns:a="http://schemas.openxmlformats.org/drawingml/2006/main">
            <a:r>
              <a:t>Ablation sets monotonic_weight=.01 and sign +1 on concentration only. Architecture, seed, preprocessing, split and other weights match the default run. Fractions come from training-only gradients, not test data. Default pooled negative fraction .434405, ablation .409903. Cohorts are solvent-associated viscosities .377, .423 and .68 cP. In the .377 cohort the training Spearman association is only .100041. A soft local penalty does not guarantee global monotonicity, and synthetic correlation is not evidence of causal chemistry. Keep this hypothesis separate from the default.</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https://github.com/aadams2006/Pitt-ML-MSE-Project/tree/c771a486fe82b1ea13e7a70e156f64f01db03128/PINN/runs/v020_synthetic_grouped/training_trend_diagnostics.csv</a:t>
            </a:r>
            <a:endParaRPr>
              <a:latin typeface="Arial"/>
              <a:ea typeface="Arial"/>
              <a:cs typeface="Arial"/>
            </a:endParaRPr>
          </a:p>
          <a:p xmlns:a="http://schemas.openxmlformats.org/drawingml/2006/main">
            <a:r>
              <a:t>https://github.com/aadams2006/Pitt-ML-MSE-Project/tree/c771a486fe82b1ea13e7a70e156f64f01db03128/PINN/runs/v020_synthetic_concentration_monotonic/training_trend_diagnostics.csv</a:t>
            </a:r>
            <a:endParaRPr>
              <a:latin typeface="Arial"/>
              <a:ea typeface="Arial"/>
              <a:cs typeface="Arial"/>
            </a:endParaRPr>
          </a:p>
          <a:p xmlns:a="http://schemas.openxmlformats.org/drawingml/2006/main">
            <a:r>
              <a:t>https://github.com/aadams2006/Pitt-ML-MSE-Project/tree/c771a486fe82b1ea13e7a70e156f64f01db03128/PINN/config_synthetic_monotonic.json</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endParaRPr>
              <a:latin typeface="Arial"/>
              <a:ea typeface="Arial"/>
              <a:cs typeface="Arial"/>
            </a:endParaRPr>
          </a:p>
          <a:p xmlns:a="http://schemas.openxmlformats.org/drawingml/2006/main">
            <a:r>
              <a:t>The horizontal axis counts epochs, or repeated full-training-set optimization steps. The vertical axis shows the base-ten logarithm of normalized mean squared error. The logarithm lets us see large early errors and smaller later errors on the same plot. A vertical value of zero corresponds to normalized error one, and minus one corresponds to 0.1, so a decrease of one unit means a tenfold reduction. The blue line is training error and the gold line is validation error on rows not used for parameter updates. In the measured run, validation selected epoch 76 and patience stopped training at 226. In the synthetic run, the selected checkpoint was the final allowed epoch, 1,500. That motivates a validation-based study of the optimization budget; it does not promise better test performance from longer training.</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IF ASKED</a:t>
            </a:r>
            <a:endParaRPr>
              <a:latin typeface="Arial"/>
              <a:ea typeface="Arial"/>
              <a:cs typeface="Arial"/>
            </a:endParaRPr>
          </a:p>
          <a:p xmlns:a="http://schemas.openxmlformats.org/drawingml/2006/main">
            <a:r>
              <a:t>Different runs normalize by different training target scales, so these plots describe optimization within each run rather than comparing absolute nanometer accuracy across datasets. A training-validation gap can suggest overfitting, but the plot alone does not establish a single cause.</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TRANSITION</a:t>
            </a:r>
            <a:endParaRPr>
              <a:latin typeface="Arial"/>
              <a:ea typeface="Arial"/>
              <a:cs typeface="Arial"/>
            </a:endParaRPr>
          </a:p>
          <a:p xmlns:a="http://schemas.openxmlformats.org/drawingml/2006/main">
            <a:r>
              <a:t>These diagnostics also guide which architecture changes are worth trying next.</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TECHNICAL REFERENCE AND SOURCES</a:t>
            </a:r>
            <a:endParaRPr>
              <a:latin typeface="Arial"/>
              <a:ea typeface="Arial"/>
              <a:cs typeface="Arial"/>
            </a:endParaRPr>
          </a:p>
          <a:p xmlns:a="http://schemas.openxmlformats.org/drawingml/2006/main">
            <a:r>
              <a:t>Charts use log10 of archived normalized data-loss and validation-loss histories. Log display retains the full initial and final loss ranges without clipping. A value of -1 means normalized MSE=0.1, 0 means 1, and 3 means 1000. The normalization uses each run training target standard deviation, so charts describe within-run optimization rather than comparing absolute nm errors across datasets. Figure samples every fifth measured epoch and every 25th synthetic epoch plus endpoints. All three synthetic neural models selected epoch 1500. Test results never select epochs.</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https://github.com/aadams2006/Pitt-ML-MSE-Project/tree/c771a486fe82b1ea13e7a70e156f64f01db03128/PINN/runs/v020_experimental_grouped/pinn_history.csv</a:t>
            </a:r>
            <a:endParaRPr>
              <a:latin typeface="Arial"/>
              <a:ea typeface="Arial"/>
              <a:cs typeface="Arial"/>
            </a:endParaRPr>
          </a:p>
          <a:p xmlns:a="http://schemas.openxmlformats.org/drawingml/2006/main">
            <a:r>
              <a:t>https://github.com/aadams2006/Pitt-ML-MSE-Project/tree/c771a486fe82b1ea13e7a70e156f64f01db03128/PINN/runs/v020_synthetic_grouped/pinn_history.csv</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endParaRPr>
              <a:latin typeface="Arial"/>
              <a:ea typeface="Arial"/>
              <a:cs typeface="Arial"/>
            </a:endParaRPr>
          </a:p>
          <a:p xmlns:a="http://schemas.openxmlformats.org/drawingml/2006/main">
            <a:r>
              <a:t>An architecture specifies how the model's mathematical operations are connected. Our initial choice is a compact multilayer perceptron, or MLP, which maps a short list of numerical inputs to a scalar prediction. Tanh makes it smooth enough for the derivative penalties. More elaborate choices address specific problems. A modified or gated MLP can help when different loss terms produce competing training gradients. Fourier features add sinusoidal representations that can describe variation at different scales, but could also fit noise without sufficient evidence. A Bayesian PINN represents uncertainty in fitted quantities, which still requires checking that uncertainty against measurements. DeepONet and Fourier Neural Operator learn mappings between functions or fields. Our present table contains scalar inputs and outputs, so those operator models are not the immediate next step.</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IF ASKED</a:t>
            </a:r>
            <a:endParaRPr>
              <a:latin typeface="Arial"/>
              <a:ea typeface="Arial"/>
              <a:cs typeface="Arial"/>
            </a:endParaRPr>
          </a:p>
          <a:p xmlns:a="http://schemas.openxmlformats.org/drawingml/2006/main">
            <a:r>
              <a:t>The literature motivates candidate methods; it does not establish an adsorption law for this material system. We should choose added complexity in response to a demonstrated failure and evaluate it on the same protected test structure.</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TRANSITION</a:t>
            </a:r>
            <a:endParaRPr>
              <a:latin typeface="Arial"/>
              <a:ea typeface="Arial"/>
              <a:cs typeface="Arial"/>
            </a:endParaRPr>
          </a:p>
          <a:p xmlns:a="http://schemas.openxmlformats.org/drawingml/2006/main">
            <a:r>
              <a:t>To make those comparisons meaningful, each experiment needs a clear record.</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TECHNICAL REFERENCE AND SOURCES</a:t>
            </a:r>
            <a:endParaRPr>
              <a:latin typeface="Arial"/>
              <a:ea typeface="Arial"/>
              <a:cs typeface="Arial"/>
            </a:endParaRPr>
          </a:p>
          <a:p xmlns:a="http://schemas.openxmlformats.org/drawingml/2006/main">
            <a:r>
              <a:t>Literature is methodological background rather than evidence of a PDMS adsorption law. The sigmoid envelope is our algebraic project parameterization, not a reproduction of Lu et al. hPINN augmented-Lagrangian optimization. Operator architectures need function-valued input/output structure absent from three/seven scalar predictors. Full verified source links appear on the reference slide and in the repository literature review.</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https://github.com/aadams2006/Pitt-ML-MSE-Project/tree/c771a486fe82b1ea13e7a70e156f64f01db03128/PINN/LITERATURE_REVIEW.md</a:t>
            </a:r>
            <a:endParaRPr>
              <a:latin typeface="Arial"/>
              <a:ea typeface="Arial"/>
              <a:cs typeface="Arial"/>
            </a:endParaRPr>
          </a:p>
          <a:p xmlns:a="http://schemas.openxmlformats.org/drawingml/2006/main">
            <a:r>
              <a:t>https://doi.org/10.1016/j.jcp.2018.10.045</a:t>
            </a:r>
            <a:endParaRPr>
              <a:latin typeface="Arial"/>
              <a:ea typeface="Arial"/>
              <a:cs typeface="Arial"/>
            </a:endParaRPr>
          </a:p>
          <a:p xmlns:a="http://schemas.openxmlformats.org/drawingml/2006/main">
            <a:r>
              <a:t>https://arxiv.org/abs/2001.04536</a:t>
            </a:r>
            <a:endParaRPr>
              <a:latin typeface="Arial"/>
              <a:ea typeface="Arial"/>
              <a:cs typeface="Arial"/>
            </a:endParaRPr>
          </a:p>
          <a:p xmlns:a="http://schemas.openxmlformats.org/drawingml/2006/main">
            <a:r>
              <a:t>https://arxiv.org/abs/2012.10047</a:t>
            </a:r>
            <a:endParaRPr>
              <a:latin typeface="Arial"/>
              <a:ea typeface="Arial"/>
              <a:cs typeface="Arial"/>
            </a:endParaRPr>
          </a:p>
          <a:p xmlns:a="http://schemas.openxmlformats.org/drawingml/2006/main">
            <a:r>
              <a:t>https://arxiv.org/abs/2003.06097</a:t>
            </a:r>
            <a:endParaRPr>
              <a:latin typeface="Arial"/>
              <a:ea typeface="Arial"/>
              <a:cs typeface="Arial"/>
            </a:endParaRPr>
          </a:p>
          <a:p xmlns:a="http://schemas.openxmlformats.org/drawingml/2006/main">
            <a:r>
              <a:t>https://www.nature.com/articles/s42256-021-00302-5</a:t>
            </a:r>
            <a:endParaRPr>
              <a:latin typeface="Arial"/>
              <a:ea typeface="Arial"/>
              <a:cs typeface="Arial"/>
            </a:endParaRPr>
          </a:p>
          <a:p xmlns:a="http://schemas.openxmlformats.org/drawingml/2006/main">
            <a:r>
              <a:t>https://arxiv.org/abs/2010.08895</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endParaRPr>
              <a:latin typeface="Arial"/>
              <a:ea typeface="Arial"/>
              <a:cs typeface="Arial"/>
            </a:endParaRPr>
          </a:p>
          <a:p xmlns:a="http://schemas.openxmlformats.org/drawingml/2006/main">
            <a:r>
              <a:t>Each row identifies a distinct archived experiment, including the implementation version and its PINN result. The newer runs record execution times prospectively. The older runs did not record those times, so they remain unknown instead of being reconstructed from file modification dates. Reproducibility also needs more than a timestamp. We preserve the exact settings, source snapshot, data identity, partition membership, predictions, and selected checkpoint. A checkpoint is the saved set of learned network parameters. A hash is a compact digital fingerprint that changes if the underlying bytes change. The integrity checks confirm consistency of the saved artifacts with the published versions. They help us reproduce and audit the experiment; they do not prove the physical hypothesis or scientific conclusion.</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TRANSITION</a:t>
            </a:r>
            <a:endParaRPr>
              <a:latin typeface="Arial"/>
              <a:ea typeface="Arial"/>
              <a:cs typeface="Arial"/>
            </a:endParaRPr>
          </a:p>
          <a:p xmlns:a="http://schemas.openxmlformats.org/drawingml/2006/main">
            <a:r>
              <a:t>Putting the results together, here is what we can and cannot conclude at this stage.</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TECHNICAL REFERENCE AND SOURCES</a:t>
            </a:r>
            <a:endParaRPr>
              <a:latin typeface="Arial"/>
              <a:ea typeface="Arial"/>
              <a:cs typeface="Arial"/>
            </a:endParaRPr>
          </a:p>
          <a:p xmlns:a="http://schemas.openxmlformats.org/drawingml/2006/main">
            <a:r>
              <a:t>Legacy start/end execution times were never recorded. Their file modification times are approximate archival evidence and are not presented as execution timestamps. Three v0.2 runs capture UTC and America/New_York times prospectively. Code version plus exact source hash and source snapshot is authoritative when the worktree differed from its Git base. The v0.2 Git-status path-scope bug was corrected and annotated without changing scientific results. Byte-preserving attributes and a later Git renormalization repair preserve archive hashes. Source, models, raw/processed identity, predictions and runs are published on branch codex/pinn-physics-and-run-tracking, draft PR #6. Future runs record automatically but require a commit/push to publish.</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https://github.com/aadams2006/Pitt-ML-MSE-Project/tree/c771a486fe82b1ea13e7a70e156f64f01db03128/PINN/RUN_LOG.md</a:t>
            </a:r>
            <a:endParaRPr>
              <a:latin typeface="Arial"/>
              <a:ea typeface="Arial"/>
              <a:cs typeface="Arial"/>
            </a:endParaRPr>
          </a:p>
          <a:p xmlns:a="http://schemas.openxmlformats.org/drawingml/2006/main">
            <a:r>
              <a:t>https://github.com/aadams2006/Pitt-ML-MSE-Project/tree/c771a486fe82b1ea13e7a70e156f64f01db03128/PINN/run_tracking.py</a:t>
            </a:r>
            <a:endParaRPr>
              <a:latin typeface="Arial"/>
              <a:ea typeface="Arial"/>
              <a:cs typeface="Arial"/>
            </a:endParaRPr>
          </a:p>
          <a:p xmlns:a="http://schemas.openxmlformats.org/drawingml/2006/main">
            <a:r>
              <a:t>https://github.com/aadams2006/Pitt-ML-MSE-Project/tree/c771a486fe82b1ea13e7a70e156f64f01db03128/PINN/verify_runs.py</a:t>
            </a:r>
            <a:endParaRPr>
              <a:latin typeface="Arial"/>
              <a:ea typeface="Arial"/>
              <a:cs typeface="Arial"/>
            </a:endParaRPr>
          </a:p>
          <a:p xmlns:a="http://schemas.openxmlformats.org/drawingml/2006/main">
            <a:r>
              <a:t>https://github.com/aadams2006/Pitt-ML-MSE-Project/pull/6</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endParaRPr>
              <a:latin typeface="Arial"/>
              <a:ea typeface="Arial"/>
              <a:cs typeface="Arial"/>
            </a:endParaRPr>
          </a:p>
          <a:p xmlns:a="http://schemas.openxmlformats.org/drawingml/2006/main">
            <a:r>
              <a:t>The bounded output construction guarantees a physically allowed thickness range for valid total-thickness inputs. That is a useful property, but it is different from predictive accuracy. On the current measured holdout, the tree baselines outperform the PINN. On the synthetic holdout, the PINN fits the represented distribution, but random forest remains stronger. The current model also uses measured film-state information, including total thickness, so it is not yet a recipe-only predictor. Independent experimental batches and synthetic parent identities still matter for evaluating generalization, meaning performance on genuinely new cases. We have not established calibrated uncertainty, a governing adsorption equation, or a causal mechanism. Finally, the additional loss values are available, but those datasets still need aggregation and preprocessing before we can report their effect.</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TRANSITION</a:t>
            </a:r>
            <a:endParaRPr>
              <a:latin typeface="Arial"/>
              <a:ea typeface="Arial"/>
              <a:cs typeface="Arial"/>
            </a:endParaRPr>
          </a:p>
          <a:p xmlns:a="http://schemas.openxmlformats.org/drawingml/2006/main">
            <a:r>
              <a:t>The next steps focus first on preparing those available data, then on testing whether each additional loss improves measured-data predictions.</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TECHNICAL REFERENCE AND SOURCES</a:t>
            </a:r>
            <a:endParaRPr>
              <a:latin typeface="Arial"/>
              <a:ea typeface="Arial"/>
              <a:cs typeface="Arial"/>
            </a:endParaRPr>
          </a:p>
          <a:p xmlns:a="http://schemas.openxmlformats.org/drawingml/2006/main">
            <a:r>
              <a:t>These are single-seed, single-split exploratory tests. Test-set concentration ranges, solvent combinations, independent replicate count, source-unit ambiguity and target algebraic coupling limit causal and deployment claims. The high-concentration test demonstrates that staying within a bound does not ensure accurate extrapolation. No accuracy benefit from default curvature or the tested positive monotonicity penalty is established here.</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https://github.com/aadams2006/Pitt-ML-MSE-Project/tree/c771a486fe82b1ea13e7a70e156f64f01db03128/PINN/DESIGN_DECISIONS.md</a:t>
            </a:r>
            <a:endParaRPr>
              <a:latin typeface="Arial"/>
              <a:ea typeface="Arial"/>
              <a:cs typeface="Arial"/>
            </a:endParaRPr>
          </a:p>
          <a:p xmlns:a="http://schemas.openxmlformats.org/drawingml/2006/main">
            <a:r>
              <a:t>https://github.com/aadams2006/Pitt-ML-MSE-Project/tree/c771a486fe82b1ea13e7a70e156f64f01db03128/PINN/INITIAL_RESULTS.md</a:t>
            </a:r>
            <a:endParaRPr>
              <a:latin typeface="Arial"/>
              <a:ea typeface="Arial"/>
              <a:cs typeface="Arial"/>
            </a:endParaRPr>
          </a:p>
          <a:p xmlns:a="http://schemas.openxmlformats.org/drawingml/2006/main">
            <a:r>
              <a:t>https://github.com/aadams2006/Pitt-ML-MSE-Project/tree/c771a486fe82b1ea13e7a70e156f64f01db03128/PINN/SYNTHETIC_BENCHMARK.md</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endParaRPr>
              <a:latin typeface="Arial"/>
              <a:ea typeface="Arial"/>
              <a:cs typeface="Arial"/>
            </a:endParaRPr>
          </a:p>
          <a:p xmlns:a="http://schemas.openxmlformats.org/drawingml/2006/main">
            <a:r>
              <a:t>Our immediate priority is to aggregate the available datasets and make the quantities consistent across matched samples. That means aligning sample identities, confirming units, checking values and timing, and producing model-ready tables. We can then preprocess the available physics inputs, verify the applicability conditions, and enable the remaining loss terms one at a time. That controlled sequence lets us identify which term contributes to a change. We should also repeat random seeds and use grouped cross-validation, which rotates independent groups through held-out roles to assess stability. New independent experiments should remain reserved as a final test. If we study synthetic augmentation, we must split the measured parents before generating training examples. The decision criterion is improved performance on protected measured tests, rather than only a lower training loss or a better synthetic score.</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IF ASKED</a:t>
            </a:r>
            <a:endParaRPr>
              <a:latin typeface="Arial"/>
              <a:ea typeface="Arial"/>
              <a:cs typeface="Arial"/>
            </a:endParaRPr>
          </a:p>
          <a:p xmlns:a="http://schemas.openxmlformats.org/drawingml/2006/main">
            <a:r>
              <a:t>Available measurements do not remove the need for preprocessing or applicability checks. The current holdout results are already exploratory, so repeated model decisions should ultimately be assessed on fresh independent data.</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TRANSITION</a:t>
            </a:r>
            <a:endParaRPr>
              <a:latin typeface="Arial"/>
              <a:ea typeface="Arial"/>
              <a:cs typeface="Arial"/>
            </a:endParaRPr>
          </a:p>
          <a:p xmlns:a="http://schemas.openxmlformats.org/drawingml/2006/main">
            <a:r>
              <a:t>The final slide lists the methodological references and the repository containing the evidence behind this update.</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TECHNICAL REFERENCE AND SOURCES</a:t>
            </a:r>
            <a:endParaRPr>
              <a:latin typeface="Arial"/>
              <a:ea typeface="Arial"/>
              <a:cs typeface="Arial"/>
            </a:endParaRPr>
          </a:p>
          <a:p xmlns:a="http://schemas.openxmlformats.org/drawingml/2006/main">
            <a:r>
              <a:t>Alexander Adams confirmed on October 14, 2026 that values for all loss functions are available. The immediate task is to aggregate the datasets, align sample identities, harmonize units and preprocess the values into model-ready tables. Then validate applicability and run controlled loss-by-loss ablations on shared splits. Availability does not imply these terms were used in the archived runs or that their effect on accuracy is established. No new numerical result is promised here. Proposed saturation or adsorption parameterizations still need physical evidence and identifiability checks. Split measured experiments before generating synthetic training rows and keep the test frozen during tuning.</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https://github.com/aadams2006/Pitt-ML-MSE-Project/tree/c771a486fe82b1ea13e7a70e156f64f01db03128/PINN/DESIGN_DECISIONS.md</a:t>
            </a:r>
            <a:endParaRPr>
              <a:latin typeface="Arial"/>
              <a:ea typeface="Arial"/>
              <a:cs typeface="Arial"/>
            </a:endParaRPr>
          </a:p>
          <a:p xmlns:a="http://schemas.openxmlformats.org/drawingml/2006/main">
            <a:r>
              <a:t>https://github.com/aadams2006/Pitt-ML-MSE-Project/tree/c771a486fe82b1ea13e7a70e156f64f01db03128/PINN/PHYSICS_CONSTRAINTS.md</a:t>
            </a:r>
            <a:endParaRPr>
              <a:latin typeface="Arial"/>
              <a:ea typeface="Arial"/>
              <a:cs typeface="Arial"/>
            </a:endParaRPr>
          </a:p>
          <a:p xmlns:a="http://schemas.openxmlformats.org/drawingml/2006/main">
            <a:r>
              <a:t>https://github.com/aadams2006/Pitt-ML-MSE-Project/tree/c771a486fe82b1ea13e7a70e156f64f01db03128/PINN/SYNTHETIC_BENCHMARK.md</a:t>
            </a:r>
            <a:endParaRPr>
              <a:latin typeface="Arial"/>
              <a:ea typeface="Arial"/>
              <a:cs typeface="Arial"/>
            </a:endParaRPr>
          </a:p>
          <a:p xmlns:a="http://schemas.openxmlformats.org/drawingml/2006/main">
            <a:r>
              <a:t>Project status clarification from Alexander Adams, October 14, 2026</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SCRIPT</a:t>
            </a:r>
            <a:endParaRPr>
              <a:latin typeface="Arial"/>
              <a:ea typeface="Arial"/>
              <a:cs typeface="Arial"/>
            </a:endParaRPr>
          </a:p>
          <a:p xmlns:a="http://schemas.openxmlformats.org/drawingml/2006/main">
            <a:r>
              <a:t>These papers provide background for physics-informed learning, hard constraints, training difficulties, and possible alternative architectures. They are methodological references, rather than evidence that a particular bonded-thickness mechanism applies here. The repository contains the implementation, design decisions, data audit, experiment register, and archived numerical outputs used in the figures. The results shown are through October 11, with the October 14 clarification that all proposed loss values are available and the remaining datasets need aggregation and preprocessing. For discussion, the main near-term decision is how to combine and validate those datasets before comparing the additional losses on consistent splits.</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TECHNICAL REFERENCE AND SOURCES</a:t>
            </a:r>
            <a:endParaRPr>
              <a:latin typeface="Arial"/>
              <a:ea typeface="Arial"/>
              <a:cs typeface="Arial"/>
            </a:endParaRPr>
          </a:p>
          <a:p xmlns:a="http://schemas.openxmlformats.org/drawingml/2006/main">
            <a:r>
              <a:t>Architecture citations are the reviewed papers, not newly generated research claims. The deck uses the five archived PINN runs and the requested reference theme. The classical LLD coefficient and applicability discussion are sourced on slide 9. Data, code, run manifests and predictions identify all quantitative figures. Meeting date: October 14, 2026. Result cutoff: October 11, 2026.</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https://doi.org/10.1016/j.jcp.2018.10.045</a:t>
            </a:r>
            <a:endParaRPr>
              <a:latin typeface="Arial"/>
              <a:ea typeface="Arial"/>
              <a:cs typeface="Arial"/>
            </a:endParaRPr>
          </a:p>
          <a:p xmlns:a="http://schemas.openxmlformats.org/drawingml/2006/main">
            <a:r>
              <a:t>https://arxiv.org/abs/2102.04626</a:t>
            </a:r>
            <a:endParaRPr>
              <a:latin typeface="Arial"/>
              <a:ea typeface="Arial"/>
              <a:cs typeface="Arial"/>
            </a:endParaRPr>
          </a:p>
          <a:p xmlns:a="http://schemas.openxmlformats.org/drawingml/2006/main">
            <a:r>
              <a:t>https://doi.org/10.1137/20M1318043</a:t>
            </a:r>
            <a:endParaRPr>
              <a:latin typeface="Arial"/>
              <a:ea typeface="Arial"/>
              <a:cs typeface="Arial"/>
            </a:endParaRPr>
          </a:p>
          <a:p xmlns:a="http://schemas.openxmlformats.org/drawingml/2006/main">
            <a:r>
              <a:t>https://doi.org/10.1016/j.cma.2021.113938</a:t>
            </a:r>
            <a:endParaRPr>
              <a:latin typeface="Arial"/>
              <a:ea typeface="Arial"/>
              <a:cs typeface="Arial"/>
            </a:endParaRPr>
          </a:p>
          <a:p xmlns:a="http://schemas.openxmlformats.org/drawingml/2006/main">
            <a:r>
              <a:t>https://doi.org/10.1016/j.jcp.2020.109913</a:t>
            </a:r>
            <a:endParaRPr>
              <a:latin typeface="Arial"/>
              <a:ea typeface="Arial"/>
              <a:cs typeface="Arial"/>
            </a:endParaRPr>
          </a:p>
          <a:p xmlns:a="http://schemas.openxmlformats.org/drawingml/2006/main">
            <a:r>
              <a:t>https://www.nature.com/articles/s42256-021-00302-5</a:t>
            </a:r>
            <a:endParaRPr>
              <a:latin typeface="Arial"/>
              <a:ea typeface="Arial"/>
              <a:cs typeface="Arial"/>
            </a:endParaRPr>
          </a:p>
          <a:p xmlns:a="http://schemas.openxmlformats.org/drawingml/2006/main">
            <a:r>
              <a:t>https://arxiv.org/abs/2010.08895</a:t>
            </a:r>
            <a:endParaRPr>
              <a:latin typeface="Arial"/>
              <a:ea typeface="Arial"/>
              <a:cs typeface="Arial"/>
            </a:endParaRPr>
          </a:p>
          <a:p xmlns:a="http://schemas.openxmlformats.org/drawingml/2006/main">
            <a:r>
              <a:t>https://github.com/aadams2006/Pitt-ML-MSE-Project/tree/c771a486fe82b1ea13e7a70e156f64f01db03128/PINN/LITERATURE_REVIEW.md</a:t>
            </a:r>
            <a:endParaRPr>
              <a:latin typeface="Arial"/>
              <a:ea typeface="Arial"/>
              <a:cs typeface="Arial"/>
            </a:endParaRPr>
          </a:p>
          <a:p xmlns:a="http://schemas.openxmlformats.org/drawingml/2006/main">
            <a:r>
              <a:t>https://github.com/aadams2006/Pitt-ML-MSE-Project/tree/c771a486fe82b1ea13e7a70e156f64f01db03128/PINN/RUN_LOG.md</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ffa44d268d9401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e85a0200eae4fe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ecede08ce9b400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50107142ac24b4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b87963c8f45459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87a19b3f5b7489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0d9f9dc6f8194faa"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fe5b88fa9f26464c"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1974cc0fb15f4e37"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45ead375ded44816"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2d34e6eac07340bb"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F3519B7-3883-4256-AD28-2878A12C7BA2}"/>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5D07BAA1-1016-4990-9F55-6B68C839CE8C}"/>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xmlns:a="http://schemas.openxmlformats.org/drawingml/2006/main">
            <a:r>
              <a:t>Click to edit Master subtitle style</a:t>
            </a:r>
          </a:p>
        </p:txBody>
      </p:sp>
      <p:sp>
        <p:nvSpPr>
          <p:cNvPr id="4" name="Rectangle 4">
            <a:extLst xmlns:a="http://schemas.openxmlformats.org/drawingml/2006/main">
              <a:ext uri="{FF2B5EF4-FFF2-40B4-BE49-F238E27FC236}">
                <a16:creationId xmlns:a16="http://schemas.microsoft.com/office/drawing/2014/main" id="{4C46B55D-4FDD-4E0F-8C26-D4FEF5357B5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r>
              <a:t>19 Oct 2009</a:t>
            </a:r>
          </a:p>
        </p:txBody>
      </p:sp>
      <p:sp>
        <p:nvSpPr>
          <p:cNvPr id="5" name="Rectangle 5">
            <a:extLst xmlns:a="http://schemas.openxmlformats.org/drawingml/2006/main">
              <a:ext uri="{FF2B5EF4-FFF2-40B4-BE49-F238E27FC236}">
                <a16:creationId xmlns:a16="http://schemas.microsoft.com/office/drawing/2014/main" id="{4171307C-C51C-4D07-8C44-B366E36D28D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6" name="Rectangle 6">
            <a:extLst xmlns:a="http://schemas.openxmlformats.org/drawingml/2006/main">
              <a:ext uri="{FF2B5EF4-FFF2-40B4-BE49-F238E27FC236}">
                <a16:creationId xmlns:a16="http://schemas.microsoft.com/office/drawing/2014/main" id="{46033F4C-8C69-4D83-8635-F61BB998D06C}"/>
              </a:ext>
            </a:extLst>
          </p:cNvPr>
          <p:cNvSpPr>
            <a:spLocks xmlns:a="http://schemas.openxmlformats.org/drawingml/2006/main" noGrp="1"/>
          </p:cNvSpPr>
          <p:nvPr>
            <p:ph type="sldNum" idx="12"/>
          </p:nvPr>
        </p:nvSpPr>
        <p:spPr>
          <a:xfrm xmlns:a="http://schemas.openxmlformats.org/drawingml/2006/main">
            <a:off x="7924800" y="6299200"/>
            <a:ext cx="838200" cy="457200"/>
          </a:xfrm>
          <a:prstGeom xmlns:a="http://schemas.openxmlformats.org/drawingml/2006/main" prst="rect">
            <a:avLst/>
          </a:prstGeom>
        </p:spPr>
        <p:txBody>
          <a:bodyPr xmlns:a="http://schemas.openxmlformats.org/drawingml/2006/main" vert="horz" wrap="square" lIns="91440" tIns="45720" rIns="91440" bIns="45720" anchor="t"/>
          <a:lstStyle xmlns:a="http://schemas.openxmlformats.org/drawingml/2006/main">
            <a:lvl1pPr>
              <a:buNone/>
              <a:defRPr/>
            </a:lvl1pPr>
          </a:lstStyle>
          <a:p xmlns:a="http://schemas.openxmlformats.org/drawingml/2006/main">
            <a:pPr>
              <a:buNone/>
            </a:pPr>
            <a:fld id="{323B762C-B6A6-9E40-924F-04B5C1CFB6FD}"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42F2015-DA44-409A-A285-B9ED1F413FC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ABAC756D-D57A-4FB4-BF24-B3682E651C2A}"/>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Rectangle 4">
            <a:extLst xmlns:a="http://schemas.openxmlformats.org/drawingml/2006/main">
              <a:ext uri="{FF2B5EF4-FFF2-40B4-BE49-F238E27FC236}">
                <a16:creationId xmlns:a16="http://schemas.microsoft.com/office/drawing/2014/main" id="{F97C5E9C-4F89-4A68-B472-7598DCED974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r>
              <a:t>19 Oct 2009</a:t>
            </a:r>
          </a:p>
        </p:txBody>
      </p:sp>
      <p:sp>
        <p:nvSpPr>
          <p:cNvPr id="5" name="Rectangle 5">
            <a:extLst xmlns:a="http://schemas.openxmlformats.org/drawingml/2006/main">
              <a:ext uri="{FF2B5EF4-FFF2-40B4-BE49-F238E27FC236}">
                <a16:creationId xmlns:a16="http://schemas.microsoft.com/office/drawing/2014/main" id="{84A45B6C-98C5-49CE-9B67-B01747CC1A2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6" name="Rectangle 6">
            <a:extLst xmlns:a="http://schemas.openxmlformats.org/drawingml/2006/main">
              <a:ext uri="{FF2B5EF4-FFF2-40B4-BE49-F238E27FC236}">
                <a16:creationId xmlns:a16="http://schemas.microsoft.com/office/drawing/2014/main" id="{404FEB70-EAE0-4863-9111-6A448959FFD2}"/>
              </a:ext>
            </a:extLst>
          </p:cNvPr>
          <p:cNvSpPr>
            <a:spLocks xmlns:a="http://schemas.openxmlformats.org/drawingml/2006/main" noGrp="1"/>
          </p:cNvSpPr>
          <p:nvPr>
            <p:ph type="sldNum" idx="12"/>
          </p:nvPr>
        </p:nvSpPr>
        <p:spPr>
          <a:xfrm xmlns:a="http://schemas.openxmlformats.org/drawingml/2006/main">
            <a:off x="7924800" y="6299200"/>
            <a:ext cx="838200" cy="457200"/>
          </a:xfrm>
          <a:prstGeom xmlns:a="http://schemas.openxmlformats.org/drawingml/2006/main" prst="rect">
            <a:avLst/>
          </a:prstGeom>
        </p:spPr>
        <p:txBody>
          <a:bodyPr xmlns:a="http://schemas.openxmlformats.org/drawingml/2006/main" vert="horz" wrap="square" lIns="91440" tIns="45720" rIns="91440" bIns="45720" anchor="t"/>
          <a:lstStyle xmlns:a="http://schemas.openxmlformats.org/drawingml/2006/main">
            <a:lvl1pPr>
              <a:buNone/>
              <a:defRPr/>
            </a:lvl1pPr>
          </a:lstStyle>
          <a:p xmlns:a="http://schemas.openxmlformats.org/drawingml/2006/main">
            <a:pPr>
              <a:buNone/>
            </a:pPr>
            <a:fld id="{5606D3B2-4460-404C-9951-683484794989}"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3E1B15A-26BB-4F39-B958-57310BB58E07}"/>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9DE0B06A-D76A-4F15-ADC7-E6D263699A30}"/>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xmlns:a="http://schemas.openxmlformats.org/drawingml/2006/main">
            <a:pPr lvl="0">
              <a:buNone/>
            </a:pPr>
            <a:r>
              <a:t>Click to edit Master text styles</a:t>
            </a:r>
          </a:p>
        </p:txBody>
      </p:sp>
      <p:sp>
        <p:nvSpPr>
          <p:cNvPr id="4" name="Rectangle 4">
            <a:extLst xmlns:a="http://schemas.openxmlformats.org/drawingml/2006/main">
              <a:ext uri="{FF2B5EF4-FFF2-40B4-BE49-F238E27FC236}">
                <a16:creationId xmlns:a16="http://schemas.microsoft.com/office/drawing/2014/main" id="{C49CD982-2EC1-4153-83DF-1EC5C4FB97A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r>
              <a:t>19 Oct 2009</a:t>
            </a:r>
          </a:p>
        </p:txBody>
      </p:sp>
      <p:sp>
        <p:nvSpPr>
          <p:cNvPr id="5" name="Rectangle 5">
            <a:extLst xmlns:a="http://schemas.openxmlformats.org/drawingml/2006/main">
              <a:ext uri="{FF2B5EF4-FFF2-40B4-BE49-F238E27FC236}">
                <a16:creationId xmlns:a16="http://schemas.microsoft.com/office/drawing/2014/main" id="{BAC010E5-17DF-4078-8678-D8F52B88737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6" name="Rectangle 6">
            <a:extLst xmlns:a="http://schemas.openxmlformats.org/drawingml/2006/main">
              <a:ext uri="{FF2B5EF4-FFF2-40B4-BE49-F238E27FC236}">
                <a16:creationId xmlns:a16="http://schemas.microsoft.com/office/drawing/2014/main" id="{C011E2C1-E625-4D78-8DF3-4756262D0950}"/>
              </a:ext>
            </a:extLst>
          </p:cNvPr>
          <p:cNvSpPr>
            <a:spLocks xmlns:a="http://schemas.openxmlformats.org/drawingml/2006/main" noGrp="1"/>
          </p:cNvSpPr>
          <p:nvPr>
            <p:ph type="sldNum" idx="12"/>
          </p:nvPr>
        </p:nvSpPr>
        <p:spPr>
          <a:xfrm xmlns:a="http://schemas.openxmlformats.org/drawingml/2006/main">
            <a:off x="7924800" y="6299200"/>
            <a:ext cx="838200" cy="457200"/>
          </a:xfrm>
          <a:prstGeom xmlns:a="http://schemas.openxmlformats.org/drawingml/2006/main" prst="rect">
            <a:avLst/>
          </a:prstGeom>
        </p:spPr>
        <p:txBody>
          <a:bodyPr xmlns:a="http://schemas.openxmlformats.org/drawingml/2006/main" vert="horz" wrap="square" lIns="91440" tIns="45720" rIns="91440" bIns="45720" anchor="t"/>
          <a:lstStyle xmlns:a="http://schemas.openxmlformats.org/drawingml/2006/main">
            <a:lvl1pPr>
              <a:buNone/>
              <a:defRPr/>
            </a:lvl1pPr>
          </a:lstStyle>
          <a:p xmlns:a="http://schemas.openxmlformats.org/drawingml/2006/main">
            <a:pPr>
              <a:buNone/>
            </a:pPr>
            <a:fld id="{D579F2DB-BBB3-4E41-85F8-28240E55DF5C}"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44FCD10-A365-474E-A2CE-EF049E29A87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7187F19F-9917-43F9-BE88-FA32787A79A0}"/>
              </a:ext>
            </a:extLst>
          </p:cNvPr>
          <p:cNvSpPr>
            <a:spLocks xmlns:a="http://schemas.openxmlformats.org/drawingml/2006/main" noGrp="1"/>
          </p:cNvSpPr>
          <p:nvPr>
            <p:ph idx="1"/>
          </p:nvPr>
        </p:nvSpPr>
        <p:spPr>
          <a:xfrm xmlns:a="http://schemas.openxmlformats.org/drawingml/2006/main">
            <a:off x="381000" y="1981200"/>
            <a:ext cx="4114800" cy="3886200"/>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E784F32A-F152-491C-AF34-FB3B93BBE379}"/>
              </a:ext>
            </a:extLst>
          </p:cNvPr>
          <p:cNvSpPr>
            <a:spLocks xmlns:a="http://schemas.openxmlformats.org/drawingml/2006/main" noGrp="1"/>
          </p:cNvSpPr>
          <p:nvPr>
            <p:ph idx="2"/>
          </p:nvPr>
        </p:nvSpPr>
        <p:spPr>
          <a:xfrm xmlns:a="http://schemas.openxmlformats.org/drawingml/2006/main">
            <a:off x="4648200" y="1981200"/>
            <a:ext cx="4114800" cy="3886200"/>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Rectangle 4">
            <a:extLst xmlns:a="http://schemas.openxmlformats.org/drawingml/2006/main">
              <a:ext uri="{FF2B5EF4-FFF2-40B4-BE49-F238E27FC236}">
                <a16:creationId xmlns:a16="http://schemas.microsoft.com/office/drawing/2014/main" id="{6D830AB6-8A28-4ACC-8429-157D2F6580D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r>
              <a:t>19 Oct 2009</a:t>
            </a:r>
          </a:p>
        </p:txBody>
      </p:sp>
      <p:sp>
        <p:nvSpPr>
          <p:cNvPr id="6" name="Rectangle 5">
            <a:extLst xmlns:a="http://schemas.openxmlformats.org/drawingml/2006/main">
              <a:ext uri="{FF2B5EF4-FFF2-40B4-BE49-F238E27FC236}">
                <a16:creationId xmlns:a16="http://schemas.microsoft.com/office/drawing/2014/main" id="{170EE714-C7B4-4E8A-8EC7-B70C9A43024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7" name="Slide Number Placeholder 6">
            <a:extLst xmlns:a="http://schemas.openxmlformats.org/drawingml/2006/main">
              <a:ext uri="{FF2B5EF4-FFF2-40B4-BE49-F238E27FC236}">
                <a16:creationId xmlns:a16="http://schemas.microsoft.com/office/drawing/2014/main" id="{14145AC3-D24C-43A8-9CD0-227F95DAA0B1}"/>
              </a:ext>
            </a:extLst>
          </p:cNvPr>
          <p:cNvSpPr>
            <a:spLocks xmlns:a="http://schemas.openxmlformats.org/drawingml/2006/main" noGrp="1"/>
          </p:cNvSpPr>
          <p:nvPr>
            <p:ph type="sldNum" idx="12"/>
          </p:nvPr>
        </p:nvSpPr>
        <p:spPr>
          <a:xfrm xmlns:a="http://schemas.openxmlformats.org/drawingml/2006/main">
            <a:off x="7924800" y="6299200"/>
            <a:ext cx="838200" cy="457200"/>
          </a:xfrm>
          <a:prstGeom xmlns:a="http://schemas.openxmlformats.org/drawingml/2006/main" prst="rect">
            <a:avLst/>
          </a:prstGeom>
        </p:spPr>
        <p:txBody>
          <a:bodyPr xmlns:a="http://schemas.openxmlformats.org/drawingml/2006/main" vert="horz" wrap="square" lIns="91440" tIns="45720" rIns="91440" bIns="45720" anchor="t"/>
          <a:lstStyle xmlns:a="http://schemas.openxmlformats.org/drawingml/2006/main">
            <a:lvl1pPr>
              <a:buNone/>
              <a:defRPr/>
            </a:lvl1pPr>
          </a:lstStyle>
          <a:p xmlns:a="http://schemas.openxmlformats.org/drawingml/2006/main">
            <a:pPr>
              <a:buNone/>
            </a:pPr>
            <a:fld id="{1D6B05E2-D1E0-A14A-974D-C4645B5C1099}"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48D08E5-C0C1-4E4C-883F-D8F5EB435C53}"/>
              </a:ext>
            </a:extLst>
          </p:cNvPr>
          <p:cNvSpPr>
            <a:spLocks xmlns:a="http://schemas.openxmlformats.org/drawingml/2006/main" noGrp="1"/>
          </p:cNvSpPr>
          <p:nvPr>
            <p:ph type="title" idx="0"/>
          </p:nvPr>
        </p:nvSpPr>
        <p:spPr>
          <a:xfrm xmlns:a="http://schemas.openxmlformats.org/drawingml/2006/main">
            <a:off x="540754" y="834475"/>
            <a:ext cx="8229600" cy="1143000"/>
          </a:xfrm>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641B6794-5E42-4FEA-81F6-CB62BBEE64CC}"/>
              </a:ext>
            </a:extLst>
          </p:cNvPr>
          <p:cNvSpPr>
            <a:spLocks xmlns:a="http://schemas.openxmlformats.org/drawingml/2006/main" noGrp="1"/>
          </p:cNvSpPr>
          <p:nvPr>
            <p:ph type="body" idx="1"/>
          </p:nvPr>
        </p:nvSpPr>
        <p:spPr>
          <a:xfrm xmlns:a="http://schemas.openxmlformats.org/drawingml/2006/main">
            <a:off x="540754" y="2094950"/>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2F7B07DE-5DB1-4AF3-96F3-90329F6491A6}"/>
              </a:ext>
            </a:extLst>
          </p:cNvPr>
          <p:cNvSpPr>
            <a:spLocks xmlns:a="http://schemas.openxmlformats.org/drawingml/2006/main" noGrp="1"/>
          </p:cNvSpPr>
          <p:nvPr>
            <p:ph idx="2"/>
          </p:nvPr>
        </p:nvSpPr>
        <p:spPr>
          <a:xfrm xmlns:a="http://schemas.openxmlformats.org/drawingml/2006/main">
            <a:off x="540754" y="2734712"/>
            <a:ext cx="4040188" cy="3490339"/>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6AB9E131-AC7F-4C56-BE7A-70EF8C5DB2F2}"/>
              </a:ext>
            </a:extLst>
          </p:cNvPr>
          <p:cNvSpPr>
            <a:spLocks xmlns:a="http://schemas.openxmlformats.org/drawingml/2006/main" noGrp="1"/>
          </p:cNvSpPr>
          <p:nvPr>
            <p:ph type="body" idx="3"/>
          </p:nvPr>
        </p:nvSpPr>
        <p:spPr>
          <a:xfrm xmlns:a="http://schemas.openxmlformats.org/drawingml/2006/main">
            <a:off x="4728579" y="2094950"/>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098AC5A4-C9C5-4EC9-9E34-A68FD2C4F174}"/>
              </a:ext>
            </a:extLst>
          </p:cNvPr>
          <p:cNvSpPr>
            <a:spLocks xmlns:a="http://schemas.openxmlformats.org/drawingml/2006/main" noGrp="1"/>
          </p:cNvSpPr>
          <p:nvPr>
            <p:ph idx="4"/>
          </p:nvPr>
        </p:nvSpPr>
        <p:spPr>
          <a:xfrm xmlns:a="http://schemas.openxmlformats.org/drawingml/2006/main">
            <a:off x="4728579" y="2734712"/>
            <a:ext cx="4041775" cy="3490339"/>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Rectangle 4">
            <a:extLst xmlns:a="http://schemas.openxmlformats.org/drawingml/2006/main">
              <a:ext uri="{FF2B5EF4-FFF2-40B4-BE49-F238E27FC236}">
                <a16:creationId xmlns:a16="http://schemas.microsoft.com/office/drawing/2014/main" id="{C3A97FCB-5709-4D17-8C7B-32AA10DBF5F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r>
              <a:t>19 Oct 2009</a:t>
            </a:r>
          </a:p>
        </p:txBody>
      </p:sp>
      <p:sp>
        <p:nvSpPr>
          <p:cNvPr id="8" name="Rectangle 5">
            <a:extLst xmlns:a="http://schemas.openxmlformats.org/drawingml/2006/main">
              <a:ext uri="{FF2B5EF4-FFF2-40B4-BE49-F238E27FC236}">
                <a16:creationId xmlns:a16="http://schemas.microsoft.com/office/drawing/2014/main" id="{DE036080-EA59-429E-A65A-25077B590C8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9" name="Rectangle 6">
            <a:extLst xmlns:a="http://schemas.openxmlformats.org/drawingml/2006/main">
              <a:ext uri="{FF2B5EF4-FFF2-40B4-BE49-F238E27FC236}">
                <a16:creationId xmlns:a16="http://schemas.microsoft.com/office/drawing/2014/main" id="{F5765F59-955D-4ED0-B021-62C71CD64702}"/>
              </a:ext>
            </a:extLst>
          </p:cNvPr>
          <p:cNvSpPr>
            <a:spLocks xmlns:a="http://schemas.openxmlformats.org/drawingml/2006/main" noGrp="1"/>
          </p:cNvSpPr>
          <p:nvPr>
            <p:ph type="sldNum" idx="12"/>
          </p:nvPr>
        </p:nvSpPr>
        <p:spPr>
          <a:xfrm xmlns:a="http://schemas.openxmlformats.org/drawingml/2006/main">
            <a:off x="7924800" y="6299200"/>
            <a:ext cx="838200" cy="457200"/>
          </a:xfrm>
          <a:prstGeom xmlns:a="http://schemas.openxmlformats.org/drawingml/2006/main" prst="rect">
            <a:avLst/>
          </a:prstGeom>
        </p:spPr>
        <p:txBody>
          <a:bodyPr xmlns:a="http://schemas.openxmlformats.org/drawingml/2006/main" vert="horz" wrap="square" lIns="91440" tIns="45720" rIns="91440" bIns="45720" anchor="t"/>
          <a:lstStyle xmlns:a="http://schemas.openxmlformats.org/drawingml/2006/main">
            <a:lvl1pPr>
              <a:buNone/>
              <a:defRPr/>
            </a:lvl1pPr>
          </a:lstStyle>
          <a:p xmlns:a="http://schemas.openxmlformats.org/drawingml/2006/main">
            <a:pPr>
              <a:buNone/>
            </a:pPr>
            <a:fld id="{725E9514-10CB-424A-997B-3133D5EBEFB4}"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747BCF5-0D5D-4B29-A09C-277BE6AD518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Rectangle 4">
            <a:extLst xmlns:a="http://schemas.openxmlformats.org/drawingml/2006/main">
              <a:ext uri="{FF2B5EF4-FFF2-40B4-BE49-F238E27FC236}">
                <a16:creationId xmlns:a16="http://schemas.microsoft.com/office/drawing/2014/main" id="{0FFBEC28-19E7-4F28-B227-EFB472615B5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r>
              <a:t>19 Oct 2009</a:t>
            </a:r>
          </a:p>
        </p:txBody>
      </p:sp>
      <p:sp>
        <p:nvSpPr>
          <p:cNvPr id="4" name="Rectangle 5">
            <a:extLst xmlns:a="http://schemas.openxmlformats.org/drawingml/2006/main">
              <a:ext uri="{FF2B5EF4-FFF2-40B4-BE49-F238E27FC236}">
                <a16:creationId xmlns:a16="http://schemas.microsoft.com/office/drawing/2014/main" id="{C43FF6E4-0AE1-41AF-B400-D57963AC6DB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5" name="Rectangle 6">
            <a:extLst xmlns:a="http://schemas.openxmlformats.org/drawingml/2006/main">
              <a:ext uri="{FF2B5EF4-FFF2-40B4-BE49-F238E27FC236}">
                <a16:creationId xmlns:a16="http://schemas.microsoft.com/office/drawing/2014/main" id="{56EB2B7B-44E3-4D6D-B411-0369C07F6A67}"/>
              </a:ext>
            </a:extLst>
          </p:cNvPr>
          <p:cNvSpPr>
            <a:spLocks xmlns:a="http://schemas.openxmlformats.org/drawingml/2006/main" noGrp="1"/>
          </p:cNvSpPr>
          <p:nvPr>
            <p:ph type="sldNum" idx="12"/>
          </p:nvPr>
        </p:nvSpPr>
        <p:spPr>
          <a:xfrm xmlns:a="http://schemas.openxmlformats.org/drawingml/2006/main">
            <a:off x="7924800" y="6299200"/>
            <a:ext cx="838200" cy="457200"/>
          </a:xfrm>
          <a:prstGeom xmlns:a="http://schemas.openxmlformats.org/drawingml/2006/main" prst="rect">
            <a:avLst/>
          </a:prstGeom>
        </p:spPr>
        <p:txBody>
          <a:bodyPr xmlns:a="http://schemas.openxmlformats.org/drawingml/2006/main" vert="horz" wrap="square" lIns="91440" tIns="45720" rIns="91440" bIns="45720" anchor="t"/>
          <a:lstStyle xmlns:a="http://schemas.openxmlformats.org/drawingml/2006/main">
            <a:lvl1pPr>
              <a:buNone/>
              <a:defRPr/>
            </a:lvl1pPr>
          </a:lstStyle>
          <a:p xmlns:a="http://schemas.openxmlformats.org/drawingml/2006/main">
            <a:pPr>
              <a:buNone/>
            </a:pPr>
            <a:fld id="{715F44A3-DF41-BC45-8D50-3E3E7CD7A537}"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Rectangle 4">
            <a:extLst xmlns:a="http://schemas.openxmlformats.org/drawingml/2006/main">
              <a:ext uri="{FF2B5EF4-FFF2-40B4-BE49-F238E27FC236}">
                <a16:creationId xmlns:a16="http://schemas.microsoft.com/office/drawing/2014/main" id="{7FAAB3D9-7E87-4C91-A156-1DEB485DCDD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r>
              <a:t>19 Oct 2009</a:t>
            </a:r>
          </a:p>
        </p:txBody>
      </p:sp>
      <p:sp>
        <p:nvSpPr>
          <p:cNvPr id="3" name="Rectangle 5">
            <a:extLst xmlns:a="http://schemas.openxmlformats.org/drawingml/2006/main">
              <a:ext uri="{FF2B5EF4-FFF2-40B4-BE49-F238E27FC236}">
                <a16:creationId xmlns:a16="http://schemas.microsoft.com/office/drawing/2014/main" id="{5ED68A7A-B7FF-4BE3-865F-3362EE2BC66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4" name="Rectangle 6">
            <a:extLst xmlns:a="http://schemas.openxmlformats.org/drawingml/2006/main">
              <a:ext uri="{FF2B5EF4-FFF2-40B4-BE49-F238E27FC236}">
                <a16:creationId xmlns:a16="http://schemas.microsoft.com/office/drawing/2014/main" id="{837E636F-8210-4FFF-9FD6-5278800F7C20}"/>
              </a:ext>
            </a:extLst>
          </p:cNvPr>
          <p:cNvSpPr>
            <a:spLocks xmlns:a="http://schemas.openxmlformats.org/drawingml/2006/main" noGrp="1"/>
          </p:cNvSpPr>
          <p:nvPr>
            <p:ph type="sldNum" idx="12"/>
          </p:nvPr>
        </p:nvSpPr>
        <p:spPr>
          <a:xfrm xmlns:a="http://schemas.openxmlformats.org/drawingml/2006/main">
            <a:off x="7924800" y="6299200"/>
            <a:ext cx="838200" cy="457200"/>
          </a:xfrm>
          <a:prstGeom xmlns:a="http://schemas.openxmlformats.org/drawingml/2006/main" prst="rect">
            <a:avLst/>
          </a:prstGeom>
        </p:spPr>
        <p:txBody>
          <a:bodyPr xmlns:a="http://schemas.openxmlformats.org/drawingml/2006/main" vert="horz" wrap="square" lIns="91440" tIns="45720" rIns="91440" bIns="45720" anchor="t"/>
          <a:lstStyle xmlns:a="http://schemas.openxmlformats.org/drawingml/2006/main">
            <a:lvl1pPr>
              <a:buNone/>
              <a:defRPr/>
            </a:lvl1pPr>
          </a:lstStyle>
          <a:p xmlns:a="http://schemas.openxmlformats.org/drawingml/2006/main">
            <a:pPr>
              <a:buNone/>
            </a:pPr>
            <a:fld id="{BA675F84-6783-734C-BED8-10126B3C36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1807FF3-2152-4B46-9B59-D603E7A4A16A}"/>
              </a:ext>
            </a:extLst>
          </p:cNvPr>
          <p:cNvSpPr>
            <a:spLocks xmlns:a="http://schemas.openxmlformats.org/drawingml/2006/main" noGrp="1"/>
          </p:cNvSpPr>
          <p:nvPr>
            <p:ph type="title" idx="0"/>
          </p:nvPr>
        </p:nvSpPr>
        <p:spPr>
          <a:xfrm xmlns:a="http://schemas.openxmlformats.org/drawingml/2006/main">
            <a:off x="448844" y="916445"/>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AB6599BF-B4BB-4C88-BC35-C50376F53928}"/>
              </a:ext>
            </a:extLst>
          </p:cNvPr>
          <p:cNvSpPr>
            <a:spLocks xmlns:a="http://schemas.openxmlformats.org/drawingml/2006/main" noGrp="1"/>
          </p:cNvSpPr>
          <p:nvPr>
            <p:ph idx="1"/>
          </p:nvPr>
        </p:nvSpPr>
        <p:spPr>
          <a:xfrm xmlns:a="http://schemas.openxmlformats.org/drawingml/2006/main">
            <a:off x="3566694" y="916446"/>
            <a:ext cx="5111750" cy="5048616"/>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0E2ACA88-1AD3-4D56-AB89-90EFA79E7371}"/>
              </a:ext>
            </a:extLst>
          </p:cNvPr>
          <p:cNvSpPr>
            <a:spLocks xmlns:a="http://schemas.openxmlformats.org/drawingml/2006/main" noGrp="1"/>
          </p:cNvSpPr>
          <p:nvPr>
            <p:ph type="body" idx="2"/>
          </p:nvPr>
        </p:nvSpPr>
        <p:spPr>
          <a:xfrm xmlns:a="http://schemas.openxmlformats.org/drawingml/2006/main">
            <a:off x="448844" y="2078495"/>
            <a:ext cx="3008313" cy="4046287"/>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Rectangle 4">
            <a:extLst xmlns:a="http://schemas.openxmlformats.org/drawingml/2006/main">
              <a:ext uri="{FF2B5EF4-FFF2-40B4-BE49-F238E27FC236}">
                <a16:creationId xmlns:a16="http://schemas.microsoft.com/office/drawing/2014/main" id="{81D0D7AB-C1F3-4E5B-AEB4-16336F84D2B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r>
              <a:t>19 Oct 2009</a:t>
            </a:r>
          </a:p>
        </p:txBody>
      </p:sp>
      <p:sp>
        <p:nvSpPr>
          <p:cNvPr id="6" name="Rectangle 5">
            <a:extLst xmlns:a="http://schemas.openxmlformats.org/drawingml/2006/main">
              <a:ext uri="{FF2B5EF4-FFF2-40B4-BE49-F238E27FC236}">
                <a16:creationId xmlns:a16="http://schemas.microsoft.com/office/drawing/2014/main" id="{B869F3D8-6EB4-4F71-97C9-78AC85827BC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7" name="Slide Number Placeholder 6">
            <a:extLst xmlns:a="http://schemas.openxmlformats.org/drawingml/2006/main">
              <a:ext uri="{FF2B5EF4-FFF2-40B4-BE49-F238E27FC236}">
                <a16:creationId xmlns:a16="http://schemas.microsoft.com/office/drawing/2014/main" id="{34DDB736-9068-4F95-9E19-119E5764DB2F}"/>
              </a:ext>
            </a:extLst>
          </p:cNvPr>
          <p:cNvSpPr>
            <a:spLocks xmlns:a="http://schemas.openxmlformats.org/drawingml/2006/main" noGrp="1"/>
          </p:cNvSpPr>
          <p:nvPr>
            <p:ph type="sldNum" idx="12"/>
          </p:nvPr>
        </p:nvSpPr>
        <p:spPr>
          <a:xfrm xmlns:a="http://schemas.openxmlformats.org/drawingml/2006/main">
            <a:off x="7924800" y="6299200"/>
            <a:ext cx="838200" cy="457200"/>
          </a:xfrm>
          <a:prstGeom xmlns:a="http://schemas.openxmlformats.org/drawingml/2006/main" prst="rect">
            <a:avLst/>
          </a:prstGeom>
        </p:spPr>
        <p:txBody>
          <a:bodyPr xmlns:a="http://schemas.openxmlformats.org/drawingml/2006/main" vert="horz" wrap="square" lIns="91440" tIns="45720" rIns="91440" bIns="45720" anchor="t"/>
          <a:lstStyle xmlns:a="http://schemas.openxmlformats.org/drawingml/2006/main">
            <a:lvl1pPr>
              <a:buNone/>
              <a:defRPr/>
            </a:lvl1pPr>
          </a:lstStyle>
          <a:p xmlns:a="http://schemas.openxmlformats.org/drawingml/2006/main">
            <a:pPr>
              <a:buNone/>
            </a:pPr>
            <a:fld id="{DF637E51-C70B-C94A-BECF-99D78F235191}"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8CBE6F9-4A4F-471C-994D-BEFF4C81C62C}"/>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5902905F-DCF6-4053-A355-E593CE2ABD4A}"/>
              </a:ext>
            </a:extLst>
          </p:cNvPr>
          <p:cNvSpPr>
            <a:spLocks xmlns:a="http://schemas.openxmlformats.org/drawingml/2006/main" noGrp="1"/>
          </p:cNvSpPr>
          <p:nvPr>
            <p:ph type="pic" idx="1"/>
          </p:nvPr>
        </p:nvSpPr>
        <p:spPr>
          <a:xfrm xmlns:a="http://schemas.openxmlformats.org/drawingml/2006/main">
            <a:off x="1792288" y="935845"/>
            <a:ext cx="5486400" cy="3791729"/>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lvl="0">
              <a:buNone/>
            </a:pPr>
            <a:endParaRPr/>
          </a:p>
        </p:txBody>
      </p:sp>
      <p:sp>
        <p:nvSpPr>
          <p:cNvPr id="4" name="Text Placeholder 3">
            <a:extLst xmlns:a="http://schemas.openxmlformats.org/drawingml/2006/main">
              <a:ext uri="{FF2B5EF4-FFF2-40B4-BE49-F238E27FC236}">
                <a16:creationId xmlns:a16="http://schemas.microsoft.com/office/drawing/2014/main" id="{F14D4BF0-41DA-413F-AD56-49A767EF0E5C}"/>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Rectangle 4">
            <a:extLst xmlns:a="http://schemas.openxmlformats.org/drawingml/2006/main">
              <a:ext uri="{FF2B5EF4-FFF2-40B4-BE49-F238E27FC236}">
                <a16:creationId xmlns:a16="http://schemas.microsoft.com/office/drawing/2014/main" id="{E65E0FB1-75E4-4D27-A8F1-1178F88CB23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r>
              <a:t>19 Oct 2009</a:t>
            </a:r>
          </a:p>
        </p:txBody>
      </p:sp>
      <p:sp>
        <p:nvSpPr>
          <p:cNvPr id="6" name="Rectangle 5">
            <a:extLst xmlns:a="http://schemas.openxmlformats.org/drawingml/2006/main">
              <a:ext uri="{FF2B5EF4-FFF2-40B4-BE49-F238E27FC236}">
                <a16:creationId xmlns:a16="http://schemas.microsoft.com/office/drawing/2014/main" id="{67F16A1E-7223-4ADA-8D23-E0F5C5CE09A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7" name="Slide Number Placeholder 6">
            <a:extLst xmlns:a="http://schemas.openxmlformats.org/drawingml/2006/main">
              <a:ext uri="{FF2B5EF4-FFF2-40B4-BE49-F238E27FC236}">
                <a16:creationId xmlns:a16="http://schemas.microsoft.com/office/drawing/2014/main" id="{9830EF26-2064-4AA6-B3B8-8026D49585B9}"/>
              </a:ext>
            </a:extLst>
          </p:cNvPr>
          <p:cNvSpPr>
            <a:spLocks xmlns:a="http://schemas.openxmlformats.org/drawingml/2006/main" noGrp="1"/>
          </p:cNvSpPr>
          <p:nvPr>
            <p:ph type="sldNum" idx="12"/>
          </p:nvPr>
        </p:nvSpPr>
        <p:spPr>
          <a:xfrm xmlns:a="http://schemas.openxmlformats.org/drawingml/2006/main">
            <a:off x="7924800" y="6299200"/>
            <a:ext cx="838200" cy="457200"/>
          </a:xfrm>
          <a:prstGeom xmlns:a="http://schemas.openxmlformats.org/drawingml/2006/main" prst="rect">
            <a:avLst/>
          </a:prstGeom>
        </p:spPr>
        <p:txBody>
          <a:bodyPr xmlns:a="http://schemas.openxmlformats.org/drawingml/2006/main" vert="horz" wrap="square" lIns="91440" tIns="45720" rIns="91440" bIns="45720" anchor="t"/>
          <a:lstStyle xmlns:a="http://schemas.openxmlformats.org/drawingml/2006/main">
            <a:lvl1pPr>
              <a:buNone/>
              <a:defRPr/>
            </a:lvl1pPr>
          </a:lstStyle>
          <a:p xmlns:a="http://schemas.openxmlformats.org/drawingml/2006/main">
            <a:pPr>
              <a:buNone/>
            </a:pPr>
            <a:fld id="{E4E131D9-E14C-C841-B84A-081687F5DAF0}"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6BEC508-6207-4976-86F8-8EADA13A83D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154F6FA4-222C-4F6C-8831-2086676AE08E}"/>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Rectangle 4">
            <a:extLst xmlns:a="http://schemas.openxmlformats.org/drawingml/2006/main">
              <a:ext uri="{FF2B5EF4-FFF2-40B4-BE49-F238E27FC236}">
                <a16:creationId xmlns:a16="http://schemas.microsoft.com/office/drawing/2014/main" id="{50975C10-8CBE-422F-BC7F-B59B680AB06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r>
              <a:t>19 Oct 2009</a:t>
            </a:r>
          </a:p>
        </p:txBody>
      </p:sp>
      <p:sp>
        <p:nvSpPr>
          <p:cNvPr id="5" name="Rectangle 5">
            <a:extLst xmlns:a="http://schemas.openxmlformats.org/drawingml/2006/main">
              <a:ext uri="{FF2B5EF4-FFF2-40B4-BE49-F238E27FC236}">
                <a16:creationId xmlns:a16="http://schemas.microsoft.com/office/drawing/2014/main" id="{D56E3FA0-F11C-4131-BBFA-428D8760D1F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6" name="Rectangle 6">
            <a:extLst xmlns:a="http://schemas.openxmlformats.org/drawingml/2006/main">
              <a:ext uri="{FF2B5EF4-FFF2-40B4-BE49-F238E27FC236}">
                <a16:creationId xmlns:a16="http://schemas.microsoft.com/office/drawing/2014/main" id="{4AFE3DD3-B11C-46FB-BE83-6079337C786D}"/>
              </a:ext>
            </a:extLst>
          </p:cNvPr>
          <p:cNvSpPr>
            <a:spLocks xmlns:a="http://schemas.openxmlformats.org/drawingml/2006/main" noGrp="1"/>
          </p:cNvSpPr>
          <p:nvPr>
            <p:ph type="sldNum" idx="12"/>
          </p:nvPr>
        </p:nvSpPr>
        <p:spPr>
          <a:xfrm xmlns:a="http://schemas.openxmlformats.org/drawingml/2006/main">
            <a:off x="7924800" y="6299200"/>
            <a:ext cx="838200" cy="457200"/>
          </a:xfrm>
          <a:prstGeom xmlns:a="http://schemas.openxmlformats.org/drawingml/2006/main" prst="rect">
            <a:avLst/>
          </a:prstGeom>
        </p:spPr>
        <p:txBody>
          <a:bodyPr xmlns:a="http://schemas.openxmlformats.org/drawingml/2006/main" vert="horz" wrap="square" lIns="91440" tIns="45720" rIns="91440" bIns="45720" anchor="t"/>
          <a:lstStyle xmlns:a="http://schemas.openxmlformats.org/drawingml/2006/main">
            <a:lvl1pPr>
              <a:buNone/>
              <a:defRPr/>
            </a:lvl1pPr>
          </a:lstStyle>
          <a:p xmlns:a="http://schemas.openxmlformats.org/drawingml/2006/main">
            <a:pPr>
              <a:buNone/>
            </a:pPr>
            <a:fld id="{13C8000B-9E22-1C46-AF2F-E6F8349AF53E}"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D2AA0F27-CF13-4641-9317-275F79B88F49}"/>
              </a:ext>
            </a:extLst>
          </p:cNvPr>
          <p:cNvSpPr>
            <a:spLocks xmlns:a="http://schemas.openxmlformats.org/drawingml/2006/main" noGrp="1"/>
          </p:cNvSpPr>
          <p:nvPr>
            <p:ph type="title" idx="0"/>
          </p:nvPr>
        </p:nvSpPr>
        <p:spPr>
          <a:xfrm xmlns:a="http://schemas.openxmlformats.org/drawingml/2006/main">
            <a:off x="6667500" y="914400"/>
            <a:ext cx="2095500" cy="4953000"/>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6913FB93-3690-4EEA-B261-6C0AE8454F1B}"/>
              </a:ext>
            </a:extLst>
          </p:cNvPr>
          <p:cNvSpPr>
            <a:spLocks xmlns:a="http://schemas.openxmlformats.org/drawingml/2006/main" noGrp="1"/>
          </p:cNvSpPr>
          <p:nvPr>
            <p:ph type="body" idx="1"/>
          </p:nvPr>
        </p:nvSpPr>
        <p:spPr>
          <a:xfrm xmlns:a="http://schemas.openxmlformats.org/drawingml/2006/main">
            <a:off x="381000" y="914400"/>
            <a:ext cx="6134100" cy="4953000"/>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Rectangle 4">
            <a:extLst xmlns:a="http://schemas.openxmlformats.org/drawingml/2006/main">
              <a:ext uri="{FF2B5EF4-FFF2-40B4-BE49-F238E27FC236}">
                <a16:creationId xmlns:a16="http://schemas.microsoft.com/office/drawing/2014/main" id="{5E811AFD-8B52-4258-8190-3D8D9D46753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r>
              <a:t>19 Oct 2009</a:t>
            </a:r>
          </a:p>
        </p:txBody>
      </p:sp>
      <p:sp>
        <p:nvSpPr>
          <p:cNvPr id="5" name="Rectangle 5">
            <a:extLst xmlns:a="http://schemas.openxmlformats.org/drawingml/2006/main">
              <a:ext uri="{FF2B5EF4-FFF2-40B4-BE49-F238E27FC236}">
                <a16:creationId xmlns:a16="http://schemas.microsoft.com/office/drawing/2014/main" id="{277F300E-5893-4DAE-87E3-500C3A6E064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6" name="Rectangle 6">
            <a:extLst xmlns:a="http://schemas.openxmlformats.org/drawingml/2006/main">
              <a:ext uri="{FF2B5EF4-FFF2-40B4-BE49-F238E27FC236}">
                <a16:creationId xmlns:a16="http://schemas.microsoft.com/office/drawing/2014/main" id="{B4378CC4-0F99-430F-AAEA-A8A2A248F347}"/>
              </a:ext>
            </a:extLst>
          </p:cNvPr>
          <p:cNvSpPr>
            <a:spLocks xmlns:a="http://schemas.openxmlformats.org/drawingml/2006/main" noGrp="1"/>
          </p:cNvSpPr>
          <p:nvPr>
            <p:ph type="sldNum" idx="12"/>
          </p:nvPr>
        </p:nvSpPr>
        <p:spPr>
          <a:xfrm xmlns:a="http://schemas.openxmlformats.org/drawingml/2006/main">
            <a:off x="7924800" y="6299200"/>
            <a:ext cx="838200" cy="457200"/>
          </a:xfrm>
          <a:prstGeom xmlns:a="http://schemas.openxmlformats.org/drawingml/2006/main" prst="rect">
            <a:avLst/>
          </a:prstGeom>
        </p:spPr>
        <p:txBody>
          <a:bodyPr xmlns:a="http://schemas.openxmlformats.org/drawingml/2006/main" vert="horz" wrap="square" lIns="91440" tIns="45720" rIns="91440" bIns="45720" anchor="t"/>
          <a:lstStyle xmlns:a="http://schemas.openxmlformats.org/drawingml/2006/main">
            <a:lvl1pPr>
              <a:buNone/>
              <a:defRPr/>
            </a:lvl1pPr>
          </a:lstStyle>
          <a:p xmlns:a="http://schemas.openxmlformats.org/drawingml/2006/main">
            <a:pPr>
              <a:buNone/>
            </a:pPr>
            <a:fld id="{3EC5F0B9-3D97-7A42-AEDD-5885432A0FF7}"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jpeg" Id="R572d9c1753f145e1" /><Relationship Type="http://schemas.openxmlformats.org/officeDocument/2006/relationships/theme" Target="/ppt/slideMasters/theme/theme2.xml" Id="Rf84bf94500074e4b" /><Relationship Type="http://schemas.openxmlformats.org/officeDocument/2006/relationships/slideLayout" Target="/ppt/slideLayouts/slideLayout1.xml" Id="Rc9fa670445f54283" /><Relationship Type="http://schemas.openxmlformats.org/officeDocument/2006/relationships/slideLayout" Target="/ppt/slideLayouts/slideLayout2.xml" Id="R64833124149c47aa" /><Relationship Type="http://schemas.openxmlformats.org/officeDocument/2006/relationships/slideLayout" Target="/ppt/slideLayouts/slideLayout3.xml" Id="R3a33b9921e7e44e6" /><Relationship Type="http://schemas.openxmlformats.org/officeDocument/2006/relationships/slideLayout" Target="/ppt/slideLayouts/slideLayout4.xml" Id="R063050ffff304ec3" /><Relationship Type="http://schemas.openxmlformats.org/officeDocument/2006/relationships/slideLayout" Target="/ppt/slideLayouts/slideLayout5.xml" Id="R271cec2bd28640fe" /><Relationship Type="http://schemas.openxmlformats.org/officeDocument/2006/relationships/slideLayout" Target="/ppt/slideLayouts/slideLayout6.xml" Id="Rcadd835e56654281" /><Relationship Type="http://schemas.openxmlformats.org/officeDocument/2006/relationships/slideLayout" Target="/ppt/slideLayouts/slideLayout7.xml" Id="Rd5b1d4bbb2ea4683" /><Relationship Type="http://schemas.openxmlformats.org/officeDocument/2006/relationships/slideLayout" Target="/ppt/slideLayouts/slideLayout8.xml" Id="Reced2450a05849bc" /><Relationship Type="http://schemas.openxmlformats.org/officeDocument/2006/relationships/slideLayout" Target="/ppt/slideLayouts/slideLayout9.xml" Id="Rb6193a5b28fb4778" /><Relationship Type="http://schemas.openxmlformats.org/officeDocument/2006/relationships/slideLayout" Target="/ppt/slideLayouts/slideLayout10.xml" Id="Rc375a98b9310448f" /><Relationship Type="http://schemas.openxmlformats.org/officeDocument/2006/relationships/slideLayout" Target="/ppt/slideLayouts/slideLayout11.xml" Id="Ra994b0cea5184fde" /></Relationships>
</file>

<file path=ppt/slideMasters/slideMaster1.xml><?xml version="1.0" encoding="utf-8"?>
<p:sldMaster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pic>
        <p:nvPicPr>
          <p:cNvPr id="1033" name="Picture 7">
            <a:extLst xmlns:a="http://schemas.openxmlformats.org/drawingml/2006/main">
              <a:ext uri="{FF2B5EF4-FFF2-40B4-BE49-F238E27FC236}">
                <a16:creationId xmlns:a16="http://schemas.microsoft.com/office/drawing/2014/main" id="{C21A5705-D341-4477-AD3F-65D08F8EE468}"/>
              </a:ext>
            </a:extLst>
          </p:cNvPr>
          <p:cNvPicPr>
            <a:picLocks xmlns:a="http://schemas.openxmlformats.org/drawingml/2006/main" noChangeAspect="1"/>
          </p:cNvPicPr>
          <p:nvPr/>
        </p:nvPicPr>
        <p:blipFill>
          <a:blip xmlns:r="http://schemas.openxmlformats.org/officeDocument/2006/relationships" xmlns:a="http://schemas.openxmlformats.org/drawingml/2006/main" r:embed="R572d9c1753f145e1"/>
          <a:srcRect xmlns:a="http://schemas.openxmlformats.org/drawingml/2006/main" l="0" t="0" r="0" b="0"/>
          <a:stretch xmlns:a="http://schemas.openxmlformats.org/drawingml/2006/main">
            <a:fillRect l="0" t="0" r="0" b="0"/>
          </a:stretch>
        </p:blipFill>
        <p:spPr>
          <a:xfrm xmlns:a="http://schemas.openxmlformats.org/drawingml/2006/main">
            <a:off x="3175" y="0"/>
            <a:ext cx="9137650" cy="6858000"/>
          </a:xfrm>
          <a:prstGeom xmlns:a="http://schemas.openxmlformats.org/drawingml/2006/main" prst="rect">
            <a:avLst/>
          </a:prstGeom>
          <a:ln xmlns:a="http://schemas.openxmlformats.org/drawingml/2006/main">
            <a:noFill/>
          </a:ln>
        </p:spPr>
      </p:pic>
      <p:sp>
        <p:nvSpPr>
          <p:cNvPr id="1027" name="Rectangle 2">
            <a:extLst xmlns:a="http://schemas.openxmlformats.org/drawingml/2006/main">
              <a:ext uri="{FF2B5EF4-FFF2-40B4-BE49-F238E27FC236}">
                <a16:creationId xmlns:a16="http://schemas.microsoft.com/office/drawing/2014/main" id="{B7443329-56D9-4084-9702-0DEF1C2E7570}"/>
              </a:ext>
            </a:extLst>
          </p:cNvPr>
          <p:cNvSpPr>
            <a:spLocks xmlns:a="http://schemas.openxmlformats.org/drawingml/2006/main" noGrp="1"/>
          </p:cNvSpPr>
          <p:nvPr>
            <p:ph type="title" idx="0"/>
          </p:nvPr>
        </p:nvSpPr>
        <p:spPr>
          <a:xfrm xmlns:a="http://schemas.openxmlformats.org/drawingml/2006/main">
            <a:off x="749300" y="914400"/>
            <a:ext cx="7924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91440" tIns="45720" rIns="91440" bIns="45720" anchor="ctr"/>
          <a:lstStyle xmlns:a="http://schemas.openxmlformats.org/drawingml/2006/main"/>
          <a:p xmlns:a="http://schemas.openxmlformats.org/drawingml/2006/main">
            <a:pPr lvl="0">
              <a:buNone/>
            </a:pPr>
            <a:r>
              <a:t>Click to edit Master title style</a:t>
            </a:r>
          </a:p>
        </p:txBody>
      </p:sp>
      <p:sp>
        <p:nvSpPr>
          <p:cNvPr id="1028" name="Rectangle 3">
            <a:extLst xmlns:a="http://schemas.openxmlformats.org/drawingml/2006/main">
              <a:ext uri="{FF2B5EF4-FFF2-40B4-BE49-F238E27FC236}">
                <a16:creationId xmlns:a16="http://schemas.microsoft.com/office/drawing/2014/main" id="{0DECAE6B-0022-4053-94AB-68D543CC2135}"/>
              </a:ext>
            </a:extLst>
          </p:cNvPr>
          <p:cNvSpPr>
            <a:spLocks xmlns:a="http://schemas.openxmlformats.org/drawingml/2006/main" noGrp="1"/>
          </p:cNvSpPr>
          <p:nvPr>
            <p:ph type="body" idx="1"/>
          </p:nvPr>
        </p:nvSpPr>
        <p:spPr>
          <a:xfrm xmlns:a="http://schemas.openxmlformats.org/drawingml/2006/main">
            <a:off x="749300" y="1981200"/>
            <a:ext cx="7924800" cy="388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pPr lvl="0">
              <a:buNone/>
            </a:pPr>
            <a:r>
              <a:t>Click on text regions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Rectangle 4">
            <a:extLst xmlns:a="http://schemas.openxmlformats.org/drawingml/2006/main">
              <a:ext uri="{FF2B5EF4-FFF2-40B4-BE49-F238E27FC236}">
                <a16:creationId xmlns:a16="http://schemas.microsoft.com/office/drawing/2014/main" id="{090FC530-1439-4B61-B68C-0B87E8621B4D}"/>
              </a:ext>
            </a:extLst>
          </p:cNvPr>
          <p:cNvSpPr>
            <a:spLocks xmlns:a="http://schemas.openxmlformats.org/drawingml/2006/main" noGrp="1"/>
          </p:cNvSpPr>
          <p:nvPr>
            <p:ph type="dt" idx="2"/>
          </p:nvPr>
        </p:nvSpPr>
        <p:spPr>
          <a:xfrm xmlns:a="http://schemas.openxmlformats.org/drawingml/2006/main">
            <a:off x="7315200" y="6299200"/>
            <a:ext cx="1447800" cy="4572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t"/>
          <a:lstStyle xmlns:a="http://schemas.openxmlformats.org/drawingml/2006/main">
            <a:lvl1pPr algn="r">
              <a:buNone/>
              <a:defRPr sz="900">
                <a:solidFill>
                  <a:srgbClr val="002B5E"/>
                </a:solidFill>
                <a:latin typeface="Georgia"/>
                <a:ea typeface="Georgia"/>
                <a:cs typeface="Georgia"/>
              </a:defRPr>
            </a:lvl1pPr>
          </a:lstStyle>
          <a:p xmlns:a="http://schemas.openxmlformats.org/drawingml/2006/main">
            <a:pPr>
              <a:buNone/>
            </a:pPr>
            <a:r>
              <a:t>19 Oct 2009</a:t>
            </a:r>
          </a:p>
        </p:txBody>
      </p:sp>
      <p:sp>
        <p:nvSpPr>
          <p:cNvPr id="1029" name="Rectangle 5">
            <a:extLst xmlns:a="http://schemas.openxmlformats.org/drawingml/2006/main">
              <a:ext uri="{FF2B5EF4-FFF2-40B4-BE49-F238E27FC236}">
                <a16:creationId xmlns:a16="http://schemas.microsoft.com/office/drawing/2014/main" id="{47F820D9-E544-4A69-A89B-E5DD861588E7}"/>
              </a:ext>
            </a:extLst>
          </p:cNvPr>
          <p:cNvSpPr>
            <a:spLocks xmlns:a="http://schemas.openxmlformats.org/drawingml/2006/main" noGrp="1"/>
          </p:cNvSpPr>
          <p:nvPr>
            <p:ph type="ftr" idx="3"/>
          </p:nvPr>
        </p:nvSpPr>
        <p:spPr>
          <a:xfrm xmlns:a="http://schemas.openxmlformats.org/drawingml/2006/main">
            <a:off x="749300" y="6299200"/>
            <a:ext cx="6223000" cy="5588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t"/>
          <a:lstStyle xmlns:a="http://schemas.openxmlformats.org/drawingml/2006/main">
            <a:lvl1pPr>
              <a:buNone/>
              <a:defRPr sz="900">
                <a:solidFill>
                  <a:srgbClr val="002B5E"/>
                </a:solidFill>
                <a:latin typeface="Georgia"/>
                <a:ea typeface="Georgia"/>
                <a:cs typeface="Georgia"/>
              </a:defRPr>
            </a:lvl1pPr>
          </a:lstStyle>
          <a:p xmlns:a="http://schemas.openxmlformats.org/drawingml/2006/main">
            <a:pPr>
              <a:buNone/>
            </a:pPr>
            <a:endParaRPr/>
          </a:p>
        </p:txBody>
      </p:sp>
      <p:sp>
        <p:nvSpPr>
          <p:cNvPr id="1031" name="TextBox 8">
            <a:extLst xmlns:a="http://schemas.openxmlformats.org/drawingml/2006/main">
              <a:ext uri="{FF2B5EF4-FFF2-40B4-BE49-F238E27FC236}">
                <a16:creationId xmlns:a16="http://schemas.microsoft.com/office/drawing/2014/main" id="{136F2A4D-48D6-4760-A99B-D836B4A7783E}"/>
              </a:ext>
            </a:extLst>
          </p:cNvPr>
          <p:cNvSpPr>
            <a:spLocks xmlns:a="http://schemas.openxmlformats.org/drawingml/2006/main" noGrp="1"/>
          </p:cNvSpPr>
          <p:nvPr/>
        </p:nvSpPr>
        <p:spPr>
          <a:xfrm xmlns:a="http://schemas.openxmlformats.org/drawingml/2006/main">
            <a:off x="3835400" y="254000"/>
            <a:ext cx="4927600" cy="3079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spAutoFit/>
          </a:bodyPr>
          <a:lstStyle xmlns:a="http://schemas.openxmlformats.org/drawingml/2006/main">
            <a:lvl1pPr>
              <a:buNone/>
              <a:defRPr sz="2400">
                <a:solidFill>
                  <a:schemeClr val="tx1"/>
                </a:solidFill>
                <a:latin typeface="Arial"/>
                <a:ea typeface="Arial"/>
                <a:cs typeface="Arial"/>
              </a:defRPr>
            </a:lvl1pPr>
            <a:lvl2pPr marL="742950" indent="-285750">
              <a:buNone/>
              <a:defRPr sz="2400">
                <a:solidFill>
                  <a:schemeClr val="tx1"/>
                </a:solidFill>
                <a:latin typeface="Arial"/>
                <a:ea typeface="Arial"/>
                <a:cs typeface="Arial"/>
              </a:defRPr>
            </a:lvl2pPr>
            <a:lvl3pPr marL="1143000" indent="-228600">
              <a:buNone/>
              <a:defRPr sz="2400">
                <a:solidFill>
                  <a:schemeClr val="tx1"/>
                </a:solidFill>
                <a:latin typeface="Arial"/>
                <a:ea typeface="Arial"/>
                <a:cs typeface="Arial"/>
              </a:defRPr>
            </a:lvl3pPr>
            <a:lvl4pPr marL="1600200" indent="-228600">
              <a:buNone/>
              <a:defRPr sz="2400">
                <a:solidFill>
                  <a:schemeClr val="tx1"/>
                </a:solidFill>
                <a:latin typeface="Arial"/>
                <a:ea typeface="Arial"/>
                <a:cs typeface="Arial"/>
              </a:defRPr>
            </a:lvl4pPr>
            <a:lvl5pPr marL="2057400" indent="-228600">
              <a:buNone/>
              <a:defRPr sz="2400">
                <a:solidFill>
                  <a:schemeClr val="tx1"/>
                </a:solidFill>
                <a:latin typeface="Arial"/>
                <a:ea typeface="Arial"/>
                <a:cs typeface="Arial"/>
              </a:defRPr>
            </a:lvl5pPr>
            <a:lvl6pPr marL="2514600" indent="-228600">
              <a:spcBef>
                <a:spcPct val="0"/>
              </a:spcBef>
              <a:spcAft>
                <a:spcPct val="0"/>
              </a:spcAft>
              <a:buNone/>
              <a:defRPr sz="2400">
                <a:solidFill>
                  <a:schemeClr val="tx1"/>
                </a:solidFill>
                <a:latin typeface="Arial"/>
                <a:ea typeface="Arial"/>
                <a:cs typeface="Arial"/>
              </a:defRPr>
            </a:lvl6pPr>
            <a:lvl7pPr marL="2971800" indent="-228600">
              <a:spcBef>
                <a:spcPct val="0"/>
              </a:spcBef>
              <a:spcAft>
                <a:spcPct val="0"/>
              </a:spcAft>
              <a:buNone/>
              <a:defRPr sz="2400">
                <a:solidFill>
                  <a:schemeClr val="tx1"/>
                </a:solidFill>
                <a:latin typeface="Arial"/>
                <a:ea typeface="Arial"/>
                <a:cs typeface="Arial"/>
              </a:defRPr>
            </a:lvl7pPr>
            <a:lvl8pPr marL="3429000" indent="-228600">
              <a:spcBef>
                <a:spcPct val="0"/>
              </a:spcBef>
              <a:spcAft>
                <a:spcPct val="0"/>
              </a:spcAft>
              <a:buNone/>
              <a:defRPr sz="2400">
                <a:solidFill>
                  <a:schemeClr val="tx1"/>
                </a:solidFill>
                <a:latin typeface="Arial"/>
                <a:ea typeface="Arial"/>
                <a:cs typeface="Arial"/>
              </a:defRPr>
            </a:lvl8pPr>
            <a:lvl9pPr marL="3886200" indent="-228600">
              <a:spcBef>
                <a:spcPct val="0"/>
              </a:spcBef>
              <a:spcAft>
                <a:spcPct val="0"/>
              </a:spcAft>
              <a:buNone/>
              <a:defRPr sz="2400">
                <a:solidFill>
                  <a:schemeClr val="tx1"/>
                </a:solidFill>
                <a:latin typeface="Arial"/>
                <a:ea typeface="Arial"/>
                <a:cs typeface="Arial"/>
              </a:defRPr>
            </a:lvl9pPr>
          </a:lstStyle>
          <a:p xmlns:a="http://schemas.openxmlformats.org/drawingml/2006/main">
            <a:pPr algn="r">
              <a:buNone/>
            </a:pPr>
            <a:r>
              <a:rPr sz="1400" b="1">
                <a:solidFill>
                  <a:srgbClr val="002B5E"/>
                </a:solidFill>
                <a:latin typeface="Georgia"/>
                <a:ea typeface="Georgia"/>
                <a:cs typeface="Georgia"/>
              </a:rPr>
              <a:t>Chemical and Petroleum Engineering Department</a:t>
            </a: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9fa670445f54283"/>
    <p:sldLayoutId xmlns:r="http://schemas.openxmlformats.org/officeDocument/2006/relationships" id="2147483650" r:id="R64833124149c47aa"/>
    <p:sldLayoutId xmlns:r="http://schemas.openxmlformats.org/officeDocument/2006/relationships" id="2147483651" r:id="R3a33b9921e7e44e6"/>
    <p:sldLayoutId xmlns:r="http://schemas.openxmlformats.org/officeDocument/2006/relationships" id="2147483652" r:id="R063050ffff304ec3"/>
    <p:sldLayoutId xmlns:r="http://schemas.openxmlformats.org/officeDocument/2006/relationships" id="2147483653" r:id="R271cec2bd28640fe"/>
    <p:sldLayoutId xmlns:r="http://schemas.openxmlformats.org/officeDocument/2006/relationships" id="2147483654" r:id="Rcadd835e56654281"/>
    <p:sldLayoutId xmlns:r="http://schemas.openxmlformats.org/officeDocument/2006/relationships" id="2147483655" r:id="Rd5b1d4bbb2ea4683"/>
    <p:sldLayoutId xmlns:r="http://schemas.openxmlformats.org/officeDocument/2006/relationships" id="2147483656" r:id="Reced2450a05849bc"/>
    <p:sldLayoutId xmlns:r="http://schemas.openxmlformats.org/officeDocument/2006/relationships" id="2147483657" r:id="Rb6193a5b28fb4778"/>
    <p:sldLayoutId xmlns:r="http://schemas.openxmlformats.org/officeDocument/2006/relationships" id="2147483658" r:id="Rc375a98b9310448f"/>
    <p:sldLayoutId xmlns:r="http://schemas.openxmlformats.org/officeDocument/2006/relationships" id="2147483659" r:id="Ra994b0cea5184fde"/>
  </p:sldLayoutIdLst>
  <p:hf sldNum="0" hdr="0"/>
  <p:txStyles>
    <p:titleStyle>
      <a:lvl1pPr xmlns:a="http://schemas.openxmlformats.org/drawingml/2006/main" algn="l">
        <a:spcBef>
          <a:spcPct val="0"/>
        </a:spcBef>
        <a:spcAft>
          <a:spcPct val="0"/>
        </a:spcAft>
        <a:buNone/>
        <a:defRPr sz="3600" b="1">
          <a:solidFill>
            <a:srgbClr val="948151"/>
          </a:solidFill>
          <a:latin typeface="+mj-lt"/>
          <a:ea typeface="+mj-lt"/>
          <a:cs typeface="+mj-lt"/>
        </a:defRPr>
      </a:lvl1pPr>
      <a:lvl2pPr xmlns:a="http://schemas.openxmlformats.org/drawingml/2006/main" algn="l">
        <a:spcBef>
          <a:spcPct val="0"/>
        </a:spcBef>
        <a:spcAft>
          <a:spcPct val="0"/>
        </a:spcAft>
        <a:buNone/>
        <a:defRPr sz="3600" b="1">
          <a:solidFill>
            <a:srgbClr val="948151"/>
          </a:solidFill>
          <a:latin typeface="Georgia"/>
          <a:ea typeface="Georgia"/>
          <a:cs typeface="Georgia"/>
        </a:defRPr>
      </a:lvl2pPr>
      <a:lvl3pPr xmlns:a="http://schemas.openxmlformats.org/drawingml/2006/main" algn="l">
        <a:spcBef>
          <a:spcPct val="0"/>
        </a:spcBef>
        <a:spcAft>
          <a:spcPct val="0"/>
        </a:spcAft>
        <a:buNone/>
        <a:defRPr sz="3600" b="1">
          <a:solidFill>
            <a:srgbClr val="948151"/>
          </a:solidFill>
          <a:latin typeface="Georgia"/>
          <a:ea typeface="Georgia"/>
          <a:cs typeface="Georgia"/>
        </a:defRPr>
      </a:lvl3pPr>
      <a:lvl4pPr xmlns:a="http://schemas.openxmlformats.org/drawingml/2006/main" algn="l">
        <a:spcBef>
          <a:spcPct val="0"/>
        </a:spcBef>
        <a:spcAft>
          <a:spcPct val="0"/>
        </a:spcAft>
        <a:buNone/>
        <a:defRPr sz="3600" b="1">
          <a:solidFill>
            <a:srgbClr val="948151"/>
          </a:solidFill>
          <a:latin typeface="Georgia"/>
          <a:ea typeface="Georgia"/>
          <a:cs typeface="Georgia"/>
        </a:defRPr>
      </a:lvl4pPr>
      <a:lvl5pPr xmlns:a="http://schemas.openxmlformats.org/drawingml/2006/main" algn="l">
        <a:spcBef>
          <a:spcPct val="0"/>
        </a:spcBef>
        <a:spcAft>
          <a:spcPct val="0"/>
        </a:spcAft>
        <a:buNone/>
        <a:defRPr sz="3600" b="1">
          <a:solidFill>
            <a:srgbClr val="948151"/>
          </a:solidFill>
          <a:latin typeface="Georgia"/>
          <a:ea typeface="Georgia"/>
          <a:cs typeface="Georgia"/>
        </a:defRPr>
      </a:lvl5pPr>
      <a:lvl6pPr xmlns:a="http://schemas.openxmlformats.org/drawingml/2006/main" marL="457200" algn="l">
        <a:spcBef>
          <a:spcPct val="0"/>
        </a:spcBef>
        <a:spcAft>
          <a:spcPct val="0"/>
        </a:spcAft>
        <a:buNone/>
        <a:defRPr sz="4400">
          <a:solidFill>
            <a:srgbClr val="003E7E"/>
          </a:solidFill>
          <a:latin typeface="Georgia"/>
          <a:ea typeface="Georgia"/>
          <a:cs typeface="Georgia"/>
        </a:defRPr>
      </a:lvl6pPr>
      <a:lvl7pPr xmlns:a="http://schemas.openxmlformats.org/drawingml/2006/main" marL="914400" algn="l">
        <a:spcBef>
          <a:spcPct val="0"/>
        </a:spcBef>
        <a:spcAft>
          <a:spcPct val="0"/>
        </a:spcAft>
        <a:buNone/>
        <a:defRPr sz="4400">
          <a:solidFill>
            <a:srgbClr val="003E7E"/>
          </a:solidFill>
          <a:latin typeface="Georgia"/>
          <a:ea typeface="Georgia"/>
          <a:cs typeface="Georgia"/>
        </a:defRPr>
      </a:lvl7pPr>
      <a:lvl8pPr xmlns:a="http://schemas.openxmlformats.org/drawingml/2006/main" marL="1371600" algn="l">
        <a:spcBef>
          <a:spcPct val="0"/>
        </a:spcBef>
        <a:spcAft>
          <a:spcPct val="0"/>
        </a:spcAft>
        <a:buNone/>
        <a:defRPr sz="4400">
          <a:solidFill>
            <a:srgbClr val="003E7E"/>
          </a:solidFill>
          <a:latin typeface="Georgia"/>
          <a:ea typeface="Georgia"/>
          <a:cs typeface="Georgia"/>
        </a:defRPr>
      </a:lvl8pPr>
      <a:lvl9pPr xmlns:a="http://schemas.openxmlformats.org/drawingml/2006/main" marL="1828800" algn="l">
        <a:spcBef>
          <a:spcPct val="0"/>
        </a:spcBef>
        <a:spcAft>
          <a:spcPct val="0"/>
        </a:spcAft>
        <a:buNone/>
        <a:defRPr sz="4400">
          <a:solidFill>
            <a:srgbClr val="003E7E"/>
          </a:solidFill>
          <a:latin typeface="Georgia"/>
          <a:ea typeface="Georgia"/>
          <a:cs typeface="Georgia"/>
        </a:defRPr>
      </a:lvl9pPr>
    </p:titleStyle>
    <p:bodyStyle>
      <a:lvl1pPr xmlns:a="http://schemas.openxmlformats.org/drawingml/2006/main" marL="342900" indent="-342900" algn="l">
        <a:spcBef>
          <a:spcPct val="20000"/>
        </a:spcBef>
        <a:spcAft>
          <a:spcPts val="600"/>
        </a:spcAft>
        <a:buClr>
          <a:srgbClr val="000000"/>
        </a:buClr>
        <a:buChar char="•"/>
        <a:defRPr sz="3200">
          <a:solidFill>
            <a:srgbClr val="002B5E"/>
          </a:solidFill>
          <a:latin typeface="+mn-lt"/>
          <a:ea typeface="+mn-lt"/>
          <a:cs typeface="+mn-lt"/>
        </a:defRPr>
      </a:lvl1pPr>
      <a:lvl2pPr xmlns:a="http://schemas.openxmlformats.org/drawingml/2006/main" marL="742950" indent="-285750" algn="l">
        <a:spcBef>
          <a:spcPct val="20000"/>
        </a:spcBef>
        <a:spcAft>
          <a:spcPts val="1200"/>
        </a:spcAft>
        <a:buClr>
          <a:srgbClr val="000000"/>
        </a:buClr>
        <a:buChar char="–"/>
        <a:defRPr sz="2800">
          <a:solidFill>
            <a:srgbClr val="002B5E"/>
          </a:solidFill>
          <a:latin typeface="+mn-lt"/>
          <a:ea typeface="+mn-lt"/>
          <a:cs typeface="+mn-lt"/>
        </a:defRPr>
      </a:lvl2pPr>
      <a:lvl3pPr xmlns:a="http://schemas.openxmlformats.org/drawingml/2006/main" marL="1143000" indent="-228600" algn="l">
        <a:spcBef>
          <a:spcPct val="20000"/>
        </a:spcBef>
        <a:spcAft>
          <a:spcPts val="1200"/>
        </a:spcAft>
        <a:buClr>
          <a:srgbClr val="000000"/>
        </a:buClr>
        <a:buChar char="•"/>
        <a:defRPr sz="2400">
          <a:solidFill>
            <a:srgbClr val="002B5E"/>
          </a:solidFill>
          <a:latin typeface="+mn-lt"/>
          <a:ea typeface="+mn-lt"/>
          <a:cs typeface="+mn-lt"/>
        </a:defRPr>
      </a:lvl3pPr>
      <a:lvl4pPr xmlns:a="http://schemas.openxmlformats.org/drawingml/2006/main" marL="1600200" indent="-228600" algn="l">
        <a:spcBef>
          <a:spcPct val="20000"/>
        </a:spcBef>
        <a:spcAft>
          <a:spcPts val="1200"/>
        </a:spcAft>
        <a:buClr>
          <a:srgbClr val="000000"/>
        </a:buClr>
        <a:buChar char="–"/>
        <a:defRPr sz="2000">
          <a:solidFill>
            <a:srgbClr val="002B5E"/>
          </a:solidFill>
          <a:latin typeface="+mn-lt"/>
          <a:ea typeface="+mn-lt"/>
          <a:cs typeface="+mn-lt"/>
        </a:defRPr>
      </a:lvl4pPr>
      <a:lvl5pPr xmlns:a="http://schemas.openxmlformats.org/drawingml/2006/main" marL="2057400" indent="-228600" algn="l">
        <a:spcBef>
          <a:spcPct val="20000"/>
        </a:spcBef>
        <a:spcAft>
          <a:spcPts val="1200"/>
        </a:spcAft>
        <a:buClr>
          <a:srgbClr val="000000"/>
        </a:buClr>
        <a:buChar char="»"/>
        <a:defRPr sz="2000">
          <a:solidFill>
            <a:srgbClr val="002B5E"/>
          </a:solidFill>
          <a:latin typeface="+mn-lt"/>
          <a:ea typeface="+mn-lt"/>
          <a:cs typeface="+mn-lt"/>
        </a:defRPr>
      </a:lvl5pPr>
      <a:lvl6pPr xmlns:a="http://schemas.openxmlformats.org/drawingml/2006/main" marL="2514600" indent="-228600" algn="l">
        <a:spcBef>
          <a:spcPct val="20000"/>
        </a:spcBef>
        <a:spcAft>
          <a:spcPct val="0"/>
        </a:spcAft>
        <a:buChar char="»"/>
        <a:defRPr sz="2000">
          <a:solidFill>
            <a:srgbClr val="003E7E"/>
          </a:solidFill>
          <a:latin typeface="+mn-lt"/>
          <a:ea typeface="+mn-lt"/>
          <a:cs typeface="+mn-lt"/>
        </a:defRPr>
      </a:lvl6pPr>
      <a:lvl7pPr xmlns:a="http://schemas.openxmlformats.org/drawingml/2006/main" marL="2971800" indent="-228600" algn="l">
        <a:spcBef>
          <a:spcPct val="20000"/>
        </a:spcBef>
        <a:spcAft>
          <a:spcPct val="0"/>
        </a:spcAft>
        <a:buChar char="»"/>
        <a:defRPr sz="2000">
          <a:solidFill>
            <a:srgbClr val="003E7E"/>
          </a:solidFill>
          <a:latin typeface="+mn-lt"/>
          <a:ea typeface="+mn-lt"/>
          <a:cs typeface="+mn-lt"/>
        </a:defRPr>
      </a:lvl7pPr>
      <a:lvl8pPr xmlns:a="http://schemas.openxmlformats.org/drawingml/2006/main" marL="3429000" indent="-228600" algn="l">
        <a:spcBef>
          <a:spcPct val="20000"/>
        </a:spcBef>
        <a:spcAft>
          <a:spcPct val="0"/>
        </a:spcAft>
        <a:buChar char="»"/>
        <a:defRPr sz="2000">
          <a:solidFill>
            <a:srgbClr val="003E7E"/>
          </a:solidFill>
          <a:latin typeface="+mn-lt"/>
          <a:ea typeface="+mn-lt"/>
          <a:cs typeface="+mn-lt"/>
        </a:defRPr>
      </a:lvl8pPr>
      <a:lvl9pPr xmlns:a="http://schemas.openxmlformats.org/drawingml/2006/main" marL="3886200" indent="-228600" algn="l">
        <a:spcBef>
          <a:spcPct val="20000"/>
        </a:spcBef>
        <a:spcAft>
          <a:spcPct val="0"/>
        </a:spcAft>
        <a:buChar char="»"/>
        <a:defRPr sz="2000">
          <a:solidFill>
            <a:srgbClr val="003E7E"/>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Georgia"/>
        <a:ea typeface="ＭＳ Ｐゴシック"/>
        <a:cs typeface="ＭＳ Ｐゴシック"/>
      </a:majorFont>
      <a:minorFont>
        <a:latin typeface="Georgia"/>
        <a:ea typeface="ＭＳ Ｐゴシック"/>
        <a:cs typeface="ＭＳ Ｐゴシック"/>
      </a:minorFont>
    </a:fontScheme>
    <a:fmtScheme name="Blank Presentation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4f0030b4403d4105" /><Relationship Type="http://schemas.openxmlformats.org/officeDocument/2006/relationships/notesSlide" Target="/ppt/notesSlides/notesSlide1.xml" Id="Rff04ac3e368d4ef2"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9098c60af2204eeb" /><Relationship Type="http://schemas.openxmlformats.org/officeDocument/2006/relationships/image" Target="/ppt/media/image.png" Id="R62502f844b754a58" /><Relationship Type="http://schemas.openxmlformats.org/officeDocument/2006/relationships/notesSlide" Target="/ppt/notesSlides/notesSlide2.xml" Id="R38e5579d693644da"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9d19b7e9075447e4" /><Relationship Type="http://schemas.openxmlformats.org/officeDocument/2006/relationships/notesSlide" Target="/ppt/notesSlides/notesSlide3.xml" Id="Raa94408221894997"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9eb075d1a6364d37" /><Relationship Type="http://schemas.openxmlformats.org/officeDocument/2006/relationships/notesSlide" Target="/ppt/notesSlides/notesSlide4.xml" Id="R83cd2d05dd6a4049"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8bff420421824153" /><Relationship Type="http://schemas.openxmlformats.org/officeDocument/2006/relationships/notesSlide" Target="/ppt/notesSlides/notesSlide5.xml" Id="R7e3a1aba511a4a68"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87400f3bc8884bfe" /><Relationship Type="http://schemas.openxmlformats.org/officeDocument/2006/relationships/notesSlide" Target="/ppt/notesSlides/notesSlide6.xml" Id="Reabbe0a886434c41"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1661d00a486e4b2c" /><Relationship Type="http://schemas.openxmlformats.org/officeDocument/2006/relationships/image" Target="/ppt/media/image2.png" Id="R73c801fc94f34741" /><Relationship Type="http://schemas.openxmlformats.org/officeDocument/2006/relationships/image" Target="/ppt/media/image3.png" Id="R8ec8fafa4f2f4d2e" /><Relationship Type="http://schemas.openxmlformats.org/officeDocument/2006/relationships/notesSlide" Target="/ppt/notesSlides/notesSlide7.xml" Id="Rd4fbad27b91c4546"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676e640be3de4735" /><Relationship Type="http://schemas.openxmlformats.org/officeDocument/2006/relationships/image" Target="/ppt/media/image4.png" Id="R3d3d57f657b24e18" /><Relationship Type="http://schemas.openxmlformats.org/officeDocument/2006/relationships/notesSlide" Target="/ppt/notesSlides/notesSlide8.xml" Id="R488ab9ddcb1f4dc4"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c34eee5aac574b2f" /><Relationship Type="http://schemas.openxmlformats.org/officeDocument/2006/relationships/image" Target="/ppt/media/image5.png" Id="R1495128f2c1141ee" /><Relationship Type="http://schemas.openxmlformats.org/officeDocument/2006/relationships/image" Target="/ppt/media/image6.png" Id="R34c08aaf7d7a4247" /><Relationship Type="http://schemas.openxmlformats.org/officeDocument/2006/relationships/image" Target="/ppt/media/image7.png" Id="R61632054b33f45ec" /><Relationship Type="http://schemas.openxmlformats.org/officeDocument/2006/relationships/image" Target="/ppt/media/image8.png" Id="R6e0b1aa0f57c440b" /><Relationship Type="http://schemas.openxmlformats.org/officeDocument/2006/relationships/image" Target="/ppt/media/image9.png" Id="R74c8f29ad4bd4775" /><Relationship Type="http://schemas.openxmlformats.org/officeDocument/2006/relationships/notesSlide" Target="/ppt/notesSlides/notesSlide9.xml" Id="Ra915a989b0a948d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9afbd838c4db4715" /><Relationship Type="http://schemas.openxmlformats.org/officeDocument/2006/relationships/notesSlide" Target="/ppt/notesSlides/notesSlide10.xml" Id="Ree47c359738e46d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295d9eb7923e4579" /><Relationship Type="http://schemas.openxmlformats.org/officeDocument/2006/relationships/image" Target="/ppt/media/image10.png" Id="R72dba3e6d73c4be4" /><Relationship Type="http://schemas.openxmlformats.org/officeDocument/2006/relationships/image" Target="/ppt/media/image11.png" Id="R14b9dd1e5eb84b09" /><Relationship Type="http://schemas.openxmlformats.org/officeDocument/2006/relationships/image" Target="/ppt/media/image12.png" Id="Re8acfab9dfdc47ff" /><Relationship Type="http://schemas.openxmlformats.org/officeDocument/2006/relationships/notesSlide" Target="/ppt/notesSlides/notesSlide11.xml" Id="Rded7782808b74a1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d1473450a98e4d82" /><Relationship Type="http://schemas.openxmlformats.org/officeDocument/2006/relationships/notesSlide" Target="/ppt/notesSlides/notesSlide12.xml" Id="R467fb3dd2083439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e59ed2686c114c6b" /><Relationship Type="http://schemas.openxmlformats.org/officeDocument/2006/relationships/notesSlide" Target="/ppt/notesSlides/notesSlide13.xml" Id="R6d22caf41e33487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9bb782118aab4b94" /><Relationship Type="http://schemas.openxmlformats.org/officeDocument/2006/relationships/chart" Target="/ppt/slides/charts/chart1.xml" Id="Re4b5126ccc0f4cee" /><Relationship Type="http://schemas.openxmlformats.org/officeDocument/2006/relationships/notesSlide" Target="/ppt/notesSlides/notesSlide14.xml" Id="R6e037d0e28334ac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5c95f17df4f84bbc" /><Relationship Type="http://schemas.openxmlformats.org/officeDocument/2006/relationships/chart" Target="/ppt/slides/charts/chart2.xml" Id="Rb2a3d81a70014c5f" /><Relationship Type="http://schemas.openxmlformats.org/officeDocument/2006/relationships/notesSlide" Target="/ppt/notesSlides/notesSlide15.xml" Id="R7e701f651d1345d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1207c24ec54243d9" /><Relationship Type="http://schemas.openxmlformats.org/officeDocument/2006/relationships/chart" Target="/ppt/slides/charts/chart3.xml" Id="R7b053d69da2c46cd" /><Relationship Type="http://schemas.openxmlformats.org/officeDocument/2006/relationships/notesSlide" Target="/ppt/notesSlides/notesSlide16.xml" Id="R5f4f7dafa3e4499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318f3048766d459c" /><Relationship Type="http://schemas.openxmlformats.org/officeDocument/2006/relationships/chart" Target="/ppt/slides/charts/chart4.xml" Id="R0709e90d642e4884" /><Relationship Type="http://schemas.openxmlformats.org/officeDocument/2006/relationships/chart" Target="/ppt/slides/charts/chart5.xml" Id="Re423fda7d1bf420e" /><Relationship Type="http://schemas.openxmlformats.org/officeDocument/2006/relationships/image" Target="/ppt/media/image13.png" Id="R4de46289b4184fce" /><Relationship Type="http://schemas.openxmlformats.org/officeDocument/2006/relationships/image" Target="/ppt/media/image14.png" Id="R3fda76479ccf4899" /><Relationship Type="http://schemas.openxmlformats.org/officeDocument/2006/relationships/notesSlide" Target="/ppt/notesSlides/notesSlide17.xml" Id="R004776e4a0bc4bb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1a00f495035e4a1d" /><Relationship Type="http://schemas.openxmlformats.org/officeDocument/2006/relationships/chart" Target="/ppt/slides/charts/chart6.xml" Id="Rcbd60e592d034cfc" /><Relationship Type="http://schemas.openxmlformats.org/officeDocument/2006/relationships/notesSlide" Target="/ppt/notesSlides/notesSlide18.xml" Id="Ra19a8b13e9f446d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6dffb428f8984ffa" /><Relationship Type="http://schemas.openxmlformats.org/officeDocument/2006/relationships/chart" Target="/ppt/slides/charts/chart7.xml" Id="R36a9064755ae4b3d" /><Relationship Type="http://schemas.openxmlformats.org/officeDocument/2006/relationships/chart" Target="/ppt/slides/charts/chart8.xml" Id="R4360e2ed0c1f4d65" /><Relationship Type="http://schemas.openxmlformats.org/officeDocument/2006/relationships/notesSlide" Target="/ppt/notesSlides/notesSlide19.xml" Id="R4b50f2cc14444f4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7.xml" Id="R27f884ca252e4e0f" /><Relationship Type="http://schemas.openxmlformats.org/officeDocument/2006/relationships/notesSlide" Target="/ppt/notesSlides/notesSlide20.xml" Id="Rea4adcfddd0c40e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7.xml" Id="Rf328022d082045fa" /><Relationship Type="http://schemas.openxmlformats.org/officeDocument/2006/relationships/notesSlide" Target="/ppt/notesSlides/notesSlide21.xml" Id="R7974f7a5b70247d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7.xml" Id="R9c78ce200f38410c" /><Relationship Type="http://schemas.openxmlformats.org/officeDocument/2006/relationships/notesSlide" Target="/ppt/notesSlides/notesSlide22.xml" Id="Rb52681d243754d2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7.xml" Id="R3cfa54e459fb40cf" /><Relationship Type="http://schemas.openxmlformats.org/officeDocument/2006/relationships/notesSlide" Target="/ppt/notesSlides/notesSlide23.xml" Id="R4339bfdac8da4e9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7.xml" Id="R7d6bc150271343ab" /><Relationship Type="http://schemas.openxmlformats.org/officeDocument/2006/relationships/hyperlink" Target="https://doi.org/10.1016/j.jcp.2018.10.045" TargetMode="External" Id="R31ffaffc2535476f" /><Relationship Type="http://schemas.openxmlformats.org/officeDocument/2006/relationships/hyperlink" Target="https://arxiv.org/abs/2102.04626" TargetMode="External" Id="R56afa9715bcf4590" /><Relationship Type="http://schemas.openxmlformats.org/officeDocument/2006/relationships/hyperlink" Target="https://doi.org/10.1137/20M1318043" TargetMode="External" Id="Ra7a806640b904e9f" /><Relationship Type="http://schemas.openxmlformats.org/officeDocument/2006/relationships/hyperlink" Target="https://doi.org/10.1016/j.cma.2021.113938" TargetMode="External" Id="R9f241809999e4fbe" /><Relationship Type="http://schemas.openxmlformats.org/officeDocument/2006/relationships/hyperlink" Target="https://doi.org/10.1016/j.jcp.2020.109913" TargetMode="External" Id="R694978e077fa44b2" /><Relationship Type="http://schemas.openxmlformats.org/officeDocument/2006/relationships/hyperlink" Target="https://www.nature.com/articles/s42256-021-00302-5" TargetMode="External" Id="Rc10ccc02983a4db3" /><Relationship Type="http://schemas.openxmlformats.org/officeDocument/2006/relationships/hyperlink" Target="https://arxiv.org/abs/2010.08895" TargetMode="External" Id="R3c6bb70c61074c3f" /><Relationship Type="http://schemas.openxmlformats.org/officeDocument/2006/relationships/hyperlink" Target="https://github.com/aadams2006/Pitt-ML-MSE-Project/pull/6" TargetMode="External" Id="R8f9e5422d7484156" /><Relationship Type="http://schemas.openxmlformats.org/officeDocument/2006/relationships/notesSlide" Target="/ppt/notesSlides/notesSlide24.xml" Id="Rf7ca29c6ab52446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b="1">
                <a:solidFill>
                  <a:srgbClr val="002B5E"/>
                </a:solidFill>
                <a:latin typeface="Arial"/>
                <a:ea typeface="Arial"/>
                <a:cs typeface="Arial"/>
              </a:rPr>
              <a:t>Held-out RMSE (nm)</a:t>
            </a:r>
          </a:p>
        </c:rich>
      </c:tx>
      <c:overlay val="0"/>
      <c:txPr>
        <a:bodyPr xmlns:a="http://schemas.openxmlformats.org/drawingml/2006/main" anchorCtr="1"/>
        <a:lstStyle xmlns:a="http://schemas.openxmlformats.org/drawingml/2006/main"/>
        <a:p xmlns:a="http://schemas.openxmlformats.org/drawingml/2006/main">
          <a:pPr>
            <a:defRPr sz="1350" b="1">
              <a:solidFill>
                <a:srgbClr val="002B5E"/>
              </a:solidFill>
              <a:latin typeface="Arial"/>
              <a:ea typeface="Arial"/>
              <a:cs typeface="Arial"/>
            </a:defRPr>
          </a:pPr>
        </a:p>
      </c:txPr>
    </c:title>
    <c:plotArea>
      <c:barChart>
        <c:barDir val="col"/>
        <c:grouping val="clustered"/>
        <c:varyColors val="0"/>
        <c:ser>
          <c:idx val="0"/>
          <c:order val="0"/>
          <c:tx>
            <c:v>RMSE (nm)</c:v>
          </c:tx>
          <c:spPr>
            <a:solidFill xmlns:a="http://schemas.openxmlformats.org/drawingml/2006/main">
              <a:srgbClr val="6F8FAE"/>
            </a:solidFill>
          </c:spPr>
          <c:invertIfNegative val="0"/>
          <c:dPt>
            <c:idx val="0"/>
            <c:invertIfNegative val="0"/>
            <c:spPr>
              <a:solidFill xmlns:a="http://schemas.openxmlformats.org/drawingml/2006/main">
                <a:srgbClr val="B49A45"/>
              </a:solidFill>
            </c:spPr>
          </c:dPt>
          <c:dPt>
            <c:idx val="3"/>
            <c:invertIfNegative val="0"/>
            <c:spPr>
              <a:solidFill xmlns:a="http://schemas.openxmlformats.org/drawingml/2006/main">
                <a:srgbClr val="002B5E"/>
              </a:solidFill>
            </c:spPr>
          </c:dPt>
          <c:cat>
            <c:strRef>
              <c:f>'Chart Data'!$A$2:$A$6</c:f>
              <c:strCache>
                <c:ptCount val="5"/>
                <c:pt idx="0">
                  <c:v>PINN</c:v>
                </c:pt>
                <c:pt idx="1">
                  <c:v>Bounded</c:v>
                </c:pt>
                <c:pt idx="2">
                  <c:v>Standard</c:v>
                </c:pt>
                <c:pt idx="3">
                  <c:v>RF</c:v>
                </c:pt>
                <c:pt idx="4">
                  <c:v>GB</c:v>
                </c:pt>
              </c:strCache>
            </c:strRef>
          </c:cat>
          <c:val>
            <c:numRef>
              <c:f>'Chart Data'!$B$2:$B$6</c:f>
              <c:numCache>
                <c:formatCode>0.000</c:formatCode>
                <c:ptCount val="5"/>
                <c:pt idx="0">
                  <c:v>0.122251174504</c:v>
                </c:pt>
                <c:pt idx="1">
                  <c:v>0.122413918793</c:v>
                </c:pt>
                <c:pt idx="2">
                  <c:v>0.211947087379</c:v>
                </c:pt>
                <c:pt idx="3">
                  <c:v>0.0669798898392</c:v>
                </c:pt>
                <c:pt idx="4">
                  <c:v>0.0649327549626</c:v>
                </c:pt>
              </c:numCache>
            </c:numRef>
          </c:val>
        </c:ser>
        <c:dLbls>
          <c:numFmt formatCode="0.0000" sourceLinked="0"/>
          <c:txPr>
            <a:bodyPr xmlns:a="http://schemas.openxmlformats.org/drawingml/2006/main" anchorCtr="1"/>
            <a:lstStyle xmlns:a="http://schemas.openxmlformats.org/drawingml/2006/main"/>
            <a:p xmlns:a="http://schemas.openxmlformats.org/drawingml/2006/main">
              <a:pPr>
                <a:defRPr sz="1050" b="1">
                  <a:solidFill>
                    <a:srgbClr val="002B5E"/>
                  </a:solidFill>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9E5"/>
            </a:solidFill>
          </a:ln>
        </c:spPr>
        <c:txPr>
          <a:bodyPr xmlns:a="http://schemas.openxmlformats.org/drawingml/2006/main" anchorCtr="1"/>
          <a:lstStyle xmlns:a="http://schemas.openxmlformats.org/drawingml/2006/main"/>
          <a:p xmlns:a="http://schemas.openxmlformats.org/drawingml/2006/main">
            <a:pPr>
              <a:defRPr sz="1125">
                <a:solidFill>
                  <a:srgbClr val="65717B"/>
                </a:solidFill>
                <a:latin typeface="Arial"/>
                <a:ea typeface="Arial"/>
                <a:cs typeface="Arial"/>
              </a:defRPr>
            </a:pPr>
          </a:p>
        </c:txPr>
        <c:crossAx val="48672768"/>
      </c:catAx>
      <c:valAx>
        <c:axId val="48672768"/>
        <c:scaling>
          <c:orientation val="minMax"/>
          <c:max val="0.25"/>
          <c:min val="0"/>
        </c:scaling>
        <c:delete val="0"/>
        <c:axPos val="l"/>
        <c:majorGridlines>
          <c:spPr>
            <a:ln xmlns:a="http://schemas.openxmlformats.org/drawingml/2006/main" w="5715">
              <a:solidFill>
                <a:srgbClr val="E3E8ED"/>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5717B"/>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75" b="1">
                <a:solidFill>
                  <a:srgbClr val="002B5E"/>
                </a:solidFill>
                <a:latin typeface="Arial"/>
                <a:ea typeface="Arial"/>
                <a:cs typeface="Arial"/>
              </a:rPr>
              <a:t>Bonded thickness at held-out concentrations</a:t>
            </a:r>
          </a:p>
        </c:rich>
      </c:tx>
      <c:overlay val="0"/>
      <c:txPr>
        <a:bodyPr xmlns:a="http://schemas.openxmlformats.org/drawingml/2006/main" anchorCtr="1"/>
        <a:lstStyle xmlns:a="http://schemas.openxmlformats.org/drawingml/2006/main"/>
        <a:p xmlns:a="http://schemas.openxmlformats.org/drawingml/2006/main">
          <a:pPr>
            <a:defRPr sz="1275" b="1">
              <a:solidFill>
                <a:srgbClr val="002B5E"/>
              </a:solidFill>
              <a:latin typeface="Arial"/>
              <a:ea typeface="Arial"/>
              <a:cs typeface="Arial"/>
            </a:defRPr>
          </a:pPr>
        </a:p>
      </c:txPr>
    </c:title>
    <c:plotArea>
      <c:scatterChart>
        <c:scatterStyle val="marker"/>
        <c:varyColors val="0"/>
        <c:ser>
          <c:idx val="0"/>
          <c:order val="0"/>
          <c:tx>
            <c:v>Observed</c:v>
          </c:tx>
          <c:spPr>
            <a:ln xmlns:a="http://schemas.openxmlformats.org/drawingml/2006/main" w="0">
              <a:noFill/>
            </a:ln>
          </c:spPr>
          <c:marker>
            <c:symbol val="circle"/>
            <c:size val="6"/>
            <c:spPr>
              <a:solidFill xmlns:a="http://schemas.openxmlformats.org/drawingml/2006/main">
                <a:srgbClr val="65717B"/>
              </a:solidFill>
            </c:spPr>
          </c:marker>
          <c:xVal>
            <c:numRef>
              <c:f>'Chart Data'!$A$2:$A$11</c:f>
              <c:numCache>
                <c:formatCode>General</c:formatCode>
                <c:ptCount val="10"/>
                <c:pt idx="0">
                  <c:v>3</c:v>
                </c:pt>
                <c:pt idx="1">
                  <c:v>3</c:v>
                </c:pt>
                <c:pt idx="2">
                  <c:v>3</c:v>
                </c:pt>
                <c:pt idx="3">
                  <c:v>5</c:v>
                </c:pt>
                <c:pt idx="4">
                  <c:v>5</c:v>
                </c:pt>
                <c:pt idx="5">
                  <c:v>5</c:v>
                </c:pt>
                <c:pt idx="6">
                  <c:v>7</c:v>
                </c:pt>
                <c:pt idx="7">
                  <c:v>7</c:v>
                </c:pt>
                <c:pt idx="8">
                  <c:v>7</c:v>
                </c:pt>
                <c:pt idx="9">
                  <c:v>10</c:v>
                </c:pt>
              </c:numCache>
            </c:numRef>
          </c:xVal>
          <c:yVal>
            <c:numRef>
              <c:f>'Chart Data'!$B$2:$B$11</c:f>
              <c:numCache>
                <c:formatCode>0.0</c:formatCode>
                <c:ptCount val="10"/>
                <c:pt idx="0">
                  <c:v>0.55</c:v>
                </c:pt>
                <c:pt idx="1">
                  <c:v>0.56</c:v>
                </c:pt>
                <c:pt idx="2">
                  <c:v>0.57</c:v>
                </c:pt>
                <c:pt idx="3">
                  <c:v>0.56</c:v>
                </c:pt>
                <c:pt idx="4">
                  <c:v>0.55</c:v>
                </c:pt>
                <c:pt idx="5">
                  <c:v>0.55</c:v>
                </c:pt>
                <c:pt idx="6">
                  <c:v>0.5</c:v>
                </c:pt>
                <c:pt idx="7">
                  <c:v>0.53</c:v>
                </c:pt>
                <c:pt idx="8">
                  <c:v>0.52</c:v>
                </c:pt>
                <c:pt idx="9">
                  <c:v>0.51</c:v>
                </c:pt>
              </c:numCache>
            </c:numRef>
          </c:yVal>
        </c:ser>
        <c:ser>
          <c:idx val="1"/>
          <c:order val="1"/>
          <c:tx>
            <c:v>PINN</c:v>
          </c:tx>
          <c:spPr>
            <a:ln xmlns:a="http://schemas.openxmlformats.org/drawingml/2006/main" w="0">
              <a:noFill/>
            </a:ln>
          </c:spPr>
          <c:marker>
            <c:symbol val="diamond"/>
            <c:size val="6"/>
            <c:spPr>
              <a:solidFill xmlns:a="http://schemas.openxmlformats.org/drawingml/2006/main">
                <a:srgbClr val="B49A45"/>
              </a:solidFill>
            </c:spPr>
          </c:marker>
          <c:xVal>
            <c:numRef>
              <c:f>'Chart Data'!$C$2:$C$11</c:f>
              <c:numCache>
                <c:formatCode>General</c:formatCode>
                <c:ptCount val="10"/>
                <c:pt idx="0">
                  <c:v>3</c:v>
                </c:pt>
                <c:pt idx="1">
                  <c:v>3</c:v>
                </c:pt>
                <c:pt idx="2">
                  <c:v>3</c:v>
                </c:pt>
                <c:pt idx="3">
                  <c:v>5</c:v>
                </c:pt>
                <c:pt idx="4">
                  <c:v>5</c:v>
                </c:pt>
                <c:pt idx="5">
                  <c:v>5</c:v>
                </c:pt>
                <c:pt idx="6">
                  <c:v>7</c:v>
                </c:pt>
                <c:pt idx="7">
                  <c:v>7</c:v>
                </c:pt>
                <c:pt idx="8">
                  <c:v>7</c:v>
                </c:pt>
                <c:pt idx="9">
                  <c:v>10</c:v>
                </c:pt>
              </c:numCache>
            </c:numRef>
          </c:xVal>
          <c:yVal>
            <c:numRef>
              <c:f>'Chart Data'!$D$2:$D$11</c:f>
              <c:numCache>
                <c:formatCode>0.0</c:formatCode>
                <c:ptCount val="10"/>
                <c:pt idx="0">
                  <c:v>0.56907463</c:v>
                </c:pt>
                <c:pt idx="1">
                  <c:v>0.5641197</c:v>
                </c:pt>
                <c:pt idx="2">
                  <c:v>0.5681376</c:v>
                </c:pt>
                <c:pt idx="3">
                  <c:v>0.72506624</c:v>
                </c:pt>
                <c:pt idx="4">
                  <c:v>0.7303391</c:v>
                </c:pt>
                <c:pt idx="5">
                  <c:v>0.74429506</c:v>
                </c:pt>
                <c:pt idx="6">
                  <c:v>1.3099606</c:v>
                </c:pt>
                <c:pt idx="7">
                  <c:v>1.2968558</c:v>
                </c:pt>
                <c:pt idx="8">
                  <c:v>1.3546778</c:v>
                </c:pt>
                <c:pt idx="9">
                  <c:v>1.8386797</c:v>
                </c:pt>
              </c:numCache>
            </c:numRef>
          </c:yVal>
        </c:ser>
        <c:ser>
          <c:idx val="2"/>
          <c:order val="2"/>
          <c:tx>
            <c:v>RF</c:v>
          </c:tx>
          <c:spPr>
            <a:ln xmlns:a="http://schemas.openxmlformats.org/drawingml/2006/main" w="0">
              <a:noFill/>
            </a:ln>
          </c:spPr>
          <c:marker>
            <c:symbol val="square"/>
            <c:size val="5"/>
            <c:spPr>
              <a:solidFill xmlns:a="http://schemas.openxmlformats.org/drawingml/2006/main">
                <a:srgbClr val="002B5E"/>
              </a:solidFill>
            </c:spPr>
          </c:marker>
          <c:xVal>
            <c:numRef>
              <c:f>'Chart Data'!$E$2:$E$11</c:f>
              <c:numCache>
                <c:formatCode>General</c:formatCode>
                <c:ptCount val="10"/>
                <c:pt idx="0">
                  <c:v>3</c:v>
                </c:pt>
                <c:pt idx="1">
                  <c:v>3</c:v>
                </c:pt>
                <c:pt idx="2">
                  <c:v>3</c:v>
                </c:pt>
                <c:pt idx="3">
                  <c:v>5</c:v>
                </c:pt>
                <c:pt idx="4">
                  <c:v>5</c:v>
                </c:pt>
                <c:pt idx="5">
                  <c:v>5</c:v>
                </c:pt>
                <c:pt idx="6">
                  <c:v>7</c:v>
                </c:pt>
                <c:pt idx="7">
                  <c:v>7</c:v>
                </c:pt>
                <c:pt idx="8">
                  <c:v>7</c:v>
                </c:pt>
                <c:pt idx="9">
                  <c:v>10</c:v>
                </c:pt>
              </c:numCache>
            </c:numRef>
          </c:xVal>
          <c:yVal>
            <c:numRef>
              <c:f>'Chart Data'!$F$2:$F$11</c:f>
              <c:numCache>
                <c:formatCode>0.0</c:formatCode>
                <c:ptCount val="10"/>
                <c:pt idx="0">
                  <c:v>0.579423108466</c:v>
                </c:pt>
                <c:pt idx="1">
                  <c:v>0.580101441799</c:v>
                </c:pt>
                <c:pt idx="2">
                  <c:v>0.579423108466</c:v>
                </c:pt>
                <c:pt idx="3">
                  <c:v>0.579423108466</c:v>
                </c:pt>
                <c:pt idx="4">
                  <c:v>0.580101441799</c:v>
                </c:pt>
                <c:pt idx="5">
                  <c:v>0.580101441799</c:v>
                </c:pt>
                <c:pt idx="6">
                  <c:v>0.499368168591</c:v>
                </c:pt>
                <c:pt idx="7">
                  <c:v>0.499368168591</c:v>
                </c:pt>
                <c:pt idx="8">
                  <c:v>0.499368168591</c:v>
                </c:pt>
                <c:pt idx="9">
                  <c:v>0.570919464887</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
          <c:min val="0.3"/>
        </c:scaling>
        <c:delete val="0"/>
        <c:axPos val="l"/>
        <c:majorGridlines>
          <c:spPr>
            <a:ln xmlns:a="http://schemas.openxmlformats.org/drawingml/2006/main" w="5715">
              <a:solidFill>
                <a:srgbClr val="E3E8ED"/>
              </a:solidFill>
            </a:ln>
          </c:spPr>
        </c:majorGridlines>
        <c:title>
          <c:tx>
            <c:rich>
              <a:bodyPr xmlns:a="http://schemas.openxmlformats.org/drawingml/2006/main"/>
              <a:lstStyle xmlns:a="http://schemas.openxmlformats.org/drawingml/2006/main"/>
              <a:p xmlns:a="http://schemas.openxmlformats.org/drawingml/2006/main">
                <a:r>
                  <a:rPr sz="1200">
                    <a:solidFill>
                      <a:srgbClr val="263645"/>
                    </a:solidFill>
                    <a:latin typeface="Arial"/>
                    <a:ea typeface="Arial"/>
                    <a:cs typeface="Arial"/>
                  </a:rPr>
                  <a:t>Bonded thickness (nm)</a:t>
                </a:r>
              </a:p>
            </c:rich>
          </c:tx>
          <c:overlay val="0"/>
          <c:txPr>
            <a:bodyPr xmlns:a="http://schemas.openxmlformats.org/drawingml/2006/main" anchorCtr="1"/>
            <a:lstStyle xmlns:a="http://schemas.openxmlformats.org/drawingml/2006/main"/>
            <a:p xmlns:a="http://schemas.openxmlformats.org/drawingml/2006/main">
              <a:pPr>
                <a:defRPr sz="1200">
                  <a:solidFill>
                    <a:srgbClr val="263645"/>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5717B"/>
                </a:solidFill>
                <a:latin typeface="Arial"/>
                <a:ea typeface="Arial"/>
                <a:cs typeface="Arial"/>
              </a:defRPr>
            </a:pPr>
          </a:p>
        </c:txPr>
        <c:crossAx val="48650112"/>
      </c:valAx>
      <c:valAx>
        <c:axId val="48650112"/>
        <c:scaling>
          <c:orientation val="minMax"/>
          <c:max val="11"/>
          <c:min val="2"/>
        </c:scaling>
        <c:delete val="0"/>
        <c:axPos val="b"/>
        <c:title>
          <c:tx>
            <c:rich>
              <a:bodyPr xmlns:a="http://schemas.openxmlformats.org/drawingml/2006/main"/>
              <a:lstStyle xmlns:a="http://schemas.openxmlformats.org/drawingml/2006/main"/>
              <a:p xmlns:a="http://schemas.openxmlformats.org/drawingml/2006/main">
                <a:r>
                  <a:rPr sz="1200">
                    <a:solidFill>
                      <a:srgbClr val="263645"/>
                    </a:solidFill>
                    <a:latin typeface="Arial"/>
                    <a:ea typeface="Arial"/>
                    <a:cs typeface="Arial"/>
                  </a:rPr>
                  <a:t>Recorded concentration</a:t>
                </a:r>
              </a:p>
            </c:rich>
          </c:tx>
          <c:overlay val="0"/>
          <c:txPr>
            <a:bodyPr xmlns:a="http://schemas.openxmlformats.org/drawingml/2006/main" anchorCtr="1"/>
            <a:lstStyle xmlns:a="http://schemas.openxmlformats.org/drawingml/2006/main"/>
            <a:p xmlns:a="http://schemas.openxmlformats.org/drawingml/2006/main">
              <a:pPr>
                <a:defRPr sz="1200">
                  <a:solidFill>
                    <a:srgbClr val="263645"/>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5717B"/>
                </a:solidFill>
                <a:latin typeface="Arial"/>
                <a:ea typeface="Arial"/>
                <a:cs typeface="Arial"/>
              </a:defRPr>
            </a:pPr>
          </a:p>
        </c:txPr>
        <c:crossAx val="48672768"/>
      </c:valAx>
    </c:plotArea>
    <c:legend>
      <c:legendPos val="t"/>
      <c:overlay val="0"/>
      <c:txPr>
        <a:bodyPr xmlns:a="http://schemas.openxmlformats.org/drawingml/2006/main" anchorCtr="1"/>
        <a:lstStyle xmlns:a="http://schemas.openxmlformats.org/drawingml/2006/main"/>
        <a:p xmlns:a="http://schemas.openxmlformats.org/drawingml/2006/main">
          <a:pPr>
            <a:defRPr sz="1125">
              <a:solidFill>
                <a:srgbClr val="263645"/>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b="1">
                <a:solidFill>
                  <a:srgbClr val="002B5E"/>
                </a:solidFill>
                <a:latin typeface="Arial"/>
                <a:ea typeface="Arial"/>
                <a:cs typeface="Arial"/>
              </a:rPr>
              <a:t>Synthetic holdout RMSE (nm)</a:t>
            </a:r>
          </a:p>
        </c:rich>
      </c:tx>
      <c:overlay val="0"/>
      <c:txPr>
        <a:bodyPr xmlns:a="http://schemas.openxmlformats.org/drawingml/2006/main" anchorCtr="1"/>
        <a:lstStyle xmlns:a="http://schemas.openxmlformats.org/drawingml/2006/main"/>
        <a:p xmlns:a="http://schemas.openxmlformats.org/drawingml/2006/main">
          <a:pPr>
            <a:defRPr sz="1350" b="1">
              <a:solidFill>
                <a:srgbClr val="002B5E"/>
              </a:solidFill>
              <a:latin typeface="Arial"/>
              <a:ea typeface="Arial"/>
              <a:cs typeface="Arial"/>
            </a:defRPr>
          </a:pPr>
        </a:p>
      </c:txPr>
    </c:title>
    <c:plotArea>
      <c:barChart>
        <c:barDir val="col"/>
        <c:grouping val="clustered"/>
        <c:varyColors val="0"/>
        <c:ser>
          <c:idx val="0"/>
          <c:order val="0"/>
          <c:tx>
            <c:v>RMSE (nm)</c:v>
          </c:tx>
          <c:spPr>
            <a:solidFill xmlns:a="http://schemas.openxmlformats.org/drawingml/2006/main">
              <a:srgbClr val="6F8FAE"/>
            </a:solidFill>
          </c:spPr>
          <c:invertIfNegative val="0"/>
          <c:dPt>
            <c:idx val="0"/>
            <c:invertIfNegative val="0"/>
            <c:spPr>
              <a:solidFill xmlns:a="http://schemas.openxmlformats.org/drawingml/2006/main">
                <a:srgbClr val="B49A45"/>
              </a:solidFill>
            </c:spPr>
          </c:dPt>
          <c:dPt>
            <c:idx val="3"/>
            <c:invertIfNegative val="0"/>
            <c:spPr>
              <a:solidFill xmlns:a="http://schemas.openxmlformats.org/drawingml/2006/main">
                <a:srgbClr val="002B5E"/>
              </a:solidFill>
            </c:spPr>
          </c:dPt>
          <c:cat>
            <c:strRef>
              <c:f>'Chart Data'!$A$2:$A$6</c:f>
              <c:strCache>
                <c:ptCount val="5"/>
                <c:pt idx="0">
                  <c:v>PINN</c:v>
                </c:pt>
                <c:pt idx="1">
                  <c:v>Bounded</c:v>
                </c:pt>
                <c:pt idx="2">
                  <c:v>Standard</c:v>
                </c:pt>
                <c:pt idx="3">
                  <c:v>RF</c:v>
                </c:pt>
                <c:pt idx="4">
                  <c:v>GB</c:v>
                </c:pt>
              </c:strCache>
            </c:strRef>
          </c:cat>
          <c:val>
            <c:numRef>
              <c:f>'Chart Data'!$B$2:$B$6</c:f>
              <c:numCache>
                <c:formatCode>0.000</c:formatCode>
                <c:ptCount val="5"/>
                <c:pt idx="0">
                  <c:v>0.0557184336452</c:v>
                </c:pt>
                <c:pt idx="1">
                  <c:v>0.0551370011058</c:v>
                </c:pt>
                <c:pt idx="2">
                  <c:v>0.0541327713898</c:v>
                </c:pt>
                <c:pt idx="3">
                  <c:v>0.0359033641316</c:v>
                </c:pt>
                <c:pt idx="4">
                  <c:v>0.0747828628055</c:v>
                </c:pt>
              </c:numCache>
            </c:numRef>
          </c:val>
        </c:ser>
        <c:dLbls>
          <c:numFmt formatCode="0.0000" sourceLinked="0"/>
          <c:txPr>
            <a:bodyPr xmlns:a="http://schemas.openxmlformats.org/drawingml/2006/main" anchorCtr="1"/>
            <a:lstStyle xmlns:a="http://schemas.openxmlformats.org/drawingml/2006/main"/>
            <a:p xmlns:a="http://schemas.openxmlformats.org/drawingml/2006/main">
              <a:pPr>
                <a:defRPr sz="1050" b="1">
                  <a:solidFill>
                    <a:srgbClr val="002B5E"/>
                  </a:solidFill>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9E5"/>
            </a:solidFill>
          </a:ln>
        </c:spPr>
        <c:txPr>
          <a:bodyPr xmlns:a="http://schemas.openxmlformats.org/drawingml/2006/main" anchorCtr="1"/>
          <a:lstStyle xmlns:a="http://schemas.openxmlformats.org/drawingml/2006/main"/>
          <a:p xmlns:a="http://schemas.openxmlformats.org/drawingml/2006/main">
            <a:pPr>
              <a:defRPr sz="1125">
                <a:solidFill>
                  <a:srgbClr val="65717B"/>
                </a:solidFill>
                <a:latin typeface="Arial"/>
                <a:ea typeface="Arial"/>
                <a:cs typeface="Arial"/>
              </a:defRPr>
            </a:pPr>
          </a:p>
        </c:txPr>
        <c:crossAx val="48672768"/>
      </c:catAx>
      <c:valAx>
        <c:axId val="48672768"/>
        <c:scaling>
          <c:orientation val="minMax"/>
          <c:max val="0.09"/>
          <c:min val="0"/>
        </c:scaling>
        <c:delete val="0"/>
        <c:axPos val="l"/>
        <c:majorGridlines>
          <c:spPr>
            <a:ln xmlns:a="http://schemas.openxmlformats.org/drawingml/2006/main" w="5715">
              <a:solidFill>
                <a:srgbClr val="E3E8ED"/>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5717B"/>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b="1">
                <a:solidFill>
                  <a:srgbClr val="002B5E"/>
                </a:solidFill>
                <a:latin typeface="Arial"/>
                <a:ea typeface="Arial"/>
                <a:cs typeface="Arial"/>
              </a:rPr>
              <a:t>PINN</a:t>
            </a:r>
          </a:p>
        </c:rich>
      </c:tx>
      <c:overlay val="0"/>
      <c:txPr>
        <a:bodyPr xmlns:a="http://schemas.openxmlformats.org/drawingml/2006/main" anchorCtr="1"/>
        <a:lstStyle xmlns:a="http://schemas.openxmlformats.org/drawingml/2006/main"/>
        <a:p xmlns:a="http://schemas.openxmlformats.org/drawingml/2006/main">
          <a:pPr>
            <a:defRPr sz="1350" b="1">
              <a:solidFill>
                <a:srgbClr val="002B5E"/>
              </a:solidFill>
              <a:latin typeface="Arial"/>
              <a:ea typeface="Arial"/>
              <a:cs typeface="Arial"/>
            </a:defRPr>
          </a:pPr>
        </a:p>
      </c:txPr>
    </c:title>
    <c:plotArea>
      <c:scatterChart>
        <c:scatterStyle val="lineMarker"/>
        <c:varyColors val="0"/>
        <c:ser>
          <c:idx val="0"/>
          <c:order val="0"/>
          <c:tx>
            <c:v>PINN</c:v>
          </c:tx>
          <c:spPr>
            <a:ln xmlns:a="http://schemas.openxmlformats.org/drawingml/2006/main" w="0">
              <a:noFill/>
            </a:ln>
          </c:spPr>
          <c:marker>
            <c:symbol val="circle"/>
            <c:size val="4"/>
            <c:spPr>
              <a:solidFill xmlns:a="http://schemas.openxmlformats.org/drawingml/2006/main">
                <a:srgbClr val="B49A45"/>
              </a:solidFill>
            </c:spPr>
          </c:marker>
          <c:xVal>
            <c:numRef>
              <c:f>'Chart Data'!$A$2:$A$443</c:f>
              <c:numCache>
                <c:formatCode>General</c:formatCode>
                <c:ptCount val="442"/>
                <c:pt idx="0">
                  <c:v>0.68</c:v>
                </c:pt>
                <c:pt idx="1">
                  <c:v>0.51</c:v>
                </c:pt>
                <c:pt idx="2">
                  <c:v>0.41</c:v>
                </c:pt>
                <c:pt idx="3">
                  <c:v>0.45</c:v>
                </c:pt>
                <c:pt idx="4">
                  <c:v>0.68</c:v>
                </c:pt>
                <c:pt idx="5">
                  <c:v>0.47</c:v>
                </c:pt>
                <c:pt idx="6">
                  <c:v>0.68</c:v>
                </c:pt>
                <c:pt idx="7">
                  <c:v>0.5</c:v>
                </c:pt>
                <c:pt idx="8">
                  <c:v>0.68</c:v>
                </c:pt>
                <c:pt idx="9">
                  <c:v>0.47</c:v>
                </c:pt>
                <c:pt idx="10">
                  <c:v>0.51</c:v>
                </c:pt>
                <c:pt idx="11">
                  <c:v>0.47</c:v>
                </c:pt>
                <c:pt idx="12">
                  <c:v>0.52</c:v>
                </c:pt>
                <c:pt idx="13">
                  <c:v>0.51</c:v>
                </c:pt>
                <c:pt idx="14">
                  <c:v>0.68</c:v>
                </c:pt>
                <c:pt idx="15">
                  <c:v>0.41</c:v>
                </c:pt>
                <c:pt idx="16">
                  <c:v>0.68</c:v>
                </c:pt>
                <c:pt idx="17">
                  <c:v>0.68</c:v>
                </c:pt>
                <c:pt idx="18">
                  <c:v>0.691506252</c:v>
                </c:pt>
                <c:pt idx="19">
                  <c:v>0.508653675</c:v>
                </c:pt>
                <c:pt idx="20">
                  <c:v>0.538661958</c:v>
                </c:pt>
                <c:pt idx="21">
                  <c:v>0.561122144</c:v>
                </c:pt>
                <c:pt idx="22">
                  <c:v>0.532089771</c:v>
                </c:pt>
                <c:pt idx="23">
                  <c:v>0.333528056</c:v>
                </c:pt>
                <c:pt idx="24">
                  <c:v>0.468550292</c:v>
                </c:pt>
                <c:pt idx="25">
                  <c:v>0.632986789</c:v>
                </c:pt>
                <c:pt idx="26">
                  <c:v>0.607052034</c:v>
                </c:pt>
                <c:pt idx="27">
                  <c:v>0.496511145</c:v>
                </c:pt>
                <c:pt idx="28">
                  <c:v>0.567803361</c:v>
                </c:pt>
                <c:pt idx="29">
                  <c:v>0.53999595</c:v>
                </c:pt>
                <c:pt idx="30">
                  <c:v>0.484004435</c:v>
                </c:pt>
                <c:pt idx="31">
                  <c:v>0.611676905</c:v>
                </c:pt>
                <c:pt idx="32">
                  <c:v>0.661953146</c:v>
                </c:pt>
                <c:pt idx="33">
                  <c:v>0.518181668</c:v>
                </c:pt>
                <c:pt idx="34">
                  <c:v>0.669828626</c:v>
                </c:pt>
                <c:pt idx="35">
                  <c:v>0.535607847</c:v>
                </c:pt>
                <c:pt idx="36">
                  <c:v>0.494487942</c:v>
                </c:pt>
                <c:pt idx="37">
                  <c:v>0.601667071</c:v>
                </c:pt>
                <c:pt idx="38">
                  <c:v>0.489128941</c:v>
                </c:pt>
                <c:pt idx="39">
                  <c:v>0.455193067</c:v>
                </c:pt>
                <c:pt idx="40">
                  <c:v>0.581235207</c:v>
                </c:pt>
                <c:pt idx="41">
                  <c:v>0.564702091</c:v>
                </c:pt>
                <c:pt idx="42">
                  <c:v>0.418759873</c:v>
                </c:pt>
                <c:pt idx="43">
                  <c:v>0.653438892</c:v>
                </c:pt>
                <c:pt idx="44">
                  <c:v>0.411271304</c:v>
                </c:pt>
                <c:pt idx="45">
                  <c:v>0.568038915</c:v>
                </c:pt>
                <c:pt idx="46">
                  <c:v>0.566686777</c:v>
                </c:pt>
                <c:pt idx="47">
                  <c:v>0.397108688</c:v>
                </c:pt>
                <c:pt idx="48">
                  <c:v>0.678658853</c:v>
                </c:pt>
                <c:pt idx="49">
                  <c:v>0.373234833</c:v>
                </c:pt>
                <c:pt idx="50">
                  <c:v>0.647702493</c:v>
                </c:pt>
                <c:pt idx="51">
                  <c:v>0.573865943</c:v>
                </c:pt>
                <c:pt idx="52">
                  <c:v>0.564782082</c:v>
                </c:pt>
                <c:pt idx="53">
                  <c:v>0.510164148</c:v>
                </c:pt>
                <c:pt idx="54">
                  <c:v>0.412656931</c:v>
                </c:pt>
                <c:pt idx="55">
                  <c:v>0.648164722</c:v>
                </c:pt>
                <c:pt idx="56">
                  <c:v>0.556351012</c:v>
                </c:pt>
                <c:pt idx="57">
                  <c:v>0.530932386</c:v>
                </c:pt>
                <c:pt idx="58">
                  <c:v>0.592666269</c:v>
                </c:pt>
                <c:pt idx="59">
                  <c:v>0.595088713</c:v>
                </c:pt>
                <c:pt idx="60">
                  <c:v>0.551108411</c:v>
                </c:pt>
                <c:pt idx="61">
                  <c:v>0.561680578</c:v>
                </c:pt>
                <c:pt idx="62">
                  <c:v>0.478610738</c:v>
                </c:pt>
                <c:pt idx="63">
                  <c:v>0.517092504</c:v>
                </c:pt>
                <c:pt idx="64">
                  <c:v>0.566611888</c:v>
                </c:pt>
                <c:pt idx="65">
                  <c:v>0.40668457</c:v>
                </c:pt>
                <c:pt idx="66">
                  <c:v>0.556055325</c:v>
                </c:pt>
                <c:pt idx="67">
                  <c:v>0.464004452</c:v>
                </c:pt>
                <c:pt idx="68">
                  <c:v>0.565084822</c:v>
                </c:pt>
                <c:pt idx="69">
                  <c:v>0.579627985</c:v>
                </c:pt>
                <c:pt idx="70">
                  <c:v>0.529321683</c:v>
                </c:pt>
                <c:pt idx="71">
                  <c:v>0.475213173</c:v>
                </c:pt>
                <c:pt idx="72">
                  <c:v>0.329361523</c:v>
                </c:pt>
                <c:pt idx="73">
                  <c:v>0.518715449</c:v>
                </c:pt>
                <c:pt idx="74">
                  <c:v>0.527426277</c:v>
                </c:pt>
                <c:pt idx="75">
                  <c:v>0.561573781</c:v>
                </c:pt>
                <c:pt idx="76">
                  <c:v>0.555852812</c:v>
                </c:pt>
                <c:pt idx="77">
                  <c:v>0.557093998</c:v>
                </c:pt>
                <c:pt idx="78">
                  <c:v>0.655797896</c:v>
                </c:pt>
                <c:pt idx="79">
                  <c:v>0.344995419</c:v>
                </c:pt>
                <c:pt idx="80">
                  <c:v>0.512593631</c:v>
                </c:pt>
                <c:pt idx="81">
                  <c:v>0.621975868</c:v>
                </c:pt>
                <c:pt idx="82">
                  <c:v>0.470005126</c:v>
                </c:pt>
                <c:pt idx="83">
                  <c:v>0.636952239</c:v>
                </c:pt>
                <c:pt idx="84">
                  <c:v>0.533073569</c:v>
                </c:pt>
                <c:pt idx="85">
                  <c:v>0.600916191</c:v>
                </c:pt>
                <c:pt idx="86">
                  <c:v>0.452632676</c:v>
                </c:pt>
                <c:pt idx="87">
                  <c:v>0.473118968</c:v>
                </c:pt>
                <c:pt idx="88">
                  <c:v>0.49727984</c:v>
                </c:pt>
                <c:pt idx="89">
                  <c:v>0.479288701</c:v>
                </c:pt>
                <c:pt idx="90">
                  <c:v>0.462183865</c:v>
                </c:pt>
                <c:pt idx="91">
                  <c:v>0.330325238</c:v>
                </c:pt>
                <c:pt idx="92">
                  <c:v>0.462137954</c:v>
                </c:pt>
                <c:pt idx="93">
                  <c:v>0.573100645</c:v>
                </c:pt>
                <c:pt idx="94">
                  <c:v>0.554827798</c:v>
                </c:pt>
                <c:pt idx="95">
                  <c:v>0.479590721</c:v>
                </c:pt>
                <c:pt idx="96">
                  <c:v>0.525128454</c:v>
                </c:pt>
                <c:pt idx="97">
                  <c:v>0.469831031</c:v>
                </c:pt>
                <c:pt idx="98">
                  <c:v>0.476455334</c:v>
                </c:pt>
                <c:pt idx="99">
                  <c:v>0.350873909</c:v>
                </c:pt>
                <c:pt idx="100">
                  <c:v>0.362286642</c:v>
                </c:pt>
                <c:pt idx="101">
                  <c:v>0.527162148</c:v>
                </c:pt>
                <c:pt idx="102">
                  <c:v>0.538830402</c:v>
                </c:pt>
                <c:pt idx="103">
                  <c:v>0.579886377</c:v>
                </c:pt>
                <c:pt idx="104">
                  <c:v>0.684439043</c:v>
                </c:pt>
                <c:pt idx="105">
                  <c:v>0.445306757</c:v>
                </c:pt>
                <c:pt idx="106">
                  <c:v>0.473474857</c:v>
                </c:pt>
                <c:pt idx="107">
                  <c:v>0.508020595</c:v>
                </c:pt>
                <c:pt idx="108">
                  <c:v>0.332196394</c:v>
                </c:pt>
                <c:pt idx="109">
                  <c:v>0.474367268</c:v>
                </c:pt>
                <c:pt idx="110">
                  <c:v>0.566320956</c:v>
                </c:pt>
                <c:pt idx="111">
                  <c:v>0.509010529</c:v>
                </c:pt>
                <c:pt idx="112">
                  <c:v>0.520254968</c:v>
                </c:pt>
                <c:pt idx="113">
                  <c:v>0.653863145</c:v>
                </c:pt>
                <c:pt idx="114">
                  <c:v>0.370362241</c:v>
                </c:pt>
                <c:pt idx="115">
                  <c:v>0.595865889</c:v>
                </c:pt>
                <c:pt idx="116">
                  <c:v>0.545882693</c:v>
                </c:pt>
                <c:pt idx="117">
                  <c:v>0.584846047</c:v>
                </c:pt>
                <c:pt idx="118">
                  <c:v>0.526568943</c:v>
                </c:pt>
                <c:pt idx="119">
                  <c:v>0.508090389</c:v>
                </c:pt>
                <c:pt idx="120">
                  <c:v>0.685372441</c:v>
                </c:pt>
                <c:pt idx="121">
                  <c:v>0.407893341</c:v>
                </c:pt>
                <c:pt idx="122">
                  <c:v>0.574228546</c:v>
                </c:pt>
                <c:pt idx="123">
                  <c:v>0.564846206</c:v>
                </c:pt>
                <c:pt idx="124">
                  <c:v>0.522928414</c:v>
                </c:pt>
                <c:pt idx="125">
                  <c:v>0.560448275</c:v>
                </c:pt>
                <c:pt idx="126">
                  <c:v>0.492430311</c:v>
                </c:pt>
                <c:pt idx="127">
                  <c:v>0.46865479</c:v>
                </c:pt>
                <c:pt idx="128">
                  <c:v>0.343910265</c:v>
                </c:pt>
                <c:pt idx="129">
                  <c:v>0.593915878</c:v>
                </c:pt>
                <c:pt idx="130">
                  <c:v>0.551481206</c:v>
                </c:pt>
                <c:pt idx="131">
                  <c:v>0.523971438</c:v>
                </c:pt>
                <c:pt idx="132">
                  <c:v>0.596561938</c:v>
                </c:pt>
                <c:pt idx="133">
                  <c:v>0.537838532</c:v>
                </c:pt>
                <c:pt idx="134">
                  <c:v>0.456520265</c:v>
                </c:pt>
                <c:pt idx="135">
                  <c:v>0.588608261</c:v>
                </c:pt>
                <c:pt idx="136">
                  <c:v>0.524817889</c:v>
                </c:pt>
                <c:pt idx="137">
                  <c:v>0.524935808</c:v>
                </c:pt>
                <c:pt idx="138">
                  <c:v>0.3889276</c:v>
                </c:pt>
                <c:pt idx="139">
                  <c:v>0.513387445</c:v>
                </c:pt>
                <c:pt idx="140">
                  <c:v>0.488181057</c:v>
                </c:pt>
                <c:pt idx="141">
                  <c:v>0.348343252</c:v>
                </c:pt>
                <c:pt idx="142">
                  <c:v>0.52763618</c:v>
                </c:pt>
                <c:pt idx="143">
                  <c:v>0.691114034</c:v>
                </c:pt>
                <c:pt idx="144">
                  <c:v>0.530090683</c:v>
                </c:pt>
                <c:pt idx="145">
                  <c:v>0.529797867</c:v>
                </c:pt>
                <c:pt idx="146">
                  <c:v>0.456329405</c:v>
                </c:pt>
                <c:pt idx="147">
                  <c:v>0.574563855</c:v>
                </c:pt>
                <c:pt idx="148">
                  <c:v>0.601863583</c:v>
                </c:pt>
                <c:pt idx="149">
                  <c:v>0.468466392</c:v>
                </c:pt>
                <c:pt idx="150">
                  <c:v>0.671919507</c:v>
                </c:pt>
                <c:pt idx="151">
                  <c:v>0.565819682</c:v>
                </c:pt>
                <c:pt idx="152">
                  <c:v>0.549497505</c:v>
                </c:pt>
                <c:pt idx="153">
                  <c:v>0.618968593</c:v>
                </c:pt>
                <c:pt idx="154">
                  <c:v>0.560851943</c:v>
                </c:pt>
                <c:pt idx="155">
                  <c:v>0.671549889</c:v>
                </c:pt>
                <c:pt idx="156">
                  <c:v>0.683182906</c:v>
                </c:pt>
                <c:pt idx="157">
                  <c:v>0.714223847</c:v>
                </c:pt>
                <c:pt idx="158">
                  <c:v>0.713589658</c:v>
                </c:pt>
                <c:pt idx="159">
                  <c:v>0.401735002</c:v>
                </c:pt>
                <c:pt idx="160">
                  <c:v>0.356486626</c:v>
                </c:pt>
                <c:pt idx="161">
                  <c:v>0.340568658</c:v>
                </c:pt>
                <c:pt idx="162">
                  <c:v>0.651032827</c:v>
                </c:pt>
                <c:pt idx="163">
                  <c:v>0.680726524</c:v>
                </c:pt>
                <c:pt idx="164">
                  <c:v>0.338148116</c:v>
                </c:pt>
                <c:pt idx="165">
                  <c:v>0.402074642</c:v>
                </c:pt>
                <c:pt idx="166">
                  <c:v>0.66850945</c:v>
                </c:pt>
                <c:pt idx="167">
                  <c:v>0.361298667</c:v>
                </c:pt>
                <c:pt idx="168">
                  <c:v>0.25</c:v>
                </c:pt>
                <c:pt idx="169">
                  <c:v>0.355169638</c:v>
                </c:pt>
                <c:pt idx="170">
                  <c:v>0.327868469</c:v>
                </c:pt>
                <c:pt idx="171">
                  <c:v>0.987356403</c:v>
                </c:pt>
                <c:pt idx="172">
                  <c:v>0.395767592</c:v>
                </c:pt>
                <c:pt idx="173">
                  <c:v>0.664279682</c:v>
                </c:pt>
                <c:pt idx="174">
                  <c:v>0.351229239</c:v>
                </c:pt>
                <c:pt idx="175">
                  <c:v>0.311418736</c:v>
                </c:pt>
                <c:pt idx="176">
                  <c:v>0.931683269</c:v>
                </c:pt>
                <c:pt idx="177">
                  <c:v>0.678568164</c:v>
                </c:pt>
                <c:pt idx="178">
                  <c:v>0.952655337</c:v>
                </c:pt>
                <c:pt idx="179">
                  <c:v>0.340251822</c:v>
                </c:pt>
                <c:pt idx="180">
                  <c:v>0.316056622</c:v>
                </c:pt>
                <c:pt idx="181">
                  <c:v>0.656550697</c:v>
                </c:pt>
                <c:pt idx="182">
                  <c:v>0.340480159</c:v>
                </c:pt>
                <c:pt idx="183">
                  <c:v>0.6828243</c:v>
                </c:pt>
                <c:pt idx="184">
                  <c:v>0.683813228</c:v>
                </c:pt>
                <c:pt idx="185">
                  <c:v>0.25</c:v>
                </c:pt>
                <c:pt idx="186">
                  <c:v>0.470232513</c:v>
                </c:pt>
                <c:pt idx="187">
                  <c:v>0.648465218</c:v>
                </c:pt>
                <c:pt idx="188">
                  <c:v>0.579078729</c:v>
                </c:pt>
                <c:pt idx="189">
                  <c:v>0.256925333</c:v>
                </c:pt>
                <c:pt idx="190">
                  <c:v>0.966908833</c:v>
                </c:pt>
                <c:pt idx="191">
                  <c:v>0.337586026</c:v>
                </c:pt>
                <c:pt idx="192">
                  <c:v>1.027395915</c:v>
                </c:pt>
                <c:pt idx="193">
                  <c:v>0.307982378</c:v>
                </c:pt>
                <c:pt idx="194">
                  <c:v>0.354312814</c:v>
                </c:pt>
                <c:pt idx="195">
                  <c:v>0.677197218</c:v>
                </c:pt>
                <c:pt idx="196">
                  <c:v>0.686178547</c:v>
                </c:pt>
                <c:pt idx="197">
                  <c:v>0.689345823</c:v>
                </c:pt>
                <c:pt idx="198">
                  <c:v>0.393689347</c:v>
                </c:pt>
                <c:pt idx="199">
                  <c:v>0.352813088</c:v>
                </c:pt>
                <c:pt idx="200">
                  <c:v>1.068361666</c:v>
                </c:pt>
                <c:pt idx="201">
                  <c:v>1.007822819</c:v>
                </c:pt>
                <c:pt idx="202">
                  <c:v>0.943810469</c:v>
                </c:pt>
                <c:pt idx="203">
                  <c:v>0.271383275</c:v>
                </c:pt>
                <c:pt idx="204">
                  <c:v>0.719058797</c:v>
                </c:pt>
                <c:pt idx="205">
                  <c:v>0.417471253</c:v>
                </c:pt>
                <c:pt idx="206">
                  <c:v>0.710534105</c:v>
                </c:pt>
                <c:pt idx="207">
                  <c:v>0.683284046</c:v>
                </c:pt>
                <c:pt idx="208">
                  <c:v>0.309993602</c:v>
                </c:pt>
                <c:pt idx="209">
                  <c:v>0.304843492</c:v>
                </c:pt>
                <c:pt idx="210">
                  <c:v>0.259391492</c:v>
                </c:pt>
                <c:pt idx="211">
                  <c:v>0.697707344</c:v>
                </c:pt>
                <c:pt idx="212">
                  <c:v>0.25</c:v>
                </c:pt>
                <c:pt idx="213">
                  <c:v>0.46512646</c:v>
                </c:pt>
                <c:pt idx="214">
                  <c:v>0.669954149</c:v>
                </c:pt>
                <c:pt idx="215">
                  <c:v>0.706532285</c:v>
                </c:pt>
                <c:pt idx="216">
                  <c:v>0.292014046</c:v>
                </c:pt>
                <c:pt idx="217">
                  <c:v>0.988388665</c:v>
                </c:pt>
                <c:pt idx="218">
                  <c:v>0.310616394</c:v>
                </c:pt>
                <c:pt idx="219">
                  <c:v>0.686891815</c:v>
                </c:pt>
                <c:pt idx="220">
                  <c:v>0.701146635</c:v>
                </c:pt>
                <c:pt idx="221">
                  <c:v>0.640829047</c:v>
                </c:pt>
                <c:pt idx="222">
                  <c:v>0.978697682</c:v>
                </c:pt>
                <c:pt idx="223">
                  <c:v>0.25</c:v>
                </c:pt>
                <c:pt idx="224">
                  <c:v>0.476960914</c:v>
                </c:pt>
                <c:pt idx="225">
                  <c:v>1.066212875</c:v>
                </c:pt>
                <c:pt idx="226">
                  <c:v>0.641947239</c:v>
                </c:pt>
                <c:pt idx="227">
                  <c:v>0.954032186</c:v>
                </c:pt>
                <c:pt idx="228">
                  <c:v>0.332637664</c:v>
                </c:pt>
                <c:pt idx="229">
                  <c:v>0.323532279</c:v>
                </c:pt>
                <c:pt idx="230">
                  <c:v>0.261029597</c:v>
                </c:pt>
                <c:pt idx="231">
                  <c:v>0.952648914</c:v>
                </c:pt>
                <c:pt idx="232">
                  <c:v>0.466481317</c:v>
                </c:pt>
                <c:pt idx="233">
                  <c:v>0.25</c:v>
                </c:pt>
                <c:pt idx="234">
                  <c:v>0.329423828</c:v>
                </c:pt>
                <c:pt idx="235">
                  <c:v>0.324951714</c:v>
                </c:pt>
                <c:pt idx="236">
                  <c:v>0.276433592</c:v>
                </c:pt>
                <c:pt idx="237">
                  <c:v>0.608819752</c:v>
                </c:pt>
                <c:pt idx="238">
                  <c:v>0.381800564</c:v>
                </c:pt>
                <c:pt idx="239">
                  <c:v>0.657918489</c:v>
                </c:pt>
                <c:pt idx="240">
                  <c:v>0.270604226</c:v>
                </c:pt>
                <c:pt idx="241">
                  <c:v>0.747138118</c:v>
                </c:pt>
                <c:pt idx="242">
                  <c:v>1.001540726</c:v>
                </c:pt>
                <c:pt idx="243">
                  <c:v>0.6736491</c:v>
                </c:pt>
                <c:pt idx="244">
                  <c:v>0.929382004</c:v>
                </c:pt>
                <c:pt idx="245">
                  <c:v>0.340546529</c:v>
                </c:pt>
                <c:pt idx="246">
                  <c:v>0.280741012</c:v>
                </c:pt>
                <c:pt idx="247">
                  <c:v>0.396095112</c:v>
                </c:pt>
                <c:pt idx="248">
                  <c:v>0.657048814</c:v>
                </c:pt>
                <c:pt idx="249">
                  <c:v>0.381584144</c:v>
                </c:pt>
                <c:pt idx="250">
                  <c:v>0.697177692</c:v>
                </c:pt>
                <c:pt idx="251">
                  <c:v>0.945352872</c:v>
                </c:pt>
                <c:pt idx="252">
                  <c:v>0.333066511</c:v>
                </c:pt>
                <c:pt idx="253">
                  <c:v>0.357329282</c:v>
                </c:pt>
                <c:pt idx="254">
                  <c:v>0.36842434</c:v>
                </c:pt>
                <c:pt idx="255">
                  <c:v>0.274114205</c:v>
                </c:pt>
                <c:pt idx="256">
                  <c:v>0.709744792</c:v>
                </c:pt>
                <c:pt idx="257">
                  <c:v>0.401873209</c:v>
                </c:pt>
                <c:pt idx="258">
                  <c:v>0.252435674</c:v>
                </c:pt>
                <c:pt idx="259">
                  <c:v>0.678776522</c:v>
                </c:pt>
                <c:pt idx="260">
                  <c:v>0.327054814</c:v>
                </c:pt>
                <c:pt idx="261">
                  <c:v>0.920871626</c:v>
                </c:pt>
                <c:pt idx="262">
                  <c:v>1.075598389</c:v>
                </c:pt>
                <c:pt idx="263">
                  <c:v>0.411793015</c:v>
                </c:pt>
                <c:pt idx="264">
                  <c:v>0.981116919</c:v>
                </c:pt>
                <c:pt idx="265">
                  <c:v>0.258396148</c:v>
                </c:pt>
                <c:pt idx="266">
                  <c:v>0.344867553</c:v>
                </c:pt>
                <c:pt idx="267">
                  <c:v>0.332390486</c:v>
                </c:pt>
                <c:pt idx="268">
                  <c:v>0.642006401</c:v>
                </c:pt>
                <c:pt idx="269">
                  <c:v>0.25</c:v>
                </c:pt>
                <c:pt idx="270">
                  <c:v>0.25</c:v>
                </c:pt>
                <c:pt idx="271">
                  <c:v>0.940526427</c:v>
                </c:pt>
                <c:pt idx="272">
                  <c:v>0.355755243</c:v>
                </c:pt>
                <c:pt idx="273">
                  <c:v>0.284964589</c:v>
                </c:pt>
                <c:pt idx="274">
                  <c:v>0.710825875</c:v>
                </c:pt>
                <c:pt idx="275">
                  <c:v>0.717074116</c:v>
                </c:pt>
                <c:pt idx="276">
                  <c:v>0.472310382</c:v>
                </c:pt>
                <c:pt idx="277">
                  <c:v>1.022051708</c:v>
                </c:pt>
                <c:pt idx="278">
                  <c:v>0.361059193</c:v>
                </c:pt>
                <c:pt idx="279">
                  <c:v>0.993845667</c:v>
                </c:pt>
                <c:pt idx="280">
                  <c:v>0.266987704</c:v>
                </c:pt>
                <c:pt idx="281">
                  <c:v>0.341108767</c:v>
                </c:pt>
                <c:pt idx="282">
                  <c:v>0.254699904</c:v>
                </c:pt>
                <c:pt idx="283">
                  <c:v>0.654953022</c:v>
                </c:pt>
                <c:pt idx="284">
                  <c:v>0.327049958</c:v>
                </c:pt>
                <c:pt idx="285">
                  <c:v>0.994349225</c:v>
                </c:pt>
                <c:pt idx="286">
                  <c:v>0.337298569</c:v>
                </c:pt>
                <c:pt idx="287">
                  <c:v>1.01476275</c:v>
                </c:pt>
                <c:pt idx="288">
                  <c:v>0.702536977</c:v>
                </c:pt>
                <c:pt idx="289">
                  <c:v>0.70765295</c:v>
                </c:pt>
                <c:pt idx="290">
                  <c:v>0.996218713</c:v>
                </c:pt>
                <c:pt idx="291">
                  <c:v>0.440502169</c:v>
                </c:pt>
                <c:pt idx="292">
                  <c:v>0.664870814</c:v>
                </c:pt>
                <c:pt idx="293">
                  <c:v>0.689353122</c:v>
                </c:pt>
                <c:pt idx="294">
                  <c:v>0.423363112</c:v>
                </c:pt>
                <c:pt idx="295">
                  <c:v>0.615169068</c:v>
                </c:pt>
                <c:pt idx="296">
                  <c:v>0.305633927</c:v>
                </c:pt>
                <c:pt idx="297">
                  <c:v>0.608036772</c:v>
                </c:pt>
                <c:pt idx="298">
                  <c:v>1.053129731</c:v>
                </c:pt>
                <c:pt idx="299">
                  <c:v>0.34785888</c:v>
                </c:pt>
                <c:pt idx="300">
                  <c:v>1.028608566</c:v>
                </c:pt>
                <c:pt idx="301">
                  <c:v>1.014606951</c:v>
                </c:pt>
                <c:pt idx="302">
                  <c:v>1.067673619</c:v>
                </c:pt>
                <c:pt idx="303">
                  <c:v>0.601114785</c:v>
                </c:pt>
                <c:pt idx="304">
                  <c:v>0.359853101</c:v>
                </c:pt>
                <c:pt idx="305">
                  <c:v>0.650340567</c:v>
                </c:pt>
                <c:pt idx="306">
                  <c:v>0.32494968</c:v>
                </c:pt>
                <c:pt idx="307">
                  <c:v>1.05981705</c:v>
                </c:pt>
                <c:pt idx="308">
                  <c:v>0.681688879</c:v>
                </c:pt>
                <c:pt idx="309">
                  <c:v>0.725929057</c:v>
                </c:pt>
                <c:pt idx="310">
                  <c:v>0.747801083</c:v>
                </c:pt>
                <c:pt idx="311">
                  <c:v>0.280348531</c:v>
                </c:pt>
                <c:pt idx="312">
                  <c:v>0.969601297</c:v>
                </c:pt>
                <c:pt idx="313">
                  <c:v>0.613670378</c:v>
                </c:pt>
                <c:pt idx="314">
                  <c:v>0.688767894</c:v>
                </c:pt>
                <c:pt idx="315">
                  <c:v>0.384642175</c:v>
                </c:pt>
                <c:pt idx="316">
                  <c:v>0.341625716</c:v>
                </c:pt>
                <c:pt idx="317">
                  <c:v>0.283875228</c:v>
                </c:pt>
                <c:pt idx="318">
                  <c:v>0.475659899</c:v>
                </c:pt>
                <c:pt idx="319">
                  <c:v>0.445478353</c:v>
                </c:pt>
                <c:pt idx="320">
                  <c:v>0.436769891</c:v>
                </c:pt>
                <c:pt idx="321">
                  <c:v>0.443957922</c:v>
                </c:pt>
                <c:pt idx="322">
                  <c:v>0.459439752</c:v>
                </c:pt>
                <c:pt idx="323">
                  <c:v>0.413661232</c:v>
                </c:pt>
                <c:pt idx="324">
                  <c:v>0.689890701</c:v>
                </c:pt>
                <c:pt idx="325">
                  <c:v>0.403715862</c:v>
                </c:pt>
                <c:pt idx="326">
                  <c:v>0.46534223</c:v>
                </c:pt>
                <c:pt idx="327">
                  <c:v>0.464459504</c:v>
                </c:pt>
                <c:pt idx="328">
                  <c:v>0.379075121</c:v>
                </c:pt>
                <c:pt idx="329">
                  <c:v>0.637533775</c:v>
                </c:pt>
                <c:pt idx="330">
                  <c:v>0.74024369</c:v>
                </c:pt>
                <c:pt idx="331">
                  <c:v>0.676376832</c:v>
                </c:pt>
                <c:pt idx="332">
                  <c:v>0.404468167</c:v>
                </c:pt>
                <c:pt idx="333">
                  <c:v>0.2</c:v>
                </c:pt>
                <c:pt idx="334">
                  <c:v>0.352253292</c:v>
                </c:pt>
                <c:pt idx="335">
                  <c:v>0.541005432</c:v>
                </c:pt>
                <c:pt idx="336">
                  <c:v>0.470116177</c:v>
                </c:pt>
                <c:pt idx="337">
                  <c:v>0.202678886</c:v>
                </c:pt>
                <c:pt idx="338">
                  <c:v>0.442857244</c:v>
                </c:pt>
                <c:pt idx="339">
                  <c:v>0.742489841</c:v>
                </c:pt>
                <c:pt idx="340">
                  <c:v>0.467464781</c:v>
                </c:pt>
                <c:pt idx="341">
                  <c:v>0.344803795</c:v>
                </c:pt>
                <c:pt idx="342">
                  <c:v>0.477074943</c:v>
                </c:pt>
                <c:pt idx="343">
                  <c:v>0.38963132</c:v>
                </c:pt>
                <c:pt idx="344">
                  <c:v>0.620584353</c:v>
                </c:pt>
                <c:pt idx="345">
                  <c:v>0.69425</c:v>
                </c:pt>
                <c:pt idx="346">
                  <c:v>0.650309112</c:v>
                </c:pt>
                <c:pt idx="347">
                  <c:v>0.652911346</c:v>
                </c:pt>
                <c:pt idx="348">
                  <c:v>0.470796601</c:v>
                </c:pt>
                <c:pt idx="349">
                  <c:v>0.521762765</c:v>
                </c:pt>
                <c:pt idx="350">
                  <c:v>0.470873331</c:v>
                </c:pt>
                <c:pt idx="351">
                  <c:v>0.62553036</c:v>
                </c:pt>
                <c:pt idx="352">
                  <c:v>0.397468485</c:v>
                </c:pt>
                <c:pt idx="353">
                  <c:v>0.64627493</c:v>
                </c:pt>
                <c:pt idx="354">
                  <c:v>0.33084521</c:v>
                </c:pt>
                <c:pt idx="355">
                  <c:v>0.459771255</c:v>
                </c:pt>
                <c:pt idx="356">
                  <c:v>0.601976163</c:v>
                </c:pt>
                <c:pt idx="357">
                  <c:v>0.399713916</c:v>
                </c:pt>
                <c:pt idx="358">
                  <c:v>0.390356614</c:v>
                </c:pt>
                <c:pt idx="359">
                  <c:v>0.631544683</c:v>
                </c:pt>
                <c:pt idx="360">
                  <c:v>0.649085507</c:v>
                </c:pt>
                <c:pt idx="361">
                  <c:v>0.400219462</c:v>
                </c:pt>
                <c:pt idx="362">
                  <c:v>0.491674809</c:v>
                </c:pt>
                <c:pt idx="363">
                  <c:v>0.641663964</c:v>
                </c:pt>
                <c:pt idx="364">
                  <c:v>0.384993133</c:v>
                </c:pt>
                <c:pt idx="365">
                  <c:v>0.387703286</c:v>
                </c:pt>
                <c:pt idx="366">
                  <c:v>0.473115387</c:v>
                </c:pt>
                <c:pt idx="367">
                  <c:v>0.393991529</c:v>
                </c:pt>
                <c:pt idx="368">
                  <c:v>0.599344482</c:v>
                </c:pt>
                <c:pt idx="369">
                  <c:v>0.394201241</c:v>
                </c:pt>
                <c:pt idx="370">
                  <c:v>0.602714689</c:v>
                </c:pt>
                <c:pt idx="371">
                  <c:v>0.344483884</c:v>
                </c:pt>
                <c:pt idx="372">
                  <c:v>0.674477011</c:v>
                </c:pt>
                <c:pt idx="373">
                  <c:v>0.618154632</c:v>
                </c:pt>
                <c:pt idx="374">
                  <c:v>0.389138094</c:v>
                </c:pt>
                <c:pt idx="375">
                  <c:v>0.459850526</c:v>
                </c:pt>
                <c:pt idx="376">
                  <c:v>0.735585769</c:v>
                </c:pt>
                <c:pt idx="377">
                  <c:v>0.600268505</c:v>
                </c:pt>
                <c:pt idx="378">
                  <c:v>0.399101855</c:v>
                </c:pt>
                <c:pt idx="379">
                  <c:v>0.443945982</c:v>
                </c:pt>
                <c:pt idx="380">
                  <c:v>0.392282253</c:v>
                </c:pt>
                <c:pt idx="381">
                  <c:v>0.392353313</c:v>
                </c:pt>
                <c:pt idx="382">
                  <c:v>0.642922856</c:v>
                </c:pt>
                <c:pt idx="383">
                  <c:v>0.650887774</c:v>
                </c:pt>
                <c:pt idx="384">
                  <c:v>0.733742531</c:v>
                </c:pt>
                <c:pt idx="385">
                  <c:v>0.609250156</c:v>
                </c:pt>
                <c:pt idx="386">
                  <c:v>0.603962169</c:v>
                </c:pt>
                <c:pt idx="387">
                  <c:v>0.3428941</c:v>
                </c:pt>
                <c:pt idx="388">
                  <c:v>0.452124451</c:v>
                </c:pt>
                <c:pt idx="389">
                  <c:v>0.662686701</c:v>
                </c:pt>
                <c:pt idx="390">
                  <c:v>0.6005656</c:v>
                </c:pt>
                <c:pt idx="391">
                  <c:v>0.442056064</c:v>
                </c:pt>
                <c:pt idx="392">
                  <c:v>0.641981478</c:v>
                </c:pt>
                <c:pt idx="393">
                  <c:v>0.654168344</c:v>
                </c:pt>
                <c:pt idx="394">
                  <c:v>0.409793499</c:v>
                </c:pt>
                <c:pt idx="395">
                  <c:v>0.596044323</c:v>
                </c:pt>
                <c:pt idx="396">
                  <c:v>0.448647865</c:v>
                </c:pt>
                <c:pt idx="397">
                  <c:v>0.39673469</c:v>
                </c:pt>
                <c:pt idx="398">
                  <c:v>0.748982821</c:v>
                </c:pt>
                <c:pt idx="399">
                  <c:v>0.349281708</c:v>
                </c:pt>
                <c:pt idx="400">
                  <c:v>0.616084942</c:v>
                </c:pt>
                <c:pt idx="401">
                  <c:v>0.536066744</c:v>
                </c:pt>
                <c:pt idx="402">
                  <c:v>0.73821572</c:v>
                </c:pt>
                <c:pt idx="403">
                  <c:v>0.446396401</c:v>
                </c:pt>
                <c:pt idx="404">
                  <c:v>0.69703251</c:v>
                </c:pt>
                <c:pt idx="405">
                  <c:v>0.479450759</c:v>
                </c:pt>
                <c:pt idx="406">
                  <c:v>0.452102564</c:v>
                </c:pt>
                <c:pt idx="407">
                  <c:v>0.395631317</c:v>
                </c:pt>
                <c:pt idx="408">
                  <c:v>0.338425525</c:v>
                </c:pt>
                <c:pt idx="409">
                  <c:v>0.528519924</c:v>
                </c:pt>
                <c:pt idx="410">
                  <c:v>0.474502488</c:v>
                </c:pt>
                <c:pt idx="411">
                  <c:v>0.603015125</c:v>
                </c:pt>
                <c:pt idx="412">
                  <c:v>0.436257363</c:v>
                </c:pt>
                <c:pt idx="413">
                  <c:v>0.220010857</c:v>
                </c:pt>
                <c:pt idx="414">
                  <c:v>0.59947431</c:v>
                </c:pt>
                <c:pt idx="415">
                  <c:v>0.343915472</c:v>
                </c:pt>
                <c:pt idx="416">
                  <c:v>0.626211095</c:v>
                </c:pt>
                <c:pt idx="417">
                  <c:v>0.343424492</c:v>
                </c:pt>
                <c:pt idx="418">
                  <c:v>0.649419742</c:v>
                </c:pt>
                <c:pt idx="419">
                  <c:v>0.698073022</c:v>
                </c:pt>
                <c:pt idx="420">
                  <c:v>0.528192324</c:v>
                </c:pt>
                <c:pt idx="421">
                  <c:v>0.457470022</c:v>
                </c:pt>
                <c:pt idx="422">
                  <c:v>0.612637499</c:v>
                </c:pt>
                <c:pt idx="423">
                  <c:v>0.47820449</c:v>
                </c:pt>
                <c:pt idx="424">
                  <c:v>0.623723925</c:v>
                </c:pt>
                <c:pt idx="425">
                  <c:v>0.635645953</c:v>
                </c:pt>
                <c:pt idx="426">
                  <c:v>0.398203021</c:v>
                </c:pt>
                <c:pt idx="427">
                  <c:v>0.337690288</c:v>
                </c:pt>
                <c:pt idx="428">
                  <c:v>0.650685364</c:v>
                </c:pt>
                <c:pt idx="429">
                  <c:v>0.344772802</c:v>
                </c:pt>
                <c:pt idx="430">
                  <c:v>0.467870949</c:v>
                </c:pt>
                <c:pt idx="431">
                  <c:v>0.354224038</c:v>
                </c:pt>
                <c:pt idx="432">
                  <c:v>0.620077381</c:v>
                </c:pt>
                <c:pt idx="433">
                  <c:v>0.461284489</c:v>
                </c:pt>
                <c:pt idx="434">
                  <c:v>0.39309901</c:v>
                </c:pt>
                <c:pt idx="435">
                  <c:v>0.601997094</c:v>
                </c:pt>
                <c:pt idx="436">
                  <c:v>0.640787664</c:v>
                </c:pt>
                <c:pt idx="437">
                  <c:v>0.466441135</c:v>
                </c:pt>
                <c:pt idx="438">
                  <c:v>0.602341739</c:v>
                </c:pt>
                <c:pt idx="439">
                  <c:v>0.674994856</c:v>
                </c:pt>
                <c:pt idx="440">
                  <c:v>0.601867468</c:v>
                </c:pt>
                <c:pt idx="441">
                  <c:v>0.4250324</c:v>
                </c:pt>
              </c:numCache>
            </c:numRef>
          </c:xVal>
          <c:yVal>
            <c:numRef>
              <c:f>'Chart Data'!$B$2:$B$443</c:f>
              <c:numCache>
                <c:formatCode>0.0</c:formatCode>
                <c:ptCount val="442"/>
                <c:pt idx="0">
                  <c:v>0.59696734</c:v>
                </c:pt>
                <c:pt idx="1">
                  <c:v>0.5486745</c:v>
                </c:pt>
                <c:pt idx="2">
                  <c:v>0.34996343</c:v>
                </c:pt>
                <c:pt idx="3">
                  <c:v>0.48975813</c:v>
                </c:pt>
                <c:pt idx="4">
                  <c:v>0.59696734</c:v>
                </c:pt>
                <c:pt idx="5">
                  <c:v>0.49593437</c:v>
                </c:pt>
                <c:pt idx="6">
                  <c:v>0.60311306</c:v>
                </c:pt>
                <c:pt idx="7">
                  <c:v>0.5283603</c:v>
                </c:pt>
                <c:pt idx="8">
                  <c:v>0.60311306</c:v>
                </c:pt>
                <c:pt idx="9">
                  <c:v>0.5024233</c:v>
                </c:pt>
                <c:pt idx="10">
                  <c:v>0.5486745</c:v>
                </c:pt>
                <c:pt idx="11">
                  <c:v>0.49593437</c:v>
                </c:pt>
                <c:pt idx="12">
                  <c:v>0.546766</c:v>
                </c:pt>
                <c:pt idx="13">
                  <c:v>0.5486745</c:v>
                </c:pt>
                <c:pt idx="14">
                  <c:v>0.60311306</c:v>
                </c:pt>
                <c:pt idx="15">
                  <c:v>0.36521357</c:v>
                </c:pt>
                <c:pt idx="16">
                  <c:v>0.59696734</c:v>
                </c:pt>
                <c:pt idx="17">
                  <c:v>0.60311306</c:v>
                </c:pt>
                <c:pt idx="18">
                  <c:v>0.6356003</c:v>
                </c:pt>
                <c:pt idx="19">
                  <c:v>0.5450106</c:v>
                </c:pt>
                <c:pt idx="20">
                  <c:v>0.5370819</c:v>
                </c:pt>
                <c:pt idx="21">
                  <c:v>0.56144875</c:v>
                </c:pt>
                <c:pt idx="22">
                  <c:v>0.50907737</c:v>
                </c:pt>
                <c:pt idx="23">
                  <c:v>0.343968</c:v>
                </c:pt>
                <c:pt idx="24">
                  <c:v>0.50547767</c:v>
                </c:pt>
                <c:pt idx="25">
                  <c:v>0.6098168</c:v>
                </c:pt>
                <c:pt idx="26">
                  <c:v>0.59196347</c:v>
                </c:pt>
                <c:pt idx="27">
                  <c:v>0.52718467</c:v>
                </c:pt>
                <c:pt idx="28">
                  <c:v>0.5582989</c:v>
                </c:pt>
                <c:pt idx="29">
                  <c:v>0.6326119</c:v>
                </c:pt>
                <c:pt idx="30">
                  <c:v>0.5139351</c:v>
                </c:pt>
                <c:pt idx="31">
                  <c:v>0.552439</c:v>
                </c:pt>
                <c:pt idx="32">
                  <c:v>0.56615996</c:v>
                </c:pt>
                <c:pt idx="33">
                  <c:v>0.5166878</c:v>
                </c:pt>
                <c:pt idx="34">
                  <c:v>0.57790685</c:v>
                </c:pt>
                <c:pt idx="35">
                  <c:v>0.53585434</c:v>
                </c:pt>
                <c:pt idx="36">
                  <c:v>0.5123666</c:v>
                </c:pt>
                <c:pt idx="37">
                  <c:v>0.540307</c:v>
                </c:pt>
                <c:pt idx="38">
                  <c:v>0.5067889</c:v>
                </c:pt>
                <c:pt idx="39">
                  <c:v>0.5145946</c:v>
                </c:pt>
                <c:pt idx="40">
                  <c:v>0.56844705</c:v>
                </c:pt>
                <c:pt idx="41">
                  <c:v>0.5704627</c:v>
                </c:pt>
                <c:pt idx="42">
                  <c:v>0.37184486</c:v>
                </c:pt>
                <c:pt idx="43">
                  <c:v>0.595492</c:v>
                </c:pt>
                <c:pt idx="44">
                  <c:v>0.3755845</c:v>
                </c:pt>
                <c:pt idx="45">
                  <c:v>0.55729574</c:v>
                </c:pt>
                <c:pt idx="46">
                  <c:v>0.5595283</c:v>
                </c:pt>
                <c:pt idx="47">
                  <c:v>0.41618788</c:v>
                </c:pt>
                <c:pt idx="48">
                  <c:v>0.603833</c:v>
                </c:pt>
                <c:pt idx="49">
                  <c:v>0.39425188</c:v>
                </c:pt>
                <c:pt idx="50">
                  <c:v>0.5997098</c:v>
                </c:pt>
                <c:pt idx="51">
                  <c:v>0.5571774</c:v>
                </c:pt>
                <c:pt idx="52">
                  <c:v>0.5564956</c:v>
                </c:pt>
                <c:pt idx="53">
                  <c:v>0.51107764</c:v>
                </c:pt>
                <c:pt idx="54">
                  <c:v>0.4143212</c:v>
                </c:pt>
                <c:pt idx="55">
                  <c:v>0.5766692</c:v>
                </c:pt>
                <c:pt idx="56">
                  <c:v>0.56272614</c:v>
                </c:pt>
                <c:pt idx="57">
                  <c:v>0.5460838</c:v>
                </c:pt>
                <c:pt idx="58">
                  <c:v>0.5398583</c:v>
                </c:pt>
                <c:pt idx="59">
                  <c:v>0.5580388</c:v>
                </c:pt>
                <c:pt idx="60">
                  <c:v>0.5481931</c:v>
                </c:pt>
                <c:pt idx="61">
                  <c:v>0.5656163</c:v>
                </c:pt>
                <c:pt idx="62">
                  <c:v>0.5316548</c:v>
                </c:pt>
                <c:pt idx="63">
                  <c:v>0.5165249</c:v>
                </c:pt>
                <c:pt idx="64">
                  <c:v>0.5595182</c:v>
                </c:pt>
                <c:pt idx="65">
                  <c:v>0.36208704</c:v>
                </c:pt>
                <c:pt idx="66">
                  <c:v>0.5524334</c:v>
                </c:pt>
                <c:pt idx="67">
                  <c:v>0.47222742</c:v>
                </c:pt>
                <c:pt idx="68">
                  <c:v>0.5273232</c:v>
                </c:pt>
                <c:pt idx="69">
                  <c:v>0.57198775</c:v>
                </c:pt>
                <c:pt idx="70">
                  <c:v>0.5097155</c:v>
                </c:pt>
                <c:pt idx="71">
                  <c:v>0.4059473</c:v>
                </c:pt>
                <c:pt idx="72">
                  <c:v>0.36165175</c:v>
                </c:pt>
                <c:pt idx="73">
                  <c:v>0.5441243</c:v>
                </c:pt>
                <c:pt idx="74">
                  <c:v>0.6152657</c:v>
                </c:pt>
                <c:pt idx="75">
                  <c:v>0.5703117</c:v>
                </c:pt>
                <c:pt idx="76">
                  <c:v>0.51757437</c:v>
                </c:pt>
                <c:pt idx="77">
                  <c:v>0.5546082</c:v>
                </c:pt>
                <c:pt idx="78">
                  <c:v>0.57271194</c:v>
                </c:pt>
                <c:pt idx="79">
                  <c:v>0.36111122</c:v>
                </c:pt>
                <c:pt idx="80">
                  <c:v>0.5383311</c:v>
                </c:pt>
                <c:pt idx="81">
                  <c:v>0.56072354</c:v>
                </c:pt>
                <c:pt idx="82">
                  <c:v>0.525246</c:v>
                </c:pt>
                <c:pt idx="83">
                  <c:v>0.5754508</c:v>
                </c:pt>
                <c:pt idx="84">
                  <c:v>0.5475229</c:v>
                </c:pt>
                <c:pt idx="85">
                  <c:v>0.53858346</c:v>
                </c:pt>
                <c:pt idx="86">
                  <c:v>0.53884727</c:v>
                </c:pt>
                <c:pt idx="87">
                  <c:v>0.5266072</c:v>
                </c:pt>
                <c:pt idx="88">
                  <c:v>0.50878423</c:v>
                </c:pt>
                <c:pt idx="89">
                  <c:v>0.4466353</c:v>
                </c:pt>
                <c:pt idx="90">
                  <c:v>0.45149878</c:v>
                </c:pt>
                <c:pt idx="91">
                  <c:v>0.34461737</c:v>
                </c:pt>
                <c:pt idx="92">
                  <c:v>0.47793487</c:v>
                </c:pt>
                <c:pt idx="93">
                  <c:v>0.5675328</c:v>
                </c:pt>
                <c:pt idx="94">
                  <c:v>0.5718567</c:v>
                </c:pt>
                <c:pt idx="95">
                  <c:v>0.5542081</c:v>
                </c:pt>
                <c:pt idx="96">
                  <c:v>0.50970703</c:v>
                </c:pt>
                <c:pt idx="97">
                  <c:v>0.501267</c:v>
                </c:pt>
                <c:pt idx="98">
                  <c:v>0.46750587</c:v>
                </c:pt>
                <c:pt idx="99">
                  <c:v>0.40739208</c:v>
                </c:pt>
                <c:pt idx="100">
                  <c:v>0.36329666</c:v>
                </c:pt>
                <c:pt idx="101">
                  <c:v>0.5340791</c:v>
                </c:pt>
                <c:pt idx="102">
                  <c:v>0.63416725</c:v>
                </c:pt>
                <c:pt idx="103">
                  <c:v>0.5491251</c:v>
                </c:pt>
                <c:pt idx="104">
                  <c:v>0.5903047</c:v>
                </c:pt>
                <c:pt idx="105">
                  <c:v>0.433425</c:v>
                </c:pt>
                <c:pt idx="106">
                  <c:v>0.5062768</c:v>
                </c:pt>
                <c:pt idx="107">
                  <c:v>0.52567065</c:v>
                </c:pt>
                <c:pt idx="108">
                  <c:v>0.37356365</c:v>
                </c:pt>
                <c:pt idx="109">
                  <c:v>0.48010248</c:v>
                </c:pt>
                <c:pt idx="110">
                  <c:v>0.55518</c:v>
                </c:pt>
                <c:pt idx="111">
                  <c:v>0.513375</c:v>
                </c:pt>
                <c:pt idx="112">
                  <c:v>0.53191835</c:v>
                </c:pt>
                <c:pt idx="113">
                  <c:v>0.5682764</c:v>
                </c:pt>
                <c:pt idx="114">
                  <c:v>0.36433268</c:v>
                </c:pt>
                <c:pt idx="115">
                  <c:v>0.5343763</c:v>
                </c:pt>
                <c:pt idx="116">
                  <c:v>0.5404621</c:v>
                </c:pt>
                <c:pt idx="117">
                  <c:v>0.5390822</c:v>
                </c:pt>
                <c:pt idx="118">
                  <c:v>0.6064009</c:v>
                </c:pt>
                <c:pt idx="119">
                  <c:v>0.5109565</c:v>
                </c:pt>
                <c:pt idx="120">
                  <c:v>0.630664</c:v>
                </c:pt>
                <c:pt idx="121">
                  <c:v>0.3624343</c:v>
                </c:pt>
                <c:pt idx="122">
                  <c:v>0.5764871</c:v>
                </c:pt>
                <c:pt idx="123">
                  <c:v>0.5563527</c:v>
                </c:pt>
                <c:pt idx="124">
                  <c:v>0.5329247</c:v>
                </c:pt>
                <c:pt idx="125">
                  <c:v>0.5579428</c:v>
                </c:pt>
                <c:pt idx="126">
                  <c:v>0.5121247</c:v>
                </c:pt>
                <c:pt idx="127">
                  <c:v>0.44877568</c:v>
                </c:pt>
                <c:pt idx="128">
                  <c:v>0.37329012</c:v>
                </c:pt>
                <c:pt idx="129">
                  <c:v>0.56026417</c:v>
                </c:pt>
                <c:pt idx="130">
                  <c:v>0.55419606</c:v>
                </c:pt>
                <c:pt idx="131">
                  <c:v>0.5927572</c:v>
                </c:pt>
                <c:pt idx="132">
                  <c:v>0.6110346</c:v>
                </c:pt>
                <c:pt idx="133">
                  <c:v>0.5148594</c:v>
                </c:pt>
                <c:pt idx="134">
                  <c:v>0.47473273</c:v>
                </c:pt>
                <c:pt idx="135">
                  <c:v>0.6277075</c:v>
                </c:pt>
                <c:pt idx="136">
                  <c:v>0.5484341</c:v>
                </c:pt>
                <c:pt idx="137">
                  <c:v>0.5190001</c:v>
                </c:pt>
                <c:pt idx="138">
                  <c:v>0.38325247</c:v>
                </c:pt>
                <c:pt idx="139">
                  <c:v>0.50751513</c:v>
                </c:pt>
                <c:pt idx="140">
                  <c:v>0.5177406</c:v>
                </c:pt>
                <c:pt idx="141">
                  <c:v>0.40173277</c:v>
                </c:pt>
                <c:pt idx="142">
                  <c:v>0.6261041</c:v>
                </c:pt>
                <c:pt idx="143">
                  <c:v>0.6167446</c:v>
                </c:pt>
                <c:pt idx="144">
                  <c:v>0.5315027</c:v>
                </c:pt>
                <c:pt idx="145">
                  <c:v>0.5168186</c:v>
                </c:pt>
                <c:pt idx="146">
                  <c:v>0.501859</c:v>
                </c:pt>
                <c:pt idx="147">
                  <c:v>0.5253377</c:v>
                </c:pt>
                <c:pt idx="148">
                  <c:v>0.62950474</c:v>
                </c:pt>
                <c:pt idx="149">
                  <c:v>0.5478795</c:v>
                </c:pt>
                <c:pt idx="150">
                  <c:v>0.5704499</c:v>
                </c:pt>
                <c:pt idx="151">
                  <c:v>0.56248915</c:v>
                </c:pt>
                <c:pt idx="152">
                  <c:v>0.55152225</c:v>
                </c:pt>
                <c:pt idx="153">
                  <c:v>0.5570139</c:v>
                </c:pt>
                <c:pt idx="154">
                  <c:v>0.56267244</c:v>
                </c:pt>
                <c:pt idx="155">
                  <c:v>0.6154517</c:v>
                </c:pt>
                <c:pt idx="156">
                  <c:v>0.59457624</c:v>
                </c:pt>
                <c:pt idx="157">
                  <c:v>0.7741603</c:v>
                </c:pt>
                <c:pt idx="158">
                  <c:v>0.78898036</c:v>
                </c:pt>
                <c:pt idx="159">
                  <c:v>0.31024674</c:v>
                </c:pt>
                <c:pt idx="160">
                  <c:v>0.3109943</c:v>
                </c:pt>
                <c:pt idx="161">
                  <c:v>0.33040112</c:v>
                </c:pt>
                <c:pt idx="162">
                  <c:v>0.6162786</c:v>
                </c:pt>
                <c:pt idx="163">
                  <c:v>0.75064796</c:v>
                </c:pt>
                <c:pt idx="164">
                  <c:v>0.31977916</c:v>
                </c:pt>
                <c:pt idx="165">
                  <c:v>0.30681708</c:v>
                </c:pt>
                <c:pt idx="166">
                  <c:v>0.64002573</c:v>
                </c:pt>
                <c:pt idx="167">
                  <c:v>0.3188815</c:v>
                </c:pt>
                <c:pt idx="168">
                  <c:v>0.34968445</c:v>
                </c:pt>
                <c:pt idx="169">
                  <c:v>0.3102258</c:v>
                </c:pt>
                <c:pt idx="170">
                  <c:v>0.351761</c:v>
                </c:pt>
                <c:pt idx="171">
                  <c:v>0.98227185</c:v>
                </c:pt>
                <c:pt idx="172">
                  <c:v>0.31111902</c:v>
                </c:pt>
                <c:pt idx="173">
                  <c:v>0.5412023</c:v>
                </c:pt>
                <c:pt idx="174">
                  <c:v>0.320608</c:v>
                </c:pt>
                <c:pt idx="175">
                  <c:v>0.34373486</c:v>
                </c:pt>
                <c:pt idx="176">
                  <c:v>0.9369762</c:v>
                </c:pt>
                <c:pt idx="177">
                  <c:v>0.6574708</c:v>
                </c:pt>
                <c:pt idx="178">
                  <c:v>0.9585298</c:v>
                </c:pt>
                <c:pt idx="179">
                  <c:v>0.30756852</c:v>
                </c:pt>
                <c:pt idx="180">
                  <c:v>0.28737414</c:v>
                </c:pt>
                <c:pt idx="181">
                  <c:v>0.6264132</c:v>
                </c:pt>
                <c:pt idx="182">
                  <c:v>0.31119606</c:v>
                </c:pt>
                <c:pt idx="183">
                  <c:v>0.7657151</c:v>
                </c:pt>
                <c:pt idx="184">
                  <c:v>0.6432699</c:v>
                </c:pt>
                <c:pt idx="185">
                  <c:v>0.33270204</c:v>
                </c:pt>
                <c:pt idx="186">
                  <c:v>0.45352426</c:v>
                </c:pt>
                <c:pt idx="187">
                  <c:v>0.58496237</c:v>
                </c:pt>
                <c:pt idx="188">
                  <c:v>0.5745471</c:v>
                </c:pt>
                <c:pt idx="189">
                  <c:v>0.3837499</c:v>
                </c:pt>
                <c:pt idx="190">
                  <c:v>0.91348404</c:v>
                </c:pt>
                <c:pt idx="191">
                  <c:v>0.31157997</c:v>
                </c:pt>
                <c:pt idx="192">
                  <c:v>1.007314</c:v>
                </c:pt>
                <c:pt idx="193">
                  <c:v>0.3410277</c:v>
                </c:pt>
                <c:pt idx="194">
                  <c:v>0.3231</c:v>
                </c:pt>
                <c:pt idx="195">
                  <c:v>0.6441148</c:v>
                </c:pt>
                <c:pt idx="196">
                  <c:v>0.75160974</c:v>
                </c:pt>
                <c:pt idx="197">
                  <c:v>0.679096</c:v>
                </c:pt>
                <c:pt idx="198">
                  <c:v>0.3170719</c:v>
                </c:pt>
                <c:pt idx="199">
                  <c:v>0.30580547</c:v>
                </c:pt>
                <c:pt idx="200">
                  <c:v>1.0678182</c:v>
                </c:pt>
                <c:pt idx="201">
                  <c:v>1.0109125</c:v>
                </c:pt>
                <c:pt idx="202">
                  <c:v>0.9420595</c:v>
                </c:pt>
                <c:pt idx="203">
                  <c:v>0.32290617</c:v>
                </c:pt>
                <c:pt idx="204">
                  <c:v>0.75941753</c:v>
                </c:pt>
                <c:pt idx="205">
                  <c:v>0.44870865</c:v>
                </c:pt>
                <c:pt idx="206">
                  <c:v>0.66289204</c:v>
                </c:pt>
                <c:pt idx="207">
                  <c:v>0.63752294</c:v>
                </c:pt>
                <c:pt idx="208">
                  <c:v>0.29120874</c:v>
                </c:pt>
                <c:pt idx="209">
                  <c:v>0.3695116</c:v>
                </c:pt>
                <c:pt idx="210">
                  <c:v>0.35971785</c:v>
                </c:pt>
                <c:pt idx="211">
                  <c:v>0.72831947</c:v>
                </c:pt>
                <c:pt idx="212">
                  <c:v>0.3184255</c:v>
                </c:pt>
                <c:pt idx="213">
                  <c:v>0.4530694</c:v>
                </c:pt>
                <c:pt idx="214">
                  <c:v>0.6370243</c:v>
                </c:pt>
                <c:pt idx="215">
                  <c:v>0.77186275</c:v>
                </c:pt>
                <c:pt idx="216">
                  <c:v>0.3430235</c:v>
                </c:pt>
                <c:pt idx="217">
                  <c:v>0.9738897</c:v>
                </c:pt>
                <c:pt idx="218">
                  <c:v>0.291375</c:v>
                </c:pt>
                <c:pt idx="219">
                  <c:v>0.58704054</c:v>
                </c:pt>
                <c:pt idx="220">
                  <c:v>0.77597976</c:v>
                </c:pt>
                <c:pt idx="221">
                  <c:v>0.6383151</c:v>
                </c:pt>
                <c:pt idx="222">
                  <c:v>0.97503173</c:v>
                </c:pt>
                <c:pt idx="223">
                  <c:v>0.3477485</c:v>
                </c:pt>
                <c:pt idx="224">
                  <c:v>0.4793764</c:v>
                </c:pt>
                <c:pt idx="225">
                  <c:v>1.0771691</c:v>
                </c:pt>
                <c:pt idx="226">
                  <c:v>0.59222627</c:v>
                </c:pt>
                <c:pt idx="227">
                  <c:v>0.94769806</c:v>
                </c:pt>
                <c:pt idx="228">
                  <c:v>0.34086427</c:v>
                </c:pt>
                <c:pt idx="229">
                  <c:v>0.35237104</c:v>
                </c:pt>
                <c:pt idx="230">
                  <c:v>0.35577932</c:v>
                </c:pt>
                <c:pt idx="231">
                  <c:v>0.9534315</c:v>
                </c:pt>
                <c:pt idx="232">
                  <c:v>0.46525842</c:v>
                </c:pt>
                <c:pt idx="233">
                  <c:v>0.35236156</c:v>
                </c:pt>
                <c:pt idx="234">
                  <c:v>0.34490296</c:v>
                </c:pt>
                <c:pt idx="235">
                  <c:v>0.34955132</c:v>
                </c:pt>
                <c:pt idx="236">
                  <c:v>0.3583921</c:v>
                </c:pt>
                <c:pt idx="237">
                  <c:v>0.5988566</c:v>
                </c:pt>
                <c:pt idx="238">
                  <c:v>0.46222463</c:v>
                </c:pt>
                <c:pt idx="239">
                  <c:v>0.6217774</c:v>
                </c:pt>
                <c:pt idx="240">
                  <c:v>0.38397256</c:v>
                </c:pt>
                <c:pt idx="241">
                  <c:v>0.76098293</c:v>
                </c:pt>
                <c:pt idx="242">
                  <c:v>1.0141757</c:v>
                </c:pt>
                <c:pt idx="243">
                  <c:v>0.650197</c:v>
                </c:pt>
                <c:pt idx="244">
                  <c:v>0.9551995</c:v>
                </c:pt>
                <c:pt idx="245">
                  <c:v>0.34681362</c:v>
                </c:pt>
                <c:pt idx="246">
                  <c:v>0.38354787</c:v>
                </c:pt>
                <c:pt idx="247">
                  <c:v>0.4808741</c:v>
                </c:pt>
                <c:pt idx="248">
                  <c:v>0.65980554</c:v>
                </c:pt>
                <c:pt idx="249">
                  <c:v>0.31123573</c:v>
                </c:pt>
                <c:pt idx="250">
                  <c:v>0.7033042</c:v>
                </c:pt>
                <c:pt idx="251">
                  <c:v>0.9533628</c:v>
                </c:pt>
                <c:pt idx="252">
                  <c:v>0.3558592</c:v>
                </c:pt>
                <c:pt idx="253">
                  <c:v>0.3496911</c:v>
                </c:pt>
                <c:pt idx="254">
                  <c:v>0.30542633</c:v>
                </c:pt>
                <c:pt idx="255">
                  <c:v>0.3588816</c:v>
                </c:pt>
                <c:pt idx="256">
                  <c:v>0.7471549</c:v>
                </c:pt>
                <c:pt idx="257">
                  <c:v>0.32473254</c:v>
                </c:pt>
                <c:pt idx="258">
                  <c:v>0.33307484</c:v>
                </c:pt>
                <c:pt idx="259">
                  <c:v>0.5835719</c:v>
                </c:pt>
                <c:pt idx="260">
                  <c:v>0.3424254</c:v>
                </c:pt>
                <c:pt idx="261">
                  <c:v>0.9292843</c:v>
                </c:pt>
                <c:pt idx="262">
                  <c:v>1.0724971</c:v>
                </c:pt>
                <c:pt idx="263">
                  <c:v>0.31916717</c:v>
                </c:pt>
                <c:pt idx="264">
                  <c:v>0.9684102</c:v>
                </c:pt>
                <c:pt idx="265">
                  <c:v>0.37723765</c:v>
                </c:pt>
                <c:pt idx="266">
                  <c:v>0.30652437</c:v>
                </c:pt>
                <c:pt idx="267">
                  <c:v>0.33780083</c:v>
                </c:pt>
                <c:pt idx="268">
                  <c:v>0.6459459</c:v>
                </c:pt>
                <c:pt idx="269">
                  <c:v>0.34110057</c:v>
                </c:pt>
                <c:pt idx="270">
                  <c:v>0.34647325</c:v>
                </c:pt>
                <c:pt idx="271">
                  <c:v>0.9465083</c:v>
                </c:pt>
                <c:pt idx="272">
                  <c:v>0.33993295</c:v>
                </c:pt>
                <c:pt idx="273">
                  <c:v>0.32076746</c:v>
                </c:pt>
                <c:pt idx="274">
                  <c:v>0.652499</c:v>
                </c:pt>
                <c:pt idx="275">
                  <c:v>0.78674674</c:v>
                </c:pt>
                <c:pt idx="276">
                  <c:v>0.459445</c:v>
                </c:pt>
                <c:pt idx="277">
                  <c:v>1.007115</c:v>
                </c:pt>
                <c:pt idx="278">
                  <c:v>0.3052634</c:v>
                </c:pt>
                <c:pt idx="279">
                  <c:v>0.9558534</c:v>
                </c:pt>
                <c:pt idx="280">
                  <c:v>0.37651128</c:v>
                </c:pt>
                <c:pt idx="281">
                  <c:v>0.35903123</c:v>
                </c:pt>
                <c:pt idx="282">
                  <c:v>0.33037373</c:v>
                </c:pt>
                <c:pt idx="283">
                  <c:v>0.610466</c:v>
                </c:pt>
                <c:pt idx="284">
                  <c:v>0.3232443</c:v>
                </c:pt>
                <c:pt idx="285">
                  <c:v>0.9446252</c:v>
                </c:pt>
                <c:pt idx="286">
                  <c:v>0.31168887</c:v>
                </c:pt>
                <c:pt idx="287">
                  <c:v>0.9593959</c:v>
                </c:pt>
                <c:pt idx="288">
                  <c:v>0.77599174</c:v>
                </c:pt>
                <c:pt idx="289">
                  <c:v>0.7835766</c:v>
                </c:pt>
                <c:pt idx="290">
                  <c:v>0.98326313</c:v>
                </c:pt>
                <c:pt idx="291">
                  <c:v>0.35219797</c:v>
                </c:pt>
                <c:pt idx="292">
                  <c:v>0.64109665</c:v>
                </c:pt>
                <c:pt idx="293">
                  <c:v>0.6156904</c:v>
                </c:pt>
                <c:pt idx="294">
                  <c:v>0.4540681</c:v>
                </c:pt>
                <c:pt idx="295">
                  <c:v>0.61018616</c:v>
                </c:pt>
                <c:pt idx="296">
                  <c:v>0.29005507</c:v>
                </c:pt>
                <c:pt idx="297">
                  <c:v>0.6186749</c:v>
                </c:pt>
                <c:pt idx="298">
                  <c:v>1.0652497</c:v>
                </c:pt>
                <c:pt idx="299">
                  <c:v>0.31727868</c:v>
                </c:pt>
                <c:pt idx="300">
                  <c:v>1.0096625</c:v>
                </c:pt>
                <c:pt idx="301">
                  <c:v>0.9922262</c:v>
                </c:pt>
                <c:pt idx="302">
                  <c:v>1.0669067</c:v>
                </c:pt>
                <c:pt idx="303">
                  <c:v>0.5878344</c:v>
                </c:pt>
                <c:pt idx="304">
                  <c:v>0.3233569</c:v>
                </c:pt>
                <c:pt idx="305">
                  <c:v>0.64815897</c:v>
                </c:pt>
                <c:pt idx="306">
                  <c:v>0.34889483</c:v>
                </c:pt>
                <c:pt idx="307">
                  <c:v>1.065837</c:v>
                </c:pt>
                <c:pt idx="308">
                  <c:v>0.7337007</c:v>
                </c:pt>
                <c:pt idx="309">
                  <c:v>0.76663357</c:v>
                </c:pt>
                <c:pt idx="310">
                  <c:v>0.76842755</c:v>
                </c:pt>
                <c:pt idx="311">
                  <c:v>0.3236134</c:v>
                </c:pt>
                <c:pt idx="312">
                  <c:v>0.96590346</c:v>
                </c:pt>
                <c:pt idx="313">
                  <c:v>0.5768023</c:v>
                </c:pt>
                <c:pt idx="314">
                  <c:v>0.7715338</c:v>
                </c:pt>
                <c:pt idx="315">
                  <c:v>0.43557128</c:v>
                </c:pt>
                <c:pt idx="316">
                  <c:v>0.31301898</c:v>
                </c:pt>
                <c:pt idx="317">
                  <c:v>0.34000894</c:v>
                </c:pt>
                <c:pt idx="318">
                  <c:v>0.52354103</c:v>
                </c:pt>
                <c:pt idx="319">
                  <c:v>0.3656894</c:v>
                </c:pt>
                <c:pt idx="320">
                  <c:v>0.36236158</c:v>
                </c:pt>
                <c:pt idx="321">
                  <c:v>0.36522284</c:v>
                </c:pt>
                <c:pt idx="322">
                  <c:v>0.33678728</c:v>
                </c:pt>
                <c:pt idx="323">
                  <c:v>0.4194828</c:v>
                </c:pt>
                <c:pt idx="324">
                  <c:v>0.68816143</c:v>
                </c:pt>
                <c:pt idx="325">
                  <c:v>0.38991833</c:v>
                </c:pt>
                <c:pt idx="326">
                  <c:v>0.3347279</c:v>
                </c:pt>
                <c:pt idx="327">
                  <c:v>0.42288673</c:v>
                </c:pt>
                <c:pt idx="328">
                  <c:v>0.3497838</c:v>
                </c:pt>
                <c:pt idx="329">
                  <c:v>0.6827942</c:v>
                </c:pt>
                <c:pt idx="330">
                  <c:v>0.700203</c:v>
                </c:pt>
                <c:pt idx="331">
                  <c:v>0.6470103</c:v>
                </c:pt>
                <c:pt idx="332">
                  <c:v>0.3725699</c:v>
                </c:pt>
                <c:pt idx="333">
                  <c:v>0.3525314</c:v>
                </c:pt>
                <c:pt idx="334">
                  <c:v>0.43070814</c:v>
                </c:pt>
                <c:pt idx="335">
                  <c:v>0.4864721</c:v>
                </c:pt>
                <c:pt idx="336">
                  <c:v>0.511518</c:v>
                </c:pt>
                <c:pt idx="337">
                  <c:v>0.34670308</c:v>
                </c:pt>
                <c:pt idx="338">
                  <c:v>0.36607543</c:v>
                </c:pt>
                <c:pt idx="339">
                  <c:v>0.6994619</c:v>
                </c:pt>
                <c:pt idx="340">
                  <c:v>0.4179744</c:v>
                </c:pt>
                <c:pt idx="341">
                  <c:v>0.44083545</c:v>
                </c:pt>
                <c:pt idx="342">
                  <c:v>0.5244096</c:v>
                </c:pt>
                <c:pt idx="343">
                  <c:v>0.37827122</c:v>
                </c:pt>
                <c:pt idx="344">
                  <c:v>0.59573793</c:v>
                </c:pt>
                <c:pt idx="345">
                  <c:v>0.6950214</c:v>
                </c:pt>
                <c:pt idx="346">
                  <c:v>0.6560379</c:v>
                </c:pt>
                <c:pt idx="347">
                  <c:v>0.59686655</c:v>
                </c:pt>
                <c:pt idx="348">
                  <c:v>0.5130307</c:v>
                </c:pt>
                <c:pt idx="349">
                  <c:v>0.47737253</c:v>
                </c:pt>
                <c:pt idx="350">
                  <c:v>0.41293952</c:v>
                </c:pt>
                <c:pt idx="351">
                  <c:v>0.4723819</c:v>
                </c:pt>
                <c:pt idx="352">
                  <c:v>0.35474285</c:v>
                </c:pt>
                <c:pt idx="353">
                  <c:v>0.57865036</c:v>
                </c:pt>
                <c:pt idx="354">
                  <c:v>0.3137741</c:v>
                </c:pt>
                <c:pt idx="355">
                  <c:v>0.50100124</c:v>
                </c:pt>
                <c:pt idx="356">
                  <c:v>0.488815</c:v>
                </c:pt>
                <c:pt idx="357">
                  <c:v>0.3996847</c:v>
                </c:pt>
                <c:pt idx="358">
                  <c:v>0.31842723</c:v>
                </c:pt>
                <c:pt idx="359">
                  <c:v>0.57578486</c:v>
                </c:pt>
                <c:pt idx="360">
                  <c:v>0.67859983</c:v>
                </c:pt>
                <c:pt idx="361">
                  <c:v>0.3596772</c:v>
                </c:pt>
                <c:pt idx="362">
                  <c:v>0.49663055</c:v>
                </c:pt>
                <c:pt idx="363">
                  <c:v>0.579651</c:v>
                </c:pt>
                <c:pt idx="364">
                  <c:v>0.3642018</c:v>
                </c:pt>
                <c:pt idx="365">
                  <c:v>0.36218116</c:v>
                </c:pt>
                <c:pt idx="366">
                  <c:v>0.4344419</c:v>
                </c:pt>
                <c:pt idx="367">
                  <c:v>0.3679419</c:v>
                </c:pt>
                <c:pt idx="368">
                  <c:v>0.48839122</c:v>
                </c:pt>
                <c:pt idx="369">
                  <c:v>0.411723</c:v>
                </c:pt>
                <c:pt idx="370">
                  <c:v>0.48370638</c:v>
                </c:pt>
                <c:pt idx="371">
                  <c:v>0.447876</c:v>
                </c:pt>
                <c:pt idx="372">
                  <c:v>0.64193434</c:v>
                </c:pt>
                <c:pt idx="373">
                  <c:v>0.5928801</c:v>
                </c:pt>
                <c:pt idx="374">
                  <c:v>0.31532806</c:v>
                </c:pt>
                <c:pt idx="375">
                  <c:v>0.33741632</c:v>
                </c:pt>
                <c:pt idx="376">
                  <c:v>0.6977405</c:v>
                </c:pt>
                <c:pt idx="377">
                  <c:v>0.48406675</c:v>
                </c:pt>
                <c:pt idx="378">
                  <c:v>0.37086657</c:v>
                </c:pt>
                <c:pt idx="379">
                  <c:v>0.35969812</c:v>
                </c:pt>
                <c:pt idx="380">
                  <c:v>0.36877814</c:v>
                </c:pt>
                <c:pt idx="381">
                  <c:v>0.28132913</c:v>
                </c:pt>
                <c:pt idx="382">
                  <c:v>0.6773597</c:v>
                </c:pt>
                <c:pt idx="383">
                  <c:v>0.57918113</c:v>
                </c:pt>
                <c:pt idx="384">
                  <c:v>0.6999698</c:v>
                </c:pt>
                <c:pt idx="385">
                  <c:v>0.5226618</c:v>
                </c:pt>
                <c:pt idx="386">
                  <c:v>0.4836642</c:v>
                </c:pt>
                <c:pt idx="387">
                  <c:v>0.4288426</c:v>
                </c:pt>
                <c:pt idx="388">
                  <c:v>0.40661183</c:v>
                </c:pt>
                <c:pt idx="389">
                  <c:v>0.64879215</c:v>
                </c:pt>
                <c:pt idx="390">
                  <c:v>0.48021147</c:v>
                </c:pt>
                <c:pt idx="391">
                  <c:v>0.36241472</c:v>
                </c:pt>
                <c:pt idx="392">
                  <c:v>0.5779122</c:v>
                </c:pt>
                <c:pt idx="393">
                  <c:v>0.5860346</c:v>
                </c:pt>
                <c:pt idx="394">
                  <c:v>0.396014</c:v>
                </c:pt>
                <c:pt idx="395">
                  <c:v>0.52984065</c:v>
                </c:pt>
                <c:pt idx="396">
                  <c:v>0.37765622</c:v>
                </c:pt>
                <c:pt idx="397">
                  <c:v>0.36290056</c:v>
                </c:pt>
                <c:pt idx="398">
                  <c:v>0.7012997</c:v>
                </c:pt>
                <c:pt idx="399">
                  <c:v>0.40052631</c:v>
                </c:pt>
                <c:pt idx="400">
                  <c:v>0.59317833</c:v>
                </c:pt>
                <c:pt idx="401">
                  <c:v>0.48788726</c:v>
                </c:pt>
                <c:pt idx="402">
                  <c:v>0.701642</c:v>
                </c:pt>
                <c:pt idx="403">
                  <c:v>0.43362615</c:v>
                </c:pt>
                <c:pt idx="404">
                  <c:v>0.69226325</c:v>
                </c:pt>
                <c:pt idx="405">
                  <c:v>0.4195461</c:v>
                </c:pt>
                <c:pt idx="406">
                  <c:v>0.3751683</c:v>
                </c:pt>
                <c:pt idx="407">
                  <c:v>0.28370476</c:v>
                </c:pt>
                <c:pt idx="408">
                  <c:v>0.31667742</c:v>
                </c:pt>
                <c:pt idx="409">
                  <c:v>0.4768279</c:v>
                </c:pt>
                <c:pt idx="410">
                  <c:v>0.41890925</c:v>
                </c:pt>
                <c:pt idx="411">
                  <c:v>0.49107105</c:v>
                </c:pt>
                <c:pt idx="412">
                  <c:v>0.36234123</c:v>
                </c:pt>
                <c:pt idx="413">
                  <c:v>0.42006925</c:v>
                </c:pt>
                <c:pt idx="414">
                  <c:v>0.52180654</c:v>
                </c:pt>
                <c:pt idx="415">
                  <c:v>0.4382403</c:v>
                </c:pt>
                <c:pt idx="416">
                  <c:v>0.6423948</c:v>
                </c:pt>
                <c:pt idx="417">
                  <c:v>0.40586782</c:v>
                </c:pt>
                <c:pt idx="418">
                  <c:v>0.64076847</c:v>
                </c:pt>
                <c:pt idx="419">
                  <c:v>0.69483125</c:v>
                </c:pt>
                <c:pt idx="420">
                  <c:v>0.48336902</c:v>
                </c:pt>
                <c:pt idx="421">
                  <c:v>0.38525006</c:v>
                </c:pt>
                <c:pt idx="422">
                  <c:v>0.52682966</c:v>
                </c:pt>
                <c:pt idx="423">
                  <c:v>0.53079504</c:v>
                </c:pt>
                <c:pt idx="424">
                  <c:v>0.4771477</c:v>
                </c:pt>
                <c:pt idx="425">
                  <c:v>0.4854418</c:v>
                </c:pt>
                <c:pt idx="426">
                  <c:v>0.35822105</c:v>
                </c:pt>
                <c:pt idx="427">
                  <c:v>0.44347787</c:v>
                </c:pt>
                <c:pt idx="428">
                  <c:v>0.6761816</c:v>
                </c:pt>
                <c:pt idx="429">
                  <c:v>0.32096356</c:v>
                </c:pt>
                <c:pt idx="430">
                  <c:v>0.43640015</c:v>
                </c:pt>
                <c:pt idx="431">
                  <c:v>0.4375609</c:v>
                </c:pt>
                <c:pt idx="432">
                  <c:v>0.635301</c:v>
                </c:pt>
                <c:pt idx="433">
                  <c:v>0.49560255</c:v>
                </c:pt>
                <c:pt idx="434">
                  <c:v>0.36516857</c:v>
                </c:pt>
                <c:pt idx="435">
                  <c:v>0.505248</c:v>
                </c:pt>
                <c:pt idx="436">
                  <c:v>0.6824544</c:v>
                </c:pt>
                <c:pt idx="437">
                  <c:v>0.494264</c:v>
                </c:pt>
                <c:pt idx="438">
                  <c:v>0.5264088</c:v>
                </c:pt>
                <c:pt idx="439">
                  <c:v>0.64534205</c:v>
                </c:pt>
                <c:pt idx="440">
                  <c:v>0.6765501</c:v>
                </c:pt>
                <c:pt idx="441">
                  <c:v>0.35764533</c:v>
                </c:pt>
              </c:numCache>
            </c:numRef>
          </c:yVal>
        </c:ser>
        <c:ser>
          <c:idx val="1"/>
          <c:order val="1"/>
          <c:tx>
            <c:v>Ideal prediction</c:v>
          </c:tx>
          <c:spPr>
            <a:ln xmlns:a="http://schemas.openxmlformats.org/drawingml/2006/main" w="9525">
              <a:solidFill>
                <a:srgbClr val="65717B"/>
              </a:solidFill>
            </a:ln>
          </c:spPr>
          <c:marker>
            <c:symbol val="none"/>
          </c:marker>
          <c:xVal>
            <c:numRef>
              <c:f>'Chart Data'!$C$2:$C$3</c:f>
              <c:numCache>
                <c:formatCode>General</c:formatCode>
                <c:ptCount val="2"/>
                <c:pt idx="0">
                  <c:v>0.15</c:v>
                </c:pt>
                <c:pt idx="1">
                  <c:v>1.15</c:v>
                </c:pt>
              </c:numCache>
            </c:numRef>
          </c:xVal>
          <c:yVal>
            <c:numRef>
              <c:f>'Chart Data'!$D$2:$D$3</c:f>
              <c:numCache>
                <c:formatCode>0.0</c:formatCode>
                <c:ptCount val="2"/>
                <c:pt idx="0">
                  <c:v>0.15</c:v>
                </c:pt>
                <c:pt idx="1">
                  <c:v>1.15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15"/>
          <c:min val="0.15"/>
        </c:scaling>
        <c:delete val="0"/>
        <c:axPos val="l"/>
        <c:majorGridlines>
          <c:spPr>
            <a:ln xmlns:a="http://schemas.openxmlformats.org/drawingml/2006/main" w="4763">
              <a:solidFill>
                <a:srgbClr val="E6EAEE"/>
              </a:solidFill>
            </a:ln>
          </c:spPr>
        </c:majorGridlines>
        <c:title>
          <c:tx>
            <c:rich>
              <a:bodyPr xmlns:a="http://schemas.openxmlformats.org/drawingml/2006/main"/>
              <a:lstStyle xmlns:a="http://schemas.openxmlformats.org/drawingml/2006/main"/>
              <a:p xmlns:a="http://schemas.openxmlformats.org/drawingml/2006/main">
                <a:r>
                  <a:rPr sz="1200">
                    <a:solidFill>
                      <a:srgbClr val="263645"/>
                    </a:solidFill>
                    <a:latin typeface="Arial"/>
                    <a:ea typeface="Arial"/>
                    <a:cs typeface="Arial"/>
                  </a:rPr>
                  <a:t>Predicted bonded thickness (nm)</a:t>
                </a:r>
              </a:p>
            </c:rich>
          </c:tx>
          <c:overlay val="0"/>
          <c:txPr>
            <a:bodyPr xmlns:a="http://schemas.openxmlformats.org/drawingml/2006/main" anchorCtr="1"/>
            <a:lstStyle xmlns:a="http://schemas.openxmlformats.org/drawingml/2006/main"/>
            <a:p xmlns:a="http://schemas.openxmlformats.org/drawingml/2006/main">
              <a:pPr>
                <a:defRPr sz="1200">
                  <a:solidFill>
                    <a:srgbClr val="263645"/>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5717B"/>
                </a:solidFill>
                <a:latin typeface="Arial"/>
                <a:ea typeface="Arial"/>
                <a:cs typeface="Arial"/>
              </a:defRPr>
            </a:pPr>
          </a:p>
        </c:txPr>
        <c:crossAx val="48650112"/>
      </c:valAx>
      <c:valAx>
        <c:axId val="48650112"/>
        <c:scaling>
          <c:orientation val="minMax"/>
          <c:max val="1.15"/>
          <c:min val="0.15"/>
        </c:scaling>
        <c:delete val="0"/>
        <c:axPos val="b"/>
        <c:majorGridlines>
          <c:spPr>
            <a:ln xmlns:a="http://schemas.openxmlformats.org/drawingml/2006/main" w="4763">
              <a:solidFill>
                <a:srgbClr val="E6EAEE"/>
              </a:solidFill>
            </a:ln>
          </c:spPr>
        </c:majorGridlines>
        <c:title>
          <c:tx>
            <c:rich>
              <a:bodyPr xmlns:a="http://schemas.openxmlformats.org/drawingml/2006/main"/>
              <a:lstStyle xmlns:a="http://schemas.openxmlformats.org/drawingml/2006/main"/>
              <a:p xmlns:a="http://schemas.openxmlformats.org/drawingml/2006/main">
                <a:r>
                  <a:rPr sz="1200">
                    <a:solidFill>
                      <a:srgbClr val="263645"/>
                    </a:solidFill>
                    <a:latin typeface="Arial"/>
                    <a:ea typeface="Arial"/>
                    <a:cs typeface="Arial"/>
                  </a:rPr>
                  <a:t>Observed bonded thickness (nm)</a:t>
                </a:r>
              </a:p>
            </c:rich>
          </c:tx>
          <c:overlay val="0"/>
          <c:txPr>
            <a:bodyPr xmlns:a="http://schemas.openxmlformats.org/drawingml/2006/main" anchorCtr="1"/>
            <a:lstStyle xmlns:a="http://schemas.openxmlformats.org/drawingml/2006/main"/>
            <a:p xmlns:a="http://schemas.openxmlformats.org/drawingml/2006/main">
              <a:pPr>
                <a:defRPr sz="1200">
                  <a:solidFill>
                    <a:srgbClr val="263645"/>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5717B"/>
                </a:solidFill>
                <a:latin typeface="Arial"/>
                <a:ea typeface="Arial"/>
                <a:cs typeface="Arial"/>
              </a:defRPr>
            </a:pPr>
          </a:p>
        </c:txPr>
        <c:crossAx val="48672768"/>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b="1">
                <a:solidFill>
                  <a:srgbClr val="002B5E"/>
                </a:solidFill>
                <a:latin typeface="Arial"/>
                <a:ea typeface="Arial"/>
                <a:cs typeface="Arial"/>
              </a:rPr>
              <a:t>Random forest</a:t>
            </a:r>
          </a:p>
        </c:rich>
      </c:tx>
      <c:overlay val="0"/>
      <c:txPr>
        <a:bodyPr xmlns:a="http://schemas.openxmlformats.org/drawingml/2006/main" anchorCtr="1"/>
        <a:lstStyle xmlns:a="http://schemas.openxmlformats.org/drawingml/2006/main"/>
        <a:p xmlns:a="http://schemas.openxmlformats.org/drawingml/2006/main">
          <a:pPr>
            <a:defRPr sz="1350" b="1">
              <a:solidFill>
                <a:srgbClr val="002B5E"/>
              </a:solidFill>
              <a:latin typeface="Arial"/>
              <a:ea typeface="Arial"/>
              <a:cs typeface="Arial"/>
            </a:defRPr>
          </a:pPr>
        </a:p>
      </c:txPr>
    </c:title>
    <c:plotArea>
      <c:scatterChart>
        <c:scatterStyle val="lineMarker"/>
        <c:varyColors val="0"/>
        <c:ser>
          <c:idx val="0"/>
          <c:order val="0"/>
          <c:tx>
            <c:v>Random forest</c:v>
          </c:tx>
          <c:spPr>
            <a:ln xmlns:a="http://schemas.openxmlformats.org/drawingml/2006/main" w="0">
              <a:noFill/>
            </a:ln>
          </c:spPr>
          <c:marker>
            <c:symbol val="circle"/>
            <c:size val="4"/>
            <c:spPr>
              <a:solidFill xmlns:a="http://schemas.openxmlformats.org/drawingml/2006/main">
                <a:srgbClr val="002B5E"/>
              </a:solidFill>
            </c:spPr>
          </c:marker>
          <c:xVal>
            <c:numRef>
              <c:f>'Chart Data'!$A$2:$A$443</c:f>
              <c:numCache>
                <c:formatCode>General</c:formatCode>
                <c:ptCount val="442"/>
                <c:pt idx="0">
                  <c:v>0.68</c:v>
                </c:pt>
                <c:pt idx="1">
                  <c:v>0.51</c:v>
                </c:pt>
                <c:pt idx="2">
                  <c:v>0.41</c:v>
                </c:pt>
                <c:pt idx="3">
                  <c:v>0.45</c:v>
                </c:pt>
                <c:pt idx="4">
                  <c:v>0.68</c:v>
                </c:pt>
                <c:pt idx="5">
                  <c:v>0.47</c:v>
                </c:pt>
                <c:pt idx="6">
                  <c:v>0.68</c:v>
                </c:pt>
                <c:pt idx="7">
                  <c:v>0.5</c:v>
                </c:pt>
                <c:pt idx="8">
                  <c:v>0.68</c:v>
                </c:pt>
                <c:pt idx="9">
                  <c:v>0.47</c:v>
                </c:pt>
                <c:pt idx="10">
                  <c:v>0.51</c:v>
                </c:pt>
                <c:pt idx="11">
                  <c:v>0.47</c:v>
                </c:pt>
                <c:pt idx="12">
                  <c:v>0.52</c:v>
                </c:pt>
                <c:pt idx="13">
                  <c:v>0.51</c:v>
                </c:pt>
                <c:pt idx="14">
                  <c:v>0.68</c:v>
                </c:pt>
                <c:pt idx="15">
                  <c:v>0.41</c:v>
                </c:pt>
                <c:pt idx="16">
                  <c:v>0.68</c:v>
                </c:pt>
                <c:pt idx="17">
                  <c:v>0.68</c:v>
                </c:pt>
                <c:pt idx="18">
                  <c:v>0.691506252</c:v>
                </c:pt>
                <c:pt idx="19">
                  <c:v>0.508653675</c:v>
                </c:pt>
                <c:pt idx="20">
                  <c:v>0.538661958</c:v>
                </c:pt>
                <c:pt idx="21">
                  <c:v>0.561122144</c:v>
                </c:pt>
                <c:pt idx="22">
                  <c:v>0.532089771</c:v>
                </c:pt>
                <c:pt idx="23">
                  <c:v>0.333528056</c:v>
                </c:pt>
                <c:pt idx="24">
                  <c:v>0.468550292</c:v>
                </c:pt>
                <c:pt idx="25">
                  <c:v>0.632986789</c:v>
                </c:pt>
                <c:pt idx="26">
                  <c:v>0.607052034</c:v>
                </c:pt>
                <c:pt idx="27">
                  <c:v>0.496511145</c:v>
                </c:pt>
                <c:pt idx="28">
                  <c:v>0.567803361</c:v>
                </c:pt>
                <c:pt idx="29">
                  <c:v>0.53999595</c:v>
                </c:pt>
                <c:pt idx="30">
                  <c:v>0.484004435</c:v>
                </c:pt>
                <c:pt idx="31">
                  <c:v>0.611676905</c:v>
                </c:pt>
                <c:pt idx="32">
                  <c:v>0.661953146</c:v>
                </c:pt>
                <c:pt idx="33">
                  <c:v>0.518181668</c:v>
                </c:pt>
                <c:pt idx="34">
                  <c:v>0.669828626</c:v>
                </c:pt>
                <c:pt idx="35">
                  <c:v>0.535607847</c:v>
                </c:pt>
                <c:pt idx="36">
                  <c:v>0.494487942</c:v>
                </c:pt>
                <c:pt idx="37">
                  <c:v>0.601667071</c:v>
                </c:pt>
                <c:pt idx="38">
                  <c:v>0.489128941</c:v>
                </c:pt>
                <c:pt idx="39">
                  <c:v>0.455193067</c:v>
                </c:pt>
                <c:pt idx="40">
                  <c:v>0.581235207</c:v>
                </c:pt>
                <c:pt idx="41">
                  <c:v>0.564702091</c:v>
                </c:pt>
                <c:pt idx="42">
                  <c:v>0.418759873</c:v>
                </c:pt>
                <c:pt idx="43">
                  <c:v>0.653438892</c:v>
                </c:pt>
                <c:pt idx="44">
                  <c:v>0.411271304</c:v>
                </c:pt>
                <c:pt idx="45">
                  <c:v>0.568038915</c:v>
                </c:pt>
                <c:pt idx="46">
                  <c:v>0.566686777</c:v>
                </c:pt>
                <c:pt idx="47">
                  <c:v>0.397108688</c:v>
                </c:pt>
                <c:pt idx="48">
                  <c:v>0.678658853</c:v>
                </c:pt>
                <c:pt idx="49">
                  <c:v>0.373234833</c:v>
                </c:pt>
                <c:pt idx="50">
                  <c:v>0.647702493</c:v>
                </c:pt>
                <c:pt idx="51">
                  <c:v>0.573865943</c:v>
                </c:pt>
                <c:pt idx="52">
                  <c:v>0.564782082</c:v>
                </c:pt>
                <c:pt idx="53">
                  <c:v>0.510164148</c:v>
                </c:pt>
                <c:pt idx="54">
                  <c:v>0.412656931</c:v>
                </c:pt>
                <c:pt idx="55">
                  <c:v>0.648164722</c:v>
                </c:pt>
                <c:pt idx="56">
                  <c:v>0.556351012</c:v>
                </c:pt>
                <c:pt idx="57">
                  <c:v>0.530932386</c:v>
                </c:pt>
                <c:pt idx="58">
                  <c:v>0.592666269</c:v>
                </c:pt>
                <c:pt idx="59">
                  <c:v>0.595088713</c:v>
                </c:pt>
                <c:pt idx="60">
                  <c:v>0.551108411</c:v>
                </c:pt>
                <c:pt idx="61">
                  <c:v>0.561680578</c:v>
                </c:pt>
                <c:pt idx="62">
                  <c:v>0.478610738</c:v>
                </c:pt>
                <c:pt idx="63">
                  <c:v>0.517092504</c:v>
                </c:pt>
                <c:pt idx="64">
                  <c:v>0.566611888</c:v>
                </c:pt>
                <c:pt idx="65">
                  <c:v>0.40668457</c:v>
                </c:pt>
                <c:pt idx="66">
                  <c:v>0.556055325</c:v>
                </c:pt>
                <c:pt idx="67">
                  <c:v>0.464004452</c:v>
                </c:pt>
                <c:pt idx="68">
                  <c:v>0.565084822</c:v>
                </c:pt>
                <c:pt idx="69">
                  <c:v>0.579627985</c:v>
                </c:pt>
                <c:pt idx="70">
                  <c:v>0.529321683</c:v>
                </c:pt>
                <c:pt idx="71">
                  <c:v>0.475213173</c:v>
                </c:pt>
                <c:pt idx="72">
                  <c:v>0.329361523</c:v>
                </c:pt>
                <c:pt idx="73">
                  <c:v>0.518715449</c:v>
                </c:pt>
                <c:pt idx="74">
                  <c:v>0.527426277</c:v>
                </c:pt>
                <c:pt idx="75">
                  <c:v>0.561573781</c:v>
                </c:pt>
                <c:pt idx="76">
                  <c:v>0.555852812</c:v>
                </c:pt>
                <c:pt idx="77">
                  <c:v>0.557093998</c:v>
                </c:pt>
                <c:pt idx="78">
                  <c:v>0.655797896</c:v>
                </c:pt>
                <c:pt idx="79">
                  <c:v>0.344995419</c:v>
                </c:pt>
                <c:pt idx="80">
                  <c:v>0.512593631</c:v>
                </c:pt>
                <c:pt idx="81">
                  <c:v>0.621975868</c:v>
                </c:pt>
                <c:pt idx="82">
                  <c:v>0.470005126</c:v>
                </c:pt>
                <c:pt idx="83">
                  <c:v>0.636952239</c:v>
                </c:pt>
                <c:pt idx="84">
                  <c:v>0.533073569</c:v>
                </c:pt>
                <c:pt idx="85">
                  <c:v>0.600916191</c:v>
                </c:pt>
                <c:pt idx="86">
                  <c:v>0.452632676</c:v>
                </c:pt>
                <c:pt idx="87">
                  <c:v>0.473118968</c:v>
                </c:pt>
                <c:pt idx="88">
                  <c:v>0.49727984</c:v>
                </c:pt>
                <c:pt idx="89">
                  <c:v>0.479288701</c:v>
                </c:pt>
                <c:pt idx="90">
                  <c:v>0.462183865</c:v>
                </c:pt>
                <c:pt idx="91">
                  <c:v>0.330325238</c:v>
                </c:pt>
                <c:pt idx="92">
                  <c:v>0.462137954</c:v>
                </c:pt>
                <c:pt idx="93">
                  <c:v>0.573100645</c:v>
                </c:pt>
                <c:pt idx="94">
                  <c:v>0.554827798</c:v>
                </c:pt>
                <c:pt idx="95">
                  <c:v>0.479590721</c:v>
                </c:pt>
                <c:pt idx="96">
                  <c:v>0.525128454</c:v>
                </c:pt>
                <c:pt idx="97">
                  <c:v>0.469831031</c:v>
                </c:pt>
                <c:pt idx="98">
                  <c:v>0.476455334</c:v>
                </c:pt>
                <c:pt idx="99">
                  <c:v>0.350873909</c:v>
                </c:pt>
                <c:pt idx="100">
                  <c:v>0.362286642</c:v>
                </c:pt>
                <c:pt idx="101">
                  <c:v>0.527162148</c:v>
                </c:pt>
                <c:pt idx="102">
                  <c:v>0.538830402</c:v>
                </c:pt>
                <c:pt idx="103">
                  <c:v>0.579886377</c:v>
                </c:pt>
                <c:pt idx="104">
                  <c:v>0.684439043</c:v>
                </c:pt>
                <c:pt idx="105">
                  <c:v>0.445306757</c:v>
                </c:pt>
                <c:pt idx="106">
                  <c:v>0.473474857</c:v>
                </c:pt>
                <c:pt idx="107">
                  <c:v>0.508020595</c:v>
                </c:pt>
                <c:pt idx="108">
                  <c:v>0.332196394</c:v>
                </c:pt>
                <c:pt idx="109">
                  <c:v>0.474367268</c:v>
                </c:pt>
                <c:pt idx="110">
                  <c:v>0.566320956</c:v>
                </c:pt>
                <c:pt idx="111">
                  <c:v>0.509010529</c:v>
                </c:pt>
                <c:pt idx="112">
                  <c:v>0.520254968</c:v>
                </c:pt>
                <c:pt idx="113">
                  <c:v>0.653863145</c:v>
                </c:pt>
                <c:pt idx="114">
                  <c:v>0.370362241</c:v>
                </c:pt>
                <c:pt idx="115">
                  <c:v>0.595865889</c:v>
                </c:pt>
                <c:pt idx="116">
                  <c:v>0.545882693</c:v>
                </c:pt>
                <c:pt idx="117">
                  <c:v>0.584846047</c:v>
                </c:pt>
                <c:pt idx="118">
                  <c:v>0.526568943</c:v>
                </c:pt>
                <c:pt idx="119">
                  <c:v>0.508090389</c:v>
                </c:pt>
                <c:pt idx="120">
                  <c:v>0.685372441</c:v>
                </c:pt>
                <c:pt idx="121">
                  <c:v>0.407893341</c:v>
                </c:pt>
                <c:pt idx="122">
                  <c:v>0.574228546</c:v>
                </c:pt>
                <c:pt idx="123">
                  <c:v>0.564846206</c:v>
                </c:pt>
                <c:pt idx="124">
                  <c:v>0.522928414</c:v>
                </c:pt>
                <c:pt idx="125">
                  <c:v>0.560448275</c:v>
                </c:pt>
                <c:pt idx="126">
                  <c:v>0.492430311</c:v>
                </c:pt>
                <c:pt idx="127">
                  <c:v>0.46865479</c:v>
                </c:pt>
                <c:pt idx="128">
                  <c:v>0.343910265</c:v>
                </c:pt>
                <c:pt idx="129">
                  <c:v>0.593915878</c:v>
                </c:pt>
                <c:pt idx="130">
                  <c:v>0.551481206</c:v>
                </c:pt>
                <c:pt idx="131">
                  <c:v>0.523971438</c:v>
                </c:pt>
                <c:pt idx="132">
                  <c:v>0.596561938</c:v>
                </c:pt>
                <c:pt idx="133">
                  <c:v>0.537838532</c:v>
                </c:pt>
                <c:pt idx="134">
                  <c:v>0.456520265</c:v>
                </c:pt>
                <c:pt idx="135">
                  <c:v>0.588608261</c:v>
                </c:pt>
                <c:pt idx="136">
                  <c:v>0.524817889</c:v>
                </c:pt>
                <c:pt idx="137">
                  <c:v>0.524935808</c:v>
                </c:pt>
                <c:pt idx="138">
                  <c:v>0.3889276</c:v>
                </c:pt>
                <c:pt idx="139">
                  <c:v>0.513387445</c:v>
                </c:pt>
                <c:pt idx="140">
                  <c:v>0.488181057</c:v>
                </c:pt>
                <c:pt idx="141">
                  <c:v>0.348343252</c:v>
                </c:pt>
                <c:pt idx="142">
                  <c:v>0.52763618</c:v>
                </c:pt>
                <c:pt idx="143">
                  <c:v>0.691114034</c:v>
                </c:pt>
                <c:pt idx="144">
                  <c:v>0.530090683</c:v>
                </c:pt>
                <c:pt idx="145">
                  <c:v>0.529797867</c:v>
                </c:pt>
                <c:pt idx="146">
                  <c:v>0.456329405</c:v>
                </c:pt>
                <c:pt idx="147">
                  <c:v>0.574563855</c:v>
                </c:pt>
                <c:pt idx="148">
                  <c:v>0.601863583</c:v>
                </c:pt>
                <c:pt idx="149">
                  <c:v>0.468466392</c:v>
                </c:pt>
                <c:pt idx="150">
                  <c:v>0.671919507</c:v>
                </c:pt>
                <c:pt idx="151">
                  <c:v>0.565819682</c:v>
                </c:pt>
                <c:pt idx="152">
                  <c:v>0.549497505</c:v>
                </c:pt>
                <c:pt idx="153">
                  <c:v>0.618968593</c:v>
                </c:pt>
                <c:pt idx="154">
                  <c:v>0.560851943</c:v>
                </c:pt>
                <c:pt idx="155">
                  <c:v>0.671549889</c:v>
                </c:pt>
                <c:pt idx="156">
                  <c:v>0.683182906</c:v>
                </c:pt>
                <c:pt idx="157">
                  <c:v>0.714223847</c:v>
                </c:pt>
                <c:pt idx="158">
                  <c:v>0.713589658</c:v>
                </c:pt>
                <c:pt idx="159">
                  <c:v>0.401735002</c:v>
                </c:pt>
                <c:pt idx="160">
                  <c:v>0.356486626</c:v>
                </c:pt>
                <c:pt idx="161">
                  <c:v>0.340568658</c:v>
                </c:pt>
                <c:pt idx="162">
                  <c:v>0.651032827</c:v>
                </c:pt>
                <c:pt idx="163">
                  <c:v>0.680726524</c:v>
                </c:pt>
                <c:pt idx="164">
                  <c:v>0.338148116</c:v>
                </c:pt>
                <c:pt idx="165">
                  <c:v>0.402074642</c:v>
                </c:pt>
                <c:pt idx="166">
                  <c:v>0.66850945</c:v>
                </c:pt>
                <c:pt idx="167">
                  <c:v>0.361298667</c:v>
                </c:pt>
                <c:pt idx="168">
                  <c:v>0.25</c:v>
                </c:pt>
                <c:pt idx="169">
                  <c:v>0.355169638</c:v>
                </c:pt>
                <c:pt idx="170">
                  <c:v>0.327868469</c:v>
                </c:pt>
                <c:pt idx="171">
                  <c:v>0.987356403</c:v>
                </c:pt>
                <c:pt idx="172">
                  <c:v>0.395767592</c:v>
                </c:pt>
                <c:pt idx="173">
                  <c:v>0.664279682</c:v>
                </c:pt>
                <c:pt idx="174">
                  <c:v>0.351229239</c:v>
                </c:pt>
                <c:pt idx="175">
                  <c:v>0.311418736</c:v>
                </c:pt>
                <c:pt idx="176">
                  <c:v>0.931683269</c:v>
                </c:pt>
                <c:pt idx="177">
                  <c:v>0.678568164</c:v>
                </c:pt>
                <c:pt idx="178">
                  <c:v>0.952655337</c:v>
                </c:pt>
                <c:pt idx="179">
                  <c:v>0.340251822</c:v>
                </c:pt>
                <c:pt idx="180">
                  <c:v>0.316056622</c:v>
                </c:pt>
                <c:pt idx="181">
                  <c:v>0.656550697</c:v>
                </c:pt>
                <c:pt idx="182">
                  <c:v>0.340480159</c:v>
                </c:pt>
                <c:pt idx="183">
                  <c:v>0.6828243</c:v>
                </c:pt>
                <c:pt idx="184">
                  <c:v>0.683813228</c:v>
                </c:pt>
                <c:pt idx="185">
                  <c:v>0.25</c:v>
                </c:pt>
                <c:pt idx="186">
                  <c:v>0.470232513</c:v>
                </c:pt>
                <c:pt idx="187">
                  <c:v>0.648465218</c:v>
                </c:pt>
                <c:pt idx="188">
                  <c:v>0.579078729</c:v>
                </c:pt>
                <c:pt idx="189">
                  <c:v>0.256925333</c:v>
                </c:pt>
                <c:pt idx="190">
                  <c:v>0.966908833</c:v>
                </c:pt>
                <c:pt idx="191">
                  <c:v>0.337586026</c:v>
                </c:pt>
                <c:pt idx="192">
                  <c:v>1.027395915</c:v>
                </c:pt>
                <c:pt idx="193">
                  <c:v>0.307982378</c:v>
                </c:pt>
                <c:pt idx="194">
                  <c:v>0.354312814</c:v>
                </c:pt>
                <c:pt idx="195">
                  <c:v>0.677197218</c:v>
                </c:pt>
                <c:pt idx="196">
                  <c:v>0.686178547</c:v>
                </c:pt>
                <c:pt idx="197">
                  <c:v>0.689345823</c:v>
                </c:pt>
                <c:pt idx="198">
                  <c:v>0.393689347</c:v>
                </c:pt>
                <c:pt idx="199">
                  <c:v>0.352813088</c:v>
                </c:pt>
                <c:pt idx="200">
                  <c:v>1.068361666</c:v>
                </c:pt>
                <c:pt idx="201">
                  <c:v>1.007822819</c:v>
                </c:pt>
                <c:pt idx="202">
                  <c:v>0.943810469</c:v>
                </c:pt>
                <c:pt idx="203">
                  <c:v>0.271383275</c:v>
                </c:pt>
                <c:pt idx="204">
                  <c:v>0.719058797</c:v>
                </c:pt>
                <c:pt idx="205">
                  <c:v>0.417471253</c:v>
                </c:pt>
                <c:pt idx="206">
                  <c:v>0.710534105</c:v>
                </c:pt>
                <c:pt idx="207">
                  <c:v>0.683284046</c:v>
                </c:pt>
                <c:pt idx="208">
                  <c:v>0.309993602</c:v>
                </c:pt>
                <c:pt idx="209">
                  <c:v>0.304843492</c:v>
                </c:pt>
                <c:pt idx="210">
                  <c:v>0.259391492</c:v>
                </c:pt>
                <c:pt idx="211">
                  <c:v>0.697707344</c:v>
                </c:pt>
                <c:pt idx="212">
                  <c:v>0.25</c:v>
                </c:pt>
                <c:pt idx="213">
                  <c:v>0.46512646</c:v>
                </c:pt>
                <c:pt idx="214">
                  <c:v>0.669954149</c:v>
                </c:pt>
                <c:pt idx="215">
                  <c:v>0.706532285</c:v>
                </c:pt>
                <c:pt idx="216">
                  <c:v>0.292014046</c:v>
                </c:pt>
                <c:pt idx="217">
                  <c:v>0.988388665</c:v>
                </c:pt>
                <c:pt idx="218">
                  <c:v>0.310616394</c:v>
                </c:pt>
                <c:pt idx="219">
                  <c:v>0.686891815</c:v>
                </c:pt>
                <c:pt idx="220">
                  <c:v>0.701146635</c:v>
                </c:pt>
                <c:pt idx="221">
                  <c:v>0.640829047</c:v>
                </c:pt>
                <c:pt idx="222">
                  <c:v>0.978697682</c:v>
                </c:pt>
                <c:pt idx="223">
                  <c:v>0.25</c:v>
                </c:pt>
                <c:pt idx="224">
                  <c:v>0.476960914</c:v>
                </c:pt>
                <c:pt idx="225">
                  <c:v>1.066212875</c:v>
                </c:pt>
                <c:pt idx="226">
                  <c:v>0.641947239</c:v>
                </c:pt>
                <c:pt idx="227">
                  <c:v>0.954032186</c:v>
                </c:pt>
                <c:pt idx="228">
                  <c:v>0.332637664</c:v>
                </c:pt>
                <c:pt idx="229">
                  <c:v>0.323532279</c:v>
                </c:pt>
                <c:pt idx="230">
                  <c:v>0.261029597</c:v>
                </c:pt>
                <c:pt idx="231">
                  <c:v>0.952648914</c:v>
                </c:pt>
                <c:pt idx="232">
                  <c:v>0.466481317</c:v>
                </c:pt>
                <c:pt idx="233">
                  <c:v>0.25</c:v>
                </c:pt>
                <c:pt idx="234">
                  <c:v>0.329423828</c:v>
                </c:pt>
                <c:pt idx="235">
                  <c:v>0.324951714</c:v>
                </c:pt>
                <c:pt idx="236">
                  <c:v>0.276433592</c:v>
                </c:pt>
                <c:pt idx="237">
                  <c:v>0.608819752</c:v>
                </c:pt>
                <c:pt idx="238">
                  <c:v>0.381800564</c:v>
                </c:pt>
                <c:pt idx="239">
                  <c:v>0.657918489</c:v>
                </c:pt>
                <c:pt idx="240">
                  <c:v>0.270604226</c:v>
                </c:pt>
                <c:pt idx="241">
                  <c:v>0.747138118</c:v>
                </c:pt>
                <c:pt idx="242">
                  <c:v>1.001540726</c:v>
                </c:pt>
                <c:pt idx="243">
                  <c:v>0.6736491</c:v>
                </c:pt>
                <c:pt idx="244">
                  <c:v>0.929382004</c:v>
                </c:pt>
                <c:pt idx="245">
                  <c:v>0.340546529</c:v>
                </c:pt>
                <c:pt idx="246">
                  <c:v>0.280741012</c:v>
                </c:pt>
                <c:pt idx="247">
                  <c:v>0.396095112</c:v>
                </c:pt>
                <c:pt idx="248">
                  <c:v>0.657048814</c:v>
                </c:pt>
                <c:pt idx="249">
                  <c:v>0.381584144</c:v>
                </c:pt>
                <c:pt idx="250">
                  <c:v>0.697177692</c:v>
                </c:pt>
                <c:pt idx="251">
                  <c:v>0.945352872</c:v>
                </c:pt>
                <c:pt idx="252">
                  <c:v>0.333066511</c:v>
                </c:pt>
                <c:pt idx="253">
                  <c:v>0.357329282</c:v>
                </c:pt>
                <c:pt idx="254">
                  <c:v>0.36842434</c:v>
                </c:pt>
                <c:pt idx="255">
                  <c:v>0.274114205</c:v>
                </c:pt>
                <c:pt idx="256">
                  <c:v>0.709744792</c:v>
                </c:pt>
                <c:pt idx="257">
                  <c:v>0.401873209</c:v>
                </c:pt>
                <c:pt idx="258">
                  <c:v>0.252435674</c:v>
                </c:pt>
                <c:pt idx="259">
                  <c:v>0.678776522</c:v>
                </c:pt>
                <c:pt idx="260">
                  <c:v>0.327054814</c:v>
                </c:pt>
                <c:pt idx="261">
                  <c:v>0.920871626</c:v>
                </c:pt>
                <c:pt idx="262">
                  <c:v>1.075598389</c:v>
                </c:pt>
                <c:pt idx="263">
                  <c:v>0.411793015</c:v>
                </c:pt>
                <c:pt idx="264">
                  <c:v>0.981116919</c:v>
                </c:pt>
                <c:pt idx="265">
                  <c:v>0.258396148</c:v>
                </c:pt>
                <c:pt idx="266">
                  <c:v>0.344867553</c:v>
                </c:pt>
                <c:pt idx="267">
                  <c:v>0.332390486</c:v>
                </c:pt>
                <c:pt idx="268">
                  <c:v>0.642006401</c:v>
                </c:pt>
                <c:pt idx="269">
                  <c:v>0.25</c:v>
                </c:pt>
                <c:pt idx="270">
                  <c:v>0.25</c:v>
                </c:pt>
                <c:pt idx="271">
                  <c:v>0.940526427</c:v>
                </c:pt>
                <c:pt idx="272">
                  <c:v>0.355755243</c:v>
                </c:pt>
                <c:pt idx="273">
                  <c:v>0.284964589</c:v>
                </c:pt>
                <c:pt idx="274">
                  <c:v>0.710825875</c:v>
                </c:pt>
                <c:pt idx="275">
                  <c:v>0.717074116</c:v>
                </c:pt>
                <c:pt idx="276">
                  <c:v>0.472310382</c:v>
                </c:pt>
                <c:pt idx="277">
                  <c:v>1.022051708</c:v>
                </c:pt>
                <c:pt idx="278">
                  <c:v>0.361059193</c:v>
                </c:pt>
                <c:pt idx="279">
                  <c:v>0.993845667</c:v>
                </c:pt>
                <c:pt idx="280">
                  <c:v>0.266987704</c:v>
                </c:pt>
                <c:pt idx="281">
                  <c:v>0.341108767</c:v>
                </c:pt>
                <c:pt idx="282">
                  <c:v>0.254699904</c:v>
                </c:pt>
                <c:pt idx="283">
                  <c:v>0.654953022</c:v>
                </c:pt>
                <c:pt idx="284">
                  <c:v>0.327049958</c:v>
                </c:pt>
                <c:pt idx="285">
                  <c:v>0.994349225</c:v>
                </c:pt>
                <c:pt idx="286">
                  <c:v>0.337298569</c:v>
                </c:pt>
                <c:pt idx="287">
                  <c:v>1.01476275</c:v>
                </c:pt>
                <c:pt idx="288">
                  <c:v>0.702536977</c:v>
                </c:pt>
                <c:pt idx="289">
                  <c:v>0.70765295</c:v>
                </c:pt>
                <c:pt idx="290">
                  <c:v>0.996218713</c:v>
                </c:pt>
                <c:pt idx="291">
                  <c:v>0.440502169</c:v>
                </c:pt>
                <c:pt idx="292">
                  <c:v>0.664870814</c:v>
                </c:pt>
                <c:pt idx="293">
                  <c:v>0.689353122</c:v>
                </c:pt>
                <c:pt idx="294">
                  <c:v>0.423363112</c:v>
                </c:pt>
                <c:pt idx="295">
                  <c:v>0.615169068</c:v>
                </c:pt>
                <c:pt idx="296">
                  <c:v>0.305633927</c:v>
                </c:pt>
                <c:pt idx="297">
                  <c:v>0.608036772</c:v>
                </c:pt>
                <c:pt idx="298">
                  <c:v>1.053129731</c:v>
                </c:pt>
                <c:pt idx="299">
                  <c:v>0.34785888</c:v>
                </c:pt>
                <c:pt idx="300">
                  <c:v>1.028608566</c:v>
                </c:pt>
                <c:pt idx="301">
                  <c:v>1.014606951</c:v>
                </c:pt>
                <c:pt idx="302">
                  <c:v>1.067673619</c:v>
                </c:pt>
                <c:pt idx="303">
                  <c:v>0.601114785</c:v>
                </c:pt>
                <c:pt idx="304">
                  <c:v>0.359853101</c:v>
                </c:pt>
                <c:pt idx="305">
                  <c:v>0.650340567</c:v>
                </c:pt>
                <c:pt idx="306">
                  <c:v>0.32494968</c:v>
                </c:pt>
                <c:pt idx="307">
                  <c:v>1.05981705</c:v>
                </c:pt>
                <c:pt idx="308">
                  <c:v>0.681688879</c:v>
                </c:pt>
                <c:pt idx="309">
                  <c:v>0.725929057</c:v>
                </c:pt>
                <c:pt idx="310">
                  <c:v>0.747801083</c:v>
                </c:pt>
                <c:pt idx="311">
                  <c:v>0.280348531</c:v>
                </c:pt>
                <c:pt idx="312">
                  <c:v>0.969601297</c:v>
                </c:pt>
                <c:pt idx="313">
                  <c:v>0.613670378</c:v>
                </c:pt>
                <c:pt idx="314">
                  <c:v>0.688767894</c:v>
                </c:pt>
                <c:pt idx="315">
                  <c:v>0.384642175</c:v>
                </c:pt>
                <c:pt idx="316">
                  <c:v>0.341625716</c:v>
                </c:pt>
                <c:pt idx="317">
                  <c:v>0.283875228</c:v>
                </c:pt>
                <c:pt idx="318">
                  <c:v>0.475659899</c:v>
                </c:pt>
                <c:pt idx="319">
                  <c:v>0.445478353</c:v>
                </c:pt>
                <c:pt idx="320">
                  <c:v>0.436769891</c:v>
                </c:pt>
                <c:pt idx="321">
                  <c:v>0.443957922</c:v>
                </c:pt>
                <c:pt idx="322">
                  <c:v>0.459439752</c:v>
                </c:pt>
                <c:pt idx="323">
                  <c:v>0.413661232</c:v>
                </c:pt>
                <c:pt idx="324">
                  <c:v>0.689890701</c:v>
                </c:pt>
                <c:pt idx="325">
                  <c:v>0.403715862</c:v>
                </c:pt>
                <c:pt idx="326">
                  <c:v>0.46534223</c:v>
                </c:pt>
                <c:pt idx="327">
                  <c:v>0.464459504</c:v>
                </c:pt>
                <c:pt idx="328">
                  <c:v>0.379075121</c:v>
                </c:pt>
                <c:pt idx="329">
                  <c:v>0.637533775</c:v>
                </c:pt>
                <c:pt idx="330">
                  <c:v>0.74024369</c:v>
                </c:pt>
                <c:pt idx="331">
                  <c:v>0.676376832</c:v>
                </c:pt>
                <c:pt idx="332">
                  <c:v>0.404468167</c:v>
                </c:pt>
                <c:pt idx="333">
                  <c:v>0.2</c:v>
                </c:pt>
                <c:pt idx="334">
                  <c:v>0.352253292</c:v>
                </c:pt>
                <c:pt idx="335">
                  <c:v>0.541005432</c:v>
                </c:pt>
                <c:pt idx="336">
                  <c:v>0.470116177</c:v>
                </c:pt>
                <c:pt idx="337">
                  <c:v>0.202678886</c:v>
                </c:pt>
                <c:pt idx="338">
                  <c:v>0.442857244</c:v>
                </c:pt>
                <c:pt idx="339">
                  <c:v>0.742489841</c:v>
                </c:pt>
                <c:pt idx="340">
                  <c:v>0.467464781</c:v>
                </c:pt>
                <c:pt idx="341">
                  <c:v>0.344803795</c:v>
                </c:pt>
                <c:pt idx="342">
                  <c:v>0.477074943</c:v>
                </c:pt>
                <c:pt idx="343">
                  <c:v>0.38963132</c:v>
                </c:pt>
                <c:pt idx="344">
                  <c:v>0.620584353</c:v>
                </c:pt>
                <c:pt idx="345">
                  <c:v>0.69425</c:v>
                </c:pt>
                <c:pt idx="346">
                  <c:v>0.650309112</c:v>
                </c:pt>
                <c:pt idx="347">
                  <c:v>0.652911346</c:v>
                </c:pt>
                <c:pt idx="348">
                  <c:v>0.470796601</c:v>
                </c:pt>
                <c:pt idx="349">
                  <c:v>0.521762765</c:v>
                </c:pt>
                <c:pt idx="350">
                  <c:v>0.470873331</c:v>
                </c:pt>
                <c:pt idx="351">
                  <c:v>0.62553036</c:v>
                </c:pt>
                <c:pt idx="352">
                  <c:v>0.397468485</c:v>
                </c:pt>
                <c:pt idx="353">
                  <c:v>0.64627493</c:v>
                </c:pt>
                <c:pt idx="354">
                  <c:v>0.33084521</c:v>
                </c:pt>
                <c:pt idx="355">
                  <c:v>0.459771255</c:v>
                </c:pt>
                <c:pt idx="356">
                  <c:v>0.601976163</c:v>
                </c:pt>
                <c:pt idx="357">
                  <c:v>0.399713916</c:v>
                </c:pt>
                <c:pt idx="358">
                  <c:v>0.390356614</c:v>
                </c:pt>
                <c:pt idx="359">
                  <c:v>0.631544683</c:v>
                </c:pt>
                <c:pt idx="360">
                  <c:v>0.649085507</c:v>
                </c:pt>
                <c:pt idx="361">
                  <c:v>0.400219462</c:v>
                </c:pt>
                <c:pt idx="362">
                  <c:v>0.491674809</c:v>
                </c:pt>
                <c:pt idx="363">
                  <c:v>0.641663964</c:v>
                </c:pt>
                <c:pt idx="364">
                  <c:v>0.384993133</c:v>
                </c:pt>
                <c:pt idx="365">
                  <c:v>0.387703286</c:v>
                </c:pt>
                <c:pt idx="366">
                  <c:v>0.473115387</c:v>
                </c:pt>
                <c:pt idx="367">
                  <c:v>0.393991529</c:v>
                </c:pt>
                <c:pt idx="368">
                  <c:v>0.599344482</c:v>
                </c:pt>
                <c:pt idx="369">
                  <c:v>0.394201241</c:v>
                </c:pt>
                <c:pt idx="370">
                  <c:v>0.602714689</c:v>
                </c:pt>
                <c:pt idx="371">
                  <c:v>0.344483884</c:v>
                </c:pt>
                <c:pt idx="372">
                  <c:v>0.674477011</c:v>
                </c:pt>
                <c:pt idx="373">
                  <c:v>0.618154632</c:v>
                </c:pt>
                <c:pt idx="374">
                  <c:v>0.389138094</c:v>
                </c:pt>
                <c:pt idx="375">
                  <c:v>0.459850526</c:v>
                </c:pt>
                <c:pt idx="376">
                  <c:v>0.735585769</c:v>
                </c:pt>
                <c:pt idx="377">
                  <c:v>0.600268505</c:v>
                </c:pt>
                <c:pt idx="378">
                  <c:v>0.399101855</c:v>
                </c:pt>
                <c:pt idx="379">
                  <c:v>0.443945982</c:v>
                </c:pt>
                <c:pt idx="380">
                  <c:v>0.392282253</c:v>
                </c:pt>
                <c:pt idx="381">
                  <c:v>0.392353313</c:v>
                </c:pt>
                <c:pt idx="382">
                  <c:v>0.642922856</c:v>
                </c:pt>
                <c:pt idx="383">
                  <c:v>0.650887774</c:v>
                </c:pt>
                <c:pt idx="384">
                  <c:v>0.733742531</c:v>
                </c:pt>
                <c:pt idx="385">
                  <c:v>0.609250156</c:v>
                </c:pt>
                <c:pt idx="386">
                  <c:v>0.603962169</c:v>
                </c:pt>
                <c:pt idx="387">
                  <c:v>0.3428941</c:v>
                </c:pt>
                <c:pt idx="388">
                  <c:v>0.452124451</c:v>
                </c:pt>
                <c:pt idx="389">
                  <c:v>0.662686701</c:v>
                </c:pt>
                <c:pt idx="390">
                  <c:v>0.6005656</c:v>
                </c:pt>
                <c:pt idx="391">
                  <c:v>0.442056064</c:v>
                </c:pt>
                <c:pt idx="392">
                  <c:v>0.641981478</c:v>
                </c:pt>
                <c:pt idx="393">
                  <c:v>0.654168344</c:v>
                </c:pt>
                <c:pt idx="394">
                  <c:v>0.409793499</c:v>
                </c:pt>
                <c:pt idx="395">
                  <c:v>0.596044323</c:v>
                </c:pt>
                <c:pt idx="396">
                  <c:v>0.448647865</c:v>
                </c:pt>
                <c:pt idx="397">
                  <c:v>0.39673469</c:v>
                </c:pt>
                <c:pt idx="398">
                  <c:v>0.748982821</c:v>
                </c:pt>
                <c:pt idx="399">
                  <c:v>0.349281708</c:v>
                </c:pt>
                <c:pt idx="400">
                  <c:v>0.616084942</c:v>
                </c:pt>
                <c:pt idx="401">
                  <c:v>0.536066744</c:v>
                </c:pt>
                <c:pt idx="402">
                  <c:v>0.73821572</c:v>
                </c:pt>
                <c:pt idx="403">
                  <c:v>0.446396401</c:v>
                </c:pt>
                <c:pt idx="404">
                  <c:v>0.69703251</c:v>
                </c:pt>
                <c:pt idx="405">
                  <c:v>0.479450759</c:v>
                </c:pt>
                <c:pt idx="406">
                  <c:v>0.452102564</c:v>
                </c:pt>
                <c:pt idx="407">
                  <c:v>0.395631317</c:v>
                </c:pt>
                <c:pt idx="408">
                  <c:v>0.338425525</c:v>
                </c:pt>
                <c:pt idx="409">
                  <c:v>0.528519924</c:v>
                </c:pt>
                <c:pt idx="410">
                  <c:v>0.474502488</c:v>
                </c:pt>
                <c:pt idx="411">
                  <c:v>0.603015125</c:v>
                </c:pt>
                <c:pt idx="412">
                  <c:v>0.436257363</c:v>
                </c:pt>
                <c:pt idx="413">
                  <c:v>0.220010857</c:v>
                </c:pt>
                <c:pt idx="414">
                  <c:v>0.59947431</c:v>
                </c:pt>
                <c:pt idx="415">
                  <c:v>0.343915472</c:v>
                </c:pt>
                <c:pt idx="416">
                  <c:v>0.626211095</c:v>
                </c:pt>
                <c:pt idx="417">
                  <c:v>0.343424492</c:v>
                </c:pt>
                <c:pt idx="418">
                  <c:v>0.649419742</c:v>
                </c:pt>
                <c:pt idx="419">
                  <c:v>0.698073022</c:v>
                </c:pt>
                <c:pt idx="420">
                  <c:v>0.528192324</c:v>
                </c:pt>
                <c:pt idx="421">
                  <c:v>0.457470022</c:v>
                </c:pt>
                <c:pt idx="422">
                  <c:v>0.612637499</c:v>
                </c:pt>
                <c:pt idx="423">
                  <c:v>0.47820449</c:v>
                </c:pt>
                <c:pt idx="424">
                  <c:v>0.623723925</c:v>
                </c:pt>
                <c:pt idx="425">
                  <c:v>0.635645953</c:v>
                </c:pt>
                <c:pt idx="426">
                  <c:v>0.398203021</c:v>
                </c:pt>
                <c:pt idx="427">
                  <c:v>0.337690288</c:v>
                </c:pt>
                <c:pt idx="428">
                  <c:v>0.650685364</c:v>
                </c:pt>
                <c:pt idx="429">
                  <c:v>0.344772802</c:v>
                </c:pt>
                <c:pt idx="430">
                  <c:v>0.467870949</c:v>
                </c:pt>
                <c:pt idx="431">
                  <c:v>0.354224038</c:v>
                </c:pt>
                <c:pt idx="432">
                  <c:v>0.620077381</c:v>
                </c:pt>
                <c:pt idx="433">
                  <c:v>0.461284489</c:v>
                </c:pt>
                <c:pt idx="434">
                  <c:v>0.39309901</c:v>
                </c:pt>
                <c:pt idx="435">
                  <c:v>0.601997094</c:v>
                </c:pt>
                <c:pt idx="436">
                  <c:v>0.640787664</c:v>
                </c:pt>
                <c:pt idx="437">
                  <c:v>0.466441135</c:v>
                </c:pt>
                <c:pt idx="438">
                  <c:v>0.602341739</c:v>
                </c:pt>
                <c:pt idx="439">
                  <c:v>0.674994856</c:v>
                </c:pt>
                <c:pt idx="440">
                  <c:v>0.601867468</c:v>
                </c:pt>
                <c:pt idx="441">
                  <c:v>0.4250324</c:v>
                </c:pt>
              </c:numCache>
            </c:numRef>
          </c:xVal>
          <c:yVal>
            <c:numRef>
              <c:f>'Chart Data'!$B$2:$B$443</c:f>
              <c:numCache>
                <c:formatCode>0.0</c:formatCode>
                <c:ptCount val="442"/>
                <c:pt idx="0">
                  <c:v>0.579989220459</c:v>
                </c:pt>
                <c:pt idx="1">
                  <c:v>0.517343098542</c:v>
                </c:pt>
                <c:pt idx="2">
                  <c:v>0.351453495572</c:v>
                </c:pt>
                <c:pt idx="3">
                  <c:v>0.464141960963</c:v>
                </c:pt>
                <c:pt idx="4">
                  <c:v>0.579989220459</c:v>
                </c:pt>
                <c:pt idx="5">
                  <c:v>0.465177640485</c:v>
                </c:pt>
                <c:pt idx="6">
                  <c:v>0.583002601472</c:v>
                </c:pt>
                <c:pt idx="7">
                  <c:v>0.495375381999</c:v>
                </c:pt>
                <c:pt idx="8">
                  <c:v>0.583002601472</c:v>
                </c:pt>
                <c:pt idx="9">
                  <c:v>0.657037417254</c:v>
                </c:pt>
                <c:pt idx="10">
                  <c:v>0.517343098542</c:v>
                </c:pt>
                <c:pt idx="11">
                  <c:v>0.465177640485</c:v>
                </c:pt>
                <c:pt idx="12">
                  <c:v>0.517387025561</c:v>
                </c:pt>
                <c:pt idx="13">
                  <c:v>0.517343098542</c:v>
                </c:pt>
                <c:pt idx="14">
                  <c:v>0.583002601472</c:v>
                </c:pt>
                <c:pt idx="15">
                  <c:v>0.361024363696</c:v>
                </c:pt>
                <c:pt idx="16">
                  <c:v>0.579989220459</c:v>
                </c:pt>
                <c:pt idx="17">
                  <c:v>0.583002601472</c:v>
                </c:pt>
                <c:pt idx="18">
                  <c:v>0.574730780496</c:v>
                </c:pt>
                <c:pt idx="19">
                  <c:v>0.507271854839</c:v>
                </c:pt>
                <c:pt idx="20">
                  <c:v>0.538628936</c:v>
                </c:pt>
                <c:pt idx="21">
                  <c:v>0.569471514379</c:v>
                </c:pt>
                <c:pt idx="22">
                  <c:v>0.522139120132</c:v>
                </c:pt>
                <c:pt idx="23">
                  <c:v>0.34814878376</c:v>
                </c:pt>
                <c:pt idx="24">
                  <c:v>0.475256109473</c:v>
                </c:pt>
                <c:pt idx="25">
                  <c:v>0.614037500261</c:v>
                </c:pt>
                <c:pt idx="26">
                  <c:v>0.592463403833</c:v>
                </c:pt>
                <c:pt idx="27">
                  <c:v>0.583593454722</c:v>
                </c:pt>
                <c:pt idx="28">
                  <c:v>0.558194899855</c:v>
                </c:pt>
                <c:pt idx="29">
                  <c:v>0.614816945826</c:v>
                </c:pt>
                <c:pt idx="30">
                  <c:v>0.541493326899</c:v>
                </c:pt>
                <c:pt idx="31">
                  <c:v>0.591877465741</c:v>
                </c:pt>
                <c:pt idx="32">
                  <c:v>0.646859864555</c:v>
                </c:pt>
                <c:pt idx="33">
                  <c:v>0.502377802513</c:v>
                </c:pt>
                <c:pt idx="34">
                  <c:v>0.614921267876</c:v>
                </c:pt>
                <c:pt idx="35">
                  <c:v>0.538795058696</c:v>
                </c:pt>
                <c:pt idx="36">
                  <c:v>0.505669864244</c:v>
                </c:pt>
                <c:pt idx="37">
                  <c:v>0.585432394158</c:v>
                </c:pt>
                <c:pt idx="38">
                  <c:v>0.502746005059</c:v>
                </c:pt>
                <c:pt idx="39">
                  <c:v>0.464565782214</c:v>
                </c:pt>
                <c:pt idx="40">
                  <c:v>0.577569344833</c:v>
                </c:pt>
                <c:pt idx="41">
                  <c:v>0.576896140386</c:v>
                </c:pt>
                <c:pt idx="42">
                  <c:v>0.380012261785</c:v>
                </c:pt>
                <c:pt idx="43">
                  <c:v>0.583930142119</c:v>
                </c:pt>
                <c:pt idx="44">
                  <c:v>0.374741173706</c:v>
                </c:pt>
                <c:pt idx="45">
                  <c:v>0.563311086707</c:v>
                </c:pt>
                <c:pt idx="46">
                  <c:v>0.570258316725</c:v>
                </c:pt>
                <c:pt idx="47">
                  <c:v>0.373437618075</c:v>
                </c:pt>
                <c:pt idx="48">
                  <c:v>0.587842874542</c:v>
                </c:pt>
                <c:pt idx="49">
                  <c:v>0.34522664437</c:v>
                </c:pt>
                <c:pt idx="50">
                  <c:v>0.62424545477</c:v>
                </c:pt>
                <c:pt idx="51">
                  <c:v>0.563319371466</c:v>
                </c:pt>
                <c:pt idx="52">
                  <c:v>0.563280523727</c:v>
                </c:pt>
                <c:pt idx="53">
                  <c:v>0.501433837475</c:v>
                </c:pt>
                <c:pt idx="54">
                  <c:v>0.352259691262</c:v>
                </c:pt>
                <c:pt idx="55">
                  <c:v>0.596160164139</c:v>
                </c:pt>
                <c:pt idx="56">
                  <c:v>0.559284984217</c:v>
                </c:pt>
                <c:pt idx="57">
                  <c:v>0.545557538995</c:v>
                </c:pt>
                <c:pt idx="58">
                  <c:v>0.593242116247</c:v>
                </c:pt>
                <c:pt idx="59">
                  <c:v>0.570129499926</c:v>
                </c:pt>
                <c:pt idx="60">
                  <c:v>0.541765222404</c:v>
                </c:pt>
                <c:pt idx="61">
                  <c:v>0.575647270488</c:v>
                </c:pt>
                <c:pt idx="62">
                  <c:v>0.515471270183</c:v>
                </c:pt>
                <c:pt idx="63">
                  <c:v>0.515897311157</c:v>
                </c:pt>
                <c:pt idx="64">
                  <c:v>0.570324989506</c:v>
                </c:pt>
                <c:pt idx="65">
                  <c:v>0.350447386704</c:v>
                </c:pt>
                <c:pt idx="66">
                  <c:v>0.548075436636</c:v>
                </c:pt>
                <c:pt idx="67">
                  <c:v>0.457198850656</c:v>
                </c:pt>
                <c:pt idx="68">
                  <c:v>0.565501291491</c:v>
                </c:pt>
                <c:pt idx="69">
                  <c:v>0.578051641983</c:v>
                </c:pt>
                <c:pt idx="70">
                  <c:v>0.51830192114</c:v>
                </c:pt>
                <c:pt idx="71">
                  <c:v>0.465583044206</c:v>
                </c:pt>
                <c:pt idx="72">
                  <c:v>0.34361596991</c:v>
                </c:pt>
                <c:pt idx="73">
                  <c:v>0.509767140823</c:v>
                </c:pt>
                <c:pt idx="74">
                  <c:v>0.611175415745</c:v>
                </c:pt>
                <c:pt idx="75">
                  <c:v>0.578095384323</c:v>
                </c:pt>
                <c:pt idx="76">
                  <c:v>0.537453335607</c:v>
                </c:pt>
                <c:pt idx="77">
                  <c:v>0.558266729937</c:v>
                </c:pt>
                <c:pt idx="78">
                  <c:v>0.596611610929</c:v>
                </c:pt>
                <c:pt idx="79">
                  <c:v>0.362309070487</c:v>
                </c:pt>
                <c:pt idx="80">
                  <c:v>0.505976524363</c:v>
                </c:pt>
                <c:pt idx="81">
                  <c:v>0.568852379063</c:v>
                </c:pt>
                <c:pt idx="82">
                  <c:v>0.527142304681</c:v>
                </c:pt>
                <c:pt idx="83">
                  <c:v>0.651556516338</c:v>
                </c:pt>
                <c:pt idx="84">
                  <c:v>0.543861143429</c:v>
                </c:pt>
                <c:pt idx="85">
                  <c:v>0.586792949811</c:v>
                </c:pt>
                <c:pt idx="86">
                  <c:v>0.515717493912</c:v>
                </c:pt>
                <c:pt idx="87">
                  <c:v>0.475621679728</c:v>
                </c:pt>
                <c:pt idx="88">
                  <c:v>0.503094532312</c:v>
                </c:pt>
                <c:pt idx="89">
                  <c:v>0.464857502709</c:v>
                </c:pt>
                <c:pt idx="90">
                  <c:v>0.462213994938</c:v>
                </c:pt>
                <c:pt idx="91">
                  <c:v>0.360717230351</c:v>
                </c:pt>
                <c:pt idx="92">
                  <c:v>0.523781787159</c:v>
                </c:pt>
                <c:pt idx="93">
                  <c:v>0.57476877915</c:v>
                </c:pt>
                <c:pt idx="94">
                  <c:v>0.578505068729</c:v>
                </c:pt>
                <c:pt idx="95">
                  <c:v>0.66456736765</c:v>
                </c:pt>
                <c:pt idx="96">
                  <c:v>0.519618536722</c:v>
                </c:pt>
                <c:pt idx="97">
                  <c:v>0.652002619868</c:v>
                </c:pt>
                <c:pt idx="98">
                  <c:v>0.459754734623</c:v>
                </c:pt>
                <c:pt idx="99">
                  <c:v>0.387102633353</c:v>
                </c:pt>
                <c:pt idx="100">
                  <c:v>0.354620938486</c:v>
                </c:pt>
                <c:pt idx="101">
                  <c:v>0.520155651317</c:v>
                </c:pt>
                <c:pt idx="102">
                  <c:v>0.629738467822</c:v>
                </c:pt>
                <c:pt idx="103">
                  <c:v>0.567603348253</c:v>
                </c:pt>
                <c:pt idx="104">
                  <c:v>0.665479999834</c:v>
                </c:pt>
                <c:pt idx="105">
                  <c:v>0.455538428963</c:v>
                </c:pt>
                <c:pt idx="106">
                  <c:v>0.633935966923</c:v>
                </c:pt>
                <c:pt idx="107">
                  <c:v>0.492568272281</c:v>
                </c:pt>
                <c:pt idx="108">
                  <c:v>0.395080219277</c:v>
                </c:pt>
                <c:pt idx="109">
                  <c:v>0.469802298541</c:v>
                </c:pt>
                <c:pt idx="110">
                  <c:v>0.568675563341</c:v>
                </c:pt>
                <c:pt idx="111">
                  <c:v>0.517110198715</c:v>
                </c:pt>
                <c:pt idx="112">
                  <c:v>0.51931961633</c:v>
                </c:pt>
                <c:pt idx="113">
                  <c:v>0.589892315197</c:v>
                </c:pt>
                <c:pt idx="114">
                  <c:v>0.365279812432</c:v>
                </c:pt>
                <c:pt idx="115">
                  <c:v>0.590696281943</c:v>
                </c:pt>
                <c:pt idx="116">
                  <c:v>0.537192917544</c:v>
                </c:pt>
                <c:pt idx="117">
                  <c:v>0.592663647248</c:v>
                </c:pt>
                <c:pt idx="118">
                  <c:v>0.615137860608</c:v>
                </c:pt>
                <c:pt idx="119">
                  <c:v>0.512013016945</c:v>
                </c:pt>
                <c:pt idx="120">
                  <c:v>0.557319229923</c:v>
                </c:pt>
                <c:pt idx="121">
                  <c:v>0.37574453242</c:v>
                </c:pt>
                <c:pt idx="122">
                  <c:v>0.578310173601</c:v>
                </c:pt>
                <c:pt idx="123">
                  <c:v>0.558328199422</c:v>
                </c:pt>
                <c:pt idx="124">
                  <c:v>0.515884399828</c:v>
                </c:pt>
                <c:pt idx="125">
                  <c:v>0.585299359802</c:v>
                </c:pt>
                <c:pt idx="126">
                  <c:v>0.509256710447</c:v>
                </c:pt>
                <c:pt idx="127">
                  <c:v>0.459963672942</c:v>
                </c:pt>
                <c:pt idx="128">
                  <c:v>0.372296997622</c:v>
                </c:pt>
                <c:pt idx="129">
                  <c:v>0.57800502906</c:v>
                </c:pt>
                <c:pt idx="130">
                  <c:v>0.551178360384</c:v>
                </c:pt>
                <c:pt idx="131">
                  <c:v>0.603131701689</c:v>
                </c:pt>
                <c:pt idx="132">
                  <c:v>0.612991654635</c:v>
                </c:pt>
                <c:pt idx="133">
                  <c:v>0.501603821421</c:v>
                </c:pt>
                <c:pt idx="134">
                  <c:v>0.465034877329</c:v>
                </c:pt>
                <c:pt idx="135">
                  <c:v>0.571941954698</c:v>
                </c:pt>
                <c:pt idx="136">
                  <c:v>0.516480861168</c:v>
                </c:pt>
                <c:pt idx="137">
                  <c:v>0.508656876064</c:v>
                </c:pt>
                <c:pt idx="138">
                  <c:v>0.375678569983</c:v>
                </c:pt>
                <c:pt idx="139">
                  <c:v>0.51560308951</c:v>
                </c:pt>
                <c:pt idx="140">
                  <c:v>0.511162176356</c:v>
                </c:pt>
                <c:pt idx="141">
                  <c:v>0.354416930492</c:v>
                </c:pt>
                <c:pt idx="142">
                  <c:v>0.599192359733</c:v>
                </c:pt>
                <c:pt idx="143">
                  <c:v>0.560187584324</c:v>
                </c:pt>
                <c:pt idx="144">
                  <c:v>0.519200135779</c:v>
                </c:pt>
                <c:pt idx="145">
                  <c:v>0.515090613789</c:v>
                </c:pt>
                <c:pt idx="146">
                  <c:v>0.47285370554</c:v>
                </c:pt>
                <c:pt idx="147">
                  <c:v>0.532619377662</c:v>
                </c:pt>
                <c:pt idx="148">
                  <c:v>0.602475015165</c:v>
                </c:pt>
                <c:pt idx="149">
                  <c:v>0.549219752899</c:v>
                </c:pt>
                <c:pt idx="150">
                  <c:v>0.662751866499</c:v>
                </c:pt>
                <c:pt idx="151">
                  <c:v>0.572162923023</c:v>
                </c:pt>
                <c:pt idx="152">
                  <c:v>0.549916524302</c:v>
                </c:pt>
                <c:pt idx="153">
                  <c:v>0.567660145513</c:v>
                </c:pt>
                <c:pt idx="154">
                  <c:v>0.562092200551</c:v>
                </c:pt>
                <c:pt idx="155">
                  <c:v>0.667387459266</c:v>
                </c:pt>
                <c:pt idx="156">
                  <c:v>0.686803707874</c:v>
                </c:pt>
                <c:pt idx="157">
                  <c:v>0.71171638873</c:v>
                </c:pt>
                <c:pt idx="158">
                  <c:v>0.722471951337</c:v>
                </c:pt>
                <c:pt idx="159">
                  <c:v>0.38011523797</c:v>
                </c:pt>
                <c:pt idx="160">
                  <c:v>0.379826417018</c:v>
                </c:pt>
                <c:pt idx="161">
                  <c:v>0.354533478919</c:v>
                </c:pt>
                <c:pt idx="162">
                  <c:v>0.656780700345</c:v>
                </c:pt>
                <c:pt idx="163">
                  <c:v>0.703908734497</c:v>
                </c:pt>
                <c:pt idx="164">
                  <c:v>0.347035296464</c:v>
                </c:pt>
                <c:pt idx="165">
                  <c:v>0.387627213088</c:v>
                </c:pt>
                <c:pt idx="166">
                  <c:v>0.675543605485</c:v>
                </c:pt>
                <c:pt idx="167">
                  <c:v>0.365178225774</c:v>
                </c:pt>
                <c:pt idx="168">
                  <c:v>0.25067889148</c:v>
                </c:pt>
                <c:pt idx="169">
                  <c:v>0.3833148098</c:v>
                </c:pt>
                <c:pt idx="170">
                  <c:v>0.315229485561</c:v>
                </c:pt>
                <c:pt idx="171">
                  <c:v>0.991541520141</c:v>
                </c:pt>
                <c:pt idx="172">
                  <c:v>0.38695842231</c:v>
                </c:pt>
                <c:pt idx="173">
                  <c:v>0.637430032507</c:v>
                </c:pt>
                <c:pt idx="174">
                  <c:v>0.337577247926</c:v>
                </c:pt>
                <c:pt idx="175">
                  <c:v>0.313610972915</c:v>
                </c:pt>
                <c:pt idx="176">
                  <c:v>0.945804356438</c:v>
                </c:pt>
                <c:pt idx="177">
                  <c:v>0.680411981273</c:v>
                </c:pt>
                <c:pt idx="178">
                  <c:v>0.965680458861</c:v>
                </c:pt>
                <c:pt idx="179">
                  <c:v>0.358228690634</c:v>
                </c:pt>
                <c:pt idx="180">
                  <c:v>0.330304288062</c:v>
                </c:pt>
                <c:pt idx="181">
                  <c:v>0.665202212332</c:v>
                </c:pt>
                <c:pt idx="182">
                  <c:v>0.339097378383</c:v>
                </c:pt>
                <c:pt idx="183">
                  <c:v>0.694480939</c:v>
                </c:pt>
                <c:pt idx="184">
                  <c:v>0.672763819255</c:v>
                </c:pt>
                <c:pt idx="185">
                  <c:v>0.253272381162</c:v>
                </c:pt>
                <c:pt idx="186">
                  <c:v>0.446913203087</c:v>
                </c:pt>
                <c:pt idx="187">
                  <c:v>0.648855807574</c:v>
                </c:pt>
                <c:pt idx="188">
                  <c:v>0.58285419099</c:v>
                </c:pt>
                <c:pt idx="189">
                  <c:v>0.30471979294</c:v>
                </c:pt>
                <c:pt idx="190">
                  <c:v>0.943559101003</c:v>
                </c:pt>
                <c:pt idx="191">
                  <c:v>0.36363858845</c:v>
                </c:pt>
                <c:pt idx="192">
                  <c:v>1.06193796682</c:v>
                </c:pt>
                <c:pt idx="193">
                  <c:v>0.323002090787</c:v>
                </c:pt>
                <c:pt idx="194">
                  <c:v>0.342278873628</c:v>
                </c:pt>
                <c:pt idx="195">
                  <c:v>0.675886435627</c:v>
                </c:pt>
                <c:pt idx="196">
                  <c:v>0.699139853234</c:v>
                </c:pt>
                <c:pt idx="197">
                  <c:v>0.69021333998</c:v>
                </c:pt>
                <c:pt idx="198">
                  <c:v>0.381718359682</c:v>
                </c:pt>
                <c:pt idx="199">
                  <c:v>0.38470865471</c:v>
                </c:pt>
                <c:pt idx="200">
                  <c:v>1.06296103617</c:v>
                </c:pt>
                <c:pt idx="201">
                  <c:v>1.01682822433</c:v>
                </c:pt>
                <c:pt idx="202">
                  <c:v>0.968075963213</c:v>
                </c:pt>
                <c:pt idx="203">
                  <c:v>0.274241982703</c:v>
                </c:pt>
                <c:pt idx="204">
                  <c:v>0.713373471512</c:v>
                </c:pt>
                <c:pt idx="205">
                  <c:v>0.426757775251</c:v>
                </c:pt>
                <c:pt idx="206">
                  <c:v>0.703729936702</c:v>
                </c:pt>
                <c:pt idx="207">
                  <c:v>0.675856725806</c:v>
                </c:pt>
                <c:pt idx="208">
                  <c:v>0.320716377272</c:v>
                </c:pt>
                <c:pt idx="209">
                  <c:v>0.279710717233</c:v>
                </c:pt>
                <c:pt idx="210">
                  <c:v>0.265930331835</c:v>
                </c:pt>
                <c:pt idx="211">
                  <c:v>0.695128920448</c:v>
                </c:pt>
                <c:pt idx="212">
                  <c:v>0.266867141806</c:v>
                </c:pt>
                <c:pt idx="213">
                  <c:v>0.443278976957</c:v>
                </c:pt>
                <c:pt idx="214">
                  <c:v>0.675748600607</c:v>
                </c:pt>
                <c:pt idx="215">
                  <c:v>0.713047586041</c:v>
                </c:pt>
                <c:pt idx="216">
                  <c:v>0.289249259603</c:v>
                </c:pt>
                <c:pt idx="217">
                  <c:v>0.980014694115</c:v>
                </c:pt>
                <c:pt idx="218">
                  <c:v>0.305917139222</c:v>
                </c:pt>
                <c:pt idx="219">
                  <c:v>0.683449791656</c:v>
                </c:pt>
                <c:pt idx="220">
                  <c:v>0.701062741226</c:v>
                </c:pt>
                <c:pt idx="221">
                  <c:v>0.646480329032</c:v>
                </c:pt>
                <c:pt idx="222">
                  <c:v>0.988782097082</c:v>
                </c:pt>
                <c:pt idx="223">
                  <c:v>0.250364616562</c:v>
                </c:pt>
                <c:pt idx="224">
                  <c:v>0.445674130446</c:v>
                </c:pt>
                <c:pt idx="225">
                  <c:v>1.03458660137</c:v>
                </c:pt>
                <c:pt idx="226">
                  <c:v>0.649078545694</c:v>
                </c:pt>
                <c:pt idx="227">
                  <c:v>0.95003067546</c:v>
                </c:pt>
                <c:pt idx="228">
                  <c:v>0.338691305364</c:v>
                </c:pt>
                <c:pt idx="229">
                  <c:v>0.315779420528</c:v>
                </c:pt>
                <c:pt idx="230">
                  <c:v>0.268447831555</c:v>
                </c:pt>
                <c:pt idx="231">
                  <c:v>0.965593678972</c:v>
                </c:pt>
                <c:pt idx="232">
                  <c:v>0.430831965699</c:v>
                </c:pt>
                <c:pt idx="233">
                  <c:v>0.252974750338</c:v>
                </c:pt>
                <c:pt idx="234">
                  <c:v>0.33050468824</c:v>
                </c:pt>
                <c:pt idx="235">
                  <c:v>0.319425813561</c:v>
                </c:pt>
                <c:pt idx="236">
                  <c:v>0.271485481856</c:v>
                </c:pt>
                <c:pt idx="237">
                  <c:v>0.606640663211</c:v>
                </c:pt>
                <c:pt idx="238">
                  <c:v>0.389598732453</c:v>
                </c:pt>
                <c:pt idx="239">
                  <c:v>0.662906378925</c:v>
                </c:pt>
                <c:pt idx="240">
                  <c:v>0.265210367011</c:v>
                </c:pt>
                <c:pt idx="241">
                  <c:v>0.746333456291</c:v>
                </c:pt>
                <c:pt idx="242">
                  <c:v>1.0089320757</c:v>
                </c:pt>
                <c:pt idx="243">
                  <c:v>0.674906652965</c:v>
                </c:pt>
                <c:pt idx="244">
                  <c:v>0.956741782242</c:v>
                </c:pt>
                <c:pt idx="245">
                  <c:v>0.331915429461</c:v>
                </c:pt>
                <c:pt idx="246">
                  <c:v>0.292176179473</c:v>
                </c:pt>
                <c:pt idx="247">
                  <c:v>0.401758685411</c:v>
                </c:pt>
                <c:pt idx="248">
                  <c:v>0.650940100407</c:v>
                </c:pt>
                <c:pt idx="249">
                  <c:v>0.383995298876</c:v>
                </c:pt>
                <c:pt idx="250">
                  <c:v>0.692965828351</c:v>
                </c:pt>
                <c:pt idx="251">
                  <c:v>0.966203555896</c:v>
                </c:pt>
                <c:pt idx="252">
                  <c:v>0.358937259816</c:v>
                </c:pt>
                <c:pt idx="253">
                  <c:v>0.345302643741</c:v>
                </c:pt>
                <c:pt idx="254">
                  <c:v>0.3860444091</c:v>
                </c:pt>
                <c:pt idx="255">
                  <c:v>0.268881620871</c:v>
                </c:pt>
                <c:pt idx="256">
                  <c:v>0.701043883326</c:v>
                </c:pt>
                <c:pt idx="257">
                  <c:v>0.390687359198</c:v>
                </c:pt>
                <c:pt idx="258">
                  <c:v>0.259799933682</c:v>
                </c:pt>
                <c:pt idx="259">
                  <c:v>0.682693084837</c:v>
                </c:pt>
                <c:pt idx="260">
                  <c:v>0.325409768583</c:v>
                </c:pt>
                <c:pt idx="261">
                  <c:v>0.952439484706</c:v>
                </c:pt>
                <c:pt idx="262">
                  <c:v>1.06615466695</c:v>
                </c:pt>
                <c:pt idx="263">
                  <c:v>0.379036312467</c:v>
                </c:pt>
                <c:pt idx="264">
                  <c:v>0.978055841749</c:v>
                </c:pt>
                <c:pt idx="265">
                  <c:v>0.271728659736</c:v>
                </c:pt>
                <c:pt idx="266">
                  <c:v>0.359879075299</c:v>
                </c:pt>
                <c:pt idx="267">
                  <c:v>0.332828401866</c:v>
                </c:pt>
                <c:pt idx="268">
                  <c:v>0.647510791722</c:v>
                </c:pt>
                <c:pt idx="269">
                  <c:v>0.251994142388</c:v>
                </c:pt>
                <c:pt idx="270">
                  <c:v>0.254142856021</c:v>
                </c:pt>
                <c:pt idx="271">
                  <c:v>0.957042245518</c:v>
                </c:pt>
                <c:pt idx="272">
                  <c:v>0.349097660933</c:v>
                </c:pt>
                <c:pt idx="273">
                  <c:v>0.277341382545</c:v>
                </c:pt>
                <c:pt idx="274">
                  <c:v>0.697861330126</c:v>
                </c:pt>
                <c:pt idx="275">
                  <c:v>0.705583577033</c:v>
                </c:pt>
                <c:pt idx="276">
                  <c:v>0.442197488106</c:v>
                </c:pt>
                <c:pt idx="277">
                  <c:v>1.02846125779</c:v>
                </c:pt>
                <c:pt idx="278">
                  <c:v>0.384854996817</c:v>
                </c:pt>
                <c:pt idx="279">
                  <c:v>0.955341946658</c:v>
                </c:pt>
                <c:pt idx="280">
                  <c:v>0.281902015675</c:v>
                </c:pt>
                <c:pt idx="281">
                  <c:v>0.331285056011</c:v>
                </c:pt>
                <c:pt idx="282">
                  <c:v>0.255912720548</c:v>
                </c:pt>
                <c:pt idx="283">
                  <c:v>0.661613288121</c:v>
                </c:pt>
                <c:pt idx="284">
                  <c:v>0.347823166872</c:v>
                </c:pt>
                <c:pt idx="285">
                  <c:v>0.988388404388</c:v>
                </c:pt>
                <c:pt idx="286">
                  <c:v>0.353810674167</c:v>
                </c:pt>
                <c:pt idx="287">
                  <c:v>0.958974650213</c:v>
                </c:pt>
                <c:pt idx="288">
                  <c:v>0.700532441522</c:v>
                </c:pt>
                <c:pt idx="289">
                  <c:v>0.705992408541</c:v>
                </c:pt>
                <c:pt idx="290">
                  <c:v>0.997371139121</c:v>
                </c:pt>
                <c:pt idx="291">
                  <c:v>0.439992425432</c:v>
                </c:pt>
                <c:pt idx="292">
                  <c:v>0.672083900509</c:v>
                </c:pt>
                <c:pt idx="293">
                  <c:v>0.694952026977</c:v>
                </c:pt>
                <c:pt idx="294">
                  <c:v>0.427845978133</c:v>
                </c:pt>
                <c:pt idx="295">
                  <c:v>0.614975875254</c:v>
                </c:pt>
                <c:pt idx="296">
                  <c:v>0.306158616645</c:v>
                </c:pt>
                <c:pt idx="297">
                  <c:v>0.641347133334</c:v>
                </c:pt>
                <c:pt idx="298">
                  <c:v>1.05756501824</c:v>
                </c:pt>
                <c:pt idx="299">
                  <c:v>0.352715126396</c:v>
                </c:pt>
                <c:pt idx="300">
                  <c:v>1.0178940864</c:v>
                </c:pt>
                <c:pt idx="301">
                  <c:v>0.993394505936</c:v>
                </c:pt>
                <c:pt idx="302">
                  <c:v>1.06675456976</c:v>
                </c:pt>
                <c:pt idx="303">
                  <c:v>0.605300981179</c:v>
                </c:pt>
                <c:pt idx="304">
                  <c:v>0.352306566332</c:v>
                </c:pt>
                <c:pt idx="305">
                  <c:v>0.649074953718</c:v>
                </c:pt>
                <c:pt idx="306">
                  <c:v>0.315933047491</c:v>
                </c:pt>
                <c:pt idx="307">
                  <c:v>1.06802498393</c:v>
                </c:pt>
                <c:pt idx="308">
                  <c:v>0.68559111593</c:v>
                </c:pt>
                <c:pt idx="309">
                  <c:v>0.716253338386</c:v>
                </c:pt>
                <c:pt idx="310">
                  <c:v>0.749429020052</c:v>
                </c:pt>
                <c:pt idx="311">
                  <c:v>0.260942797779</c:v>
                </c:pt>
                <c:pt idx="312">
                  <c:v>0.972587626214</c:v>
                </c:pt>
                <c:pt idx="313">
                  <c:v>0.606365223232</c:v>
                </c:pt>
                <c:pt idx="314">
                  <c:v>0.699211981979</c:v>
                </c:pt>
                <c:pt idx="315">
                  <c:v>0.382152577648</c:v>
                </c:pt>
                <c:pt idx="316">
                  <c:v>0.335126783162</c:v>
                </c:pt>
                <c:pt idx="317">
                  <c:v>0.279561820132</c:v>
                </c:pt>
                <c:pt idx="318">
                  <c:v>0.470603392917</c:v>
                </c:pt>
                <c:pt idx="319">
                  <c:v>0.423547617616</c:v>
                </c:pt>
                <c:pt idx="320">
                  <c:v>0.424763371848</c:v>
                </c:pt>
                <c:pt idx="321">
                  <c:v>0.444691457392</c:v>
                </c:pt>
                <c:pt idx="322">
                  <c:v>0.450481964351</c:v>
                </c:pt>
                <c:pt idx="323">
                  <c:v>0.406047511703</c:v>
                </c:pt>
                <c:pt idx="324">
                  <c:v>0.63765217695</c:v>
                </c:pt>
                <c:pt idx="325">
                  <c:v>0.398689197196</c:v>
                </c:pt>
                <c:pt idx="326">
                  <c:v>0.451186635844</c:v>
                </c:pt>
                <c:pt idx="327">
                  <c:v>0.4225639866</c:v>
                </c:pt>
                <c:pt idx="328">
                  <c:v>0.3783080014</c:v>
                </c:pt>
                <c:pt idx="329">
                  <c:v>0.640891716467</c:v>
                </c:pt>
                <c:pt idx="330">
                  <c:v>0.740990538827</c:v>
                </c:pt>
                <c:pt idx="331">
                  <c:v>0.666808499733</c:v>
                </c:pt>
                <c:pt idx="332">
                  <c:v>0.390528361528</c:v>
                </c:pt>
                <c:pt idx="333">
                  <c:v>0.207470521797</c:v>
                </c:pt>
                <c:pt idx="334">
                  <c:v>0.343487080557</c:v>
                </c:pt>
                <c:pt idx="335">
                  <c:v>0.556684801546</c:v>
                </c:pt>
                <c:pt idx="336">
                  <c:v>0.529496124986</c:v>
                </c:pt>
                <c:pt idx="337">
                  <c:v>0.358794968673</c:v>
                </c:pt>
                <c:pt idx="338">
                  <c:v>0.421373285712</c:v>
                </c:pt>
                <c:pt idx="339">
                  <c:v>0.742555799013</c:v>
                </c:pt>
                <c:pt idx="340">
                  <c:v>0.455279772698</c:v>
                </c:pt>
                <c:pt idx="341">
                  <c:v>0.337415970489</c:v>
                </c:pt>
                <c:pt idx="342">
                  <c:v>0.468876518597</c:v>
                </c:pt>
                <c:pt idx="343">
                  <c:v>0.395602692249</c:v>
                </c:pt>
                <c:pt idx="344">
                  <c:v>0.61971103177</c:v>
                </c:pt>
                <c:pt idx="345">
                  <c:v>0.700589580346</c:v>
                </c:pt>
                <c:pt idx="346">
                  <c:v>0.647506051706</c:v>
                </c:pt>
                <c:pt idx="347">
                  <c:v>0.627335468726</c:v>
                </c:pt>
                <c:pt idx="348">
                  <c:v>0.463530272339</c:v>
                </c:pt>
                <c:pt idx="349">
                  <c:v>0.565474937734</c:v>
                </c:pt>
                <c:pt idx="350">
                  <c:v>0.455314077067</c:v>
                </c:pt>
                <c:pt idx="351">
                  <c:v>0.531660428077</c:v>
                </c:pt>
                <c:pt idx="352">
                  <c:v>0.395608813081</c:v>
                </c:pt>
                <c:pt idx="353">
                  <c:v>0.638440535717</c:v>
                </c:pt>
                <c:pt idx="354">
                  <c:v>0.350872306351</c:v>
                </c:pt>
                <c:pt idx="355">
                  <c:v>0.470825365658</c:v>
                </c:pt>
                <c:pt idx="356">
                  <c:v>0.580233731611</c:v>
                </c:pt>
                <c:pt idx="357">
                  <c:v>0.400535119735</c:v>
                </c:pt>
                <c:pt idx="358">
                  <c:v>0.38969161619</c:v>
                </c:pt>
                <c:pt idx="359">
                  <c:v>0.624152844364</c:v>
                </c:pt>
                <c:pt idx="360">
                  <c:v>0.642973414167</c:v>
                </c:pt>
                <c:pt idx="361">
                  <c:v>0.416016294137</c:v>
                </c:pt>
                <c:pt idx="362">
                  <c:v>0.615752820614</c:v>
                </c:pt>
                <c:pt idx="363">
                  <c:v>0.640326018853</c:v>
                </c:pt>
                <c:pt idx="364">
                  <c:v>0.392598857769</c:v>
                </c:pt>
                <c:pt idx="365">
                  <c:v>0.386784279959</c:v>
                </c:pt>
                <c:pt idx="366">
                  <c:v>0.458345461151</c:v>
                </c:pt>
                <c:pt idx="367">
                  <c:v>0.391915828108</c:v>
                </c:pt>
                <c:pt idx="368">
                  <c:v>0.564736217149</c:v>
                </c:pt>
                <c:pt idx="369">
                  <c:v>0.401588125551</c:v>
                </c:pt>
                <c:pt idx="370">
                  <c:v>0.424643706089</c:v>
                </c:pt>
                <c:pt idx="371">
                  <c:v>0.358084233368</c:v>
                </c:pt>
                <c:pt idx="372">
                  <c:v>0.639546138547</c:v>
                </c:pt>
                <c:pt idx="373">
                  <c:v>0.614247315366</c:v>
                </c:pt>
                <c:pt idx="374">
                  <c:v>0.371090438004</c:v>
                </c:pt>
                <c:pt idx="375">
                  <c:v>0.455473811542</c:v>
                </c:pt>
                <c:pt idx="376">
                  <c:v>0.710643615223</c:v>
                </c:pt>
                <c:pt idx="377">
                  <c:v>0.569953280835</c:v>
                </c:pt>
                <c:pt idx="378">
                  <c:v>0.387595425392</c:v>
                </c:pt>
                <c:pt idx="379">
                  <c:v>0.420438644949</c:v>
                </c:pt>
                <c:pt idx="380">
                  <c:v>0.396933203255</c:v>
                </c:pt>
                <c:pt idx="381">
                  <c:v>0.383705783822</c:v>
                </c:pt>
                <c:pt idx="382">
                  <c:v>0.638346965062</c:v>
                </c:pt>
                <c:pt idx="383">
                  <c:v>0.634864491801</c:v>
                </c:pt>
                <c:pt idx="384">
                  <c:v>0.735773616689</c:v>
                </c:pt>
                <c:pt idx="385">
                  <c:v>0.59661062287</c:v>
                </c:pt>
                <c:pt idx="386">
                  <c:v>0.575103707256</c:v>
                </c:pt>
                <c:pt idx="387">
                  <c:v>0.371311321614</c:v>
                </c:pt>
                <c:pt idx="388">
                  <c:v>0.462936683087</c:v>
                </c:pt>
                <c:pt idx="389">
                  <c:v>0.643557687334</c:v>
                </c:pt>
                <c:pt idx="390">
                  <c:v>0.554268825152</c:v>
                </c:pt>
                <c:pt idx="391">
                  <c:v>0.409195706056</c:v>
                </c:pt>
                <c:pt idx="392">
                  <c:v>0.628940377495</c:v>
                </c:pt>
                <c:pt idx="393">
                  <c:v>0.642594514824</c:v>
                </c:pt>
                <c:pt idx="394">
                  <c:v>0.441445704483</c:v>
                </c:pt>
                <c:pt idx="395">
                  <c:v>0.598026107597</c:v>
                </c:pt>
                <c:pt idx="396">
                  <c:v>0.420691321065</c:v>
                </c:pt>
                <c:pt idx="397">
                  <c:v>0.413520009994</c:v>
                </c:pt>
                <c:pt idx="398">
                  <c:v>0.775016168793</c:v>
                </c:pt>
                <c:pt idx="399">
                  <c:v>0.337959617976</c:v>
                </c:pt>
                <c:pt idx="400">
                  <c:v>0.616352045253</c:v>
                </c:pt>
                <c:pt idx="401">
                  <c:v>0.569886549644</c:v>
                </c:pt>
                <c:pt idx="402">
                  <c:v>0.73458935373</c:v>
                </c:pt>
                <c:pt idx="403">
                  <c:v>0.425732186892</c:v>
                </c:pt>
                <c:pt idx="404">
                  <c:v>0.694090882733</c:v>
                </c:pt>
                <c:pt idx="405">
                  <c:v>0.4196126096</c:v>
                </c:pt>
                <c:pt idx="406">
                  <c:v>0.434660234582</c:v>
                </c:pt>
                <c:pt idx="407">
                  <c:v>0.386731421968</c:v>
                </c:pt>
                <c:pt idx="408">
                  <c:v>0.354670564305</c:v>
                </c:pt>
                <c:pt idx="409">
                  <c:v>0.549635152026</c:v>
                </c:pt>
                <c:pt idx="410">
                  <c:v>0.416343075766</c:v>
                </c:pt>
                <c:pt idx="411">
                  <c:v>0.560529055044</c:v>
                </c:pt>
                <c:pt idx="412">
                  <c:v>0.413893716415</c:v>
                </c:pt>
                <c:pt idx="413">
                  <c:v>0.277148831021</c:v>
                </c:pt>
                <c:pt idx="414">
                  <c:v>0.593891128257</c:v>
                </c:pt>
                <c:pt idx="415">
                  <c:v>0.341554361435</c:v>
                </c:pt>
                <c:pt idx="416">
                  <c:v>0.627410822314</c:v>
                </c:pt>
                <c:pt idx="417">
                  <c:v>0.34036828193</c:v>
                </c:pt>
                <c:pt idx="418">
                  <c:v>0.632990088869</c:v>
                </c:pt>
                <c:pt idx="419">
                  <c:v>0.70184486825</c:v>
                </c:pt>
                <c:pt idx="420">
                  <c:v>0.563238732998</c:v>
                </c:pt>
                <c:pt idx="421">
                  <c:v>0.398075060382</c:v>
                </c:pt>
                <c:pt idx="422">
                  <c:v>0.602179516355</c:v>
                </c:pt>
                <c:pt idx="423">
                  <c:v>0.502794633466</c:v>
                </c:pt>
                <c:pt idx="424">
                  <c:v>0.533498664653</c:v>
                </c:pt>
                <c:pt idx="425">
                  <c:v>0.553800289041</c:v>
                </c:pt>
                <c:pt idx="426">
                  <c:v>0.398327593939</c:v>
                </c:pt>
                <c:pt idx="427">
                  <c:v>0.343593780404</c:v>
                </c:pt>
                <c:pt idx="428">
                  <c:v>0.646518908568</c:v>
                </c:pt>
                <c:pt idx="429">
                  <c:v>0.369147487697</c:v>
                </c:pt>
                <c:pt idx="430">
                  <c:v>0.457971612175</c:v>
                </c:pt>
                <c:pt idx="431">
                  <c:v>0.356276214516</c:v>
                </c:pt>
                <c:pt idx="432">
                  <c:v>0.637938849221</c:v>
                </c:pt>
                <c:pt idx="433">
                  <c:v>0.459011183031</c:v>
                </c:pt>
                <c:pt idx="434">
                  <c:v>0.389557136118</c:v>
                </c:pt>
                <c:pt idx="435">
                  <c:v>0.571442615994</c:v>
                </c:pt>
                <c:pt idx="436">
                  <c:v>0.638851257887</c:v>
                </c:pt>
                <c:pt idx="437">
                  <c:v>0.456577820038</c:v>
                </c:pt>
                <c:pt idx="438">
                  <c:v>0.601403034204</c:v>
                </c:pt>
                <c:pt idx="439">
                  <c:v>0.668564070408</c:v>
                </c:pt>
                <c:pt idx="440">
                  <c:v>0.629102129893</c:v>
                </c:pt>
                <c:pt idx="441">
                  <c:v>0.422944868315</c:v>
                </c:pt>
              </c:numCache>
            </c:numRef>
          </c:yVal>
        </c:ser>
        <c:ser>
          <c:idx val="1"/>
          <c:order val="1"/>
          <c:tx>
            <c:v>Ideal prediction</c:v>
          </c:tx>
          <c:spPr>
            <a:ln xmlns:a="http://schemas.openxmlformats.org/drawingml/2006/main" w="9525">
              <a:solidFill>
                <a:srgbClr val="65717B"/>
              </a:solidFill>
            </a:ln>
          </c:spPr>
          <c:marker>
            <c:symbol val="none"/>
          </c:marker>
          <c:xVal>
            <c:numRef>
              <c:f>'Chart Data'!$C$2:$C$3</c:f>
              <c:numCache>
                <c:formatCode>General</c:formatCode>
                <c:ptCount val="2"/>
                <c:pt idx="0">
                  <c:v>0.15</c:v>
                </c:pt>
                <c:pt idx="1">
                  <c:v>1.15</c:v>
                </c:pt>
              </c:numCache>
            </c:numRef>
          </c:xVal>
          <c:yVal>
            <c:numRef>
              <c:f>'Chart Data'!$D$2:$D$3</c:f>
              <c:numCache>
                <c:formatCode>0.0</c:formatCode>
                <c:ptCount val="2"/>
                <c:pt idx="0">
                  <c:v>0.15</c:v>
                </c:pt>
                <c:pt idx="1">
                  <c:v>1.15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15"/>
          <c:min val="0.15"/>
        </c:scaling>
        <c:delete val="0"/>
        <c:axPos val="l"/>
        <c:majorGridlines>
          <c:spPr>
            <a:ln xmlns:a="http://schemas.openxmlformats.org/drawingml/2006/main" w="4763">
              <a:solidFill>
                <a:srgbClr val="E6EAEE"/>
              </a:solidFill>
            </a:ln>
          </c:spPr>
        </c:majorGridlines>
        <c:title>
          <c:tx>
            <c:rich>
              <a:bodyPr xmlns:a="http://schemas.openxmlformats.org/drawingml/2006/main"/>
              <a:lstStyle xmlns:a="http://schemas.openxmlformats.org/drawingml/2006/main"/>
              <a:p xmlns:a="http://schemas.openxmlformats.org/drawingml/2006/main">
                <a:r>
                  <a:rPr sz="1200">
                    <a:solidFill>
                      <a:srgbClr val="263645"/>
                    </a:solidFill>
                    <a:latin typeface="Arial"/>
                    <a:ea typeface="Arial"/>
                    <a:cs typeface="Arial"/>
                  </a:rPr>
                  <a:t>Predicted bonded thickness (nm)</a:t>
                </a:r>
              </a:p>
            </c:rich>
          </c:tx>
          <c:overlay val="0"/>
          <c:txPr>
            <a:bodyPr xmlns:a="http://schemas.openxmlformats.org/drawingml/2006/main" anchorCtr="1"/>
            <a:lstStyle xmlns:a="http://schemas.openxmlformats.org/drawingml/2006/main"/>
            <a:p xmlns:a="http://schemas.openxmlformats.org/drawingml/2006/main">
              <a:pPr>
                <a:defRPr sz="1200">
                  <a:solidFill>
                    <a:srgbClr val="263645"/>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5717B"/>
                </a:solidFill>
                <a:latin typeface="Arial"/>
                <a:ea typeface="Arial"/>
                <a:cs typeface="Arial"/>
              </a:defRPr>
            </a:pPr>
          </a:p>
        </c:txPr>
        <c:crossAx val="48650112"/>
      </c:valAx>
      <c:valAx>
        <c:axId val="48650112"/>
        <c:scaling>
          <c:orientation val="minMax"/>
          <c:max val="1.15"/>
          <c:min val="0.15"/>
        </c:scaling>
        <c:delete val="0"/>
        <c:axPos val="b"/>
        <c:majorGridlines>
          <c:spPr>
            <a:ln xmlns:a="http://schemas.openxmlformats.org/drawingml/2006/main" w="4763">
              <a:solidFill>
                <a:srgbClr val="E6EAEE"/>
              </a:solidFill>
            </a:ln>
          </c:spPr>
        </c:majorGridlines>
        <c:title>
          <c:tx>
            <c:rich>
              <a:bodyPr xmlns:a="http://schemas.openxmlformats.org/drawingml/2006/main"/>
              <a:lstStyle xmlns:a="http://schemas.openxmlformats.org/drawingml/2006/main"/>
              <a:p xmlns:a="http://schemas.openxmlformats.org/drawingml/2006/main">
                <a:r>
                  <a:rPr sz="1200">
                    <a:solidFill>
                      <a:srgbClr val="263645"/>
                    </a:solidFill>
                    <a:latin typeface="Arial"/>
                    <a:ea typeface="Arial"/>
                    <a:cs typeface="Arial"/>
                  </a:rPr>
                  <a:t>Observed bonded thickness (nm)</a:t>
                </a:r>
              </a:p>
            </c:rich>
          </c:tx>
          <c:overlay val="0"/>
          <c:txPr>
            <a:bodyPr xmlns:a="http://schemas.openxmlformats.org/drawingml/2006/main" anchorCtr="1"/>
            <a:lstStyle xmlns:a="http://schemas.openxmlformats.org/drawingml/2006/main"/>
            <a:p xmlns:a="http://schemas.openxmlformats.org/drawingml/2006/main">
              <a:pPr>
                <a:defRPr sz="1200">
                  <a:solidFill>
                    <a:srgbClr val="263645"/>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5717B"/>
                </a:solidFill>
                <a:latin typeface="Arial"/>
                <a:ea typeface="Arial"/>
                <a:cs typeface="Arial"/>
              </a:defRPr>
            </a:pPr>
          </a:p>
        </c:txPr>
        <c:crossAx val="48672768"/>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75" b="1">
                <a:solidFill>
                  <a:srgbClr val="002B5E"/>
                </a:solidFill>
                <a:latin typeface="Arial"/>
                <a:ea typeface="Arial"/>
                <a:cs typeface="Arial"/>
              </a:rPr>
              <a:t>Training rows with negative concentration partial derivative</a:t>
            </a:r>
          </a:p>
        </c:rich>
      </c:tx>
      <c:overlay val="0"/>
      <c:txPr>
        <a:bodyPr xmlns:a="http://schemas.openxmlformats.org/drawingml/2006/main" anchorCtr="1"/>
        <a:lstStyle xmlns:a="http://schemas.openxmlformats.org/drawingml/2006/main"/>
        <a:p xmlns:a="http://schemas.openxmlformats.org/drawingml/2006/main">
          <a:pPr>
            <a:defRPr sz="1275" b="1">
              <a:solidFill>
                <a:srgbClr val="002B5E"/>
              </a:solidFill>
              <a:latin typeface="Arial"/>
              <a:ea typeface="Arial"/>
              <a:cs typeface="Arial"/>
            </a:defRPr>
          </a:pPr>
        </a:p>
      </c:txPr>
    </c:title>
    <c:plotArea>
      <c:barChart>
        <c:barDir val="col"/>
        <c:grouping val="clustered"/>
        <c:varyColors val="0"/>
        <c:ser>
          <c:idx val="0"/>
          <c:order val="0"/>
          <c:tx>
            <c:v>Default</c:v>
          </c:tx>
          <c:spPr>
            <a:solidFill xmlns:a="http://schemas.openxmlformats.org/drawingml/2006/main">
              <a:srgbClr val="6F8FAE"/>
            </a:solidFill>
          </c:spPr>
          <c:invertIfNegative val="0"/>
          <c:cat>
            <c:strRef>
              <c:f>'Chart Data'!$A$2:$A$5</c:f>
              <c:strCache>
                <c:ptCount val="4"/>
                <c:pt idx="0">
                  <c:v>Pooled</c:v>
                </c:pt>
                <c:pt idx="1">
                  <c:v>0.377 cP</c:v>
                </c:pt>
                <c:pt idx="2">
                  <c:v>0.423 cP</c:v>
                </c:pt>
                <c:pt idx="3">
                  <c:v>0.68 cP</c:v>
                </c:pt>
              </c:strCache>
            </c:strRef>
          </c:cat>
          <c:val>
            <c:numRef>
              <c:f>'Chart Data'!$B$2:$B$5</c:f>
              <c:numCache>
                <c:formatCode>0%</c:formatCode>
                <c:ptCount val="4"/>
                <c:pt idx="0">
                  <c:v>0.434405308831</c:v>
                </c:pt>
                <c:pt idx="1">
                  <c:v>0.86553030303</c:v>
                </c:pt>
                <c:pt idx="2">
                  <c:v>0.231689088191</c:v>
                </c:pt>
                <c:pt idx="3">
                  <c:v>0.313648293963</c:v>
                </c:pt>
              </c:numCache>
            </c:numRef>
          </c:val>
        </c:ser>
        <c:ser>
          <c:idx val="1"/>
          <c:order val="1"/>
          <c:tx>
            <c:v>Concentration penalty</c:v>
          </c:tx>
          <c:spPr>
            <a:solidFill xmlns:a="http://schemas.openxmlformats.org/drawingml/2006/main">
              <a:srgbClr val="B49A45"/>
            </a:solidFill>
          </c:spPr>
          <c:invertIfNegative val="0"/>
          <c:cat>
            <c:strRef>
              <c:f>'Chart Data'!$C$2:$C$5</c:f>
              <c:strCache>
                <c:ptCount val="4"/>
                <c:pt idx="0">
                  <c:v>Pooled</c:v>
                </c:pt>
                <c:pt idx="1">
                  <c:v>0.377 cP</c:v>
                </c:pt>
                <c:pt idx="2">
                  <c:v>0.423 cP</c:v>
                </c:pt>
                <c:pt idx="3">
                  <c:v>0.68 cP</c:v>
                </c:pt>
              </c:strCache>
            </c:strRef>
          </c:cat>
          <c:val>
            <c:numRef>
              <c:f>'Chart Data'!$D$2:$D$5</c:f>
              <c:numCache>
                <c:formatCode>0%</c:formatCode>
                <c:ptCount val="4"/>
                <c:pt idx="0">
                  <c:v>0.409903011741</c:v>
                </c:pt>
                <c:pt idx="1">
                  <c:v>0.823863636364</c:v>
                </c:pt>
                <c:pt idx="2">
                  <c:v>0.206278026906</c:v>
                </c:pt>
                <c:pt idx="3">
                  <c:v>0.301837270341</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5717B"/>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4763">
              <a:solidFill>
                <a:srgbClr val="E3E8ED"/>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5717B"/>
                </a:solidFill>
                <a:latin typeface="Arial"/>
                <a:ea typeface="Arial"/>
                <a:cs typeface="Arial"/>
              </a:defRPr>
            </a:pPr>
          </a:p>
        </c:txPr>
        <c:crossAx val="48650112"/>
        <c:crossBetween val="between"/>
      </c:valAx>
    </c:plotArea>
    <c:legend>
      <c:legendPos val="t"/>
      <c:overlay val="0"/>
      <c:txPr>
        <a:bodyPr xmlns:a="http://schemas.openxmlformats.org/drawingml/2006/main" anchorCtr="1"/>
        <a:lstStyle xmlns:a="http://schemas.openxmlformats.org/drawingml/2006/main"/>
        <a:p xmlns:a="http://schemas.openxmlformats.org/drawingml/2006/main">
          <a:pPr>
            <a:defRPr sz="1125">
              <a:solidFill>
                <a:srgbClr val="263645"/>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b="1">
                <a:solidFill>
                  <a:srgbClr val="002B5E"/>
                </a:solidFill>
                <a:latin typeface="Arial"/>
                <a:ea typeface="Arial"/>
                <a:cs typeface="Arial"/>
              </a:rPr>
              <a:t>Measured PINN</a:t>
            </a:r>
          </a:p>
        </c:rich>
      </c:tx>
      <c:overlay val="0"/>
      <c:txPr>
        <a:bodyPr xmlns:a="http://schemas.openxmlformats.org/drawingml/2006/main" anchorCtr="1"/>
        <a:lstStyle xmlns:a="http://schemas.openxmlformats.org/drawingml/2006/main"/>
        <a:p xmlns:a="http://schemas.openxmlformats.org/drawingml/2006/main">
          <a:pPr>
            <a:defRPr sz="1350" b="1">
              <a:solidFill>
                <a:srgbClr val="002B5E"/>
              </a:solidFill>
              <a:latin typeface="Arial"/>
              <a:ea typeface="Arial"/>
              <a:cs typeface="Arial"/>
            </a:defRPr>
          </a:pPr>
        </a:p>
      </c:txPr>
    </c:title>
    <c:plotArea>
      <c:scatterChart>
        <c:scatterStyle val="line"/>
        <c:varyColors val="0"/>
        <c:ser>
          <c:idx val="0"/>
          <c:order val="0"/>
          <c:tx>
            <c:v>Training data loss</c:v>
          </c:tx>
          <c:spPr>
            <a:ln xmlns:a="http://schemas.openxmlformats.org/drawingml/2006/main" w="19050">
              <a:solidFill>
                <a:srgbClr val="6F8FAE"/>
              </a:solidFill>
            </a:ln>
          </c:spPr>
          <c:marker>
            <c:symbol val="none"/>
          </c:marker>
          <c:xVal>
            <c:numRef>
              <c:f>'Chart Data'!$A$2:$A$47</c:f>
              <c:numCache>
                <c:formatCode>General</c:formatCode>
                <c:ptCount val="46"/>
                <c:pt idx="0">
                  <c:v>1</c:v>
                </c:pt>
                <c:pt idx="1">
                  <c:v>6</c:v>
                </c:pt>
                <c:pt idx="2">
                  <c:v>11</c:v>
                </c:pt>
                <c:pt idx="3">
                  <c:v>16</c:v>
                </c:pt>
                <c:pt idx="4">
                  <c:v>21</c:v>
                </c:pt>
                <c:pt idx="5">
                  <c:v>26</c:v>
                </c:pt>
                <c:pt idx="6">
                  <c:v>31</c:v>
                </c:pt>
                <c:pt idx="7">
                  <c:v>36</c:v>
                </c:pt>
                <c:pt idx="8">
                  <c:v>41</c:v>
                </c:pt>
                <c:pt idx="9">
                  <c:v>46</c:v>
                </c:pt>
                <c:pt idx="10">
                  <c:v>51</c:v>
                </c:pt>
                <c:pt idx="11">
                  <c:v>56</c:v>
                </c:pt>
                <c:pt idx="12">
                  <c:v>61</c:v>
                </c:pt>
                <c:pt idx="13">
                  <c:v>66</c:v>
                </c:pt>
                <c:pt idx="14">
                  <c:v>71</c:v>
                </c:pt>
                <c:pt idx="15">
                  <c:v>76</c:v>
                </c:pt>
                <c:pt idx="16">
                  <c:v>81</c:v>
                </c:pt>
                <c:pt idx="17">
                  <c:v>86</c:v>
                </c:pt>
                <c:pt idx="18">
                  <c:v>91</c:v>
                </c:pt>
                <c:pt idx="19">
                  <c:v>96</c:v>
                </c:pt>
                <c:pt idx="20">
                  <c:v>101</c:v>
                </c:pt>
                <c:pt idx="21">
                  <c:v>106</c:v>
                </c:pt>
                <c:pt idx="22">
                  <c:v>111</c:v>
                </c:pt>
                <c:pt idx="23">
                  <c:v>116</c:v>
                </c:pt>
                <c:pt idx="24">
                  <c:v>121</c:v>
                </c:pt>
                <c:pt idx="25">
                  <c:v>126</c:v>
                </c:pt>
                <c:pt idx="26">
                  <c:v>131</c:v>
                </c:pt>
                <c:pt idx="27">
                  <c:v>136</c:v>
                </c:pt>
                <c:pt idx="28">
                  <c:v>141</c:v>
                </c:pt>
                <c:pt idx="29">
                  <c:v>146</c:v>
                </c:pt>
                <c:pt idx="30">
                  <c:v>151</c:v>
                </c:pt>
                <c:pt idx="31">
                  <c:v>156</c:v>
                </c:pt>
                <c:pt idx="32">
                  <c:v>161</c:v>
                </c:pt>
                <c:pt idx="33">
                  <c:v>166</c:v>
                </c:pt>
                <c:pt idx="34">
                  <c:v>171</c:v>
                </c:pt>
                <c:pt idx="35">
                  <c:v>176</c:v>
                </c:pt>
                <c:pt idx="36">
                  <c:v>181</c:v>
                </c:pt>
                <c:pt idx="37">
                  <c:v>186</c:v>
                </c:pt>
                <c:pt idx="38">
                  <c:v>191</c:v>
                </c:pt>
                <c:pt idx="39">
                  <c:v>196</c:v>
                </c:pt>
                <c:pt idx="40">
                  <c:v>201</c:v>
                </c:pt>
                <c:pt idx="41">
                  <c:v>206</c:v>
                </c:pt>
                <c:pt idx="42">
                  <c:v>211</c:v>
                </c:pt>
                <c:pt idx="43">
                  <c:v>216</c:v>
                </c:pt>
                <c:pt idx="44">
                  <c:v>221</c:v>
                </c:pt>
                <c:pt idx="45">
                  <c:v>226</c:v>
                </c:pt>
              </c:numCache>
            </c:numRef>
          </c:xVal>
          <c:yVal>
            <c:numRef>
              <c:f>'Chart Data'!$B$2:$B$47</c:f>
              <c:numCache>
                <c:formatCode>0.0</c:formatCode>
                <c:ptCount val="46"/>
                <c:pt idx="0">
                  <c:v>2.83287467538</c:v>
                </c:pt>
                <c:pt idx="1">
                  <c:v>2.76290178056</c:v>
                </c:pt>
                <c:pt idx="2">
                  <c:v>2.67926566202</c:v>
                </c:pt>
                <c:pt idx="3">
                  <c:v>2.58123505522</c:v>
                </c:pt>
                <c:pt idx="4">
                  <c:v>2.46818465013</c:v>
                </c:pt>
                <c:pt idx="5">
                  <c:v>2.33910255217</c:v>
                </c:pt>
                <c:pt idx="6">
                  <c:v>2.19285808493</c:v>
                </c:pt>
                <c:pt idx="7">
                  <c:v>2.02818154817</c:v>
                </c:pt>
                <c:pt idx="8">
                  <c:v>1.84310115374</c:v>
                </c:pt>
                <c:pt idx="9">
                  <c:v>1.63398746361</c:v>
                </c:pt>
                <c:pt idx="10">
                  <c:v>1.39414784365</c:v>
                </c:pt>
                <c:pt idx="11">
                  <c:v>1.11198204664</c:v>
                </c:pt>
                <c:pt idx="12">
                  <c:v>0.769203282558</c:v>
                </c:pt>
                <c:pt idx="13">
                  <c:v>0.349289969233</c:v>
                </c:pt>
                <c:pt idx="14">
                  <c:v>-0.0591419769408</c:v>
                </c:pt>
                <c:pt idx="15">
                  <c:v>-0.190571192575</c:v>
                </c:pt>
                <c:pt idx="16">
                  <c:v>-0.323096552196</c:v>
                </c:pt>
                <c:pt idx="17">
                  <c:v>-0.544964085446</c:v>
                </c:pt>
                <c:pt idx="18">
                  <c:v>-0.537269507216</c:v>
                </c:pt>
                <c:pt idx="19">
                  <c:v>-0.519809685275</c:v>
                </c:pt>
                <c:pt idx="20">
                  <c:v>-0.576016927764</c:v>
                </c:pt>
                <c:pt idx="21">
                  <c:v>-0.598481132499</c:v>
                </c:pt>
                <c:pt idx="22">
                  <c:v>-0.622395119995</c:v>
                </c:pt>
                <c:pt idx="23">
                  <c:v>-0.647526316351</c:v>
                </c:pt>
                <c:pt idx="24">
                  <c:v>-0.655802352283</c:v>
                </c:pt>
                <c:pt idx="25">
                  <c:v>-0.667343152346</c:v>
                </c:pt>
                <c:pt idx="26">
                  <c:v>-0.680855304156</c:v>
                </c:pt>
                <c:pt idx="27">
                  <c:v>-0.691282454496</c:v>
                </c:pt>
                <c:pt idx="28">
                  <c:v>-0.701847578261</c:v>
                </c:pt>
                <c:pt idx="29">
                  <c:v>-0.711096866112</c:v>
                </c:pt>
                <c:pt idx="30">
                  <c:v>-0.71964433085</c:v>
                </c:pt>
                <c:pt idx="31">
                  <c:v>-0.728542511994</c:v>
                </c:pt>
                <c:pt idx="32">
                  <c:v>-0.73708544208</c:v>
                </c:pt>
                <c:pt idx="33">
                  <c:v>-0.745301410646</c:v>
                </c:pt>
                <c:pt idx="34">
                  <c:v>-0.753136088039</c:v>
                </c:pt>
                <c:pt idx="35">
                  <c:v>-0.760555893271</c:v>
                </c:pt>
                <c:pt idx="36">
                  <c:v>-0.767680355725</c:v>
                </c:pt>
                <c:pt idx="37">
                  <c:v>-0.774464203947</c:v>
                </c:pt>
                <c:pt idx="38">
                  <c:v>-0.780922546509</c:v>
                </c:pt>
                <c:pt idx="39">
                  <c:v>-0.787101028315</c:v>
                </c:pt>
                <c:pt idx="40">
                  <c:v>-0.793032943945</c:v>
                </c:pt>
                <c:pt idx="41">
                  <c:v>-0.798740564293</c:v>
                </c:pt>
                <c:pt idx="42">
                  <c:v>-0.804212300201</c:v>
                </c:pt>
                <c:pt idx="43">
                  <c:v>-0.809437306789</c:v>
                </c:pt>
                <c:pt idx="44">
                  <c:v>-0.814419129838</c:v>
                </c:pt>
                <c:pt idx="45">
                  <c:v>-0.819169373128</c:v>
                </c:pt>
              </c:numCache>
            </c:numRef>
          </c:yVal>
        </c:ser>
        <c:ser>
          <c:idx val="1"/>
          <c:order val="1"/>
          <c:tx>
            <c:v>Validation data loss</c:v>
          </c:tx>
          <c:spPr>
            <a:ln xmlns:a="http://schemas.openxmlformats.org/drawingml/2006/main" w="19050">
              <a:solidFill>
                <a:srgbClr val="B49A45"/>
              </a:solidFill>
            </a:ln>
          </c:spPr>
          <c:marker>
            <c:symbol val="none"/>
          </c:marker>
          <c:xVal>
            <c:numRef>
              <c:f>'Chart Data'!$C$2:$C$47</c:f>
              <c:numCache>
                <c:formatCode>General</c:formatCode>
                <c:ptCount val="46"/>
                <c:pt idx="0">
                  <c:v>1</c:v>
                </c:pt>
                <c:pt idx="1">
                  <c:v>6</c:v>
                </c:pt>
                <c:pt idx="2">
                  <c:v>11</c:v>
                </c:pt>
                <c:pt idx="3">
                  <c:v>16</c:v>
                </c:pt>
                <c:pt idx="4">
                  <c:v>21</c:v>
                </c:pt>
                <c:pt idx="5">
                  <c:v>26</c:v>
                </c:pt>
                <c:pt idx="6">
                  <c:v>31</c:v>
                </c:pt>
                <c:pt idx="7">
                  <c:v>36</c:v>
                </c:pt>
                <c:pt idx="8">
                  <c:v>41</c:v>
                </c:pt>
                <c:pt idx="9">
                  <c:v>46</c:v>
                </c:pt>
                <c:pt idx="10">
                  <c:v>51</c:v>
                </c:pt>
                <c:pt idx="11">
                  <c:v>56</c:v>
                </c:pt>
                <c:pt idx="12">
                  <c:v>61</c:v>
                </c:pt>
                <c:pt idx="13">
                  <c:v>66</c:v>
                </c:pt>
                <c:pt idx="14">
                  <c:v>71</c:v>
                </c:pt>
                <c:pt idx="15">
                  <c:v>76</c:v>
                </c:pt>
                <c:pt idx="16">
                  <c:v>81</c:v>
                </c:pt>
                <c:pt idx="17">
                  <c:v>86</c:v>
                </c:pt>
                <c:pt idx="18">
                  <c:v>91</c:v>
                </c:pt>
                <c:pt idx="19">
                  <c:v>96</c:v>
                </c:pt>
                <c:pt idx="20">
                  <c:v>101</c:v>
                </c:pt>
                <c:pt idx="21">
                  <c:v>106</c:v>
                </c:pt>
                <c:pt idx="22">
                  <c:v>111</c:v>
                </c:pt>
                <c:pt idx="23">
                  <c:v>116</c:v>
                </c:pt>
                <c:pt idx="24">
                  <c:v>121</c:v>
                </c:pt>
                <c:pt idx="25">
                  <c:v>126</c:v>
                </c:pt>
                <c:pt idx="26">
                  <c:v>131</c:v>
                </c:pt>
                <c:pt idx="27">
                  <c:v>136</c:v>
                </c:pt>
                <c:pt idx="28">
                  <c:v>141</c:v>
                </c:pt>
                <c:pt idx="29">
                  <c:v>146</c:v>
                </c:pt>
                <c:pt idx="30">
                  <c:v>151</c:v>
                </c:pt>
                <c:pt idx="31">
                  <c:v>156</c:v>
                </c:pt>
                <c:pt idx="32">
                  <c:v>161</c:v>
                </c:pt>
                <c:pt idx="33">
                  <c:v>166</c:v>
                </c:pt>
                <c:pt idx="34">
                  <c:v>171</c:v>
                </c:pt>
                <c:pt idx="35">
                  <c:v>176</c:v>
                </c:pt>
                <c:pt idx="36">
                  <c:v>181</c:v>
                </c:pt>
                <c:pt idx="37">
                  <c:v>186</c:v>
                </c:pt>
                <c:pt idx="38">
                  <c:v>191</c:v>
                </c:pt>
                <c:pt idx="39">
                  <c:v>196</c:v>
                </c:pt>
                <c:pt idx="40">
                  <c:v>201</c:v>
                </c:pt>
                <c:pt idx="41">
                  <c:v>206</c:v>
                </c:pt>
                <c:pt idx="42">
                  <c:v>211</c:v>
                </c:pt>
                <c:pt idx="43">
                  <c:v>216</c:v>
                </c:pt>
                <c:pt idx="44">
                  <c:v>221</c:v>
                </c:pt>
                <c:pt idx="45">
                  <c:v>226</c:v>
                </c:pt>
              </c:numCache>
            </c:numRef>
          </c:xVal>
          <c:yVal>
            <c:numRef>
              <c:f>'Chart Data'!$D$2:$D$47</c:f>
              <c:numCache>
                <c:formatCode>0.0</c:formatCode>
                <c:ptCount val="46"/>
                <c:pt idx="0">
                  <c:v>3.05674531361</c:v>
                </c:pt>
                <c:pt idx="1">
                  <c:v>3.0068535539</c:v>
                </c:pt>
                <c:pt idx="2">
                  <c:v>2.94666765781</c:v>
                </c:pt>
                <c:pt idx="3">
                  <c:v>2.8746313154</c:v>
                </c:pt>
                <c:pt idx="4">
                  <c:v>2.78941505341</c:v>
                </c:pt>
                <c:pt idx="5">
                  <c:v>2.68923881801</c:v>
                </c:pt>
                <c:pt idx="6">
                  <c:v>2.57169060326</c:v>
                </c:pt>
                <c:pt idx="7">
                  <c:v>2.43342226953</c:v>
                </c:pt>
                <c:pt idx="8">
                  <c:v>2.26964456973</c:v>
                </c:pt>
                <c:pt idx="9">
                  <c:v>2.07384429735</c:v>
                </c:pt>
                <c:pt idx="10">
                  <c:v>1.83753090256</c:v>
                </c:pt>
                <c:pt idx="11">
                  <c:v>1.54882297169</c:v>
                </c:pt>
                <c:pt idx="12">
                  <c:v>1.18801762455</c:v>
                </c:pt>
                <c:pt idx="13">
                  <c:v>0.720257037824</c:v>
                </c:pt>
                <c:pt idx="14">
                  <c:v>0.147911712574</c:v>
                </c:pt>
                <c:pt idx="15">
                  <c:v>-0.0958712163934</c:v>
                </c:pt>
                <c:pt idx="16">
                  <c:v>-0.0558843011408</c:v>
                </c:pt>
                <c:pt idx="17">
                  <c:v>0.110967949436</c:v>
                </c:pt>
                <c:pt idx="18">
                  <c:v>0.28340574798</c:v>
                </c:pt>
                <c:pt idx="19">
                  <c:v>0.293037133276</c:v>
                </c:pt>
                <c:pt idx="20">
                  <c:v>0.213528963655</c:v>
                </c:pt>
                <c:pt idx="21">
                  <c:v>0.155888796644</c:v>
                </c:pt>
                <c:pt idx="22">
                  <c:v>0.144490282202</c:v>
                </c:pt>
                <c:pt idx="23">
                  <c:v>0.157430369913</c:v>
                </c:pt>
                <c:pt idx="24">
                  <c:v>0.157797936317</c:v>
                </c:pt>
                <c:pt idx="25">
                  <c:v>0.131753723288</c:v>
                </c:pt>
                <c:pt idx="26">
                  <c:v>0.101976157092</c:v>
                </c:pt>
                <c:pt idx="27">
                  <c:v>0.0898627304637</c:v>
                </c:pt>
                <c:pt idx="28">
                  <c:v>0.0938199827103</c:v>
                </c:pt>
                <c:pt idx="29">
                  <c:v>0.0993946957778</c:v>
                </c:pt>
                <c:pt idx="30">
                  <c:v>0.0960119810565</c:v>
                </c:pt>
                <c:pt idx="31">
                  <c:v>0.0853134246656</c:v>
                </c:pt>
                <c:pt idx="32">
                  <c:v>0.0745776356011</c:v>
                </c:pt>
                <c:pt idx="33">
                  <c:v>0.0672588918208</c:v>
                </c:pt>
                <c:pt idx="34">
                  <c:v>0.0616844283963</c:v>
                </c:pt>
                <c:pt idx="35">
                  <c:v>0.0553214656592</c:v>
                </c:pt>
                <c:pt idx="36">
                  <c:v>0.0481091529082</c:v>
                </c:pt>
                <c:pt idx="37">
                  <c:v>0.041600579728</c:v>
                </c:pt>
                <c:pt idx="38">
                  <c:v>0.0364340643231</c:v>
                </c:pt>
                <c:pt idx="39">
                  <c:v>0.0317609675074</c:v>
                </c:pt>
                <c:pt idx="40">
                  <c:v>0.0265958293485</c:v>
                </c:pt>
                <c:pt idx="41">
                  <c:v>0.0209111996797</c:v>
                </c:pt>
                <c:pt idx="42">
                  <c:v>0.0153147830571</c:v>
                </c:pt>
                <c:pt idx="43">
                  <c:v>0.0101682523238</c:v>
                </c:pt>
                <c:pt idx="44">
                  <c:v>0.0053383935299</c:v>
                </c:pt>
                <c:pt idx="45">
                  <c:v>0.00059527974686</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5"/>
          <c:min val="-1.5"/>
        </c:scaling>
        <c:delete val="0"/>
        <c:axPos val="l"/>
        <c:majorGridlines>
          <c:spPr>
            <a:ln xmlns:a="http://schemas.openxmlformats.org/drawingml/2006/main" w="4763">
              <a:solidFill>
                <a:srgbClr val="E3E8ED"/>
              </a:solidFill>
            </a:ln>
          </c:spPr>
        </c:majorGridlines>
        <c:title>
          <c:tx>
            <c:rich>
              <a:bodyPr xmlns:a="http://schemas.openxmlformats.org/drawingml/2006/main"/>
              <a:lstStyle xmlns:a="http://schemas.openxmlformats.org/drawingml/2006/main"/>
              <a:p xmlns:a="http://schemas.openxmlformats.org/drawingml/2006/main">
                <a:r>
                  <a:rPr sz="1125">
                    <a:solidFill>
                      <a:srgbClr val="263645"/>
                    </a:solidFill>
                    <a:latin typeface="Arial"/>
                    <a:ea typeface="Arial"/>
                    <a:cs typeface="Arial"/>
                  </a:rPr>
                  <a:t>log10 normalized MSE</a:t>
                </a:r>
              </a:p>
            </c:rich>
          </c:tx>
          <c:overlay val="0"/>
          <c:txPr>
            <a:bodyPr xmlns:a="http://schemas.openxmlformats.org/drawingml/2006/main" anchorCtr="1"/>
            <a:lstStyle xmlns:a="http://schemas.openxmlformats.org/drawingml/2006/main"/>
            <a:p xmlns:a="http://schemas.openxmlformats.org/drawingml/2006/main">
              <a:pPr>
                <a:defRPr sz="1125">
                  <a:solidFill>
                    <a:srgbClr val="263645"/>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5717B"/>
                </a:solidFill>
                <a:latin typeface="Arial"/>
                <a:ea typeface="Arial"/>
                <a:cs typeface="Arial"/>
              </a:defRPr>
            </a:pPr>
          </a:p>
        </c:txPr>
        <c:crossAx val="48650112"/>
        <c:crossesAt val="-1.5"/>
      </c:valAx>
      <c:valAx>
        <c:axId val="48650112"/>
        <c:scaling>
          <c:orientation val="minMax"/>
          <c:max val="226"/>
          <c:min val="0"/>
        </c:scaling>
        <c:delete val="0"/>
        <c:axPos val="b"/>
        <c:title>
          <c:tx>
            <c:rich>
              <a:bodyPr xmlns:a="http://schemas.openxmlformats.org/drawingml/2006/main"/>
              <a:lstStyle xmlns:a="http://schemas.openxmlformats.org/drawingml/2006/main"/>
              <a:p xmlns:a="http://schemas.openxmlformats.org/drawingml/2006/main">
                <a:r>
                  <a:rPr sz="1125">
                    <a:solidFill>
                      <a:srgbClr val="263645"/>
                    </a:solidFill>
                    <a:latin typeface="Arial"/>
                    <a:ea typeface="Arial"/>
                    <a:cs typeface="Arial"/>
                  </a:rPr>
                  <a:t>Epoch</a:t>
                </a:r>
              </a:p>
            </c:rich>
          </c:tx>
          <c:overlay val="0"/>
          <c:txPr>
            <a:bodyPr xmlns:a="http://schemas.openxmlformats.org/drawingml/2006/main" anchorCtr="1"/>
            <a:lstStyle xmlns:a="http://schemas.openxmlformats.org/drawingml/2006/main"/>
            <a:p xmlns:a="http://schemas.openxmlformats.org/drawingml/2006/main">
              <a:pPr>
                <a:defRPr sz="1125">
                  <a:solidFill>
                    <a:srgbClr val="263645"/>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5717B"/>
                </a:solidFill>
                <a:latin typeface="Arial"/>
                <a:ea typeface="Arial"/>
                <a:cs typeface="Arial"/>
              </a:defRPr>
            </a:pPr>
          </a:p>
        </c:txPr>
        <c:crossAx val="48672768"/>
      </c:valAx>
    </c:plotArea>
    <c:legend>
      <c:legendPos val="t"/>
      <c:overlay val="0"/>
      <c:txPr>
        <a:bodyPr xmlns:a="http://schemas.openxmlformats.org/drawingml/2006/main" anchorCtr="1"/>
        <a:lstStyle xmlns:a="http://schemas.openxmlformats.org/drawingml/2006/main"/>
        <a:p xmlns:a="http://schemas.openxmlformats.org/drawingml/2006/main">
          <a:pPr>
            <a:defRPr sz="1050">
              <a:solidFill>
                <a:srgbClr val="263645"/>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b="1">
                <a:solidFill>
                  <a:srgbClr val="002B5E"/>
                </a:solidFill>
                <a:latin typeface="Arial"/>
                <a:ea typeface="Arial"/>
                <a:cs typeface="Arial"/>
              </a:rPr>
              <a:t>Synthetic PINN</a:t>
            </a:r>
          </a:p>
        </c:rich>
      </c:tx>
      <c:overlay val="0"/>
      <c:txPr>
        <a:bodyPr xmlns:a="http://schemas.openxmlformats.org/drawingml/2006/main" anchorCtr="1"/>
        <a:lstStyle xmlns:a="http://schemas.openxmlformats.org/drawingml/2006/main"/>
        <a:p xmlns:a="http://schemas.openxmlformats.org/drawingml/2006/main">
          <a:pPr>
            <a:defRPr sz="1350" b="1">
              <a:solidFill>
                <a:srgbClr val="002B5E"/>
              </a:solidFill>
              <a:latin typeface="Arial"/>
              <a:ea typeface="Arial"/>
              <a:cs typeface="Arial"/>
            </a:defRPr>
          </a:pPr>
        </a:p>
      </c:txPr>
    </c:title>
    <c:plotArea>
      <c:scatterChart>
        <c:scatterStyle val="line"/>
        <c:varyColors val="0"/>
        <c:ser>
          <c:idx val="0"/>
          <c:order val="0"/>
          <c:tx>
            <c:v>Training data loss</c:v>
          </c:tx>
          <c:spPr>
            <a:ln xmlns:a="http://schemas.openxmlformats.org/drawingml/2006/main" w="19050">
              <a:solidFill>
                <a:srgbClr val="6F8FAE"/>
              </a:solidFill>
            </a:ln>
          </c:spPr>
          <c:marker>
            <c:symbol val="none"/>
          </c:marker>
          <c:xVal>
            <c:numRef>
              <c:f>'Chart Data'!$A$2:$A$62</c:f>
              <c:numCache>
                <c:formatCode>General</c:formatCode>
                <c:ptCount val="61"/>
                <c:pt idx="0">
                  <c:v>1</c:v>
                </c:pt>
                <c:pt idx="1">
                  <c:v>26</c:v>
                </c:pt>
                <c:pt idx="2">
                  <c:v>51</c:v>
                </c:pt>
                <c:pt idx="3">
                  <c:v>76</c:v>
                </c:pt>
                <c:pt idx="4">
                  <c:v>101</c:v>
                </c:pt>
                <c:pt idx="5">
                  <c:v>126</c:v>
                </c:pt>
                <c:pt idx="6">
                  <c:v>151</c:v>
                </c:pt>
                <c:pt idx="7">
                  <c:v>176</c:v>
                </c:pt>
                <c:pt idx="8">
                  <c:v>201</c:v>
                </c:pt>
                <c:pt idx="9">
                  <c:v>226</c:v>
                </c:pt>
                <c:pt idx="10">
                  <c:v>251</c:v>
                </c:pt>
                <c:pt idx="11">
                  <c:v>276</c:v>
                </c:pt>
                <c:pt idx="12">
                  <c:v>301</c:v>
                </c:pt>
                <c:pt idx="13">
                  <c:v>326</c:v>
                </c:pt>
                <c:pt idx="14">
                  <c:v>351</c:v>
                </c:pt>
                <c:pt idx="15">
                  <c:v>376</c:v>
                </c:pt>
                <c:pt idx="16">
                  <c:v>401</c:v>
                </c:pt>
                <c:pt idx="17">
                  <c:v>426</c:v>
                </c:pt>
                <c:pt idx="18">
                  <c:v>451</c:v>
                </c:pt>
                <c:pt idx="19">
                  <c:v>476</c:v>
                </c:pt>
                <c:pt idx="20">
                  <c:v>501</c:v>
                </c:pt>
                <c:pt idx="21">
                  <c:v>526</c:v>
                </c:pt>
                <c:pt idx="22">
                  <c:v>551</c:v>
                </c:pt>
                <c:pt idx="23">
                  <c:v>576</c:v>
                </c:pt>
                <c:pt idx="24">
                  <c:v>601</c:v>
                </c:pt>
                <c:pt idx="25">
                  <c:v>626</c:v>
                </c:pt>
                <c:pt idx="26">
                  <c:v>651</c:v>
                </c:pt>
                <c:pt idx="27">
                  <c:v>676</c:v>
                </c:pt>
                <c:pt idx="28">
                  <c:v>701</c:v>
                </c:pt>
                <c:pt idx="29">
                  <c:v>726</c:v>
                </c:pt>
                <c:pt idx="30">
                  <c:v>751</c:v>
                </c:pt>
                <c:pt idx="31">
                  <c:v>776</c:v>
                </c:pt>
                <c:pt idx="32">
                  <c:v>801</c:v>
                </c:pt>
                <c:pt idx="33">
                  <c:v>826</c:v>
                </c:pt>
                <c:pt idx="34">
                  <c:v>851</c:v>
                </c:pt>
                <c:pt idx="35">
                  <c:v>876</c:v>
                </c:pt>
                <c:pt idx="36">
                  <c:v>901</c:v>
                </c:pt>
                <c:pt idx="37">
                  <c:v>926</c:v>
                </c:pt>
                <c:pt idx="38">
                  <c:v>951</c:v>
                </c:pt>
                <c:pt idx="39">
                  <c:v>976</c:v>
                </c:pt>
                <c:pt idx="40">
                  <c:v>1001</c:v>
                </c:pt>
                <c:pt idx="41">
                  <c:v>1026</c:v>
                </c:pt>
                <c:pt idx="42">
                  <c:v>1051</c:v>
                </c:pt>
                <c:pt idx="43">
                  <c:v>1076</c:v>
                </c:pt>
                <c:pt idx="44">
                  <c:v>1101</c:v>
                </c:pt>
                <c:pt idx="45">
                  <c:v>1126</c:v>
                </c:pt>
                <c:pt idx="46">
                  <c:v>1151</c:v>
                </c:pt>
                <c:pt idx="47">
                  <c:v>1176</c:v>
                </c:pt>
                <c:pt idx="48">
                  <c:v>1201</c:v>
                </c:pt>
                <c:pt idx="49">
                  <c:v>1226</c:v>
                </c:pt>
                <c:pt idx="50">
                  <c:v>1251</c:v>
                </c:pt>
                <c:pt idx="51">
                  <c:v>1276</c:v>
                </c:pt>
                <c:pt idx="52">
                  <c:v>1301</c:v>
                </c:pt>
                <c:pt idx="53">
                  <c:v>1326</c:v>
                </c:pt>
                <c:pt idx="54">
                  <c:v>1351</c:v>
                </c:pt>
                <c:pt idx="55">
                  <c:v>1376</c:v>
                </c:pt>
                <c:pt idx="56">
                  <c:v>1401</c:v>
                </c:pt>
                <c:pt idx="57">
                  <c:v>1426</c:v>
                </c:pt>
                <c:pt idx="58">
                  <c:v>1451</c:v>
                </c:pt>
                <c:pt idx="59">
                  <c:v>1476</c:v>
                </c:pt>
                <c:pt idx="60">
                  <c:v>1500</c:v>
                </c:pt>
              </c:numCache>
            </c:numRef>
          </c:xVal>
          <c:yVal>
            <c:numRef>
              <c:f>'Chart Data'!$B$2:$B$62</c:f>
              <c:numCache>
                <c:formatCode>0.0</c:formatCode>
                <c:ptCount val="61"/>
                <c:pt idx="0">
                  <c:v>1.38587295481</c:v>
                </c:pt>
                <c:pt idx="1">
                  <c:v>-0.0298479425762</c:v>
                </c:pt>
                <c:pt idx="2">
                  <c:v>-0.331439646698</c:v>
                </c:pt>
                <c:pt idx="3">
                  <c:v>-0.434109379299</c:v>
                </c:pt>
                <c:pt idx="4">
                  <c:v>-0.482306932696</c:v>
                </c:pt>
                <c:pt idx="5">
                  <c:v>-0.522060510413</c:v>
                </c:pt>
                <c:pt idx="6">
                  <c:v>-0.557997779439</c:v>
                </c:pt>
                <c:pt idx="7">
                  <c:v>-0.591128996674</c:v>
                </c:pt>
                <c:pt idx="8">
                  <c:v>-0.622066900526</c:v>
                </c:pt>
                <c:pt idx="9">
                  <c:v>-0.651226617861</c:v>
                </c:pt>
                <c:pt idx="10">
                  <c:v>-0.678982904649</c:v>
                </c:pt>
                <c:pt idx="11">
                  <c:v>-0.705659450921</c:v>
                </c:pt>
                <c:pt idx="12">
                  <c:v>-0.731400276582</c:v>
                </c:pt>
                <c:pt idx="13">
                  <c:v>-0.756140597533</c:v>
                </c:pt>
                <c:pt idx="14">
                  <c:v>-0.779680798649</c:v>
                </c:pt>
                <c:pt idx="15">
                  <c:v>-0.801816512169</c:v>
                </c:pt>
                <c:pt idx="16">
                  <c:v>-0.822386882299</c:v>
                </c:pt>
                <c:pt idx="17">
                  <c:v>-0.841309536833</c:v>
                </c:pt>
                <c:pt idx="18">
                  <c:v>-0.858583901345</c:v>
                </c:pt>
                <c:pt idx="19">
                  <c:v>-0.874292186662</c:v>
                </c:pt>
                <c:pt idx="20">
                  <c:v>-0.888572285786</c:v>
                </c:pt>
                <c:pt idx="21">
                  <c:v>-0.901568283119</c:v>
                </c:pt>
                <c:pt idx="22">
                  <c:v>-0.913400811733</c:v>
                </c:pt>
                <c:pt idx="23">
                  <c:v>-0.924174653346</c:v>
                </c:pt>
                <c:pt idx="24">
                  <c:v>-0.933964119646</c:v>
                </c:pt>
                <c:pt idx="25">
                  <c:v>-0.942831004571</c:v>
                </c:pt>
                <c:pt idx="26">
                  <c:v>-0.950834143462</c:v>
                </c:pt>
                <c:pt idx="27">
                  <c:v>-0.958038698366</c:v>
                </c:pt>
                <c:pt idx="28">
                  <c:v>-0.964497157644</c:v>
                </c:pt>
                <c:pt idx="29">
                  <c:v>-0.970281403191</c:v>
                </c:pt>
                <c:pt idx="30">
                  <c:v>-0.975463157387</c:v>
                </c:pt>
                <c:pt idx="31">
                  <c:v>-0.980112261778</c:v>
                </c:pt>
                <c:pt idx="32">
                  <c:v>-0.984286818243</c:v>
                </c:pt>
                <c:pt idx="33">
                  <c:v>-0.988055721361</c:v>
                </c:pt>
                <c:pt idx="34">
                  <c:v>-0.991475534036</c:v>
                </c:pt>
                <c:pt idx="35">
                  <c:v>-0.994593973427</c:v>
                </c:pt>
                <c:pt idx="36">
                  <c:v>-0.997453917726</c:v>
                </c:pt>
                <c:pt idx="37">
                  <c:v>-1.00009196317</c:v>
                </c:pt>
                <c:pt idx="38">
                  <c:v>-1.00253846306</c:v>
                </c:pt>
                <c:pt idx="39">
                  <c:v>-1.00482527946</c:v>
                </c:pt>
                <c:pt idx="40">
                  <c:v>-1.0069724281</c:v>
                </c:pt>
                <c:pt idx="41">
                  <c:v>-1.00899306416</c:v>
                </c:pt>
                <c:pt idx="42">
                  <c:v>-1.01090802728</c:v>
                </c:pt>
                <c:pt idx="43">
                  <c:v>-1.01272870099</c:v>
                </c:pt>
                <c:pt idx="44">
                  <c:v>-1.01446627092</c:v>
                </c:pt>
                <c:pt idx="45">
                  <c:v>-1.01613626149</c:v>
                </c:pt>
                <c:pt idx="46">
                  <c:v>-1.01774062775</c:v>
                </c:pt>
                <c:pt idx="47">
                  <c:v>-1.01929207945</c:v>
                </c:pt>
                <c:pt idx="48">
                  <c:v>-1.02079359073</c:v>
                </c:pt>
                <c:pt idx="49">
                  <c:v>-1.02224578086</c:v>
                </c:pt>
                <c:pt idx="50">
                  <c:v>-1.02366405902</c:v>
                </c:pt>
                <c:pt idx="51">
                  <c:v>-1.02505160683</c:v>
                </c:pt>
                <c:pt idx="52">
                  <c:v>-1.02640728886</c:v>
                </c:pt>
                <c:pt idx="53">
                  <c:v>-1.0277352069</c:v>
                </c:pt>
                <c:pt idx="54">
                  <c:v>-1.0290400051</c:v>
                </c:pt>
                <c:pt idx="55">
                  <c:v>-1.03032330128</c:v>
                </c:pt>
                <c:pt idx="56">
                  <c:v>-1.03159721154</c:v>
                </c:pt>
                <c:pt idx="57">
                  <c:v>-1.03286125801</c:v>
                </c:pt>
                <c:pt idx="58">
                  <c:v>-1.03410886815</c:v>
                </c:pt>
                <c:pt idx="59">
                  <c:v>-1.03534908581</c:v>
                </c:pt>
                <c:pt idx="60">
                  <c:v>-1.03652953153</c:v>
                </c:pt>
              </c:numCache>
            </c:numRef>
          </c:yVal>
        </c:ser>
        <c:ser>
          <c:idx val="1"/>
          <c:order val="1"/>
          <c:tx>
            <c:v>Validation data loss</c:v>
          </c:tx>
          <c:spPr>
            <a:ln xmlns:a="http://schemas.openxmlformats.org/drawingml/2006/main" w="19050">
              <a:solidFill>
                <a:srgbClr val="B49A45"/>
              </a:solidFill>
            </a:ln>
          </c:spPr>
          <c:marker>
            <c:symbol val="none"/>
          </c:marker>
          <c:xVal>
            <c:numRef>
              <c:f>'Chart Data'!$C$2:$C$62</c:f>
              <c:numCache>
                <c:formatCode>General</c:formatCode>
                <c:ptCount val="61"/>
                <c:pt idx="0">
                  <c:v>1</c:v>
                </c:pt>
                <c:pt idx="1">
                  <c:v>26</c:v>
                </c:pt>
                <c:pt idx="2">
                  <c:v>51</c:v>
                </c:pt>
                <c:pt idx="3">
                  <c:v>76</c:v>
                </c:pt>
                <c:pt idx="4">
                  <c:v>101</c:v>
                </c:pt>
                <c:pt idx="5">
                  <c:v>126</c:v>
                </c:pt>
                <c:pt idx="6">
                  <c:v>151</c:v>
                </c:pt>
                <c:pt idx="7">
                  <c:v>176</c:v>
                </c:pt>
                <c:pt idx="8">
                  <c:v>201</c:v>
                </c:pt>
                <c:pt idx="9">
                  <c:v>226</c:v>
                </c:pt>
                <c:pt idx="10">
                  <c:v>251</c:v>
                </c:pt>
                <c:pt idx="11">
                  <c:v>276</c:v>
                </c:pt>
                <c:pt idx="12">
                  <c:v>301</c:v>
                </c:pt>
                <c:pt idx="13">
                  <c:v>326</c:v>
                </c:pt>
                <c:pt idx="14">
                  <c:v>351</c:v>
                </c:pt>
                <c:pt idx="15">
                  <c:v>376</c:v>
                </c:pt>
                <c:pt idx="16">
                  <c:v>401</c:v>
                </c:pt>
                <c:pt idx="17">
                  <c:v>426</c:v>
                </c:pt>
                <c:pt idx="18">
                  <c:v>451</c:v>
                </c:pt>
                <c:pt idx="19">
                  <c:v>476</c:v>
                </c:pt>
                <c:pt idx="20">
                  <c:v>501</c:v>
                </c:pt>
                <c:pt idx="21">
                  <c:v>526</c:v>
                </c:pt>
                <c:pt idx="22">
                  <c:v>551</c:v>
                </c:pt>
                <c:pt idx="23">
                  <c:v>576</c:v>
                </c:pt>
                <c:pt idx="24">
                  <c:v>601</c:v>
                </c:pt>
                <c:pt idx="25">
                  <c:v>626</c:v>
                </c:pt>
                <c:pt idx="26">
                  <c:v>651</c:v>
                </c:pt>
                <c:pt idx="27">
                  <c:v>676</c:v>
                </c:pt>
                <c:pt idx="28">
                  <c:v>701</c:v>
                </c:pt>
                <c:pt idx="29">
                  <c:v>726</c:v>
                </c:pt>
                <c:pt idx="30">
                  <c:v>751</c:v>
                </c:pt>
                <c:pt idx="31">
                  <c:v>776</c:v>
                </c:pt>
                <c:pt idx="32">
                  <c:v>801</c:v>
                </c:pt>
                <c:pt idx="33">
                  <c:v>826</c:v>
                </c:pt>
                <c:pt idx="34">
                  <c:v>851</c:v>
                </c:pt>
                <c:pt idx="35">
                  <c:v>876</c:v>
                </c:pt>
                <c:pt idx="36">
                  <c:v>901</c:v>
                </c:pt>
                <c:pt idx="37">
                  <c:v>926</c:v>
                </c:pt>
                <c:pt idx="38">
                  <c:v>951</c:v>
                </c:pt>
                <c:pt idx="39">
                  <c:v>976</c:v>
                </c:pt>
                <c:pt idx="40">
                  <c:v>1001</c:v>
                </c:pt>
                <c:pt idx="41">
                  <c:v>1026</c:v>
                </c:pt>
                <c:pt idx="42">
                  <c:v>1051</c:v>
                </c:pt>
                <c:pt idx="43">
                  <c:v>1076</c:v>
                </c:pt>
                <c:pt idx="44">
                  <c:v>1101</c:v>
                </c:pt>
                <c:pt idx="45">
                  <c:v>1126</c:v>
                </c:pt>
                <c:pt idx="46">
                  <c:v>1151</c:v>
                </c:pt>
                <c:pt idx="47">
                  <c:v>1176</c:v>
                </c:pt>
                <c:pt idx="48">
                  <c:v>1201</c:v>
                </c:pt>
                <c:pt idx="49">
                  <c:v>1226</c:v>
                </c:pt>
                <c:pt idx="50">
                  <c:v>1251</c:v>
                </c:pt>
                <c:pt idx="51">
                  <c:v>1276</c:v>
                </c:pt>
                <c:pt idx="52">
                  <c:v>1301</c:v>
                </c:pt>
                <c:pt idx="53">
                  <c:v>1326</c:v>
                </c:pt>
                <c:pt idx="54">
                  <c:v>1351</c:v>
                </c:pt>
                <c:pt idx="55">
                  <c:v>1376</c:v>
                </c:pt>
                <c:pt idx="56">
                  <c:v>1401</c:v>
                </c:pt>
                <c:pt idx="57">
                  <c:v>1426</c:v>
                </c:pt>
                <c:pt idx="58">
                  <c:v>1451</c:v>
                </c:pt>
                <c:pt idx="59">
                  <c:v>1476</c:v>
                </c:pt>
                <c:pt idx="60">
                  <c:v>1500</c:v>
                </c:pt>
              </c:numCache>
            </c:numRef>
          </c:xVal>
          <c:yVal>
            <c:numRef>
              <c:f>'Chart Data'!$D$2:$D$62</c:f>
              <c:numCache>
                <c:formatCode>0.0</c:formatCode>
                <c:ptCount val="61"/>
                <c:pt idx="0">
                  <c:v>1.43649748729</c:v>
                </c:pt>
                <c:pt idx="1">
                  <c:v>-0.0213647818458</c:v>
                </c:pt>
                <c:pt idx="2">
                  <c:v>-0.235734924155</c:v>
                </c:pt>
                <c:pt idx="3">
                  <c:v>-0.344864837142</c:v>
                </c:pt>
                <c:pt idx="4">
                  <c:v>-0.402064097887</c:v>
                </c:pt>
                <c:pt idx="5">
                  <c:v>-0.443153247084</c:v>
                </c:pt>
                <c:pt idx="6">
                  <c:v>-0.480316866362</c:v>
                </c:pt>
                <c:pt idx="7">
                  <c:v>-0.513301006972</c:v>
                </c:pt>
                <c:pt idx="8">
                  <c:v>-0.54558729274</c:v>
                </c:pt>
                <c:pt idx="9">
                  <c:v>-0.577725715105</c:v>
                </c:pt>
                <c:pt idx="10">
                  <c:v>-0.609379361922</c:v>
                </c:pt>
                <c:pt idx="11">
                  <c:v>-0.640037334897</c:v>
                </c:pt>
                <c:pt idx="12">
                  <c:v>-0.669157562696</c:v>
                </c:pt>
                <c:pt idx="13">
                  <c:v>-0.696378341948</c:v>
                </c:pt>
                <c:pt idx="14">
                  <c:v>-0.721416195141</c:v>
                </c:pt>
                <c:pt idx="15">
                  <c:v>-0.744158251703</c:v>
                </c:pt>
                <c:pt idx="16">
                  <c:v>-0.764510519544</c:v>
                </c:pt>
                <c:pt idx="17">
                  <c:v>-0.782402233627</c:v>
                </c:pt>
                <c:pt idx="18">
                  <c:v>-0.797949477142</c:v>
                </c:pt>
                <c:pt idx="19">
                  <c:v>-0.811321881746</c:v>
                </c:pt>
                <c:pt idx="20">
                  <c:v>-0.822840430509</c:v>
                </c:pt>
                <c:pt idx="21">
                  <c:v>-0.832730213863</c:v>
                </c:pt>
                <c:pt idx="22">
                  <c:v>-0.841316452565</c:v>
                </c:pt>
                <c:pt idx="23">
                  <c:v>-0.848794504171</c:v>
                </c:pt>
                <c:pt idx="24">
                  <c:v>-0.855375532356</c:v>
                </c:pt>
                <c:pt idx="25">
                  <c:v>-0.861189800493</c:v>
                </c:pt>
                <c:pt idx="26">
                  <c:v>-0.866404303432</c:v>
                </c:pt>
                <c:pt idx="27">
                  <c:v>-0.871102044556</c:v>
                </c:pt>
                <c:pt idx="28">
                  <c:v>-0.875369312096</c:v>
                </c:pt>
                <c:pt idx="29">
                  <c:v>-0.879252258123</c:v>
                </c:pt>
                <c:pt idx="30">
                  <c:v>-0.882880548336</c:v>
                </c:pt>
                <c:pt idx="31">
                  <c:v>-0.886307381854</c:v>
                </c:pt>
                <c:pt idx="32">
                  <c:v>-0.889450899259</c:v>
                </c:pt>
                <c:pt idx="33">
                  <c:v>-0.89249403985</c:v>
                </c:pt>
                <c:pt idx="34">
                  <c:v>-0.89539113287</c:v>
                </c:pt>
                <c:pt idx="35">
                  <c:v>-0.898142986534</c:v>
                </c:pt>
                <c:pt idx="36">
                  <c:v>-0.90091604567</c:v>
                </c:pt>
                <c:pt idx="37">
                  <c:v>-0.903599903286</c:v>
                </c:pt>
                <c:pt idx="38">
                  <c:v>-0.906170339915</c:v>
                </c:pt>
                <c:pt idx="39">
                  <c:v>-0.908777009458</c:v>
                </c:pt>
                <c:pt idx="40">
                  <c:v>-0.911282913931</c:v>
                </c:pt>
                <c:pt idx="41">
                  <c:v>-0.913727034347</c:v>
                </c:pt>
                <c:pt idx="42">
                  <c:v>-0.916076900323</c:v>
                </c:pt>
                <c:pt idx="43">
                  <c:v>-0.918537631775</c:v>
                </c:pt>
                <c:pt idx="44">
                  <c:v>-0.920820732076</c:v>
                </c:pt>
                <c:pt idx="45">
                  <c:v>-0.922990679325</c:v>
                </c:pt>
                <c:pt idx="46">
                  <c:v>-0.92518138276</c:v>
                </c:pt>
                <c:pt idx="47">
                  <c:v>-0.927401616681</c:v>
                </c:pt>
                <c:pt idx="48">
                  <c:v>-0.92948268268</c:v>
                </c:pt>
                <c:pt idx="49">
                  <c:v>-0.931534410334</c:v>
                </c:pt>
                <c:pt idx="50">
                  <c:v>-0.933579437628</c:v>
                </c:pt>
                <c:pt idx="51">
                  <c:v>-0.935497199341</c:v>
                </c:pt>
                <c:pt idx="52">
                  <c:v>-0.937438987947</c:v>
                </c:pt>
                <c:pt idx="53">
                  <c:v>-0.939355361946</c:v>
                </c:pt>
                <c:pt idx="54">
                  <c:v>-0.941245068963</c:v>
                </c:pt>
                <c:pt idx="55">
                  <c:v>-0.943016788008</c:v>
                </c:pt>
                <c:pt idx="56">
                  <c:v>-0.944909816825</c:v>
                </c:pt>
                <c:pt idx="57">
                  <c:v>-0.946557308867</c:v>
                </c:pt>
                <c:pt idx="58">
                  <c:v>-0.948313416131</c:v>
                </c:pt>
                <c:pt idx="59">
                  <c:v>-0.950063010346</c:v>
                </c:pt>
                <c:pt idx="60">
                  <c:v>-0.951739412599</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5"/>
          <c:min val="-1.5"/>
        </c:scaling>
        <c:delete val="0"/>
        <c:axPos val="l"/>
        <c:majorGridlines>
          <c:spPr>
            <a:ln xmlns:a="http://schemas.openxmlformats.org/drawingml/2006/main" w="4763">
              <a:solidFill>
                <a:srgbClr val="E3E8ED"/>
              </a:solidFill>
            </a:ln>
          </c:spPr>
        </c:majorGridlines>
        <c:title>
          <c:tx>
            <c:rich>
              <a:bodyPr xmlns:a="http://schemas.openxmlformats.org/drawingml/2006/main"/>
              <a:lstStyle xmlns:a="http://schemas.openxmlformats.org/drawingml/2006/main"/>
              <a:p xmlns:a="http://schemas.openxmlformats.org/drawingml/2006/main">
                <a:r>
                  <a:rPr sz="1125">
                    <a:solidFill>
                      <a:srgbClr val="263645"/>
                    </a:solidFill>
                    <a:latin typeface="Arial"/>
                    <a:ea typeface="Arial"/>
                    <a:cs typeface="Arial"/>
                  </a:rPr>
                  <a:t>log10 normalized MSE</a:t>
                </a:r>
              </a:p>
            </c:rich>
          </c:tx>
          <c:overlay val="0"/>
          <c:txPr>
            <a:bodyPr xmlns:a="http://schemas.openxmlformats.org/drawingml/2006/main" anchorCtr="1"/>
            <a:lstStyle xmlns:a="http://schemas.openxmlformats.org/drawingml/2006/main"/>
            <a:p xmlns:a="http://schemas.openxmlformats.org/drawingml/2006/main">
              <a:pPr>
                <a:defRPr sz="1125">
                  <a:solidFill>
                    <a:srgbClr val="263645"/>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5717B"/>
                </a:solidFill>
                <a:latin typeface="Arial"/>
                <a:ea typeface="Arial"/>
                <a:cs typeface="Arial"/>
              </a:defRPr>
            </a:pPr>
          </a:p>
        </c:txPr>
        <c:crossAx val="48650112"/>
        <c:crossesAt val="-1.5"/>
      </c:valAx>
      <c:valAx>
        <c:axId val="48650112"/>
        <c:scaling>
          <c:orientation val="minMax"/>
          <c:max val="1500"/>
          <c:min val="0"/>
        </c:scaling>
        <c:delete val="0"/>
        <c:axPos val="b"/>
        <c:title>
          <c:tx>
            <c:rich>
              <a:bodyPr xmlns:a="http://schemas.openxmlformats.org/drawingml/2006/main"/>
              <a:lstStyle xmlns:a="http://schemas.openxmlformats.org/drawingml/2006/main"/>
              <a:p xmlns:a="http://schemas.openxmlformats.org/drawingml/2006/main">
                <a:r>
                  <a:rPr sz="1125">
                    <a:solidFill>
                      <a:srgbClr val="263645"/>
                    </a:solidFill>
                    <a:latin typeface="Arial"/>
                    <a:ea typeface="Arial"/>
                    <a:cs typeface="Arial"/>
                  </a:rPr>
                  <a:t>Epoch</a:t>
                </a:r>
              </a:p>
            </c:rich>
          </c:tx>
          <c:overlay val="0"/>
          <c:txPr>
            <a:bodyPr xmlns:a="http://schemas.openxmlformats.org/drawingml/2006/main" anchorCtr="1"/>
            <a:lstStyle xmlns:a="http://schemas.openxmlformats.org/drawingml/2006/main"/>
            <a:p xmlns:a="http://schemas.openxmlformats.org/drawingml/2006/main">
              <a:pPr>
                <a:defRPr sz="1125">
                  <a:solidFill>
                    <a:srgbClr val="263645"/>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5717B"/>
                </a:solidFill>
                <a:latin typeface="Arial"/>
                <a:ea typeface="Arial"/>
                <a:cs typeface="Arial"/>
              </a:defRPr>
            </a:pPr>
          </a:p>
        </c:txPr>
        <c:crossAx val="48672768"/>
      </c:valAx>
    </c:plotArea>
    <c:legend>
      <c:legendPos val="t"/>
      <c:overlay val="0"/>
      <c:txPr>
        <a:bodyPr xmlns:a="http://schemas.openxmlformats.org/drawingml/2006/main" anchorCtr="1"/>
        <a:lstStyle xmlns:a="http://schemas.openxmlformats.org/drawingml/2006/main"/>
        <a:p xmlns:a="http://schemas.openxmlformats.org/drawingml/2006/main">
          <a:pPr>
            <a:defRPr sz="1050">
              <a:solidFill>
                <a:srgbClr val="263645"/>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8" name="footer-date">
            <a:extLst xmlns:a="http://schemas.openxmlformats.org/drawingml/2006/main">
              <a:ext uri="{FF2B5EF4-FFF2-40B4-BE49-F238E27FC236}">
                <a16:creationId xmlns:a16="http://schemas.microsoft.com/office/drawing/2014/main" id="{DB862365-F539-4E57-9DCA-8BC7D04FAB07}"/>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2AB2696F-1C25-4360-8059-376764574B1C}"/>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1</a:t>
            </a:r>
          </a:p>
        </p:txBody>
      </p:sp>
      <p:sp>
        <p:nvSpPr>
          <p:cNvPr id="3" name="cover-title">
            <a:extLst xmlns:a="http://schemas.openxmlformats.org/drawingml/2006/main">
              <a:ext uri="{FF2B5EF4-FFF2-40B4-BE49-F238E27FC236}">
                <a16:creationId xmlns:a16="http://schemas.microsoft.com/office/drawing/2014/main" id="{C08CB2DB-7813-4741-A92A-9FBFF2F5E7E0}"/>
              </a:ext>
            </a:extLst>
          </p:cNvPr>
          <p:cNvSpPr>
            <a:spLocks xmlns:a="http://schemas.openxmlformats.org/drawingml/2006/main" noGrp="1"/>
          </p:cNvSpPr>
          <p:nvPr/>
        </p:nvSpPr>
        <p:spPr>
          <a:xfrm xmlns:a="http://schemas.openxmlformats.org/drawingml/2006/main">
            <a:off x="742950" y="1466850"/>
            <a:ext cx="76581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2925" b="1" i="0">
                <a:solidFill>
                  <a:srgbClr val="948151"/>
                </a:solidFill>
                <a:latin typeface="Arial"/>
                <a:ea typeface="Arial"/>
                <a:cs typeface="Arial"/>
              </a:defRPr>
            </a:pPr>
            <a:r>
              <a:rPr sz="2925" b="1" i="0">
                <a:solidFill>
                  <a:srgbClr val="948151"/>
                </a:solidFill>
                <a:latin typeface="Arial"/>
                <a:ea typeface="Arial"/>
                <a:cs typeface="Arial"/>
              </a:rPr>
              <a:t>Physics-Informed Neural Network</a:t>
            </a:r>
          </a:p>
          <a:p xmlns:a="http://schemas.openxmlformats.org/drawingml/2006/main">
            <a:pPr algn="ctr">
              <a:lnSpc>
                <a:spcPct val="105000"/>
              </a:lnSpc>
              <a:buNone/>
              <a:defRPr sz="2925" b="1" i="0">
                <a:solidFill>
                  <a:srgbClr val="948151"/>
                </a:solidFill>
                <a:latin typeface="Arial"/>
                <a:ea typeface="Arial"/>
                <a:cs typeface="Arial"/>
              </a:defRPr>
            </a:pPr>
            <a:r>
              <a:rPr sz="2925" b="1" i="0">
                <a:solidFill>
                  <a:srgbClr val="948151"/>
                </a:solidFill>
                <a:latin typeface="Arial"/>
                <a:ea typeface="Arial"/>
                <a:cs typeface="Arial"/>
              </a:rPr>
              <a:t>Research Update</a:t>
            </a:r>
          </a:p>
        </p:txBody>
      </p:sp>
      <p:sp>
        <p:nvSpPr>
          <p:cNvPr id="4" name="divider">
            <a:extLst xmlns:a="http://schemas.openxmlformats.org/drawingml/2006/main">
              <a:ext uri="{FF2B5EF4-FFF2-40B4-BE49-F238E27FC236}">
                <a16:creationId xmlns:a16="http://schemas.microsoft.com/office/drawing/2014/main" id="{D13A50AD-2800-497D-9BA9-0900901660CA}"/>
              </a:ext>
            </a:extLst>
          </p:cNvPr>
          <p:cNvSpPr>
            <a:spLocks xmlns:a="http://schemas.openxmlformats.org/drawingml/2006/main" noGrp="1"/>
          </p:cNvSpPr>
          <p:nvPr/>
        </p:nvSpPr>
        <p:spPr>
          <a:xfrm xmlns:a="http://schemas.openxmlformats.org/drawingml/2006/main">
            <a:off x="1952625" y="2781300"/>
            <a:ext cx="5238750" cy="0"/>
          </a:xfrm>
          <a:prstGeom xmlns:a="http://schemas.openxmlformats.org/drawingml/2006/main" prst="line">
            <a:avLst/>
          </a:prstGeom>
          <a:noFill xmlns:a="http://schemas.openxmlformats.org/drawingml/2006/main"/>
          <a:ln xmlns:a="http://schemas.openxmlformats.org/drawingml/2006/main" w="19050">
            <a:solidFill>
              <a:srgbClr val="948151"/>
            </a:solidFill>
            <a:prstDash val="solid"/>
          </a:ln>
        </p:spPr>
      </p:sp>
      <p:sp>
        <p:nvSpPr>
          <p:cNvPr id="5" name="cover-subtitle">
            <a:extLst xmlns:a="http://schemas.openxmlformats.org/drawingml/2006/main">
              <a:ext uri="{FF2B5EF4-FFF2-40B4-BE49-F238E27FC236}">
                <a16:creationId xmlns:a16="http://schemas.microsoft.com/office/drawing/2014/main" id="{2C4043E8-42DB-4F46-AF5F-EFE50C826990}"/>
              </a:ext>
            </a:extLst>
          </p:cNvPr>
          <p:cNvSpPr>
            <a:spLocks xmlns:a="http://schemas.openxmlformats.org/drawingml/2006/main" noGrp="1"/>
          </p:cNvSpPr>
          <p:nvPr/>
        </p:nvSpPr>
        <p:spPr>
          <a:xfrm xmlns:a="http://schemas.openxmlformats.org/drawingml/2006/main">
            <a:off x="1390650" y="3009900"/>
            <a:ext cx="6362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1650" b="0" i="0">
                <a:solidFill>
                  <a:srgbClr val="002B5E"/>
                </a:solidFill>
                <a:latin typeface="Arial"/>
                <a:ea typeface="Arial"/>
                <a:cs typeface="Arial"/>
              </a:defRPr>
            </a:pPr>
            <a:r>
              <a:rPr sz="1650" b="0" i="0">
                <a:solidFill>
                  <a:srgbClr val="002B5E"/>
                </a:solidFill>
                <a:latin typeface="Arial"/>
                <a:ea typeface="Arial"/>
                <a:cs typeface="Arial"/>
              </a:rPr>
              <a:t>Implementation, initial testing, and next experiments</a:t>
            </a:r>
          </a:p>
        </p:txBody>
      </p:sp>
      <p:sp>
        <p:nvSpPr>
          <p:cNvPr id="6" name="Rectangle 5">
            <a:extLst xmlns:a="http://schemas.openxmlformats.org/drawingml/2006/main">
              <a:ext uri="{FF2B5EF4-FFF2-40B4-BE49-F238E27FC236}">
                <a16:creationId xmlns:a16="http://schemas.microsoft.com/office/drawing/2014/main" id="{D9309C42-2D64-4EE5-8746-FF314421DF2C}"/>
              </a:ext>
            </a:extLst>
          </p:cNvPr>
          <p:cNvSpPr>
            <a:spLocks xmlns:a="http://schemas.openxmlformats.org/drawingml/2006/main" noGrp="1"/>
          </p:cNvSpPr>
          <p:nvPr/>
        </p:nvSpPr>
        <p:spPr>
          <a:xfrm xmlns:a="http://schemas.openxmlformats.org/drawingml/2006/main">
            <a:off x="1666875" y="3981450"/>
            <a:ext cx="581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425" b="1" i="0">
                <a:solidFill>
                  <a:srgbClr val="003E7E"/>
                </a:solidFill>
                <a:latin typeface="Arial"/>
                <a:ea typeface="Arial"/>
                <a:cs typeface="Arial"/>
              </a:defRPr>
            </a:pPr>
            <a:r>
              <a:rPr sz="1425" b="1" i="0">
                <a:solidFill>
                  <a:srgbClr val="003E7E"/>
                </a:solidFill>
                <a:latin typeface="Arial"/>
                <a:ea typeface="Arial"/>
                <a:cs typeface="Arial"/>
              </a:rPr>
              <a:t>Bonded thickness prediction in PDMS dip coating</a:t>
            </a:r>
          </a:p>
        </p:txBody>
      </p:sp>
      <p:sp>
        <p:nvSpPr>
          <p:cNvPr id="7" name="Rectangle 6">
            <a:extLst xmlns:a="http://schemas.openxmlformats.org/drawingml/2006/main">
              <a:ext uri="{FF2B5EF4-FFF2-40B4-BE49-F238E27FC236}">
                <a16:creationId xmlns:a16="http://schemas.microsoft.com/office/drawing/2014/main" id="{95E88F13-7A93-4507-8850-AD7E7B56FDC3}"/>
              </a:ext>
            </a:extLst>
          </p:cNvPr>
          <p:cNvSpPr>
            <a:spLocks xmlns:a="http://schemas.openxmlformats.org/drawingml/2006/main" noGrp="1"/>
          </p:cNvSpPr>
          <p:nvPr/>
        </p:nvSpPr>
        <p:spPr>
          <a:xfrm xmlns:a="http://schemas.openxmlformats.org/drawingml/2006/main">
            <a:off x="3333750" y="4838700"/>
            <a:ext cx="2476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1350" b="0" i="0">
                <a:solidFill>
                  <a:srgbClr val="263645"/>
                </a:solidFill>
                <a:latin typeface="Arial"/>
                <a:ea typeface="Arial"/>
                <a:cs typeface="Arial"/>
              </a:defRPr>
            </a:pPr>
            <a:r>
              <a:rPr sz="1350" b="0" i="0">
                <a:solidFill>
                  <a:srgbClr val="263645"/>
                </a:solidFill>
                <a:latin typeface="Arial"/>
                <a:ea typeface="Arial"/>
                <a:cs typeface="Arial"/>
              </a:rPr>
              <a:t>Alexander Adams</a:t>
            </a:r>
          </a:p>
          <a:p xmlns:a="http://schemas.openxmlformats.org/drawingml/2006/main">
            <a:pPr algn="ctr">
              <a:lnSpc>
                <a:spcPct val="110000"/>
              </a:lnSpc>
              <a:buNone/>
              <a:defRPr sz="1350" b="0" i="0">
                <a:solidFill>
                  <a:srgbClr val="263645"/>
                </a:solidFill>
                <a:latin typeface="Arial"/>
                <a:ea typeface="Arial"/>
                <a:cs typeface="Arial"/>
              </a:defRPr>
            </a:pPr>
            <a:r>
              <a:rPr sz="1350" b="0" i="0">
                <a:solidFill>
                  <a:srgbClr val="263645"/>
                </a:solidFill>
                <a:latin typeface="Arial"/>
                <a:ea typeface="Arial"/>
                <a:cs typeface="Arial"/>
              </a:rPr>
              <a:t>Li Lab</a:t>
            </a:r>
          </a:p>
          <a:p xmlns:a="http://schemas.openxmlformats.org/drawingml/2006/main">
            <a:pPr algn="ctr">
              <a:lnSpc>
                <a:spcPct val="110000"/>
              </a:lnSpc>
              <a:buNone/>
              <a:defRPr sz="1350" b="0" i="0">
                <a:solidFill>
                  <a:srgbClr val="263645"/>
                </a:solidFill>
                <a:latin typeface="Arial"/>
                <a:ea typeface="Arial"/>
                <a:cs typeface="Arial"/>
              </a:defRPr>
            </a:pPr>
            <a:r>
              <a:rPr sz="1350" b="0" i="0">
                <a:solidFill>
                  <a:srgbClr val="263645"/>
                </a:solidFill>
                <a:latin typeface="Arial"/>
                <a:ea typeface="Arial"/>
                <a:cs typeface="Arial"/>
              </a:rPr>
              <a:t>October 14, 2026</a:t>
            </a:r>
          </a:p>
        </p:txBody>
      </p:sp>
    </p:spTree>
    <p:extLst>
      <p:ext uri="{BB962C8B-B14F-4D97-AF65-F5344CB8AC3E}">
        <p14:creationId xmlns:p14="http://schemas.microsoft.com/office/powerpoint/2010/main" val="138280187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2</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Introduction to physics-informed neural networks</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sp>
        <p:nvSpPr>
          <p:cNvPr id="13" name="content-4">
            <a:extLst xmlns:a="http://schemas.openxmlformats.org/drawingml/2006/main">
              <a:ext uri="{FF2B5EF4-FFF2-40B4-BE49-F238E27FC236}">
                <a16:creationId xmlns:a16="http://schemas.microsoft.com/office/drawing/2014/main" id="{26DE45C5-2399-4A7B-95CA-3BE45FCD5702}"/>
              </a:ext>
            </a:extLst>
          </p:cNvPr>
          <p:cNvSpPr>
            <a:spLocks xmlns:a="http://schemas.openxmlformats.org/drawingml/2006/main" noGrp="1"/>
          </p:cNvSpPr>
          <p:nvPr/>
        </p:nvSpPr>
        <p:spPr>
          <a:xfrm xmlns:a="http://schemas.openxmlformats.org/drawingml/2006/main">
            <a:off x="714375" y="1666875"/>
            <a:ext cx="7762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63645"/>
                </a:solidFill>
                <a:latin typeface="Arial"/>
                <a:ea typeface="Arial"/>
                <a:cs typeface="Arial"/>
              </a:defRPr>
            </a:defPPr>
          </a:lstStyle>
          <a:p xmlns:a="http://schemas.openxmlformats.org/drawingml/2006/main">
            <a:pPr algn="l">
              <a:defRPr sz="1725" b="0">
                <a:solidFill>
                  <a:srgbClr val="263645"/>
                </a:solidFill>
                <a:latin typeface="Arial"/>
                <a:ea typeface="Arial"/>
                <a:cs typeface="Arial"/>
              </a:defRPr>
            </a:pPr>
            <a:r>
              <a:rPr sz="1725" b="0">
                <a:solidFill>
                  <a:srgbClr val="263645"/>
                </a:solidFill>
                <a:latin typeface="Arial"/>
                <a:ea typeface="Arial"/>
                <a:cs typeface="Arial"/>
              </a:rPr>
              <a:t>A neural network learns a relationship between inputs and an output from examples. A PINN also uses physical rules to guide that relationship.</a:t>
            </a:r>
          </a:p>
        </p:txBody>
      </p:sp>
      <p:pic>
        <p:nvPicPr>
          <p:cNvPr id="14" name="">
            <a:extLst xmlns:a="http://schemas.openxmlformats.org/drawingml/2006/main">
              <a:ext uri="{FF2B5EF4-FFF2-40B4-BE49-F238E27FC236}">
                <a16:creationId xmlns:a16="http://schemas.microsoft.com/office/drawing/2014/main" id="{D05FA8EC-82BA-4D20-800E-1C22CD102B4C}"/>
              </a:ext>
            </a:extLst>
          </p:cNvPr>
          <p:cNvPicPr>
            <a:picLocks xmlns:a="http://schemas.openxmlformats.org/drawingml/2006/main" noChangeAspect="1"/>
          </p:cNvPicPr>
          <p:nvPr/>
        </p:nvPicPr>
        <p:blipFill>
          <a:blip xmlns:r="http://schemas.openxmlformats.org/officeDocument/2006/relationships" xmlns:a="http://schemas.openxmlformats.org/drawingml/2006/main" r:embed="R62502f844b754a58"/>
          <a:stretch xmlns:a="http://schemas.openxmlformats.org/drawingml/2006/main"/>
        </p:blipFill>
        <p:spPr>
          <a:xfrm xmlns:a="http://schemas.openxmlformats.org/drawingml/2006/main">
            <a:off x="820585" y="2524125"/>
            <a:ext cx="7502829" cy="3000375"/>
          </a:xfrm>
          <a:prstGeom xmlns:a="http://schemas.openxmlformats.org/drawingml/2006/main" prst="rect">
            <a:avLst/>
          </a:prstGeom>
        </p:spPr>
      </p:pic>
      <p:sp>
        <p:nvSpPr>
          <p:cNvPr id="15" name="content-5">
            <a:extLst xmlns:a="http://schemas.openxmlformats.org/drawingml/2006/main">
              <a:ext uri="{FF2B5EF4-FFF2-40B4-BE49-F238E27FC236}">
                <a16:creationId xmlns:a16="http://schemas.microsoft.com/office/drawing/2014/main" id="{38089F42-1C0D-43EF-B2E7-66438D411E5B}"/>
              </a:ext>
            </a:extLst>
          </p:cNvPr>
          <p:cNvSpPr>
            <a:spLocks xmlns:a="http://schemas.openxmlformats.org/drawingml/2006/main" noGrp="1"/>
          </p:cNvSpPr>
          <p:nvPr/>
        </p:nvSpPr>
        <p:spPr>
          <a:xfrm xmlns:a="http://schemas.openxmlformats.org/drawingml/2006/main">
            <a:off x="714375" y="5657850"/>
            <a:ext cx="7762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002B5E"/>
                </a:solidFill>
                <a:latin typeface="Arial"/>
                <a:ea typeface="Arial"/>
                <a:cs typeface="Arial"/>
              </a:defRPr>
            </a:defPPr>
          </a:lstStyle>
          <a:p xmlns:a="http://schemas.openxmlformats.org/drawingml/2006/main">
            <a:pPr algn="ctr">
              <a:defRPr sz="1575" b="1">
                <a:solidFill>
                  <a:srgbClr val="002B5E"/>
                </a:solidFill>
                <a:latin typeface="Arial"/>
                <a:ea typeface="Arial"/>
                <a:cs typeface="Arial"/>
              </a:defRPr>
            </a:pPr>
            <a:r>
              <a:rPr sz="1575" b="1">
                <a:solidFill>
                  <a:srgbClr val="002B5E"/>
                </a:solidFill>
                <a:latin typeface="Arial"/>
                <a:ea typeface="Arial"/>
                <a:cs typeface="Arial"/>
              </a:rPr>
              <a:t>In this project: predict bonded thickness, enforce its physical bound, and test smoothness or mechanistic penalties where justified.</a:t>
            </a:r>
          </a:p>
        </p:txBody>
      </p:sp>
    </p:spTree>
    <p:extLst>
      <p:ext uri="{BB962C8B-B14F-4D97-AF65-F5344CB8AC3E}">
        <p14:creationId xmlns:p14="http://schemas.microsoft.com/office/powerpoint/2010/main" val="138280187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3</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PINN implementation and initial findings</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sp>
        <p:nvSpPr>
          <p:cNvPr id="13" name="content-4">
            <a:extLst xmlns:a="http://schemas.openxmlformats.org/drawingml/2006/main">
              <a:ext uri="{FF2B5EF4-FFF2-40B4-BE49-F238E27FC236}">
                <a16:creationId xmlns:a16="http://schemas.microsoft.com/office/drawing/2014/main" id="{BDDDF223-2D12-4288-94E1-45AB0FE4EAD8}"/>
              </a:ext>
            </a:extLst>
          </p:cNvPr>
          <p:cNvSpPr>
            <a:spLocks xmlns:a="http://schemas.openxmlformats.org/drawingml/2006/main" noGrp="1"/>
          </p:cNvSpPr>
          <p:nvPr/>
        </p:nvSpPr>
        <p:spPr>
          <a:xfrm xmlns:a="http://schemas.openxmlformats.org/drawingml/2006/main">
            <a:off x="704850" y="1685925"/>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IMPLEMENTED</a:t>
            </a:r>
          </a:p>
        </p:txBody>
      </p:sp>
      <p:sp>
        <p:nvSpPr>
          <p:cNvPr id="14" name="content-5">
            <a:extLst xmlns:a="http://schemas.openxmlformats.org/drawingml/2006/main">
              <a:ext uri="{FF2B5EF4-FFF2-40B4-BE49-F238E27FC236}">
                <a16:creationId xmlns:a16="http://schemas.microsoft.com/office/drawing/2014/main" id="{EB852EDE-2307-4A79-A60F-5C554F601FA1}"/>
              </a:ext>
            </a:extLst>
          </p:cNvPr>
          <p:cNvSpPr>
            <a:spLocks xmlns:a="http://schemas.openxmlformats.org/drawingml/2006/main" noGrp="1"/>
          </p:cNvSpPr>
          <p:nvPr/>
        </p:nvSpPr>
        <p:spPr>
          <a:xfrm xmlns:a="http://schemas.openxmlformats.org/drawingml/2006/main">
            <a:off x="704850" y="2028825"/>
            <a:ext cx="3714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Compact PyTorch model predicts bonded thickness with an explicit physical bound.</a:t>
            </a:r>
          </a:p>
        </p:txBody>
      </p:sp>
      <p:sp>
        <p:nvSpPr>
          <p:cNvPr id="15" name="content-6">
            <a:extLst xmlns:a="http://schemas.openxmlformats.org/drawingml/2006/main">
              <a:ext uri="{FF2B5EF4-FFF2-40B4-BE49-F238E27FC236}">
                <a16:creationId xmlns:a16="http://schemas.microsoft.com/office/drawing/2014/main" id="{86126318-3173-431C-B2BA-01DD71293228}"/>
              </a:ext>
            </a:extLst>
          </p:cNvPr>
          <p:cNvSpPr>
            <a:spLocks xmlns:a="http://schemas.openxmlformats.org/drawingml/2006/main" noGrp="1"/>
          </p:cNvSpPr>
          <p:nvPr/>
        </p:nvSpPr>
        <p:spPr>
          <a:xfrm xmlns:a="http://schemas.openxmlformats.org/drawingml/2006/main">
            <a:off x="704850" y="2876550"/>
            <a:ext cx="3714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Five models share each split, including two neural ablations and tree baselines.</a:t>
            </a:r>
          </a:p>
        </p:txBody>
      </p:sp>
      <p:sp>
        <p:nvSpPr>
          <p:cNvPr id="16" name="content-7">
            <a:extLst xmlns:a="http://schemas.openxmlformats.org/drawingml/2006/main">
              <a:ext uri="{FF2B5EF4-FFF2-40B4-BE49-F238E27FC236}">
                <a16:creationId xmlns:a16="http://schemas.microsoft.com/office/drawing/2014/main" id="{0C1CF7FA-EBA4-4B70-9FF1-E3526FAB67E6}"/>
              </a:ext>
            </a:extLst>
          </p:cNvPr>
          <p:cNvSpPr>
            <a:spLocks xmlns:a="http://schemas.openxmlformats.org/drawingml/2006/main" noGrp="1"/>
          </p:cNvSpPr>
          <p:nvPr/>
        </p:nvSpPr>
        <p:spPr>
          <a:xfrm xmlns:a="http://schemas.openxmlformats.org/drawingml/2006/main">
            <a:off x="704850" y="3724275"/>
            <a:ext cx="3714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Versioned runs preserve source, data identity, checkpoints, and per-model results.</a:t>
            </a:r>
          </a:p>
        </p:txBody>
      </p:sp>
      <p:sp>
        <p:nvSpPr>
          <p:cNvPr id="17" name="content-8">
            <a:extLst xmlns:a="http://schemas.openxmlformats.org/drawingml/2006/main">
              <a:ext uri="{FF2B5EF4-FFF2-40B4-BE49-F238E27FC236}">
                <a16:creationId xmlns:a16="http://schemas.microsoft.com/office/drawing/2014/main" id="{F4831063-294C-45BD-939C-C9956E782971}"/>
              </a:ext>
            </a:extLst>
          </p:cNvPr>
          <p:cNvSpPr>
            <a:spLocks xmlns:a="http://schemas.openxmlformats.org/drawingml/2006/main" noGrp="1"/>
          </p:cNvSpPr>
          <p:nvPr/>
        </p:nvSpPr>
        <p:spPr>
          <a:xfrm xmlns:a="http://schemas.openxmlformats.org/drawingml/2006/main">
            <a:off x="5048250" y="1685925"/>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INITIAL FINDINGS</a:t>
            </a:r>
          </a:p>
        </p:txBody>
      </p:sp>
      <p:sp>
        <p:nvSpPr>
          <p:cNvPr id="18" name="content-9">
            <a:extLst xmlns:a="http://schemas.openxmlformats.org/drawingml/2006/main">
              <a:ext uri="{FF2B5EF4-FFF2-40B4-BE49-F238E27FC236}">
                <a16:creationId xmlns:a16="http://schemas.microsoft.com/office/drawing/2014/main" id="{A6725416-7758-46A5-82F9-6FAA9E4D9975}"/>
              </a:ext>
            </a:extLst>
          </p:cNvPr>
          <p:cNvSpPr>
            <a:spLocks xmlns:a="http://schemas.openxmlformats.org/drawingml/2006/main" noGrp="1"/>
          </p:cNvSpPr>
          <p:nvPr/>
        </p:nvSpPr>
        <p:spPr>
          <a:xfrm xmlns:a="http://schemas.openxmlformats.org/drawingml/2006/main">
            <a:off x="5048250" y="2028825"/>
            <a:ext cx="33909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Measured holdout: PINN RMSE 0.1223 nm. Gradient boosting performs best at 0.0649 nm.</a:t>
            </a:r>
          </a:p>
        </p:txBody>
      </p:sp>
      <p:sp>
        <p:nvSpPr>
          <p:cNvPr id="19" name="content-10">
            <a:extLst xmlns:a="http://schemas.openxmlformats.org/drawingml/2006/main">
              <a:ext uri="{FF2B5EF4-FFF2-40B4-BE49-F238E27FC236}">
                <a16:creationId xmlns:a16="http://schemas.microsoft.com/office/drawing/2014/main" id="{26A782D4-56E0-4687-B7FC-3D62F5BC491F}"/>
              </a:ext>
            </a:extLst>
          </p:cNvPr>
          <p:cNvSpPr>
            <a:spLocks xmlns:a="http://schemas.openxmlformats.org/drawingml/2006/main" noGrp="1"/>
          </p:cNvSpPr>
          <p:nvPr/>
        </p:nvSpPr>
        <p:spPr>
          <a:xfrm xmlns:a="http://schemas.openxmlformats.org/drawingml/2006/main">
            <a:off x="5048250" y="2876550"/>
            <a:ext cx="33909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Synthetic holdout: PINN RMSE 0.0557 nm and R² 0.905. Random forest remains stronger.</a:t>
            </a:r>
          </a:p>
        </p:txBody>
      </p:sp>
      <p:sp>
        <p:nvSpPr>
          <p:cNvPr id="20" name="content-11">
            <a:extLst xmlns:a="http://schemas.openxmlformats.org/drawingml/2006/main">
              <a:ext uri="{FF2B5EF4-FFF2-40B4-BE49-F238E27FC236}">
                <a16:creationId xmlns:a16="http://schemas.microsoft.com/office/drawing/2014/main" id="{9EF70807-1980-4F0A-9DDE-3556E6D3AF03}"/>
              </a:ext>
            </a:extLst>
          </p:cNvPr>
          <p:cNvSpPr>
            <a:spLocks xmlns:a="http://schemas.openxmlformats.org/drawingml/2006/main" noGrp="1"/>
          </p:cNvSpPr>
          <p:nvPr/>
        </p:nvSpPr>
        <p:spPr>
          <a:xfrm xmlns:a="http://schemas.openxmlformats.org/drawingml/2006/main">
            <a:off x="5048250" y="3724275"/>
            <a:ext cx="33909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The bound guarantees physical plausibility. Initial tests have not established an accuracy benefit.</a:t>
            </a:r>
          </a:p>
        </p:txBody>
      </p:sp>
      <p:sp>
        <p:nvSpPr>
          <p:cNvPr id="21" name="content-12">
            <a:extLst xmlns:a="http://schemas.openxmlformats.org/drawingml/2006/main">
              <a:ext uri="{FF2B5EF4-FFF2-40B4-BE49-F238E27FC236}">
                <a16:creationId xmlns:a16="http://schemas.microsoft.com/office/drawing/2014/main" id="{2DC5374C-5275-4AD2-B153-A089C3D839FB}"/>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Current scope: constrained inference from measured film state</a:t>
            </a:r>
          </a:p>
        </p:txBody>
      </p:sp>
    </p:spTree>
    <p:extLst>
      <p:ext uri="{BB962C8B-B14F-4D97-AF65-F5344CB8AC3E}">
        <p14:creationId xmlns:p14="http://schemas.microsoft.com/office/powerpoint/2010/main" val="138280187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4</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Implementation changes from v0.1 to v0.2</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graphicFrame>
        <p:nvGraphicFramePr>
          <p:cNvPr id="13" name="">
            <a:extLst xmlns:a="http://schemas.openxmlformats.org/drawingml/2006/main">
              <a:ext uri="{FF2B5EF4-FFF2-40B4-BE49-F238E27FC236}">
                <a16:creationId xmlns:a16="http://schemas.microsoft.com/office/drawing/2014/main" id="{28756239-56D7-4423-AC35-2D2C565D16CE}"/>
              </a:ext>
            </a:extLst>
          </p:cNvPr>
          <p:cNvGraphicFramePr/>
          <p:nvPr/>
        </p:nvGraphicFramePr>
        <p:xfrm>
          <a:off xmlns:a="http://schemas.openxmlformats.org/drawingml/2006/main" x="571500" y="1676400"/>
          <a:ext xmlns:a="http://schemas.openxmlformats.org/drawingml/2006/main" cx="8001000" cy="3705225"/>
        </p:xfrm>
        <a:graphic xmlns:a="http://schemas.openxmlformats.org/drawingml/2006/main">
          <a:graphicData uri="http://schemas.openxmlformats.org/drawingml/2006/table">
            <a:tbl>
              <a:tblPr/>
              <a:tblGrid>
                <a:gridCol w="1428750"/>
                <a:gridCol w="4057650"/>
                <a:gridCol w="2514600"/>
              </a:tblGrid>
              <a:tr h="617538">
                <a:tc>
                  <a:txBody>
                    <a:bodyPr>
                      <a:noAutofit/>
                    </a:bodyPr>
                    <a:lstStyle/>
                    <a:p>
                      <a:pPr algn="l"/>
                      <a:r>
                        <a:rPr sz="1275" b="1">
                          <a:solidFill>
                            <a:srgbClr val="FFFFFF"/>
                          </a:solidFill>
                          <a:latin typeface="Arial"/>
                          <a:ea typeface="Arial"/>
                          <a:cs typeface="Arial"/>
                        </a:rPr>
                        <a:t>Stage</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Implementation</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Reason</a:t>
                      </a:r>
                    </a:p>
                  </a:txBody>
                  <a:tcPr marL="85725" marR="85725" marT="76200" marB="76200" anchor="ctr">
                    <a:solidFill>
                      <a:srgbClr val="002B5E"/>
                    </a:solidFill>
                  </a:tcPr>
                </a:tc>
              </a:tr>
              <a:tr h="617538">
                <a:tc>
                  <a:txBody>
                    <a:bodyPr>
                      <a:noAutofit/>
                    </a:bodyPr>
                    <a:lstStyle/>
                    <a:p>
                      <a:pPr algn="l"/>
                      <a:r>
                        <a:rPr sz="1275" b="1">
                          <a:solidFill>
                            <a:srgbClr val="263645"/>
                          </a:solidFill>
                          <a:latin typeface="Arial"/>
                          <a:ea typeface="Arial"/>
                          <a:cs typeface="Arial"/>
                        </a:rPr>
                        <a:t>v0.1 baseline</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58 measured rows, three inputs</a:t>
                      </a:r>
                    </a:p>
                    <a:p>
                      <a:pPr algn="ctr"/>
                      <a:r>
                        <a:rPr sz="1275" b="0">
                          <a:solidFill>
                            <a:srgbClr val="263645"/>
                          </a:solidFill>
                          <a:latin typeface="Arial"/>
                          <a:ea typeface="Arial"/>
                          <a:cs typeface="Arial"/>
                        </a:rPr>
                        <a:t>Bounded tanh network and curvature prior</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Establish a transparent</a:t>
                      </a:r>
                    </a:p>
                    <a:p>
                      <a:pPr algn="ctr"/>
                      <a:r>
                        <a:rPr sz="1275" b="0">
                          <a:solidFill>
                            <a:srgbClr val="263645"/>
                          </a:solidFill>
                          <a:latin typeface="Arial"/>
                          <a:ea typeface="Arial"/>
                          <a:cs typeface="Arial"/>
                        </a:rPr>
                        <a:t>experimental baseline</a:t>
                      </a:r>
                    </a:p>
                  </a:txBody>
                  <a:tcPr marL="85725" marR="85725" marT="76200" marB="76200" anchor="ctr">
                    <a:solidFill>
                      <a:srgbClr val="FFFFFF"/>
                    </a:solidFill>
                  </a:tcPr>
                </a:tc>
              </a:tr>
              <a:tr h="617538">
                <a:tc>
                  <a:txBody>
                    <a:bodyPr>
                      <a:noAutofit/>
                    </a:bodyPr>
                    <a:lstStyle/>
                    <a:p>
                      <a:pPr algn="l"/>
                      <a:r>
                        <a:rPr sz="1275" b="1">
                          <a:solidFill>
                            <a:srgbClr val="263645"/>
                          </a:solidFill>
                          <a:latin typeface="Arial"/>
                          <a:ea typeface="Arial"/>
                          <a:cs typeface="Arial"/>
                        </a:rPr>
                        <a:t>v0.1 evaluation</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Grouped holdout and high-concentration test</a:t>
                      </a:r>
                    </a:p>
                    <a:p>
                      <a:pPr algn="ctr"/>
                      <a:r>
                        <a:rPr sz="1275" b="0">
                          <a:solidFill>
                            <a:srgbClr val="263645"/>
                          </a:solidFill>
                          <a:latin typeface="Arial"/>
                          <a:ea typeface="Arial"/>
                          <a:cs typeface="Arial"/>
                        </a:rPr>
                        <a:t>Bounded NN, standard NN, RF, and GB</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Separate accuracy, bounds,</a:t>
                      </a:r>
                    </a:p>
                    <a:p>
                      <a:pPr algn="ctr"/>
                      <a:r>
                        <a:rPr sz="1275" b="0">
                          <a:solidFill>
                            <a:srgbClr val="263645"/>
                          </a:solidFill>
                          <a:latin typeface="Arial"/>
                          <a:ea typeface="Arial"/>
                          <a:cs typeface="Arial"/>
                        </a:rPr>
                        <a:t>and extrapolation behavior</a:t>
                      </a:r>
                    </a:p>
                  </a:txBody>
                  <a:tcPr marL="85725" marR="85725" marT="76200" marB="76200" anchor="ctr">
                    <a:solidFill>
                      <a:srgbClr val="F7F5EF"/>
                    </a:solidFill>
                  </a:tcPr>
                </a:tc>
              </a:tr>
              <a:tr h="617538">
                <a:tc>
                  <a:txBody>
                    <a:bodyPr>
                      <a:noAutofit/>
                    </a:bodyPr>
                    <a:lstStyle/>
                    <a:p>
                      <a:pPr algn="l"/>
                      <a:r>
                        <a:rPr sz="1275" b="1">
                          <a:solidFill>
                            <a:srgbClr val="263645"/>
                          </a:solidFill>
                          <a:latin typeface="Arial"/>
                          <a:ea typeface="Arial"/>
                          <a:cs typeface="Arial"/>
                        </a:rPr>
                        <a:t>v0.2 synthetic study</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Seven inputs and audited 3k source</a:t>
                      </a:r>
                    </a:p>
                    <a:p>
                      <a:pPr algn="ctr"/>
                      <a:r>
                        <a:rPr sz="1275" b="0">
                          <a:solidFill>
                            <a:srgbClr val="263645"/>
                          </a:solidFill>
                          <a:latin typeface="Arial"/>
                          <a:ea typeface="Arial"/>
                          <a:cs typeface="Arial"/>
                        </a:rPr>
                        <a:t>Concentration-monotonicity ablation</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Test optimization at larger scale</a:t>
                      </a:r>
                    </a:p>
                    <a:p>
                      <a:pPr algn="ctr"/>
                      <a:r>
                        <a:rPr sz="1275" b="0">
                          <a:solidFill>
                            <a:srgbClr val="263645"/>
                          </a:solidFill>
                          <a:latin typeface="Arial"/>
                          <a:ea typeface="Arial"/>
                          <a:cs typeface="Arial"/>
                        </a:rPr>
                        <a:t>without claiming new experiments</a:t>
                      </a:r>
                    </a:p>
                  </a:txBody>
                  <a:tcPr marL="85725" marR="85725" marT="76200" marB="76200" anchor="ctr">
                    <a:solidFill>
                      <a:srgbClr val="FFFFFF"/>
                    </a:solidFill>
                  </a:tcPr>
                </a:tc>
              </a:tr>
              <a:tr h="617538">
                <a:tc>
                  <a:txBody>
                    <a:bodyPr>
                      <a:noAutofit/>
                    </a:bodyPr>
                    <a:lstStyle/>
                    <a:p>
                      <a:pPr algn="l"/>
                      <a:r>
                        <a:rPr sz="1275" b="1">
                          <a:solidFill>
                            <a:srgbClr val="263645"/>
                          </a:solidFill>
                          <a:latin typeface="Arial"/>
                          <a:ea typeface="Arial"/>
                          <a:cs typeface="Arial"/>
                        </a:rPr>
                        <a:t>v0.2 physics support</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Measured-velocity curvature</a:t>
                      </a:r>
                    </a:p>
                    <a:p>
                      <a:pPr algn="ctr"/>
                      <a:r>
                        <a:rPr sz="1275" b="0">
                          <a:solidFill>
                            <a:srgbClr val="263645"/>
                          </a:solidFill>
                          <a:latin typeface="Arial"/>
                          <a:ea typeface="Arial"/>
                          <a:cs typeface="Arial"/>
                        </a:rPr>
                        <a:t>Gated LLD mobile-layer residual</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Prepare all four slide constraints</a:t>
                      </a:r>
                    </a:p>
                    <a:p>
                      <a:pPr algn="ctr"/>
                      <a:r>
                        <a:rPr sz="1275" b="0">
                          <a:solidFill>
                            <a:srgbClr val="263645"/>
                          </a:solidFill>
                          <a:latin typeface="Arial"/>
                          <a:ea typeface="Arial"/>
                          <a:cs typeface="Arial"/>
                        </a:rPr>
                        <a:t>with explicit activation requirements</a:t>
                      </a:r>
                    </a:p>
                  </a:txBody>
                  <a:tcPr marL="85725" marR="85725" marT="76200" marB="76200" anchor="ctr">
                    <a:solidFill>
                      <a:srgbClr val="F7F5EF"/>
                    </a:solidFill>
                  </a:tcPr>
                </a:tc>
              </a:tr>
              <a:tr h="617538">
                <a:tc>
                  <a:txBody>
                    <a:bodyPr>
                      <a:noAutofit/>
                    </a:bodyPr>
                    <a:lstStyle/>
                    <a:p>
                      <a:pPr algn="l"/>
                      <a:r>
                        <a:rPr sz="1275" b="1">
                          <a:solidFill>
                            <a:srgbClr val="263645"/>
                          </a:solidFill>
                          <a:latin typeface="Arial"/>
                          <a:ea typeface="Arial"/>
                          <a:cs typeface="Arial"/>
                        </a:rPr>
                        <a:t>v0.2 provenance</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Dated run register and source snapshots</a:t>
                      </a:r>
                    </a:p>
                    <a:p>
                      <a:pPr algn="ctr"/>
                      <a:r>
                        <a:rPr sz="1275" b="0">
                          <a:solidFill>
                            <a:srgbClr val="263645"/>
                          </a:solidFill>
                          <a:latin typeface="Arial"/>
                          <a:ea typeface="Arial"/>
                          <a:cs typeface="Arial"/>
                        </a:rPr>
                        <a:t>Published code, data, results, and checkpoints</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Make each experiment</a:t>
                      </a:r>
                    </a:p>
                    <a:p>
                      <a:pPr algn="ctr"/>
                      <a:r>
                        <a:rPr sz="1275" b="0">
                          <a:solidFill>
                            <a:srgbClr val="263645"/>
                          </a:solidFill>
                          <a:latin typeface="Arial"/>
                          <a:ea typeface="Arial"/>
                          <a:cs typeface="Arial"/>
                        </a:rPr>
                        <a:t>reviewable and reproducible</a:t>
                      </a:r>
                    </a:p>
                  </a:txBody>
                  <a:tcPr marL="85725" marR="85725" marT="76200" marB="76200" anchor="ctr">
                    <a:solidFill>
                      <a:srgbClr val="FFFFFF"/>
                    </a:solidFill>
                  </a:tcPr>
                </a:tc>
              </a:tr>
            </a:tbl>
          </a:graphicData>
        </a:graphic>
      </p:graphicFrame>
      <p:sp>
        <p:nvSpPr>
          <p:cNvPr id="14" name="content-4">
            <a:extLst xmlns:a="http://schemas.openxmlformats.org/drawingml/2006/main">
              <a:ext uri="{FF2B5EF4-FFF2-40B4-BE49-F238E27FC236}">
                <a16:creationId xmlns:a16="http://schemas.microsoft.com/office/drawing/2014/main" id="{0AAC2644-6687-4789-ACD1-E3BF15276BF5}"/>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Five archived runs cover the measured baseline, extrapolation, and synthetic ablation</a:t>
            </a:r>
          </a:p>
        </p:txBody>
      </p:sp>
    </p:spTree>
    <p:extLst>
      <p:ext uri="{BB962C8B-B14F-4D97-AF65-F5344CB8AC3E}">
        <p14:creationId xmlns:p14="http://schemas.microsoft.com/office/powerpoint/2010/main" val="138280187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5</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Measured and synthetic data audits</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sp>
        <p:nvSpPr>
          <p:cNvPr id="13" name="content-4">
            <a:extLst xmlns:a="http://schemas.openxmlformats.org/drawingml/2006/main">
              <a:ext uri="{FF2B5EF4-FFF2-40B4-BE49-F238E27FC236}">
                <a16:creationId xmlns:a16="http://schemas.microsoft.com/office/drawing/2014/main" id="{373D1132-B6AC-4871-8E2D-51B1FD5ED482}"/>
              </a:ext>
            </a:extLst>
          </p:cNvPr>
          <p:cNvSpPr>
            <a:spLocks xmlns:a="http://schemas.openxmlformats.org/drawingml/2006/main" noGrp="1"/>
          </p:cNvSpPr>
          <p:nvPr/>
        </p:nvSpPr>
        <p:spPr>
          <a:xfrm xmlns:a="http://schemas.openxmlformats.org/drawingml/2006/main">
            <a:off x="704850" y="1676400"/>
            <a:ext cx="381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MEASURED BASELINE</a:t>
            </a:r>
          </a:p>
        </p:txBody>
      </p:sp>
      <p:sp>
        <p:nvSpPr>
          <p:cNvPr id="14" name="content-5">
            <a:extLst xmlns:a="http://schemas.openxmlformats.org/drawingml/2006/main">
              <a:ext uri="{FF2B5EF4-FFF2-40B4-BE49-F238E27FC236}">
                <a16:creationId xmlns:a16="http://schemas.microsoft.com/office/drawing/2014/main" id="{FC144926-CC83-4F8A-A1AB-B7E53868CE90}"/>
              </a:ext>
            </a:extLst>
          </p:cNvPr>
          <p:cNvSpPr>
            <a:spLocks xmlns:a="http://schemas.openxmlformats.org/drawingml/2006/main" noGrp="1"/>
          </p:cNvSpPr>
          <p:nvPr/>
        </p:nvSpPr>
        <p:spPr>
          <a:xfrm xmlns:a="http://schemas.openxmlformats.org/drawingml/2006/main">
            <a:off x="704850" y="2028825"/>
            <a:ext cx="2571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948151"/>
                </a:solidFill>
                <a:latin typeface="Arial"/>
                <a:ea typeface="Arial"/>
                <a:cs typeface="Arial"/>
              </a:defRPr>
            </a:defPPr>
          </a:lstStyle>
          <a:p xmlns:a="http://schemas.openxmlformats.org/drawingml/2006/main">
            <a:pPr algn="l">
              <a:defRPr sz="3150" b="1">
                <a:solidFill>
                  <a:srgbClr val="948151"/>
                </a:solidFill>
                <a:latin typeface="Arial"/>
                <a:ea typeface="Arial"/>
                <a:cs typeface="Arial"/>
              </a:defRPr>
            </a:pPr>
            <a:r>
              <a:rPr sz="3150" b="1">
                <a:solidFill>
                  <a:srgbClr val="948151"/>
                </a:solidFill>
                <a:latin typeface="Arial"/>
                <a:ea typeface="Arial"/>
                <a:cs typeface="Arial"/>
              </a:rPr>
              <a:t>58</a:t>
            </a:r>
          </a:p>
        </p:txBody>
      </p:sp>
      <p:sp>
        <p:nvSpPr>
          <p:cNvPr id="15" name="content-6">
            <a:extLst xmlns:a="http://schemas.openxmlformats.org/drawingml/2006/main">
              <a:ext uri="{FF2B5EF4-FFF2-40B4-BE49-F238E27FC236}">
                <a16:creationId xmlns:a16="http://schemas.microsoft.com/office/drawing/2014/main" id="{1F3472FE-8C20-4CEA-A4C5-8537447F8DBC}"/>
              </a:ext>
            </a:extLst>
          </p:cNvPr>
          <p:cNvSpPr>
            <a:spLocks xmlns:a="http://schemas.openxmlformats.org/drawingml/2006/main" noGrp="1"/>
          </p:cNvSpPr>
          <p:nvPr/>
        </p:nvSpPr>
        <p:spPr>
          <a:xfrm xmlns:a="http://schemas.openxmlformats.org/drawingml/2006/main">
            <a:off x="704850" y="2724150"/>
            <a:ext cx="333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63645"/>
                </a:solidFill>
                <a:latin typeface="Arial"/>
                <a:ea typeface="Arial"/>
                <a:cs typeface="Arial"/>
              </a:defRPr>
            </a:defPPr>
          </a:lstStyle>
          <a:p xmlns:a="http://schemas.openxmlformats.org/drawingml/2006/main">
            <a:pPr algn="l">
              <a:defRPr sz="1650" b="0">
                <a:solidFill>
                  <a:srgbClr val="263645"/>
                </a:solidFill>
                <a:latin typeface="Arial"/>
                <a:ea typeface="Arial"/>
                <a:cs typeface="Arial"/>
              </a:defRPr>
            </a:pPr>
            <a:r>
              <a:rPr sz="1650" b="0">
                <a:solidFill>
                  <a:srgbClr val="263645"/>
                </a:solidFill>
                <a:latin typeface="Arial"/>
                <a:ea typeface="Arial"/>
                <a:cs typeface="Arial"/>
              </a:rPr>
              <a:t>Hexane observations</a:t>
            </a:r>
          </a:p>
          <a:p xmlns:a="http://schemas.openxmlformats.org/drawingml/2006/main">
            <a:pPr algn="l">
              <a:defRPr sz="1650" b="0">
                <a:solidFill>
                  <a:srgbClr val="263645"/>
                </a:solidFill>
                <a:latin typeface="Arial"/>
                <a:ea typeface="Arial"/>
                <a:cs typeface="Arial"/>
              </a:defRPr>
            </a:pPr>
            <a:r>
              <a:rPr sz="1650" b="0">
                <a:solidFill>
                  <a:srgbClr val="263645"/>
                </a:solidFill>
                <a:latin typeface="Arial"/>
                <a:ea typeface="Arial"/>
                <a:cs typeface="Arial"/>
              </a:rPr>
              <a:t>16 concentration levels</a:t>
            </a:r>
          </a:p>
          <a:p xmlns:a="http://schemas.openxmlformats.org/drawingml/2006/main">
            <a:pPr algn="l">
              <a:defRPr sz="1650" b="0">
                <a:solidFill>
                  <a:srgbClr val="263645"/>
                </a:solidFill>
                <a:latin typeface="Arial"/>
                <a:ea typeface="Arial"/>
                <a:cs typeface="Arial"/>
              </a:defRPr>
            </a:pPr>
            <a:r>
              <a:rPr sz="1650" b="0">
                <a:solidFill>
                  <a:srgbClr val="263645"/>
                </a:solidFill>
                <a:latin typeface="Arial"/>
                <a:ea typeface="Arial"/>
                <a:cs typeface="Arial"/>
              </a:rPr>
              <a:t>Three predictors and one target</a:t>
            </a:r>
          </a:p>
        </p:txBody>
      </p:sp>
      <p:sp>
        <p:nvSpPr>
          <p:cNvPr id="16" name="content-7">
            <a:extLst xmlns:a="http://schemas.openxmlformats.org/drawingml/2006/main">
              <a:ext uri="{FF2B5EF4-FFF2-40B4-BE49-F238E27FC236}">
                <a16:creationId xmlns:a16="http://schemas.microsoft.com/office/drawing/2014/main" id="{CA6AD199-9829-4ECB-A7E5-163D1E1E01B4}"/>
              </a:ext>
            </a:extLst>
          </p:cNvPr>
          <p:cNvSpPr>
            <a:spLocks xmlns:a="http://schemas.openxmlformats.org/drawingml/2006/main" noGrp="1"/>
          </p:cNvSpPr>
          <p:nvPr/>
        </p:nvSpPr>
        <p:spPr>
          <a:xfrm xmlns:a="http://schemas.openxmlformats.org/drawingml/2006/main">
            <a:off x="704850" y="409575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All 58 rows pass the numerical</a:t>
            </a:r>
          </a:p>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and thickness-bound checks.</a:t>
            </a:r>
          </a:p>
        </p:txBody>
      </p:sp>
      <p:sp>
        <p:nvSpPr>
          <p:cNvPr id="17" name="content-8">
            <a:extLst xmlns:a="http://schemas.openxmlformats.org/drawingml/2006/main">
              <a:ext uri="{FF2B5EF4-FFF2-40B4-BE49-F238E27FC236}">
                <a16:creationId xmlns:a16="http://schemas.microsoft.com/office/drawing/2014/main" id="{2E73371C-C0A5-4E8B-A7AC-8904E2D44C0A}"/>
              </a:ext>
            </a:extLst>
          </p:cNvPr>
          <p:cNvSpPr>
            <a:spLocks xmlns:a="http://schemas.openxmlformats.org/drawingml/2006/main" noGrp="1"/>
          </p:cNvSpPr>
          <p:nvPr/>
        </p:nvSpPr>
        <p:spPr>
          <a:xfrm xmlns:a="http://schemas.openxmlformats.org/drawingml/2006/main">
            <a:off x="4733925" y="1676400"/>
            <a:ext cx="381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SYNTHETIC SOURCE</a:t>
            </a:r>
          </a:p>
        </p:txBody>
      </p:sp>
      <p:graphicFrame>
        <p:nvGraphicFramePr>
          <p:cNvPr id="18" name="">
            <a:extLst xmlns:a="http://schemas.openxmlformats.org/drawingml/2006/main">
              <a:ext uri="{FF2B5EF4-FFF2-40B4-BE49-F238E27FC236}">
                <a16:creationId xmlns:a16="http://schemas.microsoft.com/office/drawing/2014/main" id="{C94ADBB6-F168-429E-A96F-643137C44ACB}"/>
              </a:ext>
            </a:extLst>
          </p:cNvPr>
          <p:cNvGraphicFramePr/>
          <p:nvPr/>
        </p:nvGraphicFramePr>
        <p:xfrm>
          <a:off xmlns:a="http://schemas.openxmlformats.org/drawingml/2006/main" x="4733925" y="2038350"/>
          <a:ext xmlns:a="http://schemas.openxmlformats.org/drawingml/2006/main" cx="3705225" cy="3143250"/>
        </p:xfrm>
        <a:graphic xmlns:a="http://schemas.openxmlformats.org/drawingml/2006/main">
          <a:graphicData uri="http://schemas.openxmlformats.org/drawingml/2006/table">
            <a:tbl>
              <a:tblPr/>
              <a:tblGrid>
                <a:gridCol w="2647950"/>
                <a:gridCol w="1057275"/>
              </a:tblGrid>
              <a:tr h="449036">
                <a:tc>
                  <a:txBody>
                    <a:bodyPr>
                      <a:noAutofit/>
                    </a:bodyPr>
                    <a:lstStyle/>
                    <a:p>
                      <a:pPr algn="l"/>
                      <a:r>
                        <a:rPr sz="1350" b="1">
                          <a:solidFill>
                            <a:srgbClr val="FFFFFF"/>
                          </a:solidFill>
                          <a:latin typeface="Arial"/>
                          <a:ea typeface="Arial"/>
                          <a:cs typeface="Arial"/>
                        </a:rPr>
                        <a:t>Audit check</a:t>
                      </a:r>
                    </a:p>
                  </a:txBody>
                  <a:tcPr marL="85725" marR="85725" marT="76200" marB="76200" anchor="ctr">
                    <a:solidFill>
                      <a:srgbClr val="002B5E"/>
                    </a:solidFill>
                  </a:tcPr>
                </a:tc>
                <a:tc>
                  <a:txBody>
                    <a:bodyPr>
                      <a:noAutofit/>
                    </a:bodyPr>
                    <a:lstStyle/>
                    <a:p>
                      <a:pPr algn="ctr"/>
                      <a:r>
                        <a:rPr sz="1350" b="1">
                          <a:solidFill>
                            <a:srgbClr val="FFFFFF"/>
                          </a:solidFill>
                          <a:latin typeface="Arial"/>
                          <a:ea typeface="Arial"/>
                          <a:cs typeface="Arial"/>
                        </a:rPr>
                        <a:t>Rows</a:t>
                      </a:r>
                    </a:p>
                  </a:txBody>
                  <a:tcPr marL="85725" marR="85725" marT="76200" marB="76200" anchor="ctr">
                    <a:solidFill>
                      <a:srgbClr val="002B5E"/>
                    </a:solidFill>
                  </a:tcPr>
                </a:tc>
              </a:tr>
              <a:tr h="449036">
                <a:tc>
                  <a:txBody>
                    <a:bodyPr>
                      <a:noAutofit/>
                    </a:bodyPr>
                    <a:lstStyle/>
                    <a:p>
                      <a:pPr algn="l"/>
                      <a:r>
                        <a:rPr sz="1350" b="1">
                          <a:solidFill>
                            <a:srgbClr val="263645"/>
                          </a:solidFill>
                          <a:latin typeface="Arial"/>
                          <a:ea typeface="Arial"/>
                          <a:cs typeface="Arial"/>
                        </a:rPr>
                        <a:t>Raw combined source</a:t>
                      </a:r>
                    </a:p>
                  </a:txBody>
                  <a:tcPr marL="85725" marR="85725" marT="76200" marB="76200" anchor="ctr">
                    <a:solidFill>
                      <a:srgbClr val="FFFFFF"/>
                    </a:solidFill>
                  </a:tcPr>
                </a:tc>
                <a:tc>
                  <a:txBody>
                    <a:bodyPr>
                      <a:noAutofit/>
                    </a:bodyPr>
                    <a:lstStyle/>
                    <a:p>
                      <a:pPr algn="ctr"/>
                      <a:r>
                        <a:rPr sz="1350" b="0">
                          <a:solidFill>
                            <a:srgbClr val="263645"/>
                          </a:solidFill>
                          <a:latin typeface="Arial"/>
                          <a:ea typeface="Arial"/>
                          <a:cs typeface="Arial"/>
                        </a:rPr>
                        <a:t>3,000</a:t>
                      </a:r>
                    </a:p>
                  </a:txBody>
                  <a:tcPr marL="85725" marR="85725" marT="76200" marB="76200" anchor="ctr">
                    <a:solidFill>
                      <a:srgbClr val="FFFFFF"/>
                    </a:solidFill>
                  </a:tcPr>
                </a:tc>
              </a:tr>
              <a:tr h="449036">
                <a:tc>
                  <a:txBody>
                    <a:bodyPr>
                      <a:noAutofit/>
                    </a:bodyPr>
                    <a:lstStyle/>
                    <a:p>
                      <a:pPr algn="l"/>
                      <a:r>
                        <a:rPr sz="1350" b="1">
                          <a:solidFill>
                            <a:srgbClr val="263645"/>
                          </a:solidFill>
                          <a:latin typeface="Arial"/>
                          <a:ea typeface="Arial"/>
                          <a:cs typeface="Arial"/>
                        </a:rPr>
                        <a:t>Nonpositive concentration</a:t>
                      </a:r>
                    </a:p>
                  </a:txBody>
                  <a:tcPr marL="85725" marR="85725" marT="76200" marB="76200" anchor="ctr">
                    <a:solidFill>
                      <a:srgbClr val="F7F5EF"/>
                    </a:solidFill>
                  </a:tcPr>
                </a:tc>
                <a:tc>
                  <a:txBody>
                    <a:bodyPr>
                      <a:noAutofit/>
                    </a:bodyPr>
                    <a:lstStyle/>
                    <a:p>
                      <a:pPr algn="ctr"/>
                      <a:r>
                        <a:rPr sz="1350" b="0">
                          <a:solidFill>
                            <a:srgbClr val="263645"/>
                          </a:solidFill>
                          <a:latin typeface="Arial"/>
                          <a:ea typeface="Arial"/>
                          <a:cs typeface="Arial"/>
                        </a:rPr>
                        <a:t>182</a:t>
                      </a:r>
                    </a:p>
                  </a:txBody>
                  <a:tcPr marL="85725" marR="85725" marT="76200" marB="76200" anchor="ctr">
                    <a:solidFill>
                      <a:srgbClr val="F7F5EF"/>
                    </a:solidFill>
                  </a:tcPr>
                </a:tc>
              </a:tr>
              <a:tr h="449036">
                <a:tc>
                  <a:txBody>
                    <a:bodyPr>
                      <a:noAutofit/>
                    </a:bodyPr>
                    <a:lstStyle/>
                    <a:p>
                      <a:pPr algn="l"/>
                      <a:r>
                        <a:rPr sz="1350" b="1">
                          <a:solidFill>
                            <a:srgbClr val="263645"/>
                          </a:solidFill>
                          <a:latin typeface="Arial"/>
                          <a:ea typeface="Arial"/>
                          <a:cs typeface="Arial"/>
                        </a:rPr>
                        <a:t>Nonpositive total thickness</a:t>
                      </a:r>
                    </a:p>
                  </a:txBody>
                  <a:tcPr marL="85725" marR="85725" marT="76200" marB="76200" anchor="ctr">
                    <a:solidFill>
                      <a:srgbClr val="FFFFFF"/>
                    </a:solidFill>
                  </a:tcPr>
                </a:tc>
                <a:tc>
                  <a:txBody>
                    <a:bodyPr>
                      <a:noAutofit/>
                    </a:bodyPr>
                    <a:lstStyle/>
                    <a:p>
                      <a:pPr algn="ctr"/>
                      <a:r>
                        <a:rPr sz="1350" b="0">
                          <a:solidFill>
                            <a:srgbClr val="263645"/>
                          </a:solidFill>
                          <a:latin typeface="Arial"/>
                          <a:ea typeface="Arial"/>
                          <a:cs typeface="Arial"/>
                        </a:rPr>
                        <a:t>6</a:t>
                      </a:r>
                    </a:p>
                  </a:txBody>
                  <a:tcPr marL="85725" marR="85725" marT="76200" marB="76200" anchor="ctr">
                    <a:solidFill>
                      <a:srgbClr val="FFFFFF"/>
                    </a:solidFill>
                  </a:tcPr>
                </a:tc>
              </a:tr>
              <a:tr h="449036">
                <a:tc>
                  <a:txBody>
                    <a:bodyPr>
                      <a:noAutofit/>
                    </a:bodyPr>
                    <a:lstStyle/>
                    <a:p>
                      <a:pPr algn="l"/>
                      <a:r>
                        <a:rPr sz="1350" b="1">
                          <a:solidFill>
                            <a:srgbClr val="263645"/>
                          </a:solidFill>
                          <a:latin typeface="Arial"/>
                          <a:ea typeface="Arial"/>
                          <a:cs typeface="Arial"/>
                        </a:rPr>
                        <a:t>Bonded greater than total</a:t>
                      </a:r>
                    </a:p>
                  </a:txBody>
                  <a:tcPr marL="85725" marR="85725" marT="76200" marB="76200" anchor="ctr">
                    <a:solidFill>
                      <a:srgbClr val="F7F5EF"/>
                    </a:solidFill>
                  </a:tcPr>
                </a:tc>
                <a:tc>
                  <a:txBody>
                    <a:bodyPr>
                      <a:noAutofit/>
                    </a:bodyPr>
                    <a:lstStyle/>
                    <a:p>
                      <a:pPr algn="ctr"/>
                      <a:r>
                        <a:rPr sz="1350" b="0">
                          <a:solidFill>
                            <a:srgbClr val="263645"/>
                          </a:solidFill>
                          <a:latin typeface="Arial"/>
                          <a:ea typeface="Arial"/>
                          <a:cs typeface="Arial"/>
                        </a:rPr>
                        <a:t>113</a:t>
                      </a:r>
                    </a:p>
                  </a:txBody>
                  <a:tcPr marL="85725" marR="85725" marT="76200" marB="76200" anchor="ctr">
                    <a:solidFill>
                      <a:srgbClr val="F7F5EF"/>
                    </a:solidFill>
                  </a:tcPr>
                </a:tc>
              </a:tr>
              <a:tr h="449036">
                <a:tc>
                  <a:txBody>
                    <a:bodyPr>
                      <a:noAutofit/>
                    </a:bodyPr>
                    <a:lstStyle/>
                    <a:p>
                      <a:pPr algn="l"/>
                      <a:r>
                        <a:rPr sz="1350" b="1">
                          <a:solidFill>
                            <a:srgbClr val="263645"/>
                          </a:solidFill>
                          <a:latin typeface="Arial"/>
                          <a:ea typeface="Arial"/>
                          <a:cs typeface="Arial"/>
                        </a:rPr>
                        <a:t>Unique excluded rows</a:t>
                      </a:r>
                    </a:p>
                  </a:txBody>
                  <a:tcPr marL="85725" marR="85725" marT="76200" marB="76200" anchor="ctr">
                    <a:solidFill>
                      <a:srgbClr val="FFFFFF"/>
                    </a:solidFill>
                  </a:tcPr>
                </a:tc>
                <a:tc>
                  <a:txBody>
                    <a:bodyPr>
                      <a:noAutofit/>
                    </a:bodyPr>
                    <a:lstStyle/>
                    <a:p>
                      <a:pPr algn="ctr"/>
                      <a:r>
                        <a:rPr sz="1350" b="0">
                          <a:solidFill>
                            <a:srgbClr val="263645"/>
                          </a:solidFill>
                          <a:latin typeface="Arial"/>
                          <a:ea typeface="Arial"/>
                          <a:cs typeface="Arial"/>
                        </a:rPr>
                        <a:t>192</a:t>
                      </a:r>
                    </a:p>
                  </a:txBody>
                  <a:tcPr marL="85725" marR="85725" marT="76200" marB="76200" anchor="ctr">
                    <a:solidFill>
                      <a:srgbClr val="FFFFFF"/>
                    </a:solidFill>
                  </a:tcPr>
                </a:tc>
              </a:tr>
              <a:tr h="449036">
                <a:tc>
                  <a:txBody>
                    <a:bodyPr>
                      <a:noAutofit/>
                    </a:bodyPr>
                    <a:lstStyle/>
                    <a:p>
                      <a:pPr algn="l"/>
                      <a:r>
                        <a:rPr sz="1350" b="1">
                          <a:solidFill>
                            <a:srgbClr val="263645"/>
                          </a:solidFill>
                          <a:latin typeface="Arial"/>
                          <a:ea typeface="Arial"/>
                          <a:cs typeface="Arial"/>
                        </a:rPr>
                        <a:t>Retained rows</a:t>
                      </a:r>
                    </a:p>
                  </a:txBody>
                  <a:tcPr marL="85725" marR="85725" marT="76200" marB="76200" anchor="ctr">
                    <a:solidFill>
                      <a:srgbClr val="F3ECD6"/>
                    </a:solidFill>
                  </a:tcPr>
                </a:tc>
                <a:tc>
                  <a:txBody>
                    <a:bodyPr>
                      <a:noAutofit/>
                    </a:bodyPr>
                    <a:lstStyle/>
                    <a:p>
                      <a:pPr algn="ctr"/>
                      <a:r>
                        <a:rPr sz="1350" b="1">
                          <a:solidFill>
                            <a:srgbClr val="263645"/>
                          </a:solidFill>
                          <a:latin typeface="Arial"/>
                          <a:ea typeface="Arial"/>
                          <a:cs typeface="Arial"/>
                        </a:rPr>
                        <a:t>2,808</a:t>
                      </a:r>
                    </a:p>
                  </a:txBody>
                  <a:tcPr marL="85725" marR="85725" marT="76200" marB="76200" anchor="ctr">
                    <a:solidFill>
                      <a:srgbClr val="F3ECD6"/>
                    </a:solidFill>
                  </a:tcPr>
                </a:tc>
              </a:tr>
            </a:tbl>
          </a:graphicData>
        </a:graphic>
      </p:graphicFrame>
      <p:sp>
        <p:nvSpPr>
          <p:cNvPr id="19" name="content-9">
            <a:extLst xmlns:a="http://schemas.openxmlformats.org/drawingml/2006/main">
              <a:ext uri="{FF2B5EF4-FFF2-40B4-BE49-F238E27FC236}">
                <a16:creationId xmlns:a16="http://schemas.microsoft.com/office/drawing/2014/main" id="{47E24257-A676-46F1-9567-D2B418019AF1}"/>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Exclusion reasons overlap. Preserve the raw source and original row IDs</a:t>
            </a:r>
          </a:p>
        </p:txBody>
      </p:sp>
    </p:spTree>
    <p:extLst>
      <p:ext uri="{BB962C8B-B14F-4D97-AF65-F5344CB8AC3E}">
        <p14:creationId xmlns:p14="http://schemas.microsoft.com/office/powerpoint/2010/main" val="138280187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6</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Feature choices and preprocessing</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graphicFrame>
        <p:nvGraphicFramePr>
          <p:cNvPr id="13" name="">
            <a:extLst xmlns:a="http://schemas.openxmlformats.org/drawingml/2006/main">
              <a:ext uri="{FF2B5EF4-FFF2-40B4-BE49-F238E27FC236}">
                <a16:creationId xmlns:a16="http://schemas.microsoft.com/office/drawing/2014/main" id="{6AC8E51A-EB4C-4CA4-B32C-A9115880E505}"/>
              </a:ext>
            </a:extLst>
          </p:cNvPr>
          <p:cNvGraphicFramePr/>
          <p:nvPr/>
        </p:nvGraphicFramePr>
        <p:xfrm>
          <a:off xmlns:a="http://schemas.openxmlformats.org/drawingml/2006/main" x="571500" y="1685925"/>
          <a:ext xmlns:a="http://schemas.openxmlformats.org/drawingml/2006/main" cx="8001000" cy="3286125"/>
        </p:xfrm>
        <a:graphic xmlns:a="http://schemas.openxmlformats.org/drawingml/2006/main">
          <a:graphicData uri="http://schemas.openxmlformats.org/drawingml/2006/table">
            <a:tbl>
              <a:tblPr/>
              <a:tblGrid>
                <a:gridCol w="2038350"/>
                <a:gridCol w="2762250"/>
                <a:gridCol w="3200400"/>
              </a:tblGrid>
              <a:tr h="547688">
                <a:tc>
                  <a:txBody>
                    <a:bodyPr>
                      <a:noAutofit/>
                    </a:bodyPr>
                    <a:lstStyle/>
                    <a:p>
                      <a:pPr algn="l"/>
                      <a:r>
                        <a:rPr sz="1350" b="1">
                          <a:solidFill>
                            <a:srgbClr val="FFFFFF"/>
                          </a:solidFill>
                          <a:latin typeface="Arial"/>
                          <a:ea typeface="Arial"/>
                          <a:cs typeface="Arial"/>
                        </a:rPr>
                        <a:t>Feature group</a:t>
                      </a:r>
                    </a:p>
                  </a:txBody>
                  <a:tcPr marL="85725" marR="85725" marT="76200" marB="76200" anchor="ctr">
                    <a:solidFill>
                      <a:srgbClr val="002B5E"/>
                    </a:solidFill>
                  </a:tcPr>
                </a:tc>
                <a:tc>
                  <a:txBody>
                    <a:bodyPr>
                      <a:noAutofit/>
                    </a:bodyPr>
                    <a:lstStyle/>
                    <a:p>
                      <a:pPr algn="ctr"/>
                      <a:r>
                        <a:rPr sz="1350" b="1">
                          <a:solidFill>
                            <a:srgbClr val="FFFFFF"/>
                          </a:solidFill>
                          <a:latin typeface="Arial"/>
                          <a:ea typeface="Arial"/>
                          <a:cs typeface="Arial"/>
                        </a:rPr>
                        <a:t>Measured run</a:t>
                      </a:r>
                    </a:p>
                  </a:txBody>
                  <a:tcPr marL="85725" marR="85725" marT="76200" marB="76200" anchor="ctr">
                    <a:solidFill>
                      <a:srgbClr val="002B5E"/>
                    </a:solidFill>
                  </a:tcPr>
                </a:tc>
                <a:tc>
                  <a:txBody>
                    <a:bodyPr>
                      <a:noAutofit/>
                    </a:bodyPr>
                    <a:lstStyle/>
                    <a:p>
                      <a:pPr algn="ctr"/>
                      <a:r>
                        <a:rPr sz="1350" b="1">
                          <a:solidFill>
                            <a:srgbClr val="FFFFFF"/>
                          </a:solidFill>
                          <a:latin typeface="Arial"/>
                          <a:ea typeface="Arial"/>
                          <a:cs typeface="Arial"/>
                        </a:rPr>
                        <a:t>Synthetic run</a:t>
                      </a:r>
                    </a:p>
                  </a:txBody>
                  <a:tcPr marL="85725" marR="85725" marT="76200" marB="76200" anchor="ctr">
                    <a:solidFill>
                      <a:srgbClr val="002B5E"/>
                    </a:solidFill>
                  </a:tcPr>
                </a:tc>
              </a:tr>
              <a:tr h="547688">
                <a:tc>
                  <a:txBody>
                    <a:bodyPr>
                      <a:noAutofit/>
                    </a:bodyPr>
                    <a:lstStyle/>
                    <a:p>
                      <a:pPr algn="l"/>
                      <a:r>
                        <a:rPr sz="1350" b="1">
                          <a:solidFill>
                            <a:srgbClr val="263645"/>
                          </a:solidFill>
                          <a:latin typeface="Arial"/>
                          <a:ea typeface="Arial"/>
                          <a:cs typeface="Arial"/>
                        </a:rPr>
                        <a:t>Film and process state</a:t>
                      </a:r>
                    </a:p>
                  </a:txBody>
                  <a:tcPr marL="85725" marR="85725" marT="76200" marB="76200" anchor="ctr">
                    <a:solidFill>
                      <a:srgbClr val="FFFFFF"/>
                    </a:solidFill>
                  </a:tcPr>
                </a:tc>
                <a:tc>
                  <a:txBody>
                    <a:bodyPr>
                      <a:noAutofit/>
                    </a:bodyPr>
                    <a:lstStyle/>
                    <a:p>
                      <a:pPr algn="ctr"/>
                      <a:r>
                        <a:rPr sz="1350" b="0">
                          <a:solidFill>
                            <a:srgbClr val="263645"/>
                          </a:solidFill>
                          <a:latin typeface="Arial"/>
                          <a:ea typeface="Arial"/>
                          <a:cs typeface="Arial"/>
                        </a:rPr>
                        <a:t>Concentration</a:t>
                      </a:r>
                    </a:p>
                    <a:p>
                      <a:pPr algn="ctr"/>
                      <a:r>
                        <a:rPr sz="1350" b="0">
                          <a:solidFill>
                            <a:srgbClr val="263645"/>
                          </a:solidFill>
                          <a:latin typeface="Arial"/>
                          <a:ea typeface="Arial"/>
                          <a:cs typeface="Arial"/>
                        </a:rPr>
                        <a:t>Uncoated layer</a:t>
                      </a:r>
                    </a:p>
                    <a:p>
                      <a:pPr algn="ctr"/>
                      <a:r>
                        <a:rPr sz="1350" b="0">
                          <a:solidFill>
                            <a:srgbClr val="263645"/>
                          </a:solidFill>
                          <a:latin typeface="Arial"/>
                          <a:ea typeface="Arial"/>
                          <a:cs typeface="Arial"/>
                        </a:rPr>
                        <a:t>Total thickness</a:t>
                      </a:r>
                    </a:p>
                  </a:txBody>
                  <a:tcPr marL="85725" marR="85725" marT="76200" marB="76200" anchor="ctr">
                    <a:solidFill>
                      <a:srgbClr val="FFFFFF"/>
                    </a:solidFill>
                  </a:tcPr>
                </a:tc>
                <a:tc>
                  <a:txBody>
                    <a:bodyPr>
                      <a:noAutofit/>
                    </a:bodyPr>
                    <a:lstStyle/>
                    <a:p>
                      <a:pPr algn="ctr"/>
                      <a:r>
                        <a:rPr sz="1350" b="0">
                          <a:solidFill>
                            <a:srgbClr val="263645"/>
                          </a:solidFill>
                          <a:latin typeface="Arial"/>
                          <a:ea typeface="Arial"/>
                          <a:cs typeface="Arial"/>
                        </a:rPr>
                        <a:t>Same three measured-state inputs</a:t>
                      </a:r>
                    </a:p>
                  </a:txBody>
                  <a:tcPr marL="85725" marR="85725" marT="76200" marB="76200" anchor="ctr">
                    <a:solidFill>
                      <a:srgbClr val="FFFFFF"/>
                    </a:solidFill>
                  </a:tcPr>
                </a:tc>
              </a:tr>
              <a:tr h="547688">
                <a:tc>
                  <a:txBody>
                    <a:bodyPr>
                      <a:noAutofit/>
                    </a:bodyPr>
                    <a:lstStyle/>
                    <a:p>
                      <a:pPr algn="l"/>
                      <a:r>
                        <a:rPr sz="1350" b="1">
                          <a:solidFill>
                            <a:srgbClr val="263645"/>
                          </a:solidFill>
                          <a:latin typeface="Arial"/>
                          <a:ea typeface="Arial"/>
                          <a:cs typeface="Arial"/>
                        </a:rPr>
                        <a:t>Solvent descriptors</a:t>
                      </a:r>
                    </a:p>
                  </a:txBody>
                  <a:tcPr marL="85725" marR="85725" marT="76200" marB="76200" anchor="ctr">
                    <a:solidFill>
                      <a:srgbClr val="F7F5EF"/>
                    </a:solidFill>
                  </a:tcPr>
                </a:tc>
                <a:tc>
                  <a:txBody>
                    <a:bodyPr>
                      <a:noAutofit/>
                    </a:bodyPr>
                    <a:lstStyle/>
                    <a:p>
                      <a:pPr algn="ctr"/>
                      <a:r>
                        <a:rPr sz="1350" b="0">
                          <a:solidFill>
                            <a:srgbClr val="263645"/>
                          </a:solidFill>
                          <a:latin typeface="Arial"/>
                          <a:ea typeface="Arial"/>
                          <a:cs typeface="Arial"/>
                        </a:rPr>
                        <a:t>Unavailable in the</a:t>
                      </a:r>
                    </a:p>
                    <a:p>
                      <a:pPr algn="ctr"/>
                      <a:r>
                        <a:rPr sz="1350" b="0">
                          <a:solidFill>
                            <a:srgbClr val="263645"/>
                          </a:solidFill>
                          <a:latin typeface="Arial"/>
                          <a:ea typeface="Arial"/>
                          <a:cs typeface="Arial"/>
                        </a:rPr>
                        <a:t>four-column workbook</a:t>
                      </a:r>
                    </a:p>
                  </a:txBody>
                  <a:tcPr marL="85725" marR="85725" marT="76200" marB="76200" anchor="ctr">
                    <a:solidFill>
                      <a:srgbClr val="F7F5EF"/>
                    </a:solidFill>
                  </a:tcPr>
                </a:tc>
                <a:tc>
                  <a:txBody>
                    <a:bodyPr>
                      <a:noAutofit/>
                    </a:bodyPr>
                    <a:lstStyle/>
                    <a:p>
                      <a:pPr algn="ctr"/>
                      <a:r>
                        <a:rPr sz="1350" b="0">
                          <a:solidFill>
                            <a:srgbClr val="263645"/>
                          </a:solidFill>
                          <a:latin typeface="Arial"/>
                          <a:ea typeface="Arial"/>
                          <a:cs typeface="Arial"/>
                        </a:rPr>
                        <a:t>Polarity, viscosity</a:t>
                      </a:r>
                    </a:p>
                    <a:p>
                      <a:pPr algn="ctr"/>
                      <a:r>
                        <a:rPr sz="1350" b="0">
                          <a:solidFill>
                            <a:srgbClr val="263645"/>
                          </a:solidFill>
                          <a:latin typeface="Arial"/>
                          <a:ea typeface="Arial"/>
                          <a:cs typeface="Arial"/>
                        </a:rPr>
                        <a:t>Boiling point, surface tension</a:t>
                      </a:r>
                    </a:p>
                  </a:txBody>
                  <a:tcPr marL="85725" marR="85725" marT="76200" marB="76200" anchor="ctr">
                    <a:solidFill>
                      <a:srgbClr val="F7F5EF"/>
                    </a:solidFill>
                  </a:tcPr>
                </a:tc>
              </a:tr>
              <a:tr h="547688">
                <a:tc>
                  <a:txBody>
                    <a:bodyPr>
                      <a:noAutofit/>
                    </a:bodyPr>
                    <a:lstStyle/>
                    <a:p>
                      <a:pPr algn="l"/>
                      <a:r>
                        <a:rPr sz="1350" b="1">
                          <a:solidFill>
                            <a:srgbClr val="263645"/>
                          </a:solidFill>
                          <a:latin typeface="Arial"/>
                          <a:ea typeface="Arial"/>
                          <a:cs typeface="Arial"/>
                        </a:rPr>
                        <a:t>Concentration transform</a:t>
                      </a:r>
                    </a:p>
                  </a:txBody>
                  <a:tcPr marL="85725" marR="85725" marT="76200" marB="76200" anchor="ctr">
                    <a:solidFill>
                      <a:srgbClr val="FFFFFF"/>
                    </a:solidFill>
                  </a:tcPr>
                </a:tc>
                <a:tc>
                  <a:txBody>
                    <a:bodyPr>
                      <a:noAutofit/>
                    </a:bodyPr>
                    <a:lstStyle/>
                    <a:p>
                      <a:pPr algn="ctr"/>
                      <a:r>
                        <a:rPr sz="1350" b="0">
                          <a:solidFill>
                            <a:srgbClr val="263645"/>
                          </a:solidFill>
                          <a:latin typeface="Arial"/>
                          <a:ea typeface="Arial"/>
                          <a:cs typeface="Arial"/>
                        </a:rPr>
                        <a:t>Natural logarithm</a:t>
                      </a:r>
                    </a:p>
                  </a:txBody>
                  <a:tcPr marL="85725" marR="85725" marT="76200" marB="76200" anchor="ctr">
                    <a:solidFill>
                      <a:srgbClr val="FFFFFF"/>
                    </a:solidFill>
                  </a:tcPr>
                </a:tc>
                <a:tc>
                  <a:txBody>
                    <a:bodyPr>
                      <a:noAutofit/>
                    </a:bodyPr>
                    <a:lstStyle/>
                    <a:p>
                      <a:pPr algn="ctr"/>
                      <a:r>
                        <a:rPr sz="1350" b="0">
                          <a:solidFill>
                            <a:srgbClr val="263645"/>
                          </a:solidFill>
                          <a:latin typeface="Arial"/>
                          <a:ea typeface="Arial"/>
                          <a:cs typeface="Arial"/>
                        </a:rPr>
                        <a:t>Natural logarithm</a:t>
                      </a:r>
                    </a:p>
                  </a:txBody>
                  <a:tcPr marL="85725" marR="85725" marT="76200" marB="76200" anchor="ctr">
                    <a:solidFill>
                      <a:srgbClr val="FFFFFF"/>
                    </a:solidFill>
                  </a:tcPr>
                </a:tc>
              </a:tr>
              <a:tr h="547688">
                <a:tc>
                  <a:txBody>
                    <a:bodyPr>
                      <a:noAutofit/>
                    </a:bodyPr>
                    <a:lstStyle/>
                    <a:p>
                      <a:pPr algn="l"/>
                      <a:r>
                        <a:rPr sz="1350" b="1">
                          <a:solidFill>
                            <a:srgbClr val="263645"/>
                          </a:solidFill>
                          <a:latin typeface="Arial"/>
                          <a:ea typeface="Arial"/>
                          <a:cs typeface="Arial"/>
                        </a:rPr>
                        <a:t>Input scaling</a:t>
                      </a:r>
                    </a:p>
                  </a:txBody>
                  <a:tcPr marL="85725" marR="85725" marT="76200" marB="76200" anchor="ctr">
                    <a:solidFill>
                      <a:srgbClr val="F7F5EF"/>
                    </a:solidFill>
                  </a:tcPr>
                </a:tc>
                <a:tc>
                  <a:txBody>
                    <a:bodyPr>
                      <a:noAutofit/>
                    </a:bodyPr>
                    <a:lstStyle/>
                    <a:p>
                      <a:pPr algn="ctr"/>
                      <a:r>
                        <a:rPr sz="1350" b="0">
                          <a:solidFill>
                            <a:srgbClr val="263645"/>
                          </a:solidFill>
                          <a:latin typeface="Arial"/>
                          <a:ea typeface="Arial"/>
                          <a:cs typeface="Arial"/>
                        </a:rPr>
                        <a:t>Training-only standardization</a:t>
                      </a:r>
                    </a:p>
                  </a:txBody>
                  <a:tcPr marL="85725" marR="85725" marT="76200" marB="76200" anchor="ctr">
                    <a:solidFill>
                      <a:srgbClr val="F7F5EF"/>
                    </a:solidFill>
                  </a:tcPr>
                </a:tc>
                <a:tc>
                  <a:txBody>
                    <a:bodyPr>
                      <a:noAutofit/>
                    </a:bodyPr>
                    <a:lstStyle/>
                    <a:p>
                      <a:pPr algn="ctr"/>
                      <a:r>
                        <a:rPr sz="1350" b="0">
                          <a:solidFill>
                            <a:srgbClr val="263645"/>
                          </a:solidFill>
                          <a:latin typeface="Arial"/>
                          <a:ea typeface="Arial"/>
                          <a:cs typeface="Arial"/>
                        </a:rPr>
                        <a:t>Training-only standardization</a:t>
                      </a:r>
                    </a:p>
                  </a:txBody>
                  <a:tcPr marL="85725" marR="85725" marT="76200" marB="76200" anchor="ctr">
                    <a:solidFill>
                      <a:srgbClr val="F7F5EF"/>
                    </a:solidFill>
                  </a:tcPr>
                </a:tc>
              </a:tr>
              <a:tr h="547688">
                <a:tc>
                  <a:txBody>
                    <a:bodyPr>
                      <a:noAutofit/>
                    </a:bodyPr>
                    <a:lstStyle/>
                    <a:p>
                      <a:pPr algn="l"/>
                      <a:r>
                        <a:rPr sz="1350" b="1">
                          <a:solidFill>
                            <a:srgbClr val="263645"/>
                          </a:solidFill>
                          <a:latin typeface="Arial"/>
                          <a:ea typeface="Arial"/>
                          <a:cs typeface="Arial"/>
                        </a:rPr>
                        <a:t>Output</a:t>
                      </a:r>
                    </a:p>
                  </a:txBody>
                  <a:tcPr marL="85725" marR="85725" marT="76200" marB="76200" anchor="ctr">
                    <a:solidFill>
                      <a:srgbClr val="FFFFFF"/>
                    </a:solidFill>
                  </a:tcPr>
                </a:tc>
                <a:tc>
                  <a:txBody>
                    <a:bodyPr>
                      <a:noAutofit/>
                    </a:bodyPr>
                    <a:lstStyle/>
                    <a:p>
                      <a:pPr algn="ctr"/>
                      <a:r>
                        <a:rPr sz="1350" b="0">
                          <a:solidFill>
                            <a:srgbClr val="263645"/>
                          </a:solidFill>
                          <a:latin typeface="Arial"/>
                          <a:ea typeface="Arial"/>
                          <a:cs typeface="Arial"/>
                        </a:rPr>
                        <a:t>Bonded thickness in nm</a:t>
                      </a:r>
                    </a:p>
                  </a:txBody>
                  <a:tcPr marL="85725" marR="85725" marT="76200" marB="76200" anchor="ctr">
                    <a:solidFill>
                      <a:srgbClr val="FFFFFF"/>
                    </a:solidFill>
                  </a:tcPr>
                </a:tc>
                <a:tc>
                  <a:txBody>
                    <a:bodyPr>
                      <a:noAutofit/>
                    </a:bodyPr>
                    <a:lstStyle/>
                    <a:p>
                      <a:pPr algn="ctr"/>
                      <a:r>
                        <a:rPr sz="1350" b="0">
                          <a:solidFill>
                            <a:srgbClr val="263645"/>
                          </a:solidFill>
                          <a:latin typeface="Arial"/>
                          <a:ea typeface="Arial"/>
                          <a:cs typeface="Arial"/>
                        </a:rPr>
                        <a:t>Bonded thickness in nm</a:t>
                      </a:r>
                    </a:p>
                  </a:txBody>
                  <a:tcPr marL="85725" marR="85725" marT="76200" marB="76200" anchor="ctr">
                    <a:solidFill>
                      <a:srgbClr val="FFFFFF"/>
                    </a:solidFill>
                  </a:tcPr>
                </a:tc>
              </a:tr>
            </a:tbl>
          </a:graphicData>
        </a:graphic>
      </p:graphicFrame>
      <p:sp>
        <p:nvSpPr>
          <p:cNvPr id="14" name="content-4">
            <a:extLst xmlns:a="http://schemas.openxmlformats.org/drawingml/2006/main">
              <a:ext uri="{FF2B5EF4-FFF2-40B4-BE49-F238E27FC236}">
                <a16:creationId xmlns:a16="http://schemas.microsoft.com/office/drawing/2014/main" id="{90B183D0-509A-486B-9E06-60ACDDAD9DFF}"/>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Confirm concentration units and measurement timing before mechanistic interpretation</a:t>
            </a:r>
          </a:p>
        </p:txBody>
      </p:sp>
    </p:spTree>
    <p:extLst>
      <p:ext uri="{BB962C8B-B14F-4D97-AF65-F5344CB8AC3E}">
        <p14:creationId xmlns:p14="http://schemas.microsoft.com/office/powerpoint/2010/main" val="138280187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 name="footer-date">
            <a:extLst xmlns:a="http://schemas.openxmlformats.org/drawingml/2006/main">
              <a:ext uri="{FF2B5EF4-FFF2-40B4-BE49-F238E27FC236}">
                <a16:creationId xmlns:a16="http://schemas.microsoft.com/office/drawing/2014/main" id="{CF76D794-37A7-4946-ACF3-71D6C474783E}"/>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8217F89D-A0F8-482A-A1A3-133A94B36F0D}"/>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7</a:t>
            </a:r>
          </a:p>
        </p:txBody>
      </p:sp>
      <p:sp>
        <p:nvSpPr>
          <p:cNvPr id="3" name="slide-title">
            <a:extLst xmlns:a="http://schemas.openxmlformats.org/drawingml/2006/main">
              <a:ext uri="{FF2B5EF4-FFF2-40B4-BE49-F238E27FC236}">
                <a16:creationId xmlns:a16="http://schemas.microsoft.com/office/drawing/2014/main" id="{24018924-7AE9-47BE-9E63-143943C8EEE3}"/>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Compact network and bounded bonded thickness</a:t>
            </a:r>
          </a:p>
        </p:txBody>
      </p:sp>
      <p:sp>
        <p:nvSpPr>
          <p:cNvPr id="4" name="divider">
            <a:extLst xmlns:a="http://schemas.openxmlformats.org/drawingml/2006/main">
              <a:ext uri="{FF2B5EF4-FFF2-40B4-BE49-F238E27FC236}">
                <a16:creationId xmlns:a16="http://schemas.microsoft.com/office/drawing/2014/main" id="{0A96379B-B546-488F-AC98-A8EF29E31FBD}"/>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sp>
        <p:nvSpPr>
          <p:cNvPr id="5" name="Rectangle 4">
            <a:extLst xmlns:a="http://schemas.openxmlformats.org/drawingml/2006/main">
              <a:ext uri="{FF2B5EF4-FFF2-40B4-BE49-F238E27FC236}">
                <a16:creationId xmlns:a16="http://schemas.microsoft.com/office/drawing/2014/main" id="{FB5EAE18-3C6E-4F72-BBA4-42AEC603C65C}"/>
              </a:ext>
            </a:extLst>
          </p:cNvPr>
          <p:cNvSpPr>
            <a:spLocks xmlns:a="http://schemas.openxmlformats.org/drawingml/2006/main" noGrp="1"/>
          </p:cNvSpPr>
          <p:nvPr/>
        </p:nvSpPr>
        <p:spPr>
          <a:xfrm xmlns:a="http://schemas.openxmlformats.org/drawingml/2006/main">
            <a:off x="666750" y="1657350"/>
            <a:ext cx="781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1875" b="1" i="0">
                <a:solidFill>
                  <a:srgbClr val="948151"/>
                </a:solidFill>
                <a:latin typeface="Arial"/>
                <a:ea typeface="Arial"/>
                <a:cs typeface="Arial"/>
              </a:defRPr>
            </a:pPr>
            <a:r>
              <a:rPr sz="1875" b="1" i="0">
                <a:solidFill>
                  <a:srgbClr val="948151"/>
                </a:solidFill>
                <a:latin typeface="Arial"/>
                <a:ea typeface="Arial"/>
                <a:cs typeface="Arial"/>
              </a:rPr>
              <a:t/>
            </a:r>
          </a:p>
        </p:txBody>
      </p:sp>
      <p:sp>
        <p:nvSpPr>
          <p:cNvPr id="6" name="Rectangle 5">
            <a:extLst xmlns:a="http://schemas.openxmlformats.org/drawingml/2006/main">
              <a:ext uri="{FF2B5EF4-FFF2-40B4-BE49-F238E27FC236}">
                <a16:creationId xmlns:a16="http://schemas.microsoft.com/office/drawing/2014/main" id="{826C97BC-B332-4768-9D0A-0482813AD0B8}"/>
              </a:ext>
            </a:extLst>
          </p:cNvPr>
          <p:cNvSpPr>
            <a:spLocks xmlns:a="http://schemas.openxmlformats.org/drawingml/2006/main" noGrp="1"/>
          </p:cNvSpPr>
          <p:nvPr/>
        </p:nvSpPr>
        <p:spPr>
          <a:xfrm xmlns:a="http://schemas.openxmlformats.org/drawingml/2006/main">
            <a:off x="876300" y="2857500"/>
            <a:ext cx="1219200" cy="685800"/>
          </a:xfrm>
          <a:prstGeom xmlns:a="http://schemas.openxmlformats.org/drawingml/2006/main" prst="rect">
            <a:avLst/>
          </a:prstGeom>
          <a:solidFill xmlns:a="http://schemas.openxmlformats.org/drawingml/2006/main">
            <a:srgbClr val="E7EEF4"/>
          </a:solidFill>
          <a:ln xmlns:a="http://schemas.openxmlformats.org/drawingml/2006/main" w="13335">
            <a:solidFill>
              <a:srgbClr val="6F8FAE"/>
            </a:solidFill>
            <a:prstDash val="solid"/>
          </a:ln>
        </p:spPr>
      </p:sp>
      <p:sp>
        <p:nvSpPr>
          <p:cNvPr id="7" name="Rectangle 6">
            <a:extLst xmlns:a="http://schemas.openxmlformats.org/drawingml/2006/main">
              <a:ext uri="{FF2B5EF4-FFF2-40B4-BE49-F238E27FC236}">
                <a16:creationId xmlns:a16="http://schemas.microsoft.com/office/drawing/2014/main" id="{3E40A558-39C2-4641-8C45-B6205D3A62AC}"/>
              </a:ext>
            </a:extLst>
          </p:cNvPr>
          <p:cNvSpPr>
            <a:spLocks xmlns:a="http://schemas.openxmlformats.org/drawingml/2006/main" noGrp="1"/>
          </p:cNvSpPr>
          <p:nvPr/>
        </p:nvSpPr>
        <p:spPr>
          <a:xfrm xmlns:a="http://schemas.openxmlformats.org/drawingml/2006/main">
            <a:off x="1000125" y="3009900"/>
            <a:ext cx="971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1350" b="1" i="0">
                <a:solidFill>
                  <a:srgbClr val="002B5E"/>
                </a:solidFill>
                <a:latin typeface="Arial"/>
                <a:ea typeface="Arial"/>
                <a:cs typeface="Arial"/>
              </a:defRPr>
            </a:pPr>
            <a:r>
              <a:rPr sz="1350" b="1" i="0">
                <a:solidFill>
                  <a:srgbClr val="002B5E"/>
                </a:solidFill>
                <a:latin typeface="Arial"/>
                <a:ea typeface="Arial"/>
                <a:cs typeface="Arial"/>
              </a:rPr>
              <a:t>3 or 7</a:t>
            </a:r>
          </a:p>
          <a:p xmlns:a="http://schemas.openxmlformats.org/drawingml/2006/main">
            <a:pPr algn="ctr">
              <a:lnSpc>
                <a:spcPct val="105000"/>
              </a:lnSpc>
              <a:buNone/>
              <a:defRPr sz="1350" b="1" i="0">
                <a:solidFill>
                  <a:srgbClr val="002B5E"/>
                </a:solidFill>
                <a:latin typeface="Arial"/>
                <a:ea typeface="Arial"/>
                <a:cs typeface="Arial"/>
              </a:defRPr>
            </a:pPr>
            <a:r>
              <a:rPr sz="1350" b="1" i="0">
                <a:solidFill>
                  <a:srgbClr val="002B5E"/>
                </a:solidFill>
                <a:latin typeface="Arial"/>
                <a:ea typeface="Arial"/>
                <a:cs typeface="Arial"/>
              </a:rPr>
              <a:t>inputs</a:t>
            </a:r>
          </a:p>
        </p:txBody>
      </p:sp>
      <p:sp>
        <p:nvSpPr>
          <p:cNvPr id="8" name="Rectangle 7">
            <a:extLst xmlns:a="http://schemas.openxmlformats.org/drawingml/2006/main">
              <a:ext uri="{FF2B5EF4-FFF2-40B4-BE49-F238E27FC236}">
                <a16:creationId xmlns:a16="http://schemas.microsoft.com/office/drawing/2014/main" id="{1600DCEA-29A9-4388-8B18-84EE0EA04870}"/>
              </a:ext>
            </a:extLst>
          </p:cNvPr>
          <p:cNvSpPr>
            <a:spLocks xmlns:a="http://schemas.openxmlformats.org/drawingml/2006/main" noGrp="1"/>
          </p:cNvSpPr>
          <p:nvPr/>
        </p:nvSpPr>
        <p:spPr>
          <a:xfrm xmlns:a="http://schemas.openxmlformats.org/drawingml/2006/main">
            <a:off x="2724150" y="2857500"/>
            <a:ext cx="1428750" cy="685800"/>
          </a:xfrm>
          <a:prstGeom xmlns:a="http://schemas.openxmlformats.org/drawingml/2006/main" prst="rect">
            <a:avLst/>
          </a:prstGeom>
          <a:solidFill xmlns:a="http://schemas.openxmlformats.org/drawingml/2006/main">
            <a:srgbClr val="F3ECD6"/>
          </a:solidFill>
          <a:ln xmlns:a="http://schemas.openxmlformats.org/drawingml/2006/main" w="13335">
            <a:solidFill>
              <a:srgbClr val="B49A45"/>
            </a:solidFill>
            <a:prstDash val="solid"/>
          </a:ln>
        </p:spPr>
      </p:sp>
      <p:sp>
        <p:nvSpPr>
          <p:cNvPr id="9" name="Rectangle 8">
            <a:extLst xmlns:a="http://schemas.openxmlformats.org/drawingml/2006/main">
              <a:ext uri="{FF2B5EF4-FFF2-40B4-BE49-F238E27FC236}">
                <a16:creationId xmlns:a16="http://schemas.microsoft.com/office/drawing/2014/main" id="{87704CB8-997F-42DF-A5EB-0233641C95DB}"/>
              </a:ext>
            </a:extLst>
          </p:cNvPr>
          <p:cNvSpPr>
            <a:spLocks xmlns:a="http://schemas.openxmlformats.org/drawingml/2006/main" noGrp="1"/>
          </p:cNvSpPr>
          <p:nvPr/>
        </p:nvSpPr>
        <p:spPr>
          <a:xfrm xmlns:a="http://schemas.openxmlformats.org/drawingml/2006/main">
            <a:off x="2857500" y="3009900"/>
            <a:ext cx="1162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1350" b="1" i="0">
                <a:solidFill>
                  <a:srgbClr val="002B5E"/>
                </a:solidFill>
                <a:latin typeface="Arial"/>
                <a:ea typeface="Arial"/>
                <a:cs typeface="Arial"/>
              </a:defRPr>
            </a:pPr>
            <a:r>
              <a:rPr sz="1350" b="1" i="0">
                <a:solidFill>
                  <a:srgbClr val="002B5E"/>
                </a:solidFill>
                <a:latin typeface="Arial"/>
                <a:ea typeface="Arial"/>
                <a:cs typeface="Arial"/>
              </a:rPr>
              <a:t>16 + 16</a:t>
            </a:r>
          </a:p>
          <a:p xmlns:a="http://schemas.openxmlformats.org/drawingml/2006/main">
            <a:pPr algn="ctr">
              <a:lnSpc>
                <a:spcPct val="105000"/>
              </a:lnSpc>
              <a:buNone/>
              <a:defRPr sz="1350" b="1" i="0">
                <a:solidFill>
                  <a:srgbClr val="002B5E"/>
                </a:solidFill>
                <a:latin typeface="Arial"/>
                <a:ea typeface="Arial"/>
                <a:cs typeface="Arial"/>
              </a:defRPr>
            </a:pPr>
            <a:r>
              <a:rPr sz="1350" b="1" i="0">
                <a:solidFill>
                  <a:srgbClr val="002B5E"/>
                </a:solidFill>
                <a:latin typeface="Arial"/>
                <a:ea typeface="Arial"/>
                <a:cs typeface="Arial"/>
              </a:rPr>
              <a:t>tanh</a:t>
            </a:r>
          </a:p>
        </p:txBody>
      </p:sp>
      <p:sp>
        <p:nvSpPr>
          <p:cNvPr id="10" name="Rectangle 9">
            <a:extLst xmlns:a="http://schemas.openxmlformats.org/drawingml/2006/main">
              <a:ext uri="{FF2B5EF4-FFF2-40B4-BE49-F238E27FC236}">
                <a16:creationId xmlns:a16="http://schemas.microsoft.com/office/drawing/2014/main" id="{8734C580-2DB8-4F31-895D-5F3D2071568A}"/>
              </a:ext>
            </a:extLst>
          </p:cNvPr>
          <p:cNvSpPr>
            <a:spLocks xmlns:a="http://schemas.openxmlformats.org/drawingml/2006/main" noGrp="1"/>
          </p:cNvSpPr>
          <p:nvPr/>
        </p:nvSpPr>
        <p:spPr>
          <a:xfrm xmlns:a="http://schemas.openxmlformats.org/drawingml/2006/main">
            <a:off x="2724150" y="4362450"/>
            <a:ext cx="1428750" cy="685800"/>
          </a:xfrm>
          <a:prstGeom xmlns:a="http://schemas.openxmlformats.org/drawingml/2006/main" prst="rect">
            <a:avLst/>
          </a:prstGeom>
          <a:solidFill xmlns:a="http://schemas.openxmlformats.org/drawingml/2006/main">
            <a:srgbClr val="FFFFFF"/>
          </a:solidFill>
          <a:ln xmlns:a="http://schemas.openxmlformats.org/drawingml/2006/main" w="13335">
            <a:solidFill>
              <a:srgbClr val="002B5E"/>
            </a:solidFill>
            <a:prstDash val="solid"/>
          </a:ln>
        </p:spPr>
      </p:sp>
      <p:sp>
        <p:nvSpPr>
          <p:cNvPr id="11" name="Rectangle 10">
            <a:extLst xmlns:a="http://schemas.openxmlformats.org/drawingml/2006/main">
              <a:ext uri="{FF2B5EF4-FFF2-40B4-BE49-F238E27FC236}">
                <a16:creationId xmlns:a16="http://schemas.microsoft.com/office/drawing/2014/main" id="{3CD824CD-9C99-4200-B998-BC23930371B4}"/>
              </a:ext>
            </a:extLst>
          </p:cNvPr>
          <p:cNvSpPr>
            <a:spLocks xmlns:a="http://schemas.openxmlformats.org/drawingml/2006/main" noGrp="1"/>
          </p:cNvSpPr>
          <p:nvPr/>
        </p:nvSpPr>
        <p:spPr>
          <a:xfrm xmlns:a="http://schemas.openxmlformats.org/drawingml/2006/main">
            <a:off x="2857500" y="4514850"/>
            <a:ext cx="1162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1350" b="1" i="0">
                <a:solidFill>
                  <a:srgbClr val="002B5E"/>
                </a:solidFill>
                <a:latin typeface="Arial"/>
                <a:ea typeface="Arial"/>
                <a:cs typeface="Arial"/>
              </a:defRPr>
            </a:pPr>
            <a:r>
              <a:rPr sz="1350" b="1" i="0">
                <a:solidFill>
                  <a:srgbClr val="002B5E"/>
                </a:solidFill>
                <a:latin typeface="Arial"/>
                <a:ea typeface="Arial"/>
                <a:cs typeface="Arial"/>
              </a:rPr>
              <a:t>Bounded</a:t>
            </a:r>
          </a:p>
          <a:p xmlns:a="http://schemas.openxmlformats.org/drawingml/2006/main">
            <a:pPr algn="ctr">
              <a:lnSpc>
                <a:spcPct val="105000"/>
              </a:lnSpc>
              <a:buNone/>
              <a:defRPr sz="1350" b="1" i="0">
                <a:solidFill>
                  <a:srgbClr val="002B5E"/>
                </a:solidFill>
                <a:latin typeface="Arial"/>
                <a:ea typeface="Arial"/>
                <a:cs typeface="Arial"/>
              </a:defRPr>
            </a:pPr>
            <a:r>
              <a:rPr sz="1350" b="1" i="0">
                <a:solidFill>
                  <a:srgbClr val="002B5E"/>
                </a:solidFill>
                <a:latin typeface="Arial"/>
                <a:ea typeface="Arial"/>
                <a:cs typeface="Arial"/>
              </a:rPr>
              <a:t>bonded hB</a:t>
            </a:r>
          </a:p>
        </p:txBody>
      </p:sp>
      <p:sp>
        <p:nvSpPr>
          <p:cNvPr id="12" name="Rectangle 11">
            <a:extLst xmlns:a="http://schemas.openxmlformats.org/drawingml/2006/main">
              <a:ext uri="{FF2B5EF4-FFF2-40B4-BE49-F238E27FC236}">
                <a16:creationId xmlns:a16="http://schemas.microsoft.com/office/drawing/2014/main" id="{4E5EB609-2D49-47D1-BC60-9ACADBD1E3B5}"/>
              </a:ext>
            </a:extLst>
          </p:cNvPr>
          <p:cNvSpPr>
            <a:spLocks xmlns:a="http://schemas.openxmlformats.org/drawingml/2006/main" noGrp="1"/>
          </p:cNvSpPr>
          <p:nvPr/>
        </p:nvSpPr>
        <p:spPr>
          <a:xfrm xmlns:a="http://schemas.openxmlformats.org/drawingml/2006/main">
            <a:off x="876300" y="4362450"/>
            <a:ext cx="1219200" cy="685800"/>
          </a:xfrm>
          <a:prstGeom xmlns:a="http://schemas.openxmlformats.org/drawingml/2006/main" prst="rect">
            <a:avLst/>
          </a:prstGeom>
          <a:solidFill xmlns:a="http://schemas.openxmlformats.org/drawingml/2006/main">
            <a:srgbClr val="FFFFFF"/>
          </a:solidFill>
          <a:ln xmlns:a="http://schemas.openxmlformats.org/drawingml/2006/main" w="13335">
            <a:solidFill>
              <a:srgbClr val="B49A45"/>
            </a:solidFill>
            <a:prstDash val="dash"/>
          </a:ln>
        </p:spPr>
      </p:sp>
      <p:sp>
        <p:nvSpPr>
          <p:cNvPr id="13" name="Rectangle 12">
            <a:extLst xmlns:a="http://schemas.openxmlformats.org/drawingml/2006/main">
              <a:ext uri="{FF2B5EF4-FFF2-40B4-BE49-F238E27FC236}">
                <a16:creationId xmlns:a16="http://schemas.microsoft.com/office/drawing/2014/main" id="{6DA9103C-6092-45CE-B330-24A2725E06E7}"/>
              </a:ext>
            </a:extLst>
          </p:cNvPr>
          <p:cNvSpPr>
            <a:spLocks xmlns:a="http://schemas.openxmlformats.org/drawingml/2006/main" noGrp="1"/>
          </p:cNvSpPr>
          <p:nvPr/>
        </p:nvSpPr>
        <p:spPr>
          <a:xfrm xmlns:a="http://schemas.openxmlformats.org/drawingml/2006/main">
            <a:off x="1000125" y="4514850"/>
            <a:ext cx="971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1350" b="1" i="0">
                <a:solidFill>
                  <a:srgbClr val="002B5E"/>
                </a:solidFill>
                <a:latin typeface="Arial"/>
                <a:ea typeface="Arial"/>
                <a:cs typeface="Arial"/>
              </a:defRPr>
            </a:pPr>
            <a:r>
              <a:rPr sz="1350" b="1" i="0">
                <a:solidFill>
                  <a:srgbClr val="002B5E"/>
                </a:solidFill>
                <a:latin typeface="Arial"/>
                <a:ea typeface="Arial"/>
                <a:cs typeface="Arial"/>
              </a:rPr>
              <a:t>Derivative</a:t>
            </a:r>
          </a:p>
          <a:p xmlns:a="http://schemas.openxmlformats.org/drawingml/2006/main">
            <a:pPr algn="ctr">
              <a:lnSpc>
                <a:spcPct val="105000"/>
              </a:lnSpc>
              <a:buNone/>
              <a:defRPr sz="1350" b="1" i="0">
                <a:solidFill>
                  <a:srgbClr val="002B5E"/>
                </a:solidFill>
                <a:latin typeface="Arial"/>
                <a:ea typeface="Arial"/>
                <a:cs typeface="Arial"/>
              </a:defRPr>
            </a:pPr>
            <a:r>
              <a:rPr sz="1350" b="1" i="0">
                <a:solidFill>
                  <a:srgbClr val="002B5E"/>
                </a:solidFill>
                <a:latin typeface="Arial"/>
                <a:ea typeface="Arial"/>
                <a:cs typeface="Arial"/>
              </a:rPr>
              <a:t>penalties</a:t>
            </a:r>
          </a:p>
        </p:txBody>
      </p:sp>
      <p:cxnSp>
        <p:nvCxnSpPr>
          <p:cNvPr id="34" name="Straight Arrow Connector 33">
            <a:extLst xmlns:a="http://schemas.openxmlformats.org/drawingml/2006/main">
              <a:ext uri="{FF2B5EF4-FFF2-40B4-BE49-F238E27FC236}">
                <a16:creationId xmlns:a16="http://schemas.microsoft.com/office/drawing/2014/main" id="{CA199446-6A23-4F26-8627-A33EF8A0E6C7}"/>
              </a:ext>
            </a:extLst>
          </p:cNvPr>
          <p:cNvCxnSpPr>
            <a:stCxn xmlns:a="http://schemas.openxmlformats.org/drawingml/2006/main" id="6" idx="3"/>
            <a:endCxn xmlns:a="http://schemas.openxmlformats.org/drawingml/2006/main" id="8" idx="1"/>
          </p:cNvCxnSpPr>
          <p:nvPr/>
        </p:nvCxnSpPr>
        <p:spPr>
          <a:xfrm xmlns:a="http://schemas.openxmlformats.org/drawingml/2006/main">
            <a:off x="2095500" y="3200400"/>
            <a:ext cx="628650" cy="0"/>
          </a:xfrm>
          <a:prstGeom xmlns:a="http://schemas.openxmlformats.org/drawingml/2006/main" prst="straightConnector1">
            <a:avLst/>
          </a:prstGeom>
          <a:ln xmlns:a="http://schemas.openxmlformats.org/drawingml/2006/main" w="19050">
            <a:solidFill>
              <a:srgbClr val="B49A45"/>
            </a:solidFill>
            <a:prstDash val="solid"/>
            <a:tailEnd type="triangle" w="sm" len="sm"/>
          </a:ln>
        </p:spPr>
      </p:cxnSp>
      <p:cxnSp>
        <p:nvCxnSpPr>
          <p:cNvPr id="35" name="Straight Arrow Connector 34">
            <a:extLst xmlns:a="http://schemas.openxmlformats.org/drawingml/2006/main">
              <a:ext uri="{FF2B5EF4-FFF2-40B4-BE49-F238E27FC236}">
                <a16:creationId xmlns:a16="http://schemas.microsoft.com/office/drawing/2014/main" id="{8EC5EDAE-67C4-45B5-A3E9-E361752B9CA1}"/>
              </a:ext>
            </a:extLst>
          </p:cNvPr>
          <p:cNvCxnSpPr>
            <a:stCxn xmlns:a="http://schemas.openxmlformats.org/drawingml/2006/main" id="8" idx="2"/>
            <a:endCxn xmlns:a="http://schemas.openxmlformats.org/drawingml/2006/main" id="10" idx="0"/>
          </p:cNvCxnSpPr>
          <p:nvPr/>
        </p:nvCxnSpPr>
        <p:spPr>
          <a:xfrm xmlns:a="http://schemas.openxmlformats.org/drawingml/2006/main">
            <a:off x="3438525" y="3543300"/>
            <a:ext cx="0" cy="819150"/>
          </a:xfrm>
          <a:prstGeom xmlns:a="http://schemas.openxmlformats.org/drawingml/2006/main" prst="straightConnector1">
            <a:avLst/>
          </a:prstGeom>
          <a:ln xmlns:a="http://schemas.openxmlformats.org/drawingml/2006/main" w="19050">
            <a:solidFill>
              <a:srgbClr val="B49A45"/>
            </a:solidFill>
            <a:prstDash val="solid"/>
            <a:tailEnd type="triangle" w="sm" len="sm"/>
          </a:ln>
        </p:spPr>
      </p:cxnSp>
      <p:cxnSp>
        <p:nvCxnSpPr>
          <p:cNvPr id="36" name="Connector: Elbow 35">
            <a:extLst xmlns:a="http://schemas.openxmlformats.org/drawingml/2006/main">
              <a:ext uri="{FF2B5EF4-FFF2-40B4-BE49-F238E27FC236}">
                <a16:creationId xmlns:a16="http://schemas.microsoft.com/office/drawing/2014/main" id="{5E484494-ECF0-44F6-8F51-988C11BB95EA}"/>
              </a:ext>
            </a:extLst>
          </p:cNvPr>
          <p:cNvCxnSpPr>
            <a:stCxn xmlns:a="http://schemas.openxmlformats.org/drawingml/2006/main" id="12" idx="3"/>
            <a:endCxn xmlns:a="http://schemas.openxmlformats.org/drawingml/2006/main" id="8" idx="1"/>
          </p:cNvCxnSpPr>
          <p:nvPr/>
        </p:nvCxnSpPr>
        <p:spPr>
          <a:xfrm xmlns:a="http://schemas.openxmlformats.org/drawingml/2006/main" flipV="1">
            <a:off x="2095500" y="3200400"/>
            <a:ext cx="628650" cy="1504950"/>
          </a:xfrm>
          <a:prstGeom xmlns:a="http://schemas.openxmlformats.org/drawingml/2006/main" prst="bentConnector3">
            <a:avLst>
              <a:gd name="adj1" fmla="val 50000"/>
            </a:avLst>
          </a:prstGeom>
          <a:ln xmlns:a="http://schemas.openxmlformats.org/drawingml/2006/main" w="19050">
            <a:solidFill>
              <a:srgbClr val="B49A45"/>
            </a:solidFill>
            <a:prstDash val="dash"/>
            <a:tailEnd type="triangle" w="sm" len="sm"/>
          </a:ln>
        </p:spPr>
      </p:cxnSp>
      <p:sp>
        <p:nvSpPr>
          <p:cNvPr id="17" name="Rectangle 16">
            <a:extLst xmlns:a="http://schemas.openxmlformats.org/drawingml/2006/main">
              <a:ext uri="{FF2B5EF4-FFF2-40B4-BE49-F238E27FC236}">
                <a16:creationId xmlns:a16="http://schemas.microsoft.com/office/drawing/2014/main" id="{4708052E-8B54-4960-93F8-494E8EFA8AF3}"/>
              </a:ext>
            </a:extLst>
          </p:cNvPr>
          <p:cNvSpPr>
            <a:spLocks xmlns:a="http://schemas.openxmlformats.org/drawingml/2006/main" noGrp="1"/>
          </p:cNvSpPr>
          <p:nvPr/>
        </p:nvSpPr>
        <p:spPr>
          <a:xfrm xmlns:a="http://schemas.openxmlformats.org/drawingml/2006/main">
            <a:off x="5334000" y="2324100"/>
            <a:ext cx="319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1125" b="1" i="0">
                <a:solidFill>
                  <a:srgbClr val="002B5E"/>
                </a:solidFill>
                <a:latin typeface="Arial"/>
                <a:ea typeface="Arial"/>
                <a:cs typeface="Arial"/>
              </a:defRPr>
            </a:pPr>
            <a:r>
              <a:rPr sz="1125" b="1" i="0">
                <a:solidFill>
                  <a:srgbClr val="002B5E"/>
                </a:solidFill>
                <a:latin typeface="Arial"/>
                <a:ea typeface="Arial"/>
                <a:cs typeface="Arial"/>
              </a:rPr>
              <a:t>NETWORK DETAILS</a:t>
            </a:r>
          </a:p>
        </p:txBody>
      </p:sp>
      <p:sp>
        <p:nvSpPr>
          <p:cNvPr id="18" name="Rectangle 17">
            <a:extLst xmlns:a="http://schemas.openxmlformats.org/drawingml/2006/main">
              <a:ext uri="{FF2B5EF4-FFF2-40B4-BE49-F238E27FC236}">
                <a16:creationId xmlns:a16="http://schemas.microsoft.com/office/drawing/2014/main" id="{96D72E43-7F64-4535-9365-A9B8FAC0747F}"/>
              </a:ext>
            </a:extLst>
          </p:cNvPr>
          <p:cNvSpPr>
            <a:spLocks xmlns:a="http://schemas.openxmlformats.org/drawingml/2006/main" noGrp="1"/>
          </p:cNvSpPr>
          <p:nvPr/>
        </p:nvSpPr>
        <p:spPr>
          <a:xfrm xmlns:a="http://schemas.openxmlformats.org/drawingml/2006/main">
            <a:off x="5295900" y="2686050"/>
            <a:ext cx="33337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15900" indent="-114300" algn="l">
              <a:lnSpc>
                <a:spcPct val="103000"/>
              </a:lnSpc>
              <a:spcAft>
                <a:spcPts val="800"/>
              </a:spcAft>
              <a:buNone/>
              <a:defRPr sz="1350" b="0" i="0">
                <a:solidFill>
                  <a:srgbClr val="263645"/>
                </a:solidFill>
                <a:latin typeface="Arial"/>
                <a:ea typeface="Arial"/>
                <a:cs typeface="Arial"/>
              </a:defRPr>
            </a:pPr>
            <a:r>
              <a:rPr sz="1350" b="0" i="0">
                <a:solidFill>
                  <a:srgbClr val="263645"/>
                </a:solidFill>
                <a:latin typeface="Arial"/>
                <a:ea typeface="Arial"/>
                <a:cs typeface="Arial"/>
              </a:rPr>
              <a:t>Two hidden layers, 16 units each</a:t>
            </a:r>
          </a:p>
          <a:p xmlns:a="http://schemas.openxmlformats.org/drawingml/2006/main">
            <a:pPr marL="215900" indent="-114300" algn="l">
              <a:lnSpc>
                <a:spcPct val="103000"/>
              </a:lnSpc>
              <a:spcAft>
                <a:spcPts val="800"/>
              </a:spcAft>
              <a:buNone/>
              <a:defRPr sz="1350" b="0" i="0">
                <a:solidFill>
                  <a:srgbClr val="263645"/>
                </a:solidFill>
                <a:latin typeface="Arial"/>
                <a:ea typeface="Arial"/>
                <a:cs typeface="Arial"/>
              </a:defRPr>
            </a:pPr>
            <a:r>
              <a:rPr sz="1350" b="0" i="0">
                <a:solidFill>
                  <a:srgbClr val="263645"/>
                </a:solidFill>
                <a:latin typeface="Arial"/>
                <a:ea typeface="Arial"/>
                <a:cs typeface="Arial"/>
              </a:rPr>
              <a:t>One output logit</a:t>
            </a:r>
          </a:p>
          <a:p xmlns:a="http://schemas.openxmlformats.org/drawingml/2006/main">
            <a:pPr marL="215900" indent="-114300" algn="l">
              <a:lnSpc>
                <a:spcPct val="103000"/>
              </a:lnSpc>
              <a:spcAft>
                <a:spcPts val="800"/>
              </a:spcAft>
              <a:buNone/>
              <a:defRPr sz="1350" b="0" i="0">
                <a:solidFill>
                  <a:srgbClr val="263645"/>
                </a:solidFill>
                <a:latin typeface="Arial"/>
                <a:ea typeface="Arial"/>
                <a:cs typeface="Arial"/>
              </a:defRPr>
            </a:pPr>
            <a:r>
              <a:rPr sz="1350" b="0" i="0">
                <a:solidFill>
                  <a:srgbClr val="263645"/>
                </a:solidFill>
                <a:latin typeface="Arial"/>
                <a:ea typeface="Arial"/>
                <a:cs typeface="Arial"/>
              </a:rPr>
              <a:t>353 parameters with three inputs</a:t>
            </a:r>
          </a:p>
          <a:p xmlns:a="http://schemas.openxmlformats.org/drawingml/2006/main">
            <a:pPr marL="215900" indent="-114300" algn="l">
              <a:lnSpc>
                <a:spcPct val="103000"/>
              </a:lnSpc>
              <a:spcAft>
                <a:spcPts val="800"/>
              </a:spcAft>
              <a:buNone/>
              <a:defRPr sz="1350" b="0" i="0">
                <a:solidFill>
                  <a:srgbClr val="263645"/>
                </a:solidFill>
                <a:latin typeface="Arial"/>
                <a:ea typeface="Arial"/>
                <a:cs typeface="Arial"/>
              </a:defRPr>
            </a:pPr>
            <a:r>
              <a:rPr sz="1350" b="0" i="0">
                <a:solidFill>
                  <a:srgbClr val="263645"/>
                </a:solidFill>
                <a:latin typeface="Arial"/>
                <a:ea typeface="Arial"/>
                <a:cs typeface="Arial"/>
              </a:rPr>
              <a:t>417 parameters with seven inputs</a:t>
            </a:r>
          </a:p>
          <a:p xmlns:a="http://schemas.openxmlformats.org/drawingml/2006/main">
            <a:pPr marL="215900" indent="-114300" algn="l">
              <a:lnSpc>
                <a:spcPct val="103000"/>
              </a:lnSpc>
              <a:spcAft>
                <a:spcPts val="800"/>
              </a:spcAft>
              <a:buNone/>
              <a:defRPr sz="1350" b="0" i="0">
                <a:solidFill>
                  <a:srgbClr val="263645"/>
                </a:solidFill>
                <a:latin typeface="Arial"/>
                <a:ea typeface="Arial"/>
                <a:cs typeface="Arial"/>
              </a:defRPr>
            </a:pPr>
            <a:r>
              <a:rPr sz="1350" b="0" i="0">
                <a:solidFill>
                  <a:srgbClr val="263645"/>
                </a:solidFill>
                <a:latin typeface="Arial"/>
                <a:ea typeface="Arial"/>
                <a:cs typeface="Arial"/>
              </a:rPr>
              <a:t>Tanh supports second derivatives</a:t>
            </a:r>
          </a:p>
        </p:txBody>
      </p:sp>
      <p:sp>
        <p:nvSpPr>
          <p:cNvPr id="19" name="Rectangle 18">
            <a:extLst xmlns:a="http://schemas.openxmlformats.org/drawingml/2006/main">
              <a:ext uri="{FF2B5EF4-FFF2-40B4-BE49-F238E27FC236}">
                <a16:creationId xmlns:a16="http://schemas.microsoft.com/office/drawing/2014/main" id="{8E844AF4-0B56-4FDD-B1FD-5D723EC590B8}"/>
              </a:ext>
            </a:extLst>
          </p:cNvPr>
          <p:cNvSpPr>
            <a:spLocks xmlns:a="http://schemas.openxmlformats.org/drawingml/2006/main" noGrp="1"/>
          </p:cNvSpPr>
          <p:nvPr/>
        </p:nvSpPr>
        <p:spPr>
          <a:xfrm xmlns:a="http://schemas.openxmlformats.org/drawingml/2006/main">
            <a:off x="5334000" y="521970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1125" b="1" i="0">
                <a:solidFill>
                  <a:srgbClr val="002B5E"/>
                </a:solidFill>
                <a:latin typeface="Arial"/>
                <a:ea typeface="Arial"/>
                <a:cs typeface="Arial"/>
              </a:defRPr>
            </a:pPr>
            <a:r>
              <a:rPr sz="1125" b="1" i="0">
                <a:solidFill>
                  <a:srgbClr val="002B5E"/>
                </a:solidFill>
                <a:latin typeface="Arial"/>
                <a:ea typeface="Arial"/>
                <a:cs typeface="Arial"/>
              </a:rPr>
              <a:t>PHYSICAL OUTPUT</a:t>
            </a:r>
          </a:p>
        </p:txBody>
      </p:sp>
      <p:sp>
        <p:nvSpPr>
          <p:cNvPr id="20" name="Rectangle 19">
            <a:extLst xmlns:a="http://schemas.openxmlformats.org/drawingml/2006/main">
              <a:ext uri="{FF2B5EF4-FFF2-40B4-BE49-F238E27FC236}">
                <a16:creationId xmlns:a16="http://schemas.microsoft.com/office/drawing/2014/main" id="{951FF5F5-8727-4E13-902F-1923331131FD}"/>
              </a:ext>
            </a:extLst>
          </p:cNvPr>
          <p:cNvSpPr>
            <a:spLocks xmlns:a="http://schemas.openxmlformats.org/drawingml/2006/main" noGrp="1"/>
          </p:cNvSpPr>
          <p:nvPr/>
        </p:nvSpPr>
        <p:spPr>
          <a:xfrm xmlns:a="http://schemas.openxmlformats.org/drawingml/2006/main">
            <a:off x="5314950" y="5524500"/>
            <a:ext cx="328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1350" b="0" i="0">
                <a:solidFill>
                  <a:srgbClr val="263645"/>
                </a:solidFill>
                <a:latin typeface="Arial"/>
                <a:ea typeface="Arial"/>
                <a:cs typeface="Arial"/>
              </a:defRPr>
            </a:pPr>
            <a:r>
              <a:rPr sz="1350" b="0" i="0">
                <a:solidFill>
                  <a:srgbClr val="263645"/>
                </a:solidFill>
                <a:latin typeface="Arial"/>
                <a:ea typeface="Arial"/>
                <a:cs typeface="Arial"/>
              </a:rPr>
              <a:t/>
            </a:r>
          </a:p>
        </p:txBody>
      </p:sp>
      <p:pic>
        <p:nvPicPr>
          <p:cNvPr id="37" name="">
            <a:extLst xmlns:a="http://schemas.openxmlformats.org/drawingml/2006/main">
              <a:ext uri="{FF2B5EF4-FFF2-40B4-BE49-F238E27FC236}">
                <a16:creationId xmlns:a16="http://schemas.microsoft.com/office/drawing/2014/main" id="{6163A114-F06F-48AF-B274-86571AEF44C2}"/>
              </a:ext>
            </a:extLst>
          </p:cNvPr>
          <p:cNvPicPr>
            <a:picLocks xmlns:a="http://schemas.openxmlformats.org/drawingml/2006/main" noChangeAspect="1"/>
          </p:cNvPicPr>
          <p:nvPr/>
        </p:nvPicPr>
        <p:blipFill>
          <a:blip xmlns:r="http://schemas.openxmlformats.org/officeDocument/2006/relationships" xmlns:a="http://schemas.openxmlformats.org/drawingml/2006/main" r:embed="R73c801fc94f34741"/>
          <a:stretch xmlns:a="http://schemas.openxmlformats.org/drawingml/2006/main"/>
        </p:blipFill>
        <p:spPr>
          <a:xfrm xmlns:a="http://schemas.openxmlformats.org/drawingml/2006/main">
            <a:off x="3369469" y="1685925"/>
            <a:ext cx="2366963" cy="466725"/>
          </a:xfrm>
          <a:prstGeom xmlns:a="http://schemas.openxmlformats.org/drawingml/2006/main" prst="rect">
            <a:avLst/>
          </a:prstGeom>
        </p:spPr>
      </p:pic>
      <p:pic>
        <p:nvPicPr>
          <p:cNvPr id="38" name="">
            <a:extLst xmlns:a="http://schemas.openxmlformats.org/drawingml/2006/main">
              <a:ext uri="{FF2B5EF4-FFF2-40B4-BE49-F238E27FC236}">
                <a16:creationId xmlns:a16="http://schemas.microsoft.com/office/drawing/2014/main" id="{35EA6DD4-771F-4D92-8DA1-E1549773E03C}"/>
              </a:ext>
            </a:extLst>
          </p:cNvPr>
          <p:cNvPicPr>
            <a:picLocks xmlns:a="http://schemas.openxmlformats.org/drawingml/2006/main" noChangeAspect="1"/>
          </p:cNvPicPr>
          <p:nvPr/>
        </p:nvPicPr>
        <p:blipFill>
          <a:blip xmlns:r="http://schemas.openxmlformats.org/officeDocument/2006/relationships" xmlns:a="http://schemas.openxmlformats.org/drawingml/2006/main" r:embed="R8ec8fafa4f2f4d2e"/>
          <a:stretch xmlns:a="http://schemas.openxmlformats.org/drawingml/2006/main"/>
        </p:blipFill>
        <p:spPr>
          <a:xfrm xmlns:a="http://schemas.openxmlformats.org/drawingml/2006/main">
            <a:off x="6074229" y="5467350"/>
            <a:ext cx="1396093" cy="361950"/>
          </a:xfrm>
          <a:prstGeom xmlns:a="http://schemas.openxmlformats.org/drawingml/2006/main" prst="rect">
            <a:avLst/>
          </a:prstGeom>
        </p:spPr>
      </p:pic>
      <p:sp>
        <p:nvSpPr>
          <p:cNvPr id="39" name="content-20">
            <a:extLst xmlns:a="http://schemas.openxmlformats.org/drawingml/2006/main">
              <a:ext uri="{FF2B5EF4-FFF2-40B4-BE49-F238E27FC236}">
                <a16:creationId xmlns:a16="http://schemas.microsoft.com/office/drawing/2014/main" id="{6D2F04B6-CFA1-4777-843D-34EC753DA81E}"/>
              </a:ext>
            </a:extLst>
          </p:cNvPr>
          <p:cNvSpPr>
            <a:spLocks xmlns:a="http://schemas.openxmlformats.org/drawingml/2006/main" noGrp="1"/>
          </p:cNvSpPr>
          <p:nvPr/>
        </p:nvSpPr>
        <p:spPr>
          <a:xfrm xmlns:a="http://schemas.openxmlformats.org/drawingml/2006/main">
            <a:off x="5324475" y="5857875"/>
            <a:ext cx="314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Raw measured total thickness</a:t>
            </a:r>
          </a:p>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defines the output bound</a:t>
            </a:r>
          </a:p>
        </p:txBody>
      </p:sp>
    </p:spTree>
    <p:extLst>
      <p:ext uri="{BB962C8B-B14F-4D97-AF65-F5344CB8AC3E}">
        <p14:creationId xmlns:p14="http://schemas.microsoft.com/office/powerpoint/2010/main" val="138280187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8</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Loss terms and initial coefficients</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pic>
        <p:nvPicPr>
          <p:cNvPr id="13" name="">
            <a:extLst xmlns:a="http://schemas.openxmlformats.org/drawingml/2006/main">
              <a:ext uri="{FF2B5EF4-FFF2-40B4-BE49-F238E27FC236}">
                <a16:creationId xmlns:a16="http://schemas.microsoft.com/office/drawing/2014/main" id="{1B7C639D-D5D1-4179-82AF-E562619D9F12}"/>
              </a:ext>
            </a:extLst>
          </p:cNvPr>
          <p:cNvPicPr>
            <a:picLocks xmlns:a="http://schemas.openxmlformats.org/drawingml/2006/main" noChangeAspect="1"/>
          </p:cNvPicPr>
          <p:nvPr/>
        </p:nvPicPr>
        <p:blipFill>
          <a:blip xmlns:r="http://schemas.openxmlformats.org/officeDocument/2006/relationships" xmlns:a="http://schemas.openxmlformats.org/drawingml/2006/main" r:embed="R3d3d57f657b24e18"/>
          <a:stretch xmlns:a="http://schemas.openxmlformats.org/drawingml/2006/main"/>
        </p:blipFill>
        <p:spPr>
          <a:xfrm xmlns:a="http://schemas.openxmlformats.org/drawingml/2006/main">
            <a:off x="704850" y="1734404"/>
            <a:ext cx="7734300" cy="369767"/>
          </a:xfrm>
          <a:prstGeom xmlns:a="http://schemas.openxmlformats.org/drawingml/2006/main" prst="rect">
            <a:avLst/>
          </a:prstGeom>
        </p:spPr>
      </p:pic>
      <p:graphicFrame>
        <p:nvGraphicFramePr>
          <p:cNvPr id="14" name="">
            <a:extLst xmlns:a="http://schemas.openxmlformats.org/drawingml/2006/main">
              <a:ext uri="{FF2B5EF4-FFF2-40B4-BE49-F238E27FC236}">
                <a16:creationId xmlns:a16="http://schemas.microsoft.com/office/drawing/2014/main" id="{5881DC58-1204-4E7F-837B-AEBC85C47710}"/>
              </a:ext>
            </a:extLst>
          </p:cNvPr>
          <p:cNvGraphicFramePr/>
          <p:nvPr/>
        </p:nvGraphicFramePr>
        <p:xfrm>
          <a:off xmlns:a="http://schemas.openxmlformats.org/drawingml/2006/main" x="571500" y="2324100"/>
          <a:ext xmlns:a="http://schemas.openxmlformats.org/drawingml/2006/main" cx="8001000" cy="3133725"/>
        </p:xfrm>
        <a:graphic xmlns:a="http://schemas.openxmlformats.org/drawingml/2006/main">
          <a:graphicData uri="http://schemas.openxmlformats.org/drawingml/2006/table">
            <a:tbl>
              <a:tblPr/>
              <a:tblGrid>
                <a:gridCol w="1476375"/>
                <a:gridCol w="4810125"/>
                <a:gridCol w="1714500"/>
              </a:tblGrid>
              <a:tr h="522288">
                <a:tc>
                  <a:txBody>
                    <a:bodyPr>
                      <a:noAutofit/>
                    </a:bodyPr>
                    <a:lstStyle/>
                    <a:p>
                      <a:pPr algn="l"/>
                      <a:r>
                        <a:rPr sz="1275" b="1">
                          <a:solidFill>
                            <a:srgbClr val="FFFFFF"/>
                          </a:solidFill>
                          <a:latin typeface="Arial"/>
                          <a:ea typeface="Arial"/>
                          <a:cs typeface="Arial"/>
                        </a:rPr>
                        <a:t>Term</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Definition or behavior</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Initial coefficient</a:t>
                      </a:r>
                    </a:p>
                  </a:txBody>
                  <a:tcPr marL="85725" marR="85725" marT="76200" marB="76200" anchor="ctr">
                    <a:solidFill>
                      <a:srgbClr val="002B5E"/>
                    </a:solidFill>
                  </a:tcPr>
                </a:tc>
              </a:tr>
              <a:tr h="522288">
                <a:tc>
                  <a:txBody>
                    <a:bodyPr>
                      <a:noAutofit/>
                    </a:bodyPr>
                    <a:lstStyle/>
                    <a:p>
                      <a:pPr algn="l"/>
                      <a:r>
                        <a:rPr sz="1275" b="1">
                          <a:solidFill>
                            <a:srgbClr val="263645"/>
                          </a:solidFill>
                          <a:latin typeface="Arial"/>
                          <a:ea typeface="Arial"/>
                          <a:cs typeface="Arial"/>
                        </a:rPr>
                        <a:t>Data</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Mean squared error in bonded thickness</a:t>
                      </a:r>
                    </a:p>
                    <a:p>
                      <a:pPr algn="ctr"/>
                      <a:r>
                        <a:rPr sz="1275" b="0">
                          <a:solidFill>
                            <a:srgbClr val="263645"/>
                          </a:solidFill>
                          <a:latin typeface="Arial"/>
                          <a:ea typeface="Arial"/>
                          <a:cs typeface="Arial"/>
                        </a:rPr>
                        <a:t>Normalize by training target standard deviation</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1</a:t>
                      </a:r>
                    </a:p>
                  </a:txBody>
                  <a:tcPr marL="85725" marR="85725" marT="76200" marB="76200" anchor="ctr">
                    <a:solidFill>
                      <a:srgbClr val="FFFFFF"/>
                    </a:solidFill>
                  </a:tcPr>
                </a:tc>
              </a:tr>
              <a:tr h="522288">
                <a:tc>
                  <a:txBody>
                    <a:bodyPr>
                      <a:noAutofit/>
                    </a:bodyPr>
                    <a:lstStyle/>
                    <a:p>
                      <a:pPr algn="l"/>
                      <a:r>
                        <a:rPr sz="1275" b="1">
                          <a:solidFill>
                            <a:srgbClr val="263645"/>
                          </a:solidFill>
                          <a:latin typeface="Arial"/>
                          <a:ea typeface="Arial"/>
                          <a:cs typeface="Arial"/>
                        </a:rPr>
                        <a:t>Curvature</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Mean squared diagonal second derivative</a:t>
                      </a:r>
                    </a:p>
                    <a:p>
                      <a:pPr algn="ctr"/>
                      <a:r>
                        <a:rPr sz="1275" b="0">
                          <a:solidFill>
                            <a:srgbClr val="263645"/>
                          </a:solidFill>
                          <a:latin typeface="Arial"/>
                          <a:ea typeface="Arial"/>
                          <a:cs typeface="Arial"/>
                        </a:rPr>
                        <a:t>With respect to standardized transformed inputs</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0.001</a:t>
                      </a:r>
                    </a:p>
                  </a:txBody>
                  <a:tcPr marL="85725" marR="85725" marT="76200" marB="76200" anchor="ctr">
                    <a:solidFill>
                      <a:srgbClr val="F7F5EF"/>
                    </a:solidFill>
                  </a:tcPr>
                </a:tc>
              </a:tr>
              <a:tr h="522288">
                <a:tc>
                  <a:txBody>
                    <a:bodyPr>
                      <a:noAutofit/>
                    </a:bodyPr>
                    <a:lstStyle/>
                    <a:p>
                      <a:pPr algn="l"/>
                      <a:r>
                        <a:rPr sz="1275" b="1">
                          <a:solidFill>
                            <a:srgbClr val="263645"/>
                          </a:solidFill>
                          <a:latin typeface="Arial"/>
                          <a:ea typeface="Arial"/>
                          <a:cs typeface="Arial"/>
                        </a:rPr>
                        <a:t>Monotonicity</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Penalize partial derivatives with the wrong sign</a:t>
                      </a:r>
                    </a:p>
                    <a:p>
                      <a:pPr algn="ctr"/>
                      <a:r>
                        <a:rPr sz="1275" b="0">
                          <a:solidFill>
                            <a:srgbClr val="263645"/>
                          </a:solidFill>
                          <a:latin typeface="Arial"/>
                          <a:ea typeface="Arial"/>
                          <a:cs typeface="Arial"/>
                        </a:rPr>
                        <a:t>Separate positive-concentration ablation</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0 default</a:t>
                      </a:r>
                    </a:p>
                    <a:p>
                      <a:pPr algn="ctr"/>
                      <a:r>
                        <a:rPr sz="1275" b="0">
                          <a:solidFill>
                            <a:srgbClr val="263645"/>
                          </a:solidFill>
                          <a:latin typeface="Arial"/>
                          <a:ea typeface="Arial"/>
                          <a:cs typeface="Arial"/>
                        </a:rPr>
                        <a:t>0.01 ablation</a:t>
                      </a:r>
                    </a:p>
                  </a:txBody>
                  <a:tcPr marL="85725" marR="85725" marT="76200" marB="76200" anchor="ctr">
                    <a:solidFill>
                      <a:srgbClr val="FFFFFF"/>
                    </a:solidFill>
                  </a:tcPr>
                </a:tc>
              </a:tr>
              <a:tr h="522288">
                <a:tc>
                  <a:txBody>
                    <a:bodyPr>
                      <a:noAutofit/>
                    </a:bodyPr>
                    <a:lstStyle/>
                    <a:p>
                      <a:pPr algn="l"/>
                      <a:r>
                        <a:rPr sz="1275" b="1">
                          <a:solidFill>
                            <a:srgbClr val="263645"/>
                          </a:solidFill>
                          <a:latin typeface="Arial"/>
                          <a:ea typeface="Arial"/>
                          <a:cs typeface="Arial"/>
                        </a:rPr>
                        <a:t>Velocity curvature</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Second derivative with respect to</a:t>
                      </a:r>
                    </a:p>
                    <a:p>
                      <a:pPr algn="ctr"/>
                      <a:r>
                        <a:rPr sz="1275" b="0">
                          <a:solidFill>
                            <a:srgbClr val="263645"/>
                          </a:solidFill>
                          <a:latin typeface="Arial"/>
                          <a:ea typeface="Arial"/>
                          <a:cs typeface="Arial"/>
                        </a:rPr>
                        <a:t>measured withdrawal velocity input</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0 in current runs</a:t>
                      </a:r>
                    </a:p>
                  </a:txBody>
                  <a:tcPr marL="85725" marR="85725" marT="76200" marB="76200" anchor="ctr">
                    <a:solidFill>
                      <a:srgbClr val="F7F5EF"/>
                    </a:solidFill>
                  </a:tcPr>
                </a:tc>
              </a:tr>
              <a:tr h="522288">
                <a:tc>
                  <a:txBody>
                    <a:bodyPr>
                      <a:noAutofit/>
                    </a:bodyPr>
                    <a:lstStyle/>
                    <a:p>
                      <a:pPr algn="l"/>
                      <a:r>
                        <a:rPr sz="1275" b="1">
                          <a:solidFill>
                            <a:srgbClr val="263645"/>
                          </a:solidFill>
                          <a:latin typeface="Arial"/>
                          <a:ea typeface="Arial"/>
                          <a:cs typeface="Arial"/>
                        </a:rPr>
                        <a:t>LLD residual</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Compare predicted dry mobile thickness</a:t>
                      </a:r>
                    </a:p>
                    <a:p>
                      <a:pPr algn="ctr"/>
                      <a:r>
                        <a:rPr sz="1275" b="0">
                          <a:solidFill>
                            <a:srgbClr val="263645"/>
                          </a:solidFill>
                          <a:latin typeface="Arial"/>
                          <a:ea typeface="Arial"/>
                          <a:cs typeface="Arial"/>
                        </a:rPr>
                        <a:t>with the eligible hydrodynamic estimate</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0 in current runs</a:t>
                      </a:r>
                    </a:p>
                  </a:txBody>
                  <a:tcPr marL="85725" marR="85725" marT="76200" marB="76200" anchor="ctr">
                    <a:solidFill>
                      <a:srgbClr val="FFFFFF"/>
                    </a:solidFill>
                  </a:tcPr>
                </a:tc>
              </a:tr>
            </a:tbl>
          </a:graphicData>
        </a:graphic>
      </p:graphicFrame>
      <p:sp>
        <p:nvSpPr>
          <p:cNvPr id="15" name="content-4">
            <a:extLst xmlns:a="http://schemas.openxmlformats.org/drawingml/2006/main">
              <a:ext uri="{FF2B5EF4-FFF2-40B4-BE49-F238E27FC236}">
                <a16:creationId xmlns:a16="http://schemas.microsoft.com/office/drawing/2014/main" id="{AAA16ECF-2F51-4553-B463-0D93557B0B4B}"/>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Values are available for all loss terms. Remaining datasets need aggregation and preprocessing</a:t>
            </a:r>
          </a:p>
        </p:txBody>
      </p:sp>
    </p:spTree>
    <p:extLst>
      <p:ext uri="{BB962C8B-B14F-4D97-AF65-F5344CB8AC3E}">
        <p14:creationId xmlns:p14="http://schemas.microsoft.com/office/powerpoint/2010/main" val="138280187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9</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Mathematical definitions of the loss terms</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sp>
        <p:nvSpPr>
          <p:cNvPr id="13" name="content-4">
            <a:extLst xmlns:a="http://schemas.openxmlformats.org/drawingml/2006/main">
              <a:ext uri="{FF2B5EF4-FFF2-40B4-BE49-F238E27FC236}">
                <a16:creationId xmlns:a16="http://schemas.microsoft.com/office/drawing/2014/main" id="{2A11187C-7679-4E28-A356-F9CA00F5AE67}"/>
              </a:ext>
            </a:extLst>
          </p:cNvPr>
          <p:cNvSpPr>
            <a:spLocks xmlns:a="http://schemas.openxmlformats.org/drawingml/2006/main" noGrp="1"/>
          </p:cNvSpPr>
          <p:nvPr/>
        </p:nvSpPr>
        <p:spPr>
          <a:xfrm xmlns:a="http://schemas.openxmlformats.org/drawingml/2006/main">
            <a:off x="714375" y="1609725"/>
            <a:ext cx="7762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263645"/>
                </a:solidFill>
                <a:latin typeface="Arial"/>
                <a:ea typeface="Arial"/>
                <a:cs typeface="Arial"/>
              </a:defRPr>
            </a:defPPr>
          </a:lstStyle>
          <a:p xmlns:a="http://schemas.openxmlformats.org/drawingml/2006/main">
            <a:pPr algn="l">
              <a:defRPr sz="1575" b="0">
                <a:solidFill>
                  <a:srgbClr val="263645"/>
                </a:solidFill>
                <a:latin typeface="Arial"/>
                <a:ea typeface="Arial"/>
                <a:cs typeface="Arial"/>
              </a:defRPr>
            </a:pPr>
            <a:r>
              <a:rPr sz="1575" b="0">
                <a:solidFill>
                  <a:srgbClr val="263645"/>
                </a:solidFill>
                <a:latin typeface="Arial"/>
                <a:ea typeface="Arial"/>
                <a:cs typeface="Arial"/>
              </a:rPr>
              <a:t>Each loss scores a different kind of error. The coefficients set how strongly training responds to each score.</a:t>
            </a:r>
          </a:p>
        </p:txBody>
      </p:sp>
      <p:sp>
        <p:nvSpPr>
          <p:cNvPr id="14" name="content-5">
            <a:extLst xmlns:a="http://schemas.openxmlformats.org/drawingml/2006/main">
              <a:ext uri="{FF2B5EF4-FFF2-40B4-BE49-F238E27FC236}">
                <a16:creationId xmlns:a16="http://schemas.microsoft.com/office/drawing/2014/main" id="{598B6A6C-0E42-4C77-BBEF-DA50C763AD26}"/>
              </a:ext>
            </a:extLst>
          </p:cNvPr>
          <p:cNvSpPr>
            <a:spLocks xmlns:a="http://schemas.openxmlformats.org/drawingml/2006/main" noGrp="1"/>
          </p:cNvSpPr>
          <p:nvPr/>
        </p:nvSpPr>
        <p:spPr>
          <a:xfrm xmlns:a="http://schemas.openxmlformats.org/drawingml/2006/main">
            <a:off x="714375" y="2276475"/>
            <a:ext cx="223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DATA FIT</a:t>
            </a:r>
          </a:p>
        </p:txBody>
      </p:sp>
      <p:pic>
        <p:nvPicPr>
          <p:cNvPr id="15" name="">
            <a:extLst xmlns:a="http://schemas.openxmlformats.org/drawingml/2006/main">
              <a:ext uri="{FF2B5EF4-FFF2-40B4-BE49-F238E27FC236}">
                <a16:creationId xmlns:a16="http://schemas.microsoft.com/office/drawing/2014/main" id="{249FEA34-604C-4058-ABBA-C4B26E1477DF}"/>
              </a:ext>
            </a:extLst>
          </p:cNvPr>
          <p:cNvPicPr>
            <a:picLocks xmlns:a="http://schemas.openxmlformats.org/drawingml/2006/main" noChangeAspect="1"/>
          </p:cNvPicPr>
          <p:nvPr/>
        </p:nvPicPr>
        <p:blipFill>
          <a:blip xmlns:r="http://schemas.openxmlformats.org/officeDocument/2006/relationships" xmlns:a="http://schemas.openxmlformats.org/drawingml/2006/main" r:embed="R1495128f2c1141ee"/>
          <a:stretch xmlns:a="http://schemas.openxmlformats.org/drawingml/2006/main"/>
        </p:blipFill>
        <p:spPr>
          <a:xfrm xmlns:a="http://schemas.openxmlformats.org/drawingml/2006/main">
            <a:off x="4578777" y="2200275"/>
            <a:ext cx="2234345" cy="542925"/>
          </a:xfrm>
          <a:prstGeom xmlns:a="http://schemas.openxmlformats.org/drawingml/2006/main" prst="rect">
            <a:avLst/>
          </a:prstGeom>
        </p:spPr>
      </p:pic>
      <p:sp>
        <p:nvSpPr>
          <p:cNvPr id="16" name="content-6">
            <a:extLst xmlns:a="http://schemas.openxmlformats.org/drawingml/2006/main">
              <a:ext uri="{FF2B5EF4-FFF2-40B4-BE49-F238E27FC236}">
                <a16:creationId xmlns:a16="http://schemas.microsoft.com/office/drawing/2014/main" id="{D1E7A02D-293A-4F99-9A34-6A580A6EDB4C}"/>
              </a:ext>
            </a:extLst>
          </p:cNvPr>
          <p:cNvSpPr>
            <a:spLocks xmlns:a="http://schemas.openxmlformats.org/drawingml/2006/main" noGrp="1"/>
          </p:cNvSpPr>
          <p:nvPr/>
        </p:nvSpPr>
        <p:spPr>
          <a:xfrm xmlns:a="http://schemas.openxmlformats.org/drawingml/2006/main">
            <a:off x="3057525" y="2762250"/>
            <a:ext cx="533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5717B"/>
                </a:solidFill>
                <a:latin typeface="Arial"/>
                <a:ea typeface="Arial"/>
                <a:cs typeface="Arial"/>
              </a:defRPr>
            </a:defPPr>
          </a:lstStyle>
          <a:p xmlns:a="http://schemas.openxmlformats.org/drawingml/2006/main">
            <a:pPr algn="l">
              <a:defRPr sz="1125" b="0">
                <a:solidFill>
                  <a:srgbClr val="65717B"/>
                </a:solidFill>
                <a:latin typeface="Arial"/>
                <a:ea typeface="Arial"/>
                <a:cs typeface="Arial"/>
              </a:defRPr>
            </a:pPr>
            <a:r>
              <a:rPr sz="1125" b="0">
                <a:solidFill>
                  <a:srgbClr val="65717B"/>
                </a:solidFill>
                <a:latin typeface="Arial"/>
                <a:ea typeface="Arial"/>
                <a:cs typeface="Arial"/>
              </a:rPr>
              <a:t>Prediction error relative to measured bonded thickness</a:t>
            </a:r>
          </a:p>
        </p:txBody>
      </p:sp>
      <p:sp>
        <p:nvSpPr>
          <p:cNvPr id="17" name="content-7">
            <a:extLst xmlns:a="http://schemas.openxmlformats.org/drawingml/2006/main">
              <a:ext uri="{FF2B5EF4-FFF2-40B4-BE49-F238E27FC236}">
                <a16:creationId xmlns:a16="http://schemas.microsoft.com/office/drawing/2014/main" id="{5632372A-1AB4-4ECD-9845-181413D257D1}"/>
              </a:ext>
            </a:extLst>
          </p:cNvPr>
          <p:cNvSpPr>
            <a:spLocks xmlns:a="http://schemas.openxmlformats.org/drawingml/2006/main" noGrp="1"/>
          </p:cNvSpPr>
          <p:nvPr/>
        </p:nvSpPr>
        <p:spPr>
          <a:xfrm xmlns:a="http://schemas.openxmlformats.org/drawingml/2006/main">
            <a:off x="714375" y="3067050"/>
            <a:ext cx="223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INPUT SMOOTHNESS</a:t>
            </a:r>
          </a:p>
        </p:txBody>
      </p:sp>
      <p:pic>
        <p:nvPicPr>
          <p:cNvPr id="18" name="">
            <a:extLst xmlns:a="http://schemas.openxmlformats.org/drawingml/2006/main">
              <a:ext uri="{FF2B5EF4-FFF2-40B4-BE49-F238E27FC236}">
                <a16:creationId xmlns:a16="http://schemas.microsoft.com/office/drawing/2014/main" id="{60E90855-4FC5-42B7-A0E4-3DC1D66ED2AB}"/>
              </a:ext>
            </a:extLst>
          </p:cNvPr>
          <p:cNvPicPr>
            <a:picLocks xmlns:a="http://schemas.openxmlformats.org/drawingml/2006/main" noChangeAspect="1"/>
          </p:cNvPicPr>
          <p:nvPr/>
        </p:nvPicPr>
        <p:blipFill>
          <a:blip xmlns:r="http://schemas.openxmlformats.org/officeDocument/2006/relationships" xmlns:a="http://schemas.openxmlformats.org/drawingml/2006/main" r:embed="R34c08aaf7d7a4247"/>
          <a:stretch xmlns:a="http://schemas.openxmlformats.org/drawingml/2006/main"/>
        </p:blipFill>
        <p:spPr>
          <a:xfrm xmlns:a="http://schemas.openxmlformats.org/drawingml/2006/main">
            <a:off x="4610100" y="2990850"/>
            <a:ext cx="2171700" cy="542925"/>
          </a:xfrm>
          <a:prstGeom xmlns:a="http://schemas.openxmlformats.org/drawingml/2006/main" prst="rect">
            <a:avLst/>
          </a:prstGeom>
        </p:spPr>
      </p:pic>
      <p:sp>
        <p:nvSpPr>
          <p:cNvPr id="19" name="content-8">
            <a:extLst xmlns:a="http://schemas.openxmlformats.org/drawingml/2006/main">
              <a:ext uri="{FF2B5EF4-FFF2-40B4-BE49-F238E27FC236}">
                <a16:creationId xmlns:a16="http://schemas.microsoft.com/office/drawing/2014/main" id="{B68BDFF7-E8A0-4C75-8312-728B0930EBBF}"/>
              </a:ext>
            </a:extLst>
          </p:cNvPr>
          <p:cNvSpPr>
            <a:spLocks xmlns:a="http://schemas.openxmlformats.org/drawingml/2006/main" noGrp="1"/>
          </p:cNvSpPr>
          <p:nvPr/>
        </p:nvSpPr>
        <p:spPr>
          <a:xfrm xmlns:a="http://schemas.openxmlformats.org/drawingml/2006/main">
            <a:off x="3057525" y="3552825"/>
            <a:ext cx="533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5717B"/>
                </a:solidFill>
                <a:latin typeface="Arial"/>
                <a:ea typeface="Arial"/>
                <a:cs typeface="Arial"/>
              </a:defRPr>
            </a:defPPr>
          </a:lstStyle>
          <a:p xmlns:a="http://schemas.openxmlformats.org/drawingml/2006/main">
            <a:pPr algn="l">
              <a:defRPr sz="1125" b="0">
                <a:solidFill>
                  <a:srgbClr val="65717B"/>
                </a:solidFill>
                <a:latin typeface="Arial"/>
                <a:ea typeface="Arial"/>
                <a:cs typeface="Arial"/>
              </a:defRPr>
            </a:pPr>
            <a:r>
              <a:rPr sz="1125" b="0">
                <a:solidFill>
                  <a:srgbClr val="65717B"/>
                </a:solidFill>
                <a:latin typeface="Arial"/>
                <a:ea typeface="Arial"/>
                <a:cs typeface="Arial"/>
              </a:rPr>
              <a:t>Penalizes curvature in each recorded input</a:t>
            </a:r>
          </a:p>
        </p:txBody>
      </p:sp>
      <p:sp>
        <p:nvSpPr>
          <p:cNvPr id="20" name="content-9">
            <a:extLst xmlns:a="http://schemas.openxmlformats.org/drawingml/2006/main">
              <a:ext uri="{FF2B5EF4-FFF2-40B4-BE49-F238E27FC236}">
                <a16:creationId xmlns:a16="http://schemas.microsoft.com/office/drawing/2014/main" id="{3B1371B0-AF92-40C2-AB8F-2428B995F4DE}"/>
              </a:ext>
            </a:extLst>
          </p:cNvPr>
          <p:cNvSpPr>
            <a:spLocks xmlns:a="http://schemas.openxmlformats.org/drawingml/2006/main" noGrp="1"/>
          </p:cNvSpPr>
          <p:nvPr/>
        </p:nvSpPr>
        <p:spPr>
          <a:xfrm xmlns:a="http://schemas.openxmlformats.org/drawingml/2006/main">
            <a:off x="714375" y="3857625"/>
            <a:ext cx="223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MONOTONICITY</a:t>
            </a:r>
          </a:p>
        </p:txBody>
      </p:sp>
      <p:pic>
        <p:nvPicPr>
          <p:cNvPr id="21" name="">
            <a:extLst xmlns:a="http://schemas.openxmlformats.org/drawingml/2006/main">
              <a:ext uri="{FF2B5EF4-FFF2-40B4-BE49-F238E27FC236}">
                <a16:creationId xmlns:a16="http://schemas.microsoft.com/office/drawing/2014/main" id="{B5B0CB63-0F2C-4626-9715-31A2C8B095ED}"/>
              </a:ext>
            </a:extLst>
          </p:cNvPr>
          <p:cNvPicPr>
            <a:picLocks xmlns:a="http://schemas.openxmlformats.org/drawingml/2006/main" noChangeAspect="1"/>
          </p:cNvPicPr>
          <p:nvPr/>
        </p:nvPicPr>
        <p:blipFill>
          <a:blip xmlns:r="http://schemas.openxmlformats.org/officeDocument/2006/relationships" xmlns:a="http://schemas.openxmlformats.org/drawingml/2006/main" r:embed="R61632054b33f45ec"/>
          <a:stretch xmlns:a="http://schemas.openxmlformats.org/drawingml/2006/main"/>
        </p:blipFill>
        <p:spPr>
          <a:xfrm xmlns:a="http://schemas.openxmlformats.org/drawingml/2006/main">
            <a:off x="4135041" y="3781425"/>
            <a:ext cx="3121819" cy="542925"/>
          </a:xfrm>
          <a:prstGeom xmlns:a="http://schemas.openxmlformats.org/drawingml/2006/main" prst="rect">
            <a:avLst/>
          </a:prstGeom>
        </p:spPr>
      </p:pic>
      <p:sp>
        <p:nvSpPr>
          <p:cNvPr id="22" name="content-10">
            <a:extLst xmlns:a="http://schemas.openxmlformats.org/drawingml/2006/main">
              <a:ext uri="{FF2B5EF4-FFF2-40B4-BE49-F238E27FC236}">
                <a16:creationId xmlns:a16="http://schemas.microsoft.com/office/drawing/2014/main" id="{F202A318-8204-4F32-BA03-3AB2CE5C192A}"/>
              </a:ext>
            </a:extLst>
          </p:cNvPr>
          <p:cNvSpPr>
            <a:spLocks xmlns:a="http://schemas.openxmlformats.org/drawingml/2006/main" noGrp="1"/>
          </p:cNvSpPr>
          <p:nvPr/>
        </p:nvSpPr>
        <p:spPr>
          <a:xfrm xmlns:a="http://schemas.openxmlformats.org/drawingml/2006/main">
            <a:off x="3057525" y="4343400"/>
            <a:ext cx="533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5717B"/>
                </a:solidFill>
                <a:latin typeface="Arial"/>
                <a:ea typeface="Arial"/>
                <a:cs typeface="Arial"/>
              </a:defRPr>
            </a:defPPr>
          </a:lstStyle>
          <a:p xmlns:a="http://schemas.openxmlformats.org/drawingml/2006/main">
            <a:pPr algn="l">
              <a:defRPr sz="1125" b="0">
                <a:solidFill>
                  <a:srgbClr val="65717B"/>
                </a:solidFill>
                <a:latin typeface="Arial"/>
                <a:ea typeface="Arial"/>
                <a:cs typeface="Arial"/>
              </a:defRPr>
            </a:pPr>
            <a:r>
              <a:rPr sz="1125" b="0">
                <a:solidFill>
                  <a:srgbClr val="65717B"/>
                </a:solidFill>
                <a:latin typeface="Arial"/>
                <a:ea typeface="Arial"/>
                <a:cs typeface="Arial"/>
              </a:rPr>
              <a:t>Penalizes slopes that oppose the selected sign</a:t>
            </a:r>
          </a:p>
        </p:txBody>
      </p:sp>
      <p:sp>
        <p:nvSpPr>
          <p:cNvPr id="23" name="content-11">
            <a:extLst xmlns:a="http://schemas.openxmlformats.org/drawingml/2006/main">
              <a:ext uri="{FF2B5EF4-FFF2-40B4-BE49-F238E27FC236}">
                <a16:creationId xmlns:a16="http://schemas.microsoft.com/office/drawing/2014/main" id="{E2C0FAD7-EA51-4F9F-932F-59EBB1F6ABE9}"/>
              </a:ext>
            </a:extLst>
          </p:cNvPr>
          <p:cNvSpPr>
            <a:spLocks xmlns:a="http://schemas.openxmlformats.org/drawingml/2006/main" noGrp="1"/>
          </p:cNvSpPr>
          <p:nvPr/>
        </p:nvSpPr>
        <p:spPr>
          <a:xfrm xmlns:a="http://schemas.openxmlformats.org/drawingml/2006/main">
            <a:off x="714375" y="4648200"/>
            <a:ext cx="223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VELOCITY SMOOTHNESS</a:t>
            </a:r>
          </a:p>
        </p:txBody>
      </p:sp>
      <p:pic>
        <p:nvPicPr>
          <p:cNvPr id="24" name="">
            <a:extLst xmlns:a="http://schemas.openxmlformats.org/drawingml/2006/main">
              <a:ext uri="{FF2B5EF4-FFF2-40B4-BE49-F238E27FC236}">
                <a16:creationId xmlns:a16="http://schemas.microsoft.com/office/drawing/2014/main" id="{22D282B3-800C-44F2-824F-1830A0EA1870}"/>
              </a:ext>
            </a:extLst>
          </p:cNvPr>
          <p:cNvPicPr>
            <a:picLocks xmlns:a="http://schemas.openxmlformats.org/drawingml/2006/main" noChangeAspect="1"/>
          </p:cNvPicPr>
          <p:nvPr/>
        </p:nvPicPr>
        <p:blipFill>
          <a:blip xmlns:r="http://schemas.openxmlformats.org/officeDocument/2006/relationships" xmlns:a="http://schemas.openxmlformats.org/drawingml/2006/main" r:embed="R6e0b1aa0f57c440b"/>
          <a:stretch xmlns:a="http://schemas.openxmlformats.org/drawingml/2006/main"/>
        </p:blipFill>
        <p:spPr>
          <a:xfrm xmlns:a="http://schemas.openxmlformats.org/drawingml/2006/main">
            <a:off x="4630982" y="4572000"/>
            <a:ext cx="2129937" cy="542925"/>
          </a:xfrm>
          <a:prstGeom xmlns:a="http://schemas.openxmlformats.org/drawingml/2006/main" prst="rect">
            <a:avLst/>
          </a:prstGeom>
        </p:spPr>
      </p:pic>
      <p:sp>
        <p:nvSpPr>
          <p:cNvPr id="25" name="content-12">
            <a:extLst xmlns:a="http://schemas.openxmlformats.org/drawingml/2006/main">
              <a:ext uri="{FF2B5EF4-FFF2-40B4-BE49-F238E27FC236}">
                <a16:creationId xmlns:a16="http://schemas.microsoft.com/office/drawing/2014/main" id="{3EB4BDD3-412E-44FA-9A05-07E511B8D127}"/>
              </a:ext>
            </a:extLst>
          </p:cNvPr>
          <p:cNvSpPr>
            <a:spLocks xmlns:a="http://schemas.openxmlformats.org/drawingml/2006/main" noGrp="1"/>
          </p:cNvSpPr>
          <p:nvPr/>
        </p:nvSpPr>
        <p:spPr>
          <a:xfrm xmlns:a="http://schemas.openxmlformats.org/drawingml/2006/main">
            <a:off x="3057525" y="5133975"/>
            <a:ext cx="533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5717B"/>
                </a:solidFill>
                <a:latin typeface="Arial"/>
                <a:ea typeface="Arial"/>
                <a:cs typeface="Arial"/>
              </a:defRPr>
            </a:defPPr>
          </a:lstStyle>
          <a:p xmlns:a="http://schemas.openxmlformats.org/drawingml/2006/main">
            <a:pPr algn="l">
              <a:defRPr sz="1125" b="0">
                <a:solidFill>
                  <a:srgbClr val="65717B"/>
                </a:solidFill>
                <a:latin typeface="Arial"/>
                <a:ea typeface="Arial"/>
                <a:cs typeface="Arial"/>
              </a:defRPr>
            </a:pPr>
            <a:r>
              <a:rPr sz="1125" b="0">
                <a:solidFill>
                  <a:srgbClr val="65717B"/>
                </a:solidFill>
                <a:latin typeface="Arial"/>
                <a:ea typeface="Arial"/>
                <a:cs typeface="Arial"/>
              </a:rPr>
              <a:t>Penalizes curvature in the standardized velocity input</a:t>
            </a:r>
          </a:p>
        </p:txBody>
      </p:sp>
      <p:pic>
        <p:nvPicPr>
          <p:cNvPr id="26" name="">
            <a:extLst xmlns:a="http://schemas.openxmlformats.org/drawingml/2006/main">
              <a:ext uri="{FF2B5EF4-FFF2-40B4-BE49-F238E27FC236}">
                <a16:creationId xmlns:a16="http://schemas.microsoft.com/office/drawing/2014/main" id="{8F084B50-0038-4732-AE87-EDFAFA283A48}"/>
              </a:ext>
            </a:extLst>
          </p:cNvPr>
          <p:cNvPicPr>
            <a:picLocks xmlns:a="http://schemas.openxmlformats.org/drawingml/2006/main" noChangeAspect="1"/>
          </p:cNvPicPr>
          <p:nvPr/>
        </p:nvPicPr>
        <p:blipFill>
          <a:blip xmlns:r="http://schemas.openxmlformats.org/officeDocument/2006/relationships" xmlns:a="http://schemas.openxmlformats.org/drawingml/2006/main" r:embed="R74c8f29ad4bd4775"/>
          <a:stretch xmlns:a="http://schemas.openxmlformats.org/drawingml/2006/main"/>
        </p:blipFill>
        <p:spPr>
          <a:xfrm xmlns:a="http://schemas.openxmlformats.org/drawingml/2006/main">
            <a:off x="1183607" y="5629275"/>
            <a:ext cx="547437" cy="371475"/>
          </a:xfrm>
          <a:prstGeom xmlns:a="http://schemas.openxmlformats.org/drawingml/2006/main" prst="rect">
            <a:avLst/>
          </a:prstGeom>
        </p:spPr>
      </p:pic>
      <p:sp>
        <p:nvSpPr>
          <p:cNvPr id="27" name="content-13">
            <a:extLst xmlns:a="http://schemas.openxmlformats.org/drawingml/2006/main">
              <a:ext uri="{FF2B5EF4-FFF2-40B4-BE49-F238E27FC236}">
                <a16:creationId xmlns:a16="http://schemas.microsoft.com/office/drawing/2014/main" id="{E7340835-2DDA-412E-907A-E8C0BC8C0AC1}"/>
              </a:ext>
            </a:extLst>
          </p:cNvPr>
          <p:cNvSpPr>
            <a:spLocks xmlns:a="http://schemas.openxmlformats.org/drawingml/2006/main" noGrp="1"/>
          </p:cNvSpPr>
          <p:nvPr/>
        </p:nvSpPr>
        <p:spPr>
          <a:xfrm xmlns:a="http://schemas.openxmlformats.org/drawingml/2006/main">
            <a:off x="2628900" y="5581650"/>
            <a:ext cx="58197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263645"/>
                </a:solidFill>
                <a:latin typeface="Arial"/>
                <a:ea typeface="Arial"/>
                <a:cs typeface="Arial"/>
              </a:defRPr>
            </a:defPPr>
          </a:lstStyle>
          <a:p xmlns:a="http://schemas.openxmlformats.org/drawingml/2006/main">
            <a:pPr algn="l">
              <a:defRPr sz="1350" b="0">
                <a:solidFill>
                  <a:srgbClr val="263645"/>
                </a:solidFill>
                <a:latin typeface="Arial"/>
                <a:ea typeface="Arial"/>
                <a:cs typeface="Arial"/>
              </a:defRPr>
            </a:pPr>
            <a:r>
              <a:rPr sz="1350" b="0">
                <a:solidFill>
                  <a:srgbClr val="263645"/>
                </a:solidFill>
                <a:latin typeface="Arial"/>
                <a:ea typeface="Arial"/>
                <a:cs typeface="Arial"/>
              </a:rPr>
              <a:t>z: standardized inputs   sy: training target scale</a:t>
            </a:r>
          </a:p>
          <a:p xmlns:a="http://schemas.openxmlformats.org/drawingml/2006/main">
            <a:pPr algn="l">
              <a:defRPr sz="1350" b="0">
                <a:solidFill>
                  <a:srgbClr val="263645"/>
                </a:solidFill>
                <a:latin typeface="Arial"/>
                <a:ea typeface="Arial"/>
                <a:cs typeface="Arial"/>
              </a:defRPr>
            </a:pPr>
            <a:r>
              <a:rPr sz="1350" b="0">
                <a:solidFill>
                  <a:srgbClr val="263645"/>
                </a:solidFill>
                <a:latin typeface="Arial"/>
                <a:ea typeface="Arial"/>
                <a:cs typeface="Arial"/>
              </a:rPr>
              <a:t>n: data rows   m: derivative rows   d: input count</a:t>
            </a:r>
          </a:p>
        </p:txBody>
      </p:sp>
    </p:spTree>
    <p:extLst>
      <p:ext uri="{BB962C8B-B14F-4D97-AF65-F5344CB8AC3E}">
        <p14:creationId xmlns:p14="http://schemas.microsoft.com/office/powerpoint/2010/main" val="138280187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10</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Status of the four proposed physics constraints</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graphicFrame>
        <p:nvGraphicFramePr>
          <p:cNvPr id="13" name="">
            <a:extLst xmlns:a="http://schemas.openxmlformats.org/drawingml/2006/main">
              <a:ext uri="{FF2B5EF4-FFF2-40B4-BE49-F238E27FC236}">
                <a16:creationId xmlns:a16="http://schemas.microsoft.com/office/drawing/2014/main" id="{7FFE9753-E76B-40B2-9A6C-FBEE8F8E82E8}"/>
              </a:ext>
            </a:extLst>
          </p:cNvPr>
          <p:cNvGraphicFramePr/>
          <p:nvPr/>
        </p:nvGraphicFramePr>
        <p:xfrm>
          <a:off xmlns:a="http://schemas.openxmlformats.org/drawingml/2006/main" x="571500" y="1714500"/>
          <a:ext xmlns:a="http://schemas.openxmlformats.org/drawingml/2006/main" cx="8001000" cy="3295650"/>
        </p:xfrm>
        <a:graphic xmlns:a="http://schemas.openxmlformats.org/drawingml/2006/main">
          <a:graphicData uri="http://schemas.openxmlformats.org/drawingml/2006/table">
            <a:tbl>
              <a:tblPr/>
              <a:tblGrid>
                <a:gridCol w="1952625"/>
                <a:gridCol w="2952750"/>
                <a:gridCol w="3095625"/>
              </a:tblGrid>
              <a:tr h="659130">
                <a:tc>
                  <a:txBody>
                    <a:bodyPr>
                      <a:noAutofit/>
                    </a:bodyPr>
                    <a:lstStyle/>
                    <a:p>
                      <a:pPr algn="l"/>
                      <a:r>
                        <a:rPr sz="1275" b="1">
                          <a:solidFill>
                            <a:srgbClr val="FFFFFF"/>
                          </a:solidFill>
                          <a:latin typeface="Arial"/>
                          <a:ea typeface="Arial"/>
                          <a:cs typeface="Arial"/>
                        </a:rPr>
                        <a:t>Constraint</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Implementation</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Current status</a:t>
                      </a:r>
                    </a:p>
                  </a:txBody>
                  <a:tcPr marL="85725" marR="85725" marT="76200" marB="76200" anchor="ctr">
                    <a:solidFill>
                      <a:srgbClr val="002B5E"/>
                    </a:solidFill>
                  </a:tcPr>
                </a:tc>
              </a:tr>
              <a:tr h="659130">
                <a:tc>
                  <a:txBody>
                    <a:bodyPr>
                      <a:noAutofit/>
                    </a:bodyPr>
                    <a:lstStyle/>
                    <a:p>
                      <a:pPr algn="l"/>
                      <a:r>
                        <a:rPr sz="1275" b="1">
                          <a:solidFill>
                            <a:srgbClr val="263645"/>
                          </a:solidFill>
                          <a:latin typeface="Arial"/>
                          <a:ea typeface="Arial"/>
                          <a:cs typeface="Arial"/>
                        </a:rPr>
                        <a:t>Thickness bound</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Sigmoid output multiplied</a:t>
                      </a:r>
                    </a:p>
                    <a:p>
                      <a:pPr algn="ctr"/>
                      <a:r>
                        <a:rPr sz="1275" b="0">
                          <a:solidFill>
                            <a:srgbClr val="263645"/>
                          </a:solidFill>
                          <a:latin typeface="Arial"/>
                          <a:ea typeface="Arial"/>
                          <a:cs typeface="Arial"/>
                        </a:rPr>
                        <a:t>by measured total thickness</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ACTIVE</a:t>
                      </a:r>
                    </a:p>
                    <a:p>
                      <a:pPr algn="ctr"/>
                      <a:r>
                        <a:rPr sz="1275" b="0">
                          <a:solidFill>
                            <a:srgbClr val="263645"/>
                          </a:solidFill>
                          <a:latin typeface="Arial"/>
                          <a:ea typeface="Arial"/>
                          <a:cs typeface="Arial"/>
                        </a:rPr>
                        <a:t>Hard guarantee</a:t>
                      </a:r>
                    </a:p>
                  </a:txBody>
                  <a:tcPr marL="85725" marR="85725" marT="76200" marB="76200" anchor="ctr">
                    <a:solidFill>
                      <a:srgbClr val="FFFFFF"/>
                    </a:solidFill>
                  </a:tcPr>
                </a:tc>
              </a:tr>
              <a:tr h="659130">
                <a:tc>
                  <a:txBody>
                    <a:bodyPr>
                      <a:noAutofit/>
                    </a:bodyPr>
                    <a:lstStyle/>
                    <a:p>
                      <a:pPr algn="l"/>
                      <a:r>
                        <a:rPr sz="1275" b="1">
                          <a:solidFill>
                            <a:srgbClr val="263645"/>
                          </a:solidFill>
                          <a:latin typeface="Arial"/>
                          <a:ea typeface="Arial"/>
                          <a:cs typeface="Arial"/>
                        </a:rPr>
                        <a:t>Velocity smoothness</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Penalty on velocity curvature</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VALUES AVAILABLE</a:t>
                      </a:r>
                    </a:p>
                    <a:p>
                      <a:pPr algn="ctr"/>
                      <a:r>
                        <a:rPr sz="1275" b="0">
                          <a:solidFill>
                            <a:srgbClr val="263645"/>
                          </a:solidFill>
                          <a:latin typeface="Arial"/>
                          <a:ea typeface="Arial"/>
                          <a:cs typeface="Arial"/>
                        </a:rPr>
                        <a:t>Aggregation / preprocessing pending</a:t>
                      </a:r>
                    </a:p>
                  </a:txBody>
                  <a:tcPr marL="85725" marR="85725" marT="76200" marB="76200" anchor="ctr">
                    <a:solidFill>
                      <a:srgbClr val="F7F5EF"/>
                    </a:solidFill>
                  </a:tcPr>
                </a:tc>
              </a:tr>
              <a:tr h="659130">
                <a:tc>
                  <a:txBody>
                    <a:bodyPr>
                      <a:noAutofit/>
                    </a:bodyPr>
                    <a:lstStyle/>
                    <a:p>
                      <a:pPr algn="l"/>
                      <a:r>
                        <a:rPr sz="1275" b="1">
                          <a:solidFill>
                            <a:srgbClr val="263645"/>
                          </a:solidFill>
                          <a:latin typeface="Arial"/>
                          <a:ea typeface="Arial"/>
                          <a:cs typeface="Arial"/>
                        </a:rPr>
                        <a:t>Monotonic trends</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Configurable derivative-sign loss</a:t>
                      </a:r>
                    </a:p>
                    <a:p>
                      <a:pPr algn="ctr"/>
                      <a:r>
                        <a:rPr sz="1275" b="0">
                          <a:solidFill>
                            <a:srgbClr val="263645"/>
                          </a:solidFill>
                          <a:latin typeface="Arial"/>
                          <a:ea typeface="Arial"/>
                          <a:cs typeface="Arial"/>
                        </a:rPr>
                        <a:t>Training-only trend diagnostics</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CONCENTRATION TESTED</a:t>
                      </a:r>
                    </a:p>
                    <a:p>
                      <a:pPr algn="ctr"/>
                      <a:r>
                        <a:rPr sz="1275" b="0">
                          <a:solidFill>
                            <a:srgbClr val="263645"/>
                          </a:solidFill>
                          <a:latin typeface="Arial"/>
                          <a:ea typeface="Arial"/>
                          <a:cs typeface="Arial"/>
                        </a:rPr>
                        <a:t>Other terms await data preparation</a:t>
                      </a:r>
                    </a:p>
                  </a:txBody>
                  <a:tcPr marL="85725" marR="85725" marT="76200" marB="76200" anchor="ctr">
                    <a:solidFill>
                      <a:srgbClr val="FFFFFF"/>
                    </a:solidFill>
                  </a:tcPr>
                </a:tc>
              </a:tr>
              <a:tr h="659130">
                <a:tc>
                  <a:txBody>
                    <a:bodyPr>
                      <a:noAutofit/>
                    </a:bodyPr>
                    <a:lstStyle/>
                    <a:p>
                      <a:pPr algn="l"/>
                      <a:r>
                        <a:rPr sz="1275" b="1">
                          <a:solidFill>
                            <a:srgbClr val="263645"/>
                          </a:solidFill>
                          <a:latin typeface="Arial"/>
                          <a:ea typeface="Arial"/>
                          <a:cs typeface="Arial"/>
                        </a:rPr>
                        <a:t>Hydrodynamic scaling</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LLD residual on the dry mobile layer</a:t>
                      </a:r>
                    </a:p>
                    <a:p>
                      <a:pPr algn="ctr"/>
                      <a:r>
                        <a:rPr sz="1275" b="0">
                          <a:solidFill>
                            <a:srgbClr val="263645"/>
                          </a:solidFill>
                          <a:latin typeface="Arial"/>
                          <a:ea typeface="Arial"/>
                          <a:cs typeface="Arial"/>
                        </a:rPr>
                        <a:t>Explicit regime and conversion checks</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VALUES AVAILABLE</a:t>
                      </a:r>
                    </a:p>
                    <a:p>
                      <a:pPr algn="ctr"/>
                      <a:r>
                        <a:rPr sz="1275" b="0">
                          <a:solidFill>
                            <a:srgbClr val="263645"/>
                          </a:solidFill>
                          <a:latin typeface="Arial"/>
                          <a:ea typeface="Arial"/>
                          <a:cs typeface="Arial"/>
                        </a:rPr>
                        <a:t>Aggregation / preprocessing pending</a:t>
                      </a:r>
                    </a:p>
                  </a:txBody>
                  <a:tcPr marL="85725" marR="85725" marT="76200" marB="76200" anchor="ctr">
                    <a:solidFill>
                      <a:srgbClr val="F7F5EF"/>
                    </a:solidFill>
                  </a:tcPr>
                </a:tc>
              </a:tr>
            </a:tbl>
          </a:graphicData>
        </a:graphic>
      </p:graphicFrame>
      <p:sp>
        <p:nvSpPr>
          <p:cNvPr id="14" name="content-4">
            <a:extLst xmlns:a="http://schemas.openxmlformats.org/drawingml/2006/main">
              <a:ext uri="{FF2B5EF4-FFF2-40B4-BE49-F238E27FC236}">
                <a16:creationId xmlns:a16="http://schemas.microsoft.com/office/drawing/2014/main" id="{6F8F79FB-888D-4394-898F-F47AED872003}"/>
              </a:ext>
            </a:extLst>
          </p:cNvPr>
          <p:cNvSpPr>
            <a:spLocks xmlns:a="http://schemas.openxmlformats.org/drawingml/2006/main" noGrp="1"/>
          </p:cNvSpPr>
          <p:nvPr/>
        </p:nvSpPr>
        <p:spPr>
          <a:xfrm xmlns:a="http://schemas.openxmlformats.org/drawingml/2006/main">
            <a:off x="742950" y="5219700"/>
            <a:ext cx="7667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263645"/>
                </a:solidFill>
                <a:latin typeface="Arial"/>
                <a:ea typeface="Arial"/>
                <a:cs typeface="Arial"/>
              </a:defRPr>
            </a:defPPr>
          </a:lstStyle>
          <a:p xmlns:a="http://schemas.openxmlformats.org/drawingml/2006/main">
            <a:pPr algn="l">
              <a:defRPr sz="1425" b="0">
                <a:solidFill>
                  <a:srgbClr val="263645"/>
                </a:solidFill>
                <a:latin typeface="Arial"/>
                <a:ea typeface="Arial"/>
                <a:cs typeface="Arial"/>
              </a:defRPr>
            </a:pPr>
            <a:r>
              <a:rPr sz="1425" b="0">
                <a:solidFill>
                  <a:srgbClr val="263645"/>
                </a:solidFill>
                <a:latin typeface="Arial"/>
                <a:ea typeface="Arial"/>
                <a:cs typeface="Arial"/>
              </a:rPr>
              <a:t>Required values are available for every loss term. The remaining datasets still need aggregation and preprocessing before use in training.</a:t>
            </a:r>
          </a:p>
        </p:txBody>
      </p:sp>
      <p:sp>
        <p:nvSpPr>
          <p:cNvPr id="15" name="content-5">
            <a:extLst xmlns:a="http://schemas.openxmlformats.org/drawingml/2006/main">
              <a:ext uri="{FF2B5EF4-FFF2-40B4-BE49-F238E27FC236}">
                <a16:creationId xmlns:a16="http://schemas.microsoft.com/office/drawing/2014/main" id="{B888AB81-7053-4068-B49F-2BDE3D7C62FD}"/>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Reported runs use data fit and curvature, with a separate concentration ablation</a:t>
            </a:r>
          </a:p>
        </p:txBody>
      </p:sp>
    </p:spTree>
    <p:extLst>
      <p:ext uri="{BB962C8B-B14F-4D97-AF65-F5344CB8AC3E}">
        <p14:creationId xmlns:p14="http://schemas.microsoft.com/office/powerpoint/2010/main" val="1382801872"/>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11</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Hydrodynamic residual and activation requirements</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pic>
        <p:nvPicPr>
          <p:cNvPr id="13" name="">
            <a:extLst xmlns:a="http://schemas.openxmlformats.org/drawingml/2006/main">
              <a:ext uri="{FF2B5EF4-FFF2-40B4-BE49-F238E27FC236}">
                <a16:creationId xmlns:a16="http://schemas.microsoft.com/office/drawing/2014/main" id="{77CC1728-A7A2-49B4-8361-42DECA406826}"/>
              </a:ext>
            </a:extLst>
          </p:cNvPr>
          <p:cNvPicPr>
            <a:picLocks xmlns:a="http://schemas.openxmlformats.org/drawingml/2006/main" noChangeAspect="1"/>
          </p:cNvPicPr>
          <p:nvPr/>
        </p:nvPicPr>
        <p:blipFill>
          <a:blip xmlns:r="http://schemas.openxmlformats.org/officeDocument/2006/relationships" xmlns:a="http://schemas.openxmlformats.org/drawingml/2006/main" r:embed="R72dba3e6d73c4be4"/>
          <a:stretch xmlns:a="http://schemas.openxmlformats.org/drawingml/2006/main"/>
        </p:blipFill>
        <p:spPr>
          <a:xfrm xmlns:a="http://schemas.openxmlformats.org/drawingml/2006/main">
            <a:off x="1196816" y="1695450"/>
            <a:ext cx="1292543" cy="561975"/>
          </a:xfrm>
          <a:prstGeom xmlns:a="http://schemas.openxmlformats.org/drawingml/2006/main" prst="rect">
            <a:avLst/>
          </a:prstGeom>
        </p:spPr>
      </p:pic>
      <p:sp>
        <p:nvSpPr>
          <p:cNvPr id="14" name="content-4">
            <a:extLst xmlns:a="http://schemas.openxmlformats.org/drawingml/2006/main">
              <a:ext uri="{FF2B5EF4-FFF2-40B4-BE49-F238E27FC236}">
                <a16:creationId xmlns:a16="http://schemas.microsoft.com/office/drawing/2014/main" id="{9414742E-22EE-4609-9818-80A49FB5285C}"/>
              </a:ext>
            </a:extLst>
          </p:cNvPr>
          <p:cNvSpPr>
            <a:spLocks xmlns:a="http://schemas.openxmlformats.org/drawingml/2006/main" noGrp="1"/>
          </p:cNvSpPr>
          <p:nvPr/>
        </p:nvSpPr>
        <p:spPr>
          <a:xfrm xmlns:a="http://schemas.openxmlformats.org/drawingml/2006/main">
            <a:off x="3333750" y="1714500"/>
            <a:ext cx="50863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263645"/>
                </a:solidFill>
                <a:latin typeface="Arial"/>
                <a:ea typeface="Arial"/>
                <a:cs typeface="Arial"/>
              </a:defRPr>
            </a:defPPr>
          </a:lstStyle>
          <a:p xmlns:a="http://schemas.openxmlformats.org/drawingml/2006/main">
            <a:pPr algn="l">
              <a:defRPr sz="1425" b="0">
                <a:solidFill>
                  <a:srgbClr val="263645"/>
                </a:solidFill>
                <a:latin typeface="Arial"/>
                <a:ea typeface="Arial"/>
                <a:cs typeface="Arial"/>
              </a:defRPr>
            </a:pPr>
            <a:r>
              <a:rPr sz="1425" b="0">
                <a:solidFill>
                  <a:srgbClr val="263645"/>
                </a:solidFill>
                <a:latin typeface="Arial"/>
                <a:ea typeface="Arial"/>
                <a:cs typeface="Arial"/>
              </a:rPr>
              <a:t>η: viscosity   U: withdrawal velocity</a:t>
            </a:r>
          </a:p>
          <a:p xmlns:a="http://schemas.openxmlformats.org/drawingml/2006/main">
            <a:pPr algn="l">
              <a:defRPr sz="1425" b="0">
                <a:solidFill>
                  <a:srgbClr val="263645"/>
                </a:solidFill>
                <a:latin typeface="Arial"/>
                <a:ea typeface="Arial"/>
                <a:cs typeface="Arial"/>
              </a:defRPr>
            </a:pPr>
            <a:r>
              <a:rPr sz="1425" b="0">
                <a:solidFill>
                  <a:srgbClr val="263645"/>
                </a:solidFill>
                <a:latin typeface="Arial"/>
                <a:ea typeface="Arial"/>
                <a:cs typeface="Arial"/>
              </a:rPr>
              <a:t>γ: surface tension   ρ: density</a:t>
            </a:r>
          </a:p>
        </p:txBody>
      </p:sp>
      <p:pic>
        <p:nvPicPr>
          <p:cNvPr id="15" name="">
            <a:extLst xmlns:a="http://schemas.openxmlformats.org/drawingml/2006/main">
              <a:ext uri="{FF2B5EF4-FFF2-40B4-BE49-F238E27FC236}">
                <a16:creationId xmlns:a16="http://schemas.microsoft.com/office/drawing/2014/main" id="{601C55B8-6ED6-4F0D-BD5D-FD2759760F03}"/>
              </a:ext>
            </a:extLst>
          </p:cNvPr>
          <p:cNvPicPr>
            <a:picLocks xmlns:a="http://schemas.openxmlformats.org/drawingml/2006/main" noChangeAspect="1"/>
          </p:cNvPicPr>
          <p:nvPr/>
        </p:nvPicPr>
        <p:blipFill>
          <a:blip xmlns:r="http://schemas.openxmlformats.org/officeDocument/2006/relationships" xmlns:a="http://schemas.openxmlformats.org/drawingml/2006/main" r:embed="R14b9dd1e5eb84b09"/>
          <a:stretch xmlns:a="http://schemas.openxmlformats.org/drawingml/2006/main"/>
        </p:blipFill>
        <p:spPr>
          <a:xfrm xmlns:a="http://schemas.openxmlformats.org/drawingml/2006/main">
            <a:off x="2856497" y="2371725"/>
            <a:ext cx="3431005" cy="561975"/>
          </a:xfrm>
          <a:prstGeom xmlns:a="http://schemas.openxmlformats.org/drawingml/2006/main" prst="rect">
            <a:avLst/>
          </a:prstGeom>
        </p:spPr>
      </p:pic>
      <p:pic>
        <p:nvPicPr>
          <p:cNvPr id="16" name="">
            <a:extLst xmlns:a="http://schemas.openxmlformats.org/drawingml/2006/main">
              <a:ext uri="{FF2B5EF4-FFF2-40B4-BE49-F238E27FC236}">
                <a16:creationId xmlns:a16="http://schemas.microsoft.com/office/drawing/2014/main" id="{CD86FC3D-4AFB-4CB1-AB9A-0FFB3218D864}"/>
              </a:ext>
            </a:extLst>
          </p:cNvPr>
          <p:cNvPicPr>
            <a:picLocks xmlns:a="http://schemas.openxmlformats.org/drawingml/2006/main" noChangeAspect="1"/>
          </p:cNvPicPr>
          <p:nvPr/>
        </p:nvPicPr>
        <p:blipFill>
          <a:blip xmlns:r="http://schemas.openxmlformats.org/officeDocument/2006/relationships" xmlns:a="http://schemas.openxmlformats.org/drawingml/2006/main" r:embed="Re8acfab9dfdc47ff"/>
          <a:stretch xmlns:a="http://schemas.openxmlformats.org/drawingml/2006/main"/>
        </p:blipFill>
        <p:spPr>
          <a:xfrm xmlns:a="http://schemas.openxmlformats.org/drawingml/2006/main">
            <a:off x="2840546" y="3057525"/>
            <a:ext cx="3462909" cy="581025"/>
          </a:xfrm>
          <a:prstGeom xmlns:a="http://schemas.openxmlformats.org/drawingml/2006/main" prst="rect">
            <a:avLst/>
          </a:prstGeom>
        </p:spPr>
      </p:pic>
      <p:sp>
        <p:nvSpPr>
          <p:cNvPr id="17" name="content-5">
            <a:extLst xmlns:a="http://schemas.openxmlformats.org/drawingml/2006/main">
              <a:ext uri="{FF2B5EF4-FFF2-40B4-BE49-F238E27FC236}">
                <a16:creationId xmlns:a16="http://schemas.microsoft.com/office/drawing/2014/main" id="{40530889-1849-4F85-985B-EFA7DB920A6C}"/>
              </a:ext>
            </a:extLst>
          </p:cNvPr>
          <p:cNvSpPr>
            <a:spLocks xmlns:a="http://schemas.openxmlformats.org/drawingml/2006/main" noGrp="1"/>
          </p:cNvSpPr>
          <p:nvPr/>
        </p:nvSpPr>
        <p:spPr>
          <a:xfrm xmlns:a="http://schemas.openxmlformats.org/drawingml/2006/main">
            <a:off x="723900" y="3695700"/>
            <a:ext cx="3714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AVAILABLE VALUES</a:t>
            </a:r>
          </a:p>
        </p:txBody>
      </p:sp>
      <p:sp>
        <p:nvSpPr>
          <p:cNvPr id="18" name="content-6">
            <a:extLst xmlns:a="http://schemas.openxmlformats.org/drawingml/2006/main">
              <a:ext uri="{FF2B5EF4-FFF2-40B4-BE49-F238E27FC236}">
                <a16:creationId xmlns:a16="http://schemas.microsoft.com/office/drawing/2014/main" id="{5DDA1CC6-50C1-4256-8000-870A0885E34B}"/>
              </a:ext>
            </a:extLst>
          </p:cNvPr>
          <p:cNvSpPr>
            <a:spLocks xmlns:a="http://schemas.openxmlformats.org/drawingml/2006/main" noGrp="1"/>
          </p:cNvSpPr>
          <p:nvPr/>
        </p:nvSpPr>
        <p:spPr>
          <a:xfrm xmlns:a="http://schemas.openxmlformats.org/drawingml/2006/main">
            <a:off x="723900" y="4067175"/>
            <a:ext cx="38385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Velocity, solution viscosity, surface tension,</a:t>
            </a:r>
          </a:p>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and solution density</a:t>
            </a:r>
          </a:p>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Independent wet-to-dry conversion factor</a:t>
            </a:r>
          </a:p>
        </p:txBody>
      </p:sp>
      <p:sp>
        <p:nvSpPr>
          <p:cNvPr id="19" name="content-7">
            <a:extLst xmlns:a="http://schemas.openxmlformats.org/drawingml/2006/main">
              <a:ext uri="{FF2B5EF4-FFF2-40B4-BE49-F238E27FC236}">
                <a16:creationId xmlns:a16="http://schemas.microsoft.com/office/drawing/2014/main" id="{AB90E047-FBB1-4EC8-A538-1261C1E4F0D0}"/>
              </a:ext>
            </a:extLst>
          </p:cNvPr>
          <p:cNvSpPr>
            <a:spLocks xmlns:a="http://schemas.openxmlformats.org/drawingml/2006/main" noGrp="1"/>
          </p:cNvSpPr>
          <p:nvPr/>
        </p:nvSpPr>
        <p:spPr>
          <a:xfrm xmlns:a="http://schemas.openxmlformats.org/drawingml/2006/main">
            <a:off x="5048250" y="3695700"/>
            <a:ext cx="3381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VALIDITY CHECKS</a:t>
            </a:r>
          </a:p>
        </p:txBody>
      </p:sp>
      <p:sp>
        <p:nvSpPr>
          <p:cNvPr id="20" name="content-8">
            <a:extLst xmlns:a="http://schemas.openxmlformats.org/drawingml/2006/main">
              <a:ext uri="{FF2B5EF4-FFF2-40B4-BE49-F238E27FC236}">
                <a16:creationId xmlns:a16="http://schemas.microsoft.com/office/drawing/2014/main" id="{7A41A074-1FB3-4339-ADBA-0273C589AA07}"/>
              </a:ext>
            </a:extLst>
          </p:cNvPr>
          <p:cNvSpPr>
            <a:spLocks xmlns:a="http://schemas.openxmlformats.org/drawingml/2006/main" noGrp="1"/>
          </p:cNvSpPr>
          <p:nvPr/>
        </p:nvSpPr>
        <p:spPr>
          <a:xfrm xmlns:a="http://schemas.openxmlformats.org/drawingml/2006/main">
            <a:off x="5048250" y="4067175"/>
            <a:ext cx="34194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Flat-plate, Newtonian, eligible regime</a:t>
            </a:r>
          </a:p>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Explicit per-row applicability flag</a:t>
            </a:r>
          </a:p>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Capillary number below 0.01</a:t>
            </a:r>
          </a:p>
        </p:txBody>
      </p:sp>
      <p:sp>
        <p:nvSpPr>
          <p:cNvPr id="21" name="content-9">
            <a:extLst xmlns:a="http://schemas.openxmlformats.org/drawingml/2006/main">
              <a:ext uri="{FF2B5EF4-FFF2-40B4-BE49-F238E27FC236}">
                <a16:creationId xmlns:a16="http://schemas.microsoft.com/office/drawing/2014/main" id="{C850D7F8-277D-47BE-B7A7-01C0BBB811CC}"/>
              </a:ext>
            </a:extLst>
          </p:cNvPr>
          <p:cNvSpPr>
            <a:spLocks xmlns:a="http://schemas.openxmlformats.org/drawingml/2006/main" noGrp="1"/>
          </p:cNvSpPr>
          <p:nvPr/>
        </p:nvSpPr>
        <p:spPr>
          <a:xfrm xmlns:a="http://schemas.openxmlformats.org/drawingml/2006/main">
            <a:off x="723900" y="5286375"/>
            <a:ext cx="7715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5717B"/>
                </a:solidFill>
                <a:latin typeface="Arial"/>
                <a:ea typeface="Arial"/>
                <a:cs typeface="Arial"/>
              </a:defRPr>
            </a:defPPr>
          </a:lstStyle>
          <a:p xmlns:a="http://schemas.openxmlformats.org/drawingml/2006/main">
            <a:pPr algn="l">
              <a:defRPr sz="1200" b="0">
                <a:solidFill>
                  <a:srgbClr val="65717B"/>
                </a:solidFill>
                <a:latin typeface="Arial"/>
                <a:ea typeface="Arial"/>
                <a:cs typeface="Arial"/>
              </a:defRPr>
            </a:pPr>
            <a:r>
              <a:rPr sz="1200" b="0">
                <a:solidFill>
                  <a:srgbClr val="65717B"/>
                </a:solidFill>
                <a:latin typeface="Arial"/>
                <a:ea typeface="Arial"/>
                <a:cs typeface="Arial"/>
              </a:rPr>
              <a:t>A: eligible rows   fdry: independent dry conversion   sy: training target scale</a:t>
            </a:r>
          </a:p>
        </p:txBody>
      </p:sp>
      <p:sp>
        <p:nvSpPr>
          <p:cNvPr id="22" name="content-10">
            <a:extLst xmlns:a="http://schemas.openxmlformats.org/drawingml/2006/main">
              <a:ext uri="{FF2B5EF4-FFF2-40B4-BE49-F238E27FC236}">
                <a16:creationId xmlns:a16="http://schemas.microsoft.com/office/drawing/2014/main" id="{5FF55A19-285D-47A0-A976-86CA18D5B85B}"/>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Values are available. Aggregate and preprocess the datasets before enabling this loss</a:t>
            </a:r>
          </a:p>
        </p:txBody>
      </p:sp>
    </p:spTree>
    <p:extLst>
      <p:ext uri="{BB962C8B-B14F-4D97-AF65-F5344CB8AC3E}">
        <p14:creationId xmlns:p14="http://schemas.microsoft.com/office/powerpoint/2010/main" val="138280187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12</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Training configuration and matched baselines</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graphicFrame>
        <p:nvGraphicFramePr>
          <p:cNvPr id="13" name="">
            <a:extLst xmlns:a="http://schemas.openxmlformats.org/drawingml/2006/main">
              <a:ext uri="{FF2B5EF4-FFF2-40B4-BE49-F238E27FC236}">
                <a16:creationId xmlns:a16="http://schemas.microsoft.com/office/drawing/2014/main" id="{6508B2FD-40E1-42BE-BC40-0C4313641ECD}"/>
              </a:ext>
            </a:extLst>
          </p:cNvPr>
          <p:cNvGraphicFramePr/>
          <p:nvPr/>
        </p:nvGraphicFramePr>
        <p:xfrm>
          <a:off xmlns:a="http://schemas.openxmlformats.org/drawingml/2006/main" x="571500" y="1695450"/>
          <a:ext xmlns:a="http://schemas.openxmlformats.org/drawingml/2006/main" cx="4152900" cy="3743325"/>
        </p:xfrm>
        <a:graphic xmlns:a="http://schemas.openxmlformats.org/drawingml/2006/main">
          <a:graphicData uri="http://schemas.openxmlformats.org/drawingml/2006/table">
            <a:tbl>
              <a:tblPr/>
              <a:tblGrid>
                <a:gridCol w="2152650"/>
                <a:gridCol w="2000250"/>
              </a:tblGrid>
              <a:tr h="374333">
                <a:tc>
                  <a:txBody>
                    <a:bodyPr>
                      <a:noAutofit/>
                    </a:bodyPr>
                    <a:lstStyle/>
                    <a:p>
                      <a:pPr algn="l"/>
                      <a:r>
                        <a:rPr sz="1275" b="1">
                          <a:solidFill>
                            <a:srgbClr val="FFFFFF"/>
                          </a:solidFill>
                          <a:latin typeface="Arial"/>
                          <a:ea typeface="Arial"/>
                          <a:cs typeface="Arial"/>
                        </a:rPr>
                        <a:t>Setting</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Initial choice</a:t>
                      </a:r>
                    </a:p>
                  </a:txBody>
                  <a:tcPr marL="85725" marR="85725" marT="76200" marB="76200" anchor="ctr">
                    <a:solidFill>
                      <a:srgbClr val="002B5E"/>
                    </a:solidFill>
                  </a:tcPr>
                </a:tc>
              </a:tr>
              <a:tr h="374333">
                <a:tc>
                  <a:txBody>
                    <a:bodyPr>
                      <a:noAutofit/>
                    </a:bodyPr>
                    <a:lstStyle/>
                    <a:p>
                      <a:pPr algn="l"/>
                      <a:r>
                        <a:rPr sz="1275" b="1">
                          <a:solidFill>
                            <a:srgbClr val="263645"/>
                          </a:solidFill>
                          <a:latin typeface="Arial"/>
                          <a:ea typeface="Arial"/>
                          <a:cs typeface="Arial"/>
                        </a:rPr>
                        <a:t>Optimizer</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Adam</a:t>
                      </a:r>
                    </a:p>
                  </a:txBody>
                  <a:tcPr marL="85725" marR="85725" marT="76200" marB="76200" anchor="ctr">
                    <a:solidFill>
                      <a:srgbClr val="FFFFFF"/>
                    </a:solidFill>
                  </a:tcPr>
                </a:tc>
              </a:tr>
              <a:tr h="374333">
                <a:tc>
                  <a:txBody>
                    <a:bodyPr>
                      <a:noAutofit/>
                    </a:bodyPr>
                    <a:lstStyle/>
                    <a:p>
                      <a:pPr algn="l"/>
                      <a:r>
                        <a:rPr sz="1275" b="1">
                          <a:solidFill>
                            <a:srgbClr val="263645"/>
                          </a:solidFill>
                          <a:latin typeface="Arial"/>
                          <a:ea typeface="Arial"/>
                          <a:cs typeface="Arial"/>
                        </a:rPr>
                        <a:t>Learning rate</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0.001</a:t>
                      </a:r>
                    </a:p>
                  </a:txBody>
                  <a:tcPr marL="85725" marR="85725" marT="76200" marB="76200" anchor="ctr">
                    <a:solidFill>
                      <a:srgbClr val="F7F5EF"/>
                    </a:solidFill>
                  </a:tcPr>
                </a:tc>
              </a:tr>
              <a:tr h="374333">
                <a:tc>
                  <a:txBody>
                    <a:bodyPr>
                      <a:noAutofit/>
                    </a:bodyPr>
                    <a:lstStyle/>
                    <a:p>
                      <a:pPr algn="l"/>
                      <a:r>
                        <a:rPr sz="1275" b="1">
                          <a:solidFill>
                            <a:srgbClr val="263645"/>
                          </a:solidFill>
                          <a:latin typeface="Arial"/>
                          <a:ea typeface="Arial"/>
                          <a:cs typeface="Arial"/>
                        </a:rPr>
                        <a:t>Weight decay</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0.0001</a:t>
                      </a:r>
                    </a:p>
                  </a:txBody>
                  <a:tcPr marL="85725" marR="85725" marT="76200" marB="76200" anchor="ctr">
                    <a:solidFill>
                      <a:srgbClr val="FFFFFF"/>
                    </a:solidFill>
                  </a:tcPr>
                </a:tc>
              </a:tr>
              <a:tr h="374333">
                <a:tc>
                  <a:txBody>
                    <a:bodyPr>
                      <a:noAutofit/>
                    </a:bodyPr>
                    <a:lstStyle/>
                    <a:p>
                      <a:pPr algn="l"/>
                      <a:r>
                        <a:rPr sz="1275" b="1">
                          <a:solidFill>
                            <a:srgbClr val="263645"/>
                          </a:solidFill>
                          <a:latin typeface="Arial"/>
                          <a:ea typeface="Arial"/>
                          <a:cs typeface="Arial"/>
                        </a:rPr>
                        <a:t>Maximum epochs</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1,500</a:t>
                      </a:r>
                    </a:p>
                  </a:txBody>
                  <a:tcPr marL="85725" marR="85725" marT="76200" marB="76200" anchor="ctr">
                    <a:solidFill>
                      <a:srgbClr val="F7F5EF"/>
                    </a:solidFill>
                  </a:tcPr>
                </a:tc>
              </a:tr>
              <a:tr h="374333">
                <a:tc>
                  <a:txBody>
                    <a:bodyPr>
                      <a:noAutofit/>
                    </a:bodyPr>
                    <a:lstStyle/>
                    <a:p>
                      <a:pPr algn="l"/>
                      <a:r>
                        <a:rPr sz="1275" b="1">
                          <a:solidFill>
                            <a:srgbClr val="263645"/>
                          </a:solidFill>
                          <a:latin typeface="Arial"/>
                          <a:ea typeface="Arial"/>
                          <a:cs typeface="Arial"/>
                        </a:rPr>
                        <a:t>Validation patience</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150 epochs</a:t>
                      </a:r>
                    </a:p>
                  </a:txBody>
                  <a:tcPr marL="85725" marR="85725" marT="76200" marB="76200" anchor="ctr">
                    <a:solidFill>
                      <a:srgbClr val="FFFFFF"/>
                    </a:solidFill>
                  </a:tcPr>
                </a:tc>
              </a:tr>
              <a:tr h="374333">
                <a:tc>
                  <a:txBody>
                    <a:bodyPr>
                      <a:noAutofit/>
                    </a:bodyPr>
                    <a:lstStyle/>
                    <a:p>
                      <a:pPr algn="l"/>
                      <a:r>
                        <a:rPr sz="1275" b="1">
                          <a:solidFill>
                            <a:srgbClr val="263645"/>
                          </a:solidFill>
                          <a:latin typeface="Arial"/>
                          <a:ea typeface="Arial"/>
                          <a:cs typeface="Arial"/>
                        </a:rPr>
                        <a:t>Gradient clipping</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Norm = 10</a:t>
                      </a:r>
                    </a:p>
                  </a:txBody>
                  <a:tcPr marL="85725" marR="85725" marT="76200" marB="76200" anchor="ctr">
                    <a:solidFill>
                      <a:srgbClr val="F7F5EF"/>
                    </a:solidFill>
                  </a:tcPr>
                </a:tc>
              </a:tr>
              <a:tr h="374333">
                <a:tc>
                  <a:txBody>
                    <a:bodyPr>
                      <a:noAutofit/>
                    </a:bodyPr>
                    <a:lstStyle/>
                    <a:p>
                      <a:pPr algn="l"/>
                      <a:r>
                        <a:rPr sz="1275" b="1">
                          <a:solidFill>
                            <a:srgbClr val="263645"/>
                          </a:solidFill>
                          <a:latin typeface="Arial"/>
                          <a:ea typeface="Arial"/>
                          <a:cs typeface="Arial"/>
                        </a:rPr>
                        <a:t>Derivative sample</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Up to 256 training rows</a:t>
                      </a:r>
                    </a:p>
                  </a:txBody>
                  <a:tcPr marL="85725" marR="85725" marT="76200" marB="76200" anchor="ctr">
                    <a:solidFill>
                      <a:srgbClr val="FFFFFF"/>
                    </a:solidFill>
                  </a:tcPr>
                </a:tc>
              </a:tr>
              <a:tr h="374333">
                <a:tc>
                  <a:txBody>
                    <a:bodyPr>
                      <a:noAutofit/>
                    </a:bodyPr>
                    <a:lstStyle/>
                    <a:p>
                      <a:pPr algn="l"/>
                      <a:r>
                        <a:rPr sz="1275" b="1">
                          <a:solidFill>
                            <a:srgbClr val="263645"/>
                          </a:solidFill>
                          <a:latin typeface="Arial"/>
                          <a:ea typeface="Arial"/>
                          <a:cs typeface="Arial"/>
                        </a:rPr>
                        <a:t>Initialization</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Xavier / zero biases</a:t>
                      </a:r>
                    </a:p>
                  </a:txBody>
                  <a:tcPr marL="85725" marR="85725" marT="76200" marB="76200" anchor="ctr">
                    <a:solidFill>
                      <a:srgbClr val="F7F5EF"/>
                    </a:solidFill>
                  </a:tcPr>
                </a:tc>
              </a:tr>
              <a:tr h="374333">
                <a:tc>
                  <a:txBody>
                    <a:bodyPr>
                      <a:noAutofit/>
                    </a:bodyPr>
                    <a:lstStyle/>
                    <a:p>
                      <a:pPr algn="l"/>
                      <a:r>
                        <a:rPr sz="1275" b="1">
                          <a:solidFill>
                            <a:srgbClr val="263645"/>
                          </a:solidFill>
                          <a:latin typeface="Arial"/>
                          <a:ea typeface="Arial"/>
                          <a:cs typeface="Arial"/>
                        </a:rPr>
                        <a:t>Reproducibility</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Seed 42, CPU</a:t>
                      </a:r>
                    </a:p>
                  </a:txBody>
                  <a:tcPr marL="85725" marR="85725" marT="76200" marB="76200" anchor="ctr">
                    <a:solidFill>
                      <a:srgbClr val="FFFFFF"/>
                    </a:solidFill>
                  </a:tcPr>
                </a:tc>
              </a:tr>
            </a:tbl>
          </a:graphicData>
        </a:graphic>
      </p:graphicFrame>
      <p:sp>
        <p:nvSpPr>
          <p:cNvPr id="14" name="content-4">
            <a:extLst xmlns:a="http://schemas.openxmlformats.org/drawingml/2006/main">
              <a:ext uri="{FF2B5EF4-FFF2-40B4-BE49-F238E27FC236}">
                <a16:creationId xmlns:a16="http://schemas.microsoft.com/office/drawing/2014/main" id="{8FB13B4D-D465-47A8-B18F-C97EB2E2BA9F}"/>
              </a:ext>
            </a:extLst>
          </p:cNvPr>
          <p:cNvSpPr>
            <a:spLocks xmlns:a="http://schemas.openxmlformats.org/drawingml/2006/main" noGrp="1"/>
          </p:cNvSpPr>
          <p:nvPr/>
        </p:nvSpPr>
        <p:spPr>
          <a:xfrm xmlns:a="http://schemas.openxmlformats.org/drawingml/2006/main">
            <a:off x="5124450" y="1704975"/>
            <a:ext cx="3295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NEURAL COMPARISONS</a:t>
            </a:r>
          </a:p>
        </p:txBody>
      </p:sp>
      <p:sp>
        <p:nvSpPr>
          <p:cNvPr id="15" name="content-5">
            <a:extLst xmlns:a="http://schemas.openxmlformats.org/drawingml/2006/main">
              <a:ext uri="{FF2B5EF4-FFF2-40B4-BE49-F238E27FC236}">
                <a16:creationId xmlns:a16="http://schemas.microsoft.com/office/drawing/2014/main" id="{21BB318A-0BDF-4AC6-B0C3-671A9B7E7CDE}"/>
              </a:ext>
            </a:extLst>
          </p:cNvPr>
          <p:cNvSpPr>
            <a:spLocks xmlns:a="http://schemas.openxmlformats.org/drawingml/2006/main" noGrp="1"/>
          </p:cNvSpPr>
          <p:nvPr/>
        </p:nvSpPr>
        <p:spPr>
          <a:xfrm xmlns:a="http://schemas.openxmlformats.org/drawingml/2006/main">
            <a:off x="5124450" y="2057400"/>
            <a:ext cx="3295650" cy="5010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263645"/>
                </a:solidFill>
                <a:latin typeface="Arial"/>
                <a:ea typeface="Arial"/>
                <a:cs typeface="Arial"/>
              </a:defRPr>
            </a:defPPr>
          </a:lstStyle>
          <a:p xmlns:a="http://schemas.openxmlformats.org/drawingml/2006/main">
            <a:pPr algn="l">
              <a:defRPr sz="1425" b="0">
                <a:solidFill>
                  <a:srgbClr val="263645"/>
                </a:solidFill>
                <a:latin typeface="Arial"/>
                <a:ea typeface="Arial"/>
                <a:cs typeface="Arial"/>
              </a:defRPr>
            </a:pPr>
            <a:r>
              <a:rPr sz="1425" b="0">
                <a:solidFill>
                  <a:srgbClr val="263645"/>
                </a:solidFill>
                <a:latin typeface="Arial"/>
                <a:ea typeface="Arial"/>
                <a:cs typeface="Arial"/>
              </a:rPr>
              <a:t>PINN: hard bound plus curvature regularization.</a:t>
            </a:r>
          </a:p>
        </p:txBody>
      </p:sp>
      <p:sp>
        <p:nvSpPr>
          <p:cNvPr id="16" name="content-6">
            <a:extLst xmlns:a="http://schemas.openxmlformats.org/drawingml/2006/main">
              <a:ext uri="{FF2B5EF4-FFF2-40B4-BE49-F238E27FC236}">
                <a16:creationId xmlns:a16="http://schemas.microsoft.com/office/drawing/2014/main" id="{71068ED2-CBA9-4EEB-9D75-D62926237703}"/>
              </a:ext>
            </a:extLst>
          </p:cNvPr>
          <p:cNvSpPr>
            <a:spLocks xmlns:a="http://schemas.openxmlformats.org/drawingml/2006/main" noGrp="1"/>
          </p:cNvSpPr>
          <p:nvPr/>
        </p:nvSpPr>
        <p:spPr>
          <a:xfrm xmlns:a="http://schemas.openxmlformats.org/drawingml/2006/main">
            <a:off x="5124450" y="2606040"/>
            <a:ext cx="3295650" cy="718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263645"/>
                </a:solidFill>
                <a:latin typeface="Arial"/>
                <a:ea typeface="Arial"/>
                <a:cs typeface="Arial"/>
              </a:defRPr>
            </a:defPPr>
          </a:lstStyle>
          <a:p xmlns:a="http://schemas.openxmlformats.org/drawingml/2006/main">
            <a:pPr algn="l">
              <a:defRPr sz="1425" b="0">
                <a:solidFill>
                  <a:srgbClr val="263645"/>
                </a:solidFill>
                <a:latin typeface="Arial"/>
                <a:ea typeface="Arial"/>
                <a:cs typeface="Arial"/>
              </a:defRPr>
            </a:pPr>
            <a:r>
              <a:rPr sz="1425" b="0">
                <a:solidFill>
                  <a:srgbClr val="263645"/>
                </a:solidFill>
                <a:latin typeface="Arial"/>
                <a:ea typeface="Arial"/>
                <a:cs typeface="Arial"/>
              </a:rPr>
              <a:t>Bounded NN: same output bound, with physics penalties off.</a:t>
            </a:r>
          </a:p>
        </p:txBody>
      </p:sp>
      <p:sp>
        <p:nvSpPr>
          <p:cNvPr id="17" name="content-7">
            <a:extLst xmlns:a="http://schemas.openxmlformats.org/drawingml/2006/main">
              <a:ext uri="{FF2B5EF4-FFF2-40B4-BE49-F238E27FC236}">
                <a16:creationId xmlns:a16="http://schemas.microsoft.com/office/drawing/2014/main" id="{48668259-B44B-44DF-8600-584C5DDD0ACA}"/>
              </a:ext>
            </a:extLst>
          </p:cNvPr>
          <p:cNvSpPr>
            <a:spLocks xmlns:a="http://schemas.openxmlformats.org/drawingml/2006/main" noGrp="1"/>
          </p:cNvSpPr>
          <p:nvPr/>
        </p:nvSpPr>
        <p:spPr>
          <a:xfrm xmlns:a="http://schemas.openxmlformats.org/drawingml/2006/main">
            <a:off x="5124450" y="3371850"/>
            <a:ext cx="3295650" cy="718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263645"/>
                </a:solidFill>
                <a:latin typeface="Arial"/>
                <a:ea typeface="Arial"/>
                <a:cs typeface="Arial"/>
              </a:defRPr>
            </a:defPPr>
          </a:lstStyle>
          <a:p xmlns:a="http://schemas.openxmlformats.org/drawingml/2006/main">
            <a:pPr algn="l">
              <a:defRPr sz="1425" b="0">
                <a:solidFill>
                  <a:srgbClr val="263645"/>
                </a:solidFill>
                <a:latin typeface="Arial"/>
                <a:ea typeface="Arial"/>
                <a:cs typeface="Arial"/>
              </a:defRPr>
            </a:pPr>
            <a:r>
              <a:rPr sz="1425" b="0">
                <a:solidFill>
                  <a:srgbClr val="263645"/>
                </a:solidFill>
                <a:latin typeface="Arial"/>
                <a:ea typeface="Arial"/>
                <a:cs typeface="Arial"/>
              </a:rPr>
              <a:t>Standard NN: same hidden layers and optimizer, with a linear output.</a:t>
            </a:r>
          </a:p>
        </p:txBody>
      </p:sp>
      <p:sp>
        <p:nvSpPr>
          <p:cNvPr id="18" name="content-8">
            <a:extLst xmlns:a="http://schemas.openxmlformats.org/drawingml/2006/main">
              <a:ext uri="{FF2B5EF4-FFF2-40B4-BE49-F238E27FC236}">
                <a16:creationId xmlns:a16="http://schemas.microsoft.com/office/drawing/2014/main" id="{E3FA5BFA-8C38-494B-837E-7978746EFF0B}"/>
              </a:ext>
            </a:extLst>
          </p:cNvPr>
          <p:cNvSpPr>
            <a:spLocks xmlns:a="http://schemas.openxmlformats.org/drawingml/2006/main" noGrp="1"/>
          </p:cNvSpPr>
          <p:nvPr/>
        </p:nvSpPr>
        <p:spPr>
          <a:xfrm xmlns:a="http://schemas.openxmlformats.org/drawingml/2006/main">
            <a:off x="5124450" y="4543425"/>
            <a:ext cx="3295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TREE BASELINES</a:t>
            </a:r>
          </a:p>
        </p:txBody>
      </p:sp>
      <p:sp>
        <p:nvSpPr>
          <p:cNvPr id="19" name="content-9">
            <a:extLst xmlns:a="http://schemas.openxmlformats.org/drawingml/2006/main">
              <a:ext uri="{FF2B5EF4-FFF2-40B4-BE49-F238E27FC236}">
                <a16:creationId xmlns:a16="http://schemas.microsoft.com/office/drawing/2014/main" id="{182DF11B-EB9E-4988-A7F2-0F74704E05BF}"/>
              </a:ext>
            </a:extLst>
          </p:cNvPr>
          <p:cNvSpPr>
            <a:spLocks xmlns:a="http://schemas.openxmlformats.org/drawingml/2006/main" noGrp="1"/>
          </p:cNvSpPr>
          <p:nvPr/>
        </p:nvSpPr>
        <p:spPr>
          <a:xfrm xmlns:a="http://schemas.openxmlformats.org/drawingml/2006/main">
            <a:off x="5124450" y="4905375"/>
            <a:ext cx="32956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263645"/>
                </a:solidFill>
                <a:latin typeface="Arial"/>
                <a:ea typeface="Arial"/>
                <a:cs typeface="Arial"/>
              </a:defRPr>
            </a:defPPr>
          </a:lstStyle>
          <a:p xmlns:a="http://schemas.openxmlformats.org/drawingml/2006/main">
            <a:pPr algn="l">
              <a:defRPr sz="1350" b="0">
                <a:solidFill>
                  <a:srgbClr val="263645"/>
                </a:solidFill>
                <a:latin typeface="Arial"/>
                <a:ea typeface="Arial"/>
                <a:cs typeface="Arial"/>
              </a:defRPr>
            </a:pPr>
            <a:r>
              <a:rPr sz="1350" b="0">
                <a:solidFill>
                  <a:srgbClr val="263645"/>
                </a:solidFill>
                <a:latin typeface="Arial"/>
                <a:ea typeface="Arial"/>
                <a:cs typeface="Arial"/>
              </a:rPr>
              <a:t>RF: 300 trees, minimum leaf size 2</a:t>
            </a:r>
          </a:p>
          <a:p xmlns:a="http://schemas.openxmlformats.org/drawingml/2006/main">
            <a:pPr algn="l">
              <a:defRPr sz="1350" b="0">
                <a:solidFill>
                  <a:srgbClr val="263645"/>
                </a:solidFill>
                <a:latin typeface="Arial"/>
                <a:ea typeface="Arial"/>
                <a:cs typeface="Arial"/>
              </a:defRPr>
            </a:pPr>
            <a:r>
              <a:rPr sz="1350" b="0">
                <a:solidFill>
                  <a:srgbClr val="263645"/>
                </a:solidFill>
                <a:latin typeface="Arial"/>
                <a:ea typeface="Arial"/>
                <a:cs typeface="Arial"/>
              </a:rPr>
              <a:t>GB: 100 trees, depth 2, learning rate 0.05</a:t>
            </a:r>
          </a:p>
        </p:txBody>
      </p:sp>
      <p:sp>
        <p:nvSpPr>
          <p:cNvPr id="20" name="content-10">
            <a:extLst xmlns:a="http://schemas.openxmlformats.org/drawingml/2006/main">
              <a:ext uri="{FF2B5EF4-FFF2-40B4-BE49-F238E27FC236}">
                <a16:creationId xmlns:a16="http://schemas.microsoft.com/office/drawing/2014/main" id="{1709C978-F34E-4B05-BCF9-1D4D1D711EF0}"/>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Validation chooses neural checkpoints. Fixed tree settings receive no test-driven tuning</a:t>
            </a:r>
          </a:p>
        </p:txBody>
      </p:sp>
    </p:spTree>
    <p:extLst>
      <p:ext uri="{BB962C8B-B14F-4D97-AF65-F5344CB8AC3E}">
        <p14:creationId xmlns:p14="http://schemas.microsoft.com/office/powerpoint/2010/main" val="1382801872"/>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13</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Evaluation splits and interpretation</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graphicFrame>
        <p:nvGraphicFramePr>
          <p:cNvPr id="13" name="">
            <a:extLst xmlns:a="http://schemas.openxmlformats.org/drawingml/2006/main">
              <a:ext uri="{FF2B5EF4-FFF2-40B4-BE49-F238E27FC236}">
                <a16:creationId xmlns:a16="http://schemas.microsoft.com/office/drawing/2014/main" id="{8E399062-3F2B-4179-A075-434B6128C576}"/>
              </a:ext>
            </a:extLst>
          </p:cNvPr>
          <p:cNvGraphicFramePr/>
          <p:nvPr/>
        </p:nvGraphicFramePr>
        <p:xfrm>
          <a:off xmlns:a="http://schemas.openxmlformats.org/drawingml/2006/main" x="571500" y="1724025"/>
          <a:ext xmlns:a="http://schemas.openxmlformats.org/drawingml/2006/main" cx="8001000" cy="2047875"/>
        </p:xfrm>
        <a:graphic xmlns:a="http://schemas.openxmlformats.org/drawingml/2006/main">
          <a:graphicData uri="http://schemas.openxmlformats.org/drawingml/2006/table">
            <a:tbl>
              <a:tblPr/>
              <a:tblGrid>
                <a:gridCol w="4343400"/>
                <a:gridCol w="1219200"/>
                <a:gridCol w="1219200"/>
                <a:gridCol w="1219200"/>
              </a:tblGrid>
              <a:tr h="511969">
                <a:tc>
                  <a:txBody>
                    <a:bodyPr>
                      <a:noAutofit/>
                    </a:bodyPr>
                    <a:lstStyle/>
                    <a:p>
                      <a:pPr algn="l"/>
                      <a:r>
                        <a:rPr sz="1500" b="1">
                          <a:solidFill>
                            <a:srgbClr val="FFFFFF"/>
                          </a:solidFill>
                          <a:latin typeface="Arial"/>
                          <a:ea typeface="Arial"/>
                          <a:cs typeface="Arial"/>
                        </a:rPr>
                        <a:t>Run</a:t>
                      </a:r>
                    </a:p>
                  </a:txBody>
                  <a:tcPr marL="85725" marR="85725" marT="76200" marB="76200" anchor="ctr">
                    <a:solidFill>
                      <a:srgbClr val="002B5E"/>
                    </a:solidFill>
                  </a:tcPr>
                </a:tc>
                <a:tc>
                  <a:txBody>
                    <a:bodyPr>
                      <a:noAutofit/>
                    </a:bodyPr>
                    <a:lstStyle/>
                    <a:p>
                      <a:pPr algn="ctr"/>
                      <a:r>
                        <a:rPr sz="1500" b="1">
                          <a:solidFill>
                            <a:srgbClr val="FFFFFF"/>
                          </a:solidFill>
                          <a:latin typeface="Arial"/>
                          <a:ea typeface="Arial"/>
                          <a:cs typeface="Arial"/>
                        </a:rPr>
                        <a:t>Training</a:t>
                      </a:r>
                    </a:p>
                  </a:txBody>
                  <a:tcPr marL="85725" marR="85725" marT="76200" marB="76200" anchor="ctr">
                    <a:solidFill>
                      <a:srgbClr val="002B5E"/>
                    </a:solidFill>
                  </a:tcPr>
                </a:tc>
                <a:tc>
                  <a:txBody>
                    <a:bodyPr>
                      <a:noAutofit/>
                    </a:bodyPr>
                    <a:lstStyle/>
                    <a:p>
                      <a:pPr algn="ctr"/>
                      <a:r>
                        <a:rPr sz="1500" b="1">
                          <a:solidFill>
                            <a:srgbClr val="FFFFFF"/>
                          </a:solidFill>
                          <a:latin typeface="Arial"/>
                          <a:ea typeface="Arial"/>
                          <a:cs typeface="Arial"/>
                        </a:rPr>
                        <a:t>Validation</a:t>
                      </a:r>
                    </a:p>
                  </a:txBody>
                  <a:tcPr marL="85725" marR="85725" marT="76200" marB="76200" anchor="ctr">
                    <a:solidFill>
                      <a:srgbClr val="002B5E"/>
                    </a:solidFill>
                  </a:tcPr>
                </a:tc>
                <a:tc>
                  <a:txBody>
                    <a:bodyPr>
                      <a:noAutofit/>
                    </a:bodyPr>
                    <a:lstStyle/>
                    <a:p>
                      <a:pPr algn="ctr"/>
                      <a:r>
                        <a:rPr sz="1500" b="1">
                          <a:solidFill>
                            <a:srgbClr val="FFFFFF"/>
                          </a:solidFill>
                          <a:latin typeface="Arial"/>
                          <a:ea typeface="Arial"/>
                          <a:cs typeface="Arial"/>
                        </a:rPr>
                        <a:t>Test</a:t>
                      </a:r>
                    </a:p>
                  </a:txBody>
                  <a:tcPr marL="85725" marR="85725" marT="76200" marB="76200" anchor="ctr">
                    <a:solidFill>
                      <a:srgbClr val="002B5E"/>
                    </a:solidFill>
                  </a:tcPr>
                </a:tc>
              </a:tr>
              <a:tr h="511969">
                <a:tc>
                  <a:txBody>
                    <a:bodyPr>
                      <a:noAutofit/>
                    </a:bodyPr>
                    <a:lstStyle/>
                    <a:p>
                      <a:pPr algn="l"/>
                      <a:r>
                        <a:rPr sz="1500" b="1">
                          <a:solidFill>
                            <a:srgbClr val="263645"/>
                          </a:solidFill>
                          <a:latin typeface="Arial"/>
                          <a:ea typeface="Arial"/>
                          <a:cs typeface="Arial"/>
                        </a:rPr>
                        <a:t>Measured concentration groups</a:t>
                      </a:r>
                    </a:p>
                  </a:txBody>
                  <a:tcPr marL="85725" marR="85725" marT="76200" marB="76200" anchor="ctr">
                    <a:solidFill>
                      <a:srgbClr val="FFFFFF"/>
                    </a:solidFill>
                  </a:tcPr>
                </a:tc>
                <a:tc>
                  <a:txBody>
                    <a:bodyPr>
                      <a:noAutofit/>
                    </a:bodyPr>
                    <a:lstStyle/>
                    <a:p>
                      <a:pPr algn="ctr"/>
                      <a:r>
                        <a:rPr sz="1500" b="0">
                          <a:solidFill>
                            <a:srgbClr val="263645"/>
                          </a:solidFill>
                          <a:latin typeface="Arial"/>
                          <a:ea typeface="Arial"/>
                          <a:cs typeface="Arial"/>
                        </a:rPr>
                        <a:t>28</a:t>
                      </a:r>
                    </a:p>
                  </a:txBody>
                  <a:tcPr marL="85725" marR="85725" marT="76200" marB="76200" anchor="ctr">
                    <a:solidFill>
                      <a:srgbClr val="FFFFFF"/>
                    </a:solidFill>
                  </a:tcPr>
                </a:tc>
                <a:tc>
                  <a:txBody>
                    <a:bodyPr>
                      <a:noAutofit/>
                    </a:bodyPr>
                    <a:lstStyle/>
                    <a:p>
                      <a:pPr algn="ctr"/>
                      <a:r>
                        <a:rPr sz="1500" b="0">
                          <a:solidFill>
                            <a:srgbClr val="263645"/>
                          </a:solidFill>
                          <a:latin typeface="Arial"/>
                          <a:ea typeface="Arial"/>
                          <a:cs typeface="Arial"/>
                        </a:rPr>
                        <a:t>12</a:t>
                      </a:r>
                    </a:p>
                  </a:txBody>
                  <a:tcPr marL="85725" marR="85725" marT="76200" marB="76200" anchor="ctr">
                    <a:solidFill>
                      <a:srgbClr val="FFFFFF"/>
                    </a:solidFill>
                  </a:tcPr>
                </a:tc>
                <a:tc>
                  <a:txBody>
                    <a:bodyPr>
                      <a:noAutofit/>
                    </a:bodyPr>
                    <a:lstStyle/>
                    <a:p>
                      <a:pPr algn="ctr"/>
                      <a:r>
                        <a:rPr sz="1500" b="0">
                          <a:solidFill>
                            <a:srgbClr val="263645"/>
                          </a:solidFill>
                          <a:latin typeface="Arial"/>
                          <a:ea typeface="Arial"/>
                          <a:cs typeface="Arial"/>
                        </a:rPr>
                        <a:t>18</a:t>
                      </a:r>
                    </a:p>
                  </a:txBody>
                  <a:tcPr marL="85725" marR="85725" marT="76200" marB="76200" anchor="ctr">
                    <a:solidFill>
                      <a:srgbClr val="FFFFFF"/>
                    </a:solidFill>
                  </a:tcPr>
                </a:tc>
              </a:tr>
              <a:tr h="511969">
                <a:tc>
                  <a:txBody>
                    <a:bodyPr>
                      <a:noAutofit/>
                    </a:bodyPr>
                    <a:lstStyle/>
                    <a:p>
                      <a:pPr algn="l"/>
                      <a:r>
                        <a:rPr sz="1500" b="1">
                          <a:solidFill>
                            <a:srgbClr val="263645"/>
                          </a:solidFill>
                          <a:latin typeface="Arial"/>
                          <a:ea typeface="Arial"/>
                          <a:cs typeface="Arial"/>
                        </a:rPr>
                        <a:t>Measured high-concentration holdout</a:t>
                      </a:r>
                    </a:p>
                  </a:txBody>
                  <a:tcPr marL="85725" marR="85725" marT="76200" marB="76200" anchor="ctr">
                    <a:solidFill>
                      <a:srgbClr val="F7F5EF"/>
                    </a:solidFill>
                  </a:tcPr>
                </a:tc>
                <a:tc>
                  <a:txBody>
                    <a:bodyPr>
                      <a:noAutofit/>
                    </a:bodyPr>
                    <a:lstStyle/>
                    <a:p>
                      <a:pPr algn="ctr"/>
                      <a:r>
                        <a:rPr sz="1500" b="0">
                          <a:solidFill>
                            <a:srgbClr val="263645"/>
                          </a:solidFill>
                          <a:latin typeface="Arial"/>
                          <a:ea typeface="Arial"/>
                          <a:cs typeface="Arial"/>
                        </a:rPr>
                        <a:t>36</a:t>
                      </a:r>
                    </a:p>
                  </a:txBody>
                  <a:tcPr marL="85725" marR="85725" marT="76200" marB="76200" anchor="ctr">
                    <a:solidFill>
                      <a:srgbClr val="F7F5EF"/>
                    </a:solidFill>
                  </a:tcPr>
                </a:tc>
                <a:tc>
                  <a:txBody>
                    <a:bodyPr>
                      <a:noAutofit/>
                    </a:bodyPr>
                    <a:lstStyle/>
                    <a:p>
                      <a:pPr algn="ctr"/>
                      <a:r>
                        <a:rPr sz="1500" b="0">
                          <a:solidFill>
                            <a:srgbClr val="263645"/>
                          </a:solidFill>
                          <a:latin typeface="Arial"/>
                          <a:ea typeface="Arial"/>
                          <a:cs typeface="Arial"/>
                        </a:rPr>
                        <a:t>12</a:t>
                      </a:r>
                    </a:p>
                  </a:txBody>
                  <a:tcPr marL="85725" marR="85725" marT="76200" marB="76200" anchor="ctr">
                    <a:solidFill>
                      <a:srgbClr val="F7F5EF"/>
                    </a:solidFill>
                  </a:tcPr>
                </a:tc>
                <a:tc>
                  <a:txBody>
                    <a:bodyPr>
                      <a:noAutofit/>
                    </a:bodyPr>
                    <a:lstStyle/>
                    <a:p>
                      <a:pPr algn="ctr"/>
                      <a:r>
                        <a:rPr sz="1500" b="0">
                          <a:solidFill>
                            <a:srgbClr val="263645"/>
                          </a:solidFill>
                          <a:latin typeface="Arial"/>
                          <a:ea typeface="Arial"/>
                          <a:cs typeface="Arial"/>
                        </a:rPr>
                        <a:t>10</a:t>
                      </a:r>
                    </a:p>
                  </a:txBody>
                  <a:tcPr marL="85725" marR="85725" marT="76200" marB="76200" anchor="ctr">
                    <a:solidFill>
                      <a:srgbClr val="F7F5EF"/>
                    </a:solidFill>
                  </a:tcPr>
                </a:tc>
              </a:tr>
              <a:tr h="511969">
                <a:tc>
                  <a:txBody>
                    <a:bodyPr>
                      <a:noAutofit/>
                    </a:bodyPr>
                    <a:lstStyle/>
                    <a:p>
                      <a:pPr algn="l"/>
                      <a:r>
                        <a:rPr sz="1500" b="1">
                          <a:solidFill>
                            <a:srgbClr val="263645"/>
                          </a:solidFill>
                          <a:latin typeface="Arial"/>
                          <a:ea typeface="Arial"/>
                          <a:cs typeface="Arial"/>
                        </a:rPr>
                        <a:t>Synthetic concentration groups</a:t>
                      </a:r>
                    </a:p>
                  </a:txBody>
                  <a:tcPr marL="85725" marR="85725" marT="76200" marB="76200" anchor="ctr">
                    <a:solidFill>
                      <a:srgbClr val="FFFFFF"/>
                    </a:solidFill>
                  </a:tcPr>
                </a:tc>
                <a:tc>
                  <a:txBody>
                    <a:bodyPr>
                      <a:noAutofit/>
                    </a:bodyPr>
                    <a:lstStyle/>
                    <a:p>
                      <a:pPr algn="ctr"/>
                      <a:r>
                        <a:rPr sz="1500" b="0">
                          <a:solidFill>
                            <a:srgbClr val="263645"/>
                          </a:solidFill>
                          <a:latin typeface="Arial"/>
                          <a:ea typeface="Arial"/>
                          <a:cs typeface="Arial"/>
                        </a:rPr>
                        <a:t>1,959</a:t>
                      </a:r>
                    </a:p>
                  </a:txBody>
                  <a:tcPr marL="85725" marR="85725" marT="76200" marB="76200" anchor="ctr">
                    <a:solidFill>
                      <a:srgbClr val="FFFFFF"/>
                    </a:solidFill>
                  </a:tcPr>
                </a:tc>
                <a:tc>
                  <a:txBody>
                    <a:bodyPr>
                      <a:noAutofit/>
                    </a:bodyPr>
                    <a:lstStyle/>
                    <a:p>
                      <a:pPr algn="ctr"/>
                      <a:r>
                        <a:rPr sz="1500" b="0">
                          <a:solidFill>
                            <a:srgbClr val="263645"/>
                          </a:solidFill>
                          <a:latin typeface="Arial"/>
                          <a:ea typeface="Arial"/>
                          <a:cs typeface="Arial"/>
                        </a:rPr>
                        <a:t>407</a:t>
                      </a:r>
                    </a:p>
                  </a:txBody>
                  <a:tcPr marL="85725" marR="85725" marT="76200" marB="76200" anchor="ctr">
                    <a:solidFill>
                      <a:srgbClr val="FFFFFF"/>
                    </a:solidFill>
                  </a:tcPr>
                </a:tc>
                <a:tc>
                  <a:txBody>
                    <a:bodyPr>
                      <a:noAutofit/>
                    </a:bodyPr>
                    <a:lstStyle/>
                    <a:p>
                      <a:pPr algn="ctr"/>
                      <a:r>
                        <a:rPr sz="1500" b="0">
                          <a:solidFill>
                            <a:srgbClr val="263645"/>
                          </a:solidFill>
                          <a:latin typeface="Arial"/>
                          <a:ea typeface="Arial"/>
                          <a:cs typeface="Arial"/>
                        </a:rPr>
                        <a:t>442</a:t>
                      </a:r>
                    </a:p>
                  </a:txBody>
                  <a:tcPr marL="85725" marR="85725" marT="76200" marB="76200" anchor="ctr">
                    <a:solidFill>
                      <a:srgbClr val="FFFFFF"/>
                    </a:solidFill>
                  </a:tcPr>
                </a:tc>
              </a:tr>
            </a:tbl>
          </a:graphicData>
        </a:graphic>
      </p:graphicFrame>
      <p:sp>
        <p:nvSpPr>
          <p:cNvPr id="14" name="content-4">
            <a:extLst xmlns:a="http://schemas.openxmlformats.org/drawingml/2006/main">
              <a:ext uri="{FF2B5EF4-FFF2-40B4-BE49-F238E27FC236}">
                <a16:creationId xmlns:a16="http://schemas.microsoft.com/office/drawing/2014/main" id="{094A2CBC-D302-407D-B09D-775CA824EF20}"/>
              </a:ext>
            </a:extLst>
          </p:cNvPr>
          <p:cNvSpPr>
            <a:spLocks xmlns:a="http://schemas.openxmlformats.org/drawingml/2006/main" noGrp="1"/>
          </p:cNvSpPr>
          <p:nvPr/>
        </p:nvSpPr>
        <p:spPr>
          <a:xfrm xmlns:a="http://schemas.openxmlformats.org/drawingml/2006/main">
            <a:off x="714375" y="4048125"/>
            <a:ext cx="3857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MEASURED GENERALIZATION</a:t>
            </a:r>
          </a:p>
        </p:txBody>
      </p:sp>
      <p:sp>
        <p:nvSpPr>
          <p:cNvPr id="15" name="content-5">
            <a:extLst xmlns:a="http://schemas.openxmlformats.org/drawingml/2006/main">
              <a:ext uri="{FF2B5EF4-FFF2-40B4-BE49-F238E27FC236}">
                <a16:creationId xmlns:a16="http://schemas.microsoft.com/office/drawing/2014/main" id="{5CCD907E-2EF7-428A-94FA-233E0946DD14}"/>
              </a:ext>
            </a:extLst>
          </p:cNvPr>
          <p:cNvSpPr>
            <a:spLocks xmlns:a="http://schemas.openxmlformats.org/drawingml/2006/main" noGrp="1"/>
          </p:cNvSpPr>
          <p:nvPr/>
        </p:nvSpPr>
        <p:spPr>
          <a:xfrm xmlns:a="http://schemas.openxmlformats.org/drawingml/2006/main">
            <a:off x="714375" y="4391025"/>
            <a:ext cx="3762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Hold out entire concentration levels.</a:t>
            </a:r>
          </a:p>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The extrapolation test reserves</a:t>
            </a:r>
          </a:p>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3, 5, 7, and 10 in recorded units.</a:t>
            </a:r>
          </a:p>
        </p:txBody>
      </p:sp>
      <p:sp>
        <p:nvSpPr>
          <p:cNvPr id="16" name="content-6">
            <a:extLst xmlns:a="http://schemas.openxmlformats.org/drawingml/2006/main">
              <a:ext uri="{FF2B5EF4-FFF2-40B4-BE49-F238E27FC236}">
                <a16:creationId xmlns:a16="http://schemas.microsoft.com/office/drawing/2014/main" id="{2ED60A06-C819-4073-99D0-CE3EC13ED6CF}"/>
              </a:ext>
            </a:extLst>
          </p:cNvPr>
          <p:cNvSpPr>
            <a:spLocks xmlns:a="http://schemas.openxmlformats.org/drawingml/2006/main" noGrp="1"/>
          </p:cNvSpPr>
          <p:nvPr/>
        </p:nvSpPr>
        <p:spPr>
          <a:xfrm xmlns:a="http://schemas.openxmlformats.org/drawingml/2006/main">
            <a:off x="5029200" y="4048125"/>
            <a:ext cx="3448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SYNTHETIC GENERALIZATION</a:t>
            </a:r>
          </a:p>
        </p:txBody>
      </p:sp>
      <p:sp>
        <p:nvSpPr>
          <p:cNvPr id="17" name="content-7">
            <a:extLst xmlns:a="http://schemas.openxmlformats.org/drawingml/2006/main">
              <a:ext uri="{FF2B5EF4-FFF2-40B4-BE49-F238E27FC236}">
                <a16:creationId xmlns:a16="http://schemas.microsoft.com/office/drawing/2014/main" id="{756251F3-91D2-4312-8217-A73E3532ED6A}"/>
              </a:ext>
            </a:extLst>
          </p:cNvPr>
          <p:cNvSpPr>
            <a:spLocks xmlns:a="http://schemas.openxmlformats.org/drawingml/2006/main" noGrp="1"/>
          </p:cNvSpPr>
          <p:nvPr/>
        </p:nvSpPr>
        <p:spPr>
          <a:xfrm xmlns:a="http://schemas.openxmlformats.org/drawingml/2006/main">
            <a:off x="5029200" y="4391025"/>
            <a:ext cx="34194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Synthetic parent IDs are unavailable.</a:t>
            </a:r>
          </a:p>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Exact concentration grouping cannot</a:t>
            </a:r>
          </a:p>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prove independent source experiments.</a:t>
            </a:r>
          </a:p>
        </p:txBody>
      </p:sp>
      <p:sp>
        <p:nvSpPr>
          <p:cNvPr id="18" name="content-8">
            <a:extLst xmlns:a="http://schemas.openxmlformats.org/drawingml/2006/main">
              <a:ext uri="{FF2B5EF4-FFF2-40B4-BE49-F238E27FC236}">
                <a16:creationId xmlns:a16="http://schemas.microsoft.com/office/drawing/2014/main" id="{D718B0EF-FBA5-47F0-8AC4-CF449727294A}"/>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Compare models within each shared split. Do not compare scores across protocols</a:t>
            </a:r>
          </a:p>
        </p:txBody>
      </p:sp>
    </p:spTree>
    <p:extLst>
      <p:ext uri="{BB962C8B-B14F-4D97-AF65-F5344CB8AC3E}">
        <p14:creationId xmlns:p14="http://schemas.microsoft.com/office/powerpoint/2010/main" val="1382801872"/>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14</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Initial measured-data benchmark</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sp>
        <p:nvSpPr>
          <p:cNvPr id="13" name="content-4">
            <a:extLst xmlns:a="http://schemas.openxmlformats.org/drawingml/2006/main">
              <a:ext uri="{FF2B5EF4-FFF2-40B4-BE49-F238E27FC236}">
                <a16:creationId xmlns:a16="http://schemas.microsoft.com/office/drawing/2014/main" id="{3A09317A-4F4C-427B-BBB3-B5F2086E735F}"/>
              </a:ext>
            </a:extLst>
          </p:cNvPr>
          <p:cNvSpPr>
            <a:spLocks xmlns:a="http://schemas.openxmlformats.org/drawingml/2006/main" noGrp="1"/>
          </p:cNvSpPr>
          <p:nvPr/>
        </p:nvSpPr>
        <p:spPr>
          <a:xfrm xmlns:a="http://schemas.openxmlformats.org/drawingml/2006/main">
            <a:off x="714375" y="1619250"/>
            <a:ext cx="7762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263645"/>
                </a:solidFill>
                <a:latin typeface="Arial"/>
                <a:ea typeface="Arial"/>
                <a:cs typeface="Arial"/>
              </a:defRPr>
            </a:defPPr>
          </a:lstStyle>
          <a:p xmlns:a="http://schemas.openxmlformats.org/drawingml/2006/main">
            <a:pPr algn="l">
              <a:defRPr sz="1425" b="0">
                <a:solidFill>
                  <a:srgbClr val="263645"/>
                </a:solidFill>
                <a:latin typeface="Arial"/>
                <a:ea typeface="Arial"/>
                <a:cs typeface="Arial"/>
              </a:defRPr>
            </a:pPr>
            <a:r>
              <a:rPr sz="1425" b="0">
                <a:solidFill>
                  <a:srgbClr val="263645"/>
                </a:solidFill>
                <a:latin typeface="Arial"/>
                <a:ea typeface="Arial"/>
                <a:cs typeface="Arial"/>
              </a:rPr>
              <a:t>58 observations, three inputs, 18 held-out rows</a:t>
            </a:r>
          </a:p>
        </p:txBody>
      </p:sp>
      <p:graphicFrame>
        <p:nvGraphicFramePr>
          <p:cNvPr id="14" name="Chart">
            <a:extLst xmlns:a="http://schemas.openxmlformats.org/drawingml/2006/main">
              <a:ext uri="{FF2B5EF4-FFF2-40B4-BE49-F238E27FC236}">
                <a16:creationId xmlns:a16="http://schemas.microsoft.com/office/drawing/2014/main" id="{E53840DE-8C2D-4AA2-AB0E-354CE4A0A8DB}"/>
              </a:ext>
            </a:extLst>
          </p:cNvPr>
          <p:cNvGraphicFramePr/>
          <p:nvPr/>
        </p:nvGraphicFramePr>
        <p:xfrm>
          <a:off xmlns:a="http://schemas.openxmlformats.org/drawingml/2006/main" x="552450" y="2076450"/>
          <a:ext xmlns:a="http://schemas.openxmlformats.org/drawingml/2006/main" cx="4743450" cy="3143250"/>
        </p:xfrm>
        <a:graphic xmlns:a="http://schemas.openxmlformats.org/drawingml/2006/main">
          <a:graphicData uri="http://schemas.openxmlformats.org/drawingml/2006/chart">
            <c:chart xmlns:r="http://schemas.openxmlformats.org/officeDocument/2006/relationships" xmlns:c="http://schemas.openxmlformats.org/drawingml/2006/chart" r:id="Re4b5126ccc0f4cee"/>
          </a:graphicData>
        </a:graphic>
      </p:graphicFrame>
      <p:graphicFrame>
        <p:nvGraphicFramePr>
          <p:cNvPr id="15" name="">
            <a:extLst xmlns:a="http://schemas.openxmlformats.org/drawingml/2006/main">
              <a:ext uri="{FF2B5EF4-FFF2-40B4-BE49-F238E27FC236}">
                <a16:creationId xmlns:a16="http://schemas.microsoft.com/office/drawing/2014/main" id="{82AD4FF4-5A02-4E12-B684-09B5C6435C4D}"/>
              </a:ext>
            </a:extLst>
          </p:cNvPr>
          <p:cNvGraphicFramePr/>
          <p:nvPr/>
        </p:nvGraphicFramePr>
        <p:xfrm>
          <a:off xmlns:a="http://schemas.openxmlformats.org/drawingml/2006/main" x="5486400" y="2105025"/>
          <a:ext xmlns:a="http://schemas.openxmlformats.org/drawingml/2006/main" cx="3105150" cy="2781300"/>
        </p:xfrm>
        <a:graphic xmlns:a="http://schemas.openxmlformats.org/drawingml/2006/main">
          <a:graphicData uri="http://schemas.openxmlformats.org/drawingml/2006/table">
            <a:tbl>
              <a:tblPr/>
              <a:tblGrid>
                <a:gridCol w="1409700"/>
                <a:gridCol w="933450"/>
                <a:gridCol w="762000"/>
              </a:tblGrid>
              <a:tr h="463550">
                <a:tc>
                  <a:txBody>
                    <a:bodyPr>
                      <a:noAutofit/>
                    </a:bodyPr>
                    <a:lstStyle/>
                    <a:p>
                      <a:pPr algn="l"/>
                      <a:r>
                        <a:rPr sz="1200" b="1">
                          <a:solidFill>
                            <a:srgbClr val="FFFFFF"/>
                          </a:solidFill>
                          <a:latin typeface="Arial"/>
                          <a:ea typeface="Arial"/>
                          <a:cs typeface="Arial"/>
                        </a:rPr>
                        <a:t>Model</a:t>
                      </a:r>
                    </a:p>
                  </a:txBody>
                  <a:tcPr marL="85725" marR="85725" marT="76200" marB="76200" anchor="ctr">
                    <a:solidFill>
                      <a:srgbClr val="002B5E"/>
                    </a:solidFill>
                  </a:tcPr>
                </a:tc>
                <a:tc>
                  <a:txBody>
                    <a:bodyPr>
                      <a:noAutofit/>
                    </a:bodyPr>
                    <a:lstStyle/>
                    <a:p>
                      <a:pPr algn="ctr"/>
                      <a:r>
                        <a:rPr sz="1200" b="1">
                          <a:solidFill>
                            <a:srgbClr val="FFFFFF"/>
                          </a:solidFill>
                          <a:latin typeface="Arial"/>
                          <a:ea typeface="Arial"/>
                          <a:cs typeface="Arial"/>
                        </a:rPr>
                        <a:t>RMSE (nm)</a:t>
                      </a:r>
                    </a:p>
                  </a:txBody>
                  <a:tcPr marL="85725" marR="85725" marT="76200" marB="76200" anchor="ctr">
                    <a:solidFill>
                      <a:srgbClr val="002B5E"/>
                    </a:solidFill>
                  </a:tcPr>
                </a:tc>
                <a:tc>
                  <a:txBody>
                    <a:bodyPr>
                      <a:noAutofit/>
                    </a:bodyPr>
                    <a:lstStyle/>
                    <a:p>
                      <a:pPr algn="ctr"/>
                      <a:r>
                        <a:rPr sz="1200" b="1">
                          <a:solidFill>
                            <a:srgbClr val="FFFFFF"/>
                          </a:solidFill>
                          <a:latin typeface="Arial"/>
                          <a:ea typeface="Arial"/>
                          <a:cs typeface="Arial"/>
                        </a:rPr>
                        <a:t>R²</a:t>
                      </a:r>
                    </a:p>
                  </a:txBody>
                  <a:tcPr marL="85725" marR="85725" marT="76200" marB="76200" anchor="ctr">
                    <a:solidFill>
                      <a:srgbClr val="002B5E"/>
                    </a:solidFill>
                  </a:tcPr>
                </a:tc>
              </a:tr>
              <a:tr h="463550">
                <a:tc>
                  <a:txBody>
                    <a:bodyPr>
                      <a:noAutofit/>
                    </a:bodyPr>
                    <a:lstStyle/>
                    <a:p>
                      <a:pPr algn="l"/>
                      <a:r>
                        <a:rPr sz="1200" b="1">
                          <a:solidFill>
                            <a:srgbClr val="263645"/>
                          </a:solidFill>
                          <a:latin typeface="Arial"/>
                          <a:ea typeface="Arial"/>
                          <a:cs typeface="Arial"/>
                        </a:rPr>
                        <a:t>PINN</a:t>
                      </a:r>
                    </a:p>
                  </a:txBody>
                  <a:tcPr marL="85725" marR="85725" marT="76200" marB="76200" anchor="ctr">
                    <a:solidFill>
                      <a:srgbClr val="FFFFFF"/>
                    </a:solidFill>
                  </a:tcPr>
                </a:tc>
                <a:tc>
                  <a:txBody>
                    <a:bodyPr>
                      <a:noAutofit/>
                    </a:bodyPr>
                    <a:lstStyle/>
                    <a:p>
                      <a:pPr algn="ctr"/>
                      <a:r>
                        <a:rPr sz="1200" b="0">
                          <a:solidFill>
                            <a:srgbClr val="263645"/>
                          </a:solidFill>
                          <a:latin typeface="Arial"/>
                          <a:ea typeface="Arial"/>
                          <a:cs typeface="Arial"/>
                        </a:rPr>
                        <a:t>0.1223</a:t>
                      </a:r>
                    </a:p>
                  </a:txBody>
                  <a:tcPr marL="85725" marR="85725" marT="76200" marB="76200" anchor="ctr">
                    <a:solidFill>
                      <a:srgbClr val="FFFFFF"/>
                    </a:solidFill>
                  </a:tcPr>
                </a:tc>
                <a:tc>
                  <a:txBody>
                    <a:bodyPr>
                      <a:noAutofit/>
                    </a:bodyPr>
                    <a:lstStyle/>
                    <a:p>
                      <a:pPr algn="ctr"/>
                      <a:r>
                        <a:rPr sz="1200" b="0">
                          <a:solidFill>
                            <a:srgbClr val="263645"/>
                          </a:solidFill>
                          <a:latin typeface="Arial"/>
                          <a:ea typeface="Arial"/>
                          <a:cs typeface="Arial"/>
                        </a:rPr>
                        <a:t>-0.392</a:t>
                      </a:r>
                    </a:p>
                  </a:txBody>
                  <a:tcPr marL="85725" marR="85725" marT="76200" marB="76200" anchor="ctr">
                    <a:solidFill>
                      <a:srgbClr val="FFFFFF"/>
                    </a:solidFill>
                  </a:tcPr>
                </a:tc>
              </a:tr>
              <a:tr h="463550">
                <a:tc>
                  <a:txBody>
                    <a:bodyPr>
                      <a:noAutofit/>
                    </a:bodyPr>
                    <a:lstStyle/>
                    <a:p>
                      <a:pPr algn="l"/>
                      <a:r>
                        <a:rPr sz="1200" b="1">
                          <a:solidFill>
                            <a:srgbClr val="263645"/>
                          </a:solidFill>
                          <a:latin typeface="Arial"/>
                          <a:ea typeface="Arial"/>
                          <a:cs typeface="Arial"/>
                        </a:rPr>
                        <a:t>Bounded NN</a:t>
                      </a:r>
                    </a:p>
                  </a:txBody>
                  <a:tcPr marL="85725" marR="85725" marT="76200" marB="76200" anchor="ctr">
                    <a:solidFill>
                      <a:srgbClr val="F7F5EF"/>
                    </a:solidFill>
                  </a:tcPr>
                </a:tc>
                <a:tc>
                  <a:txBody>
                    <a:bodyPr>
                      <a:noAutofit/>
                    </a:bodyPr>
                    <a:lstStyle/>
                    <a:p>
                      <a:pPr algn="ctr"/>
                      <a:r>
                        <a:rPr sz="1200" b="0">
                          <a:solidFill>
                            <a:srgbClr val="263645"/>
                          </a:solidFill>
                          <a:latin typeface="Arial"/>
                          <a:ea typeface="Arial"/>
                          <a:cs typeface="Arial"/>
                        </a:rPr>
                        <a:t>0.1224</a:t>
                      </a:r>
                    </a:p>
                  </a:txBody>
                  <a:tcPr marL="85725" marR="85725" marT="76200" marB="76200" anchor="ctr">
                    <a:solidFill>
                      <a:srgbClr val="F7F5EF"/>
                    </a:solidFill>
                  </a:tcPr>
                </a:tc>
                <a:tc>
                  <a:txBody>
                    <a:bodyPr>
                      <a:noAutofit/>
                    </a:bodyPr>
                    <a:lstStyle/>
                    <a:p>
                      <a:pPr algn="ctr"/>
                      <a:r>
                        <a:rPr sz="1200" b="0">
                          <a:solidFill>
                            <a:srgbClr val="263645"/>
                          </a:solidFill>
                          <a:latin typeface="Arial"/>
                          <a:ea typeface="Arial"/>
                          <a:cs typeface="Arial"/>
                        </a:rPr>
                        <a:t>-0.395</a:t>
                      </a:r>
                    </a:p>
                  </a:txBody>
                  <a:tcPr marL="85725" marR="85725" marT="76200" marB="76200" anchor="ctr">
                    <a:solidFill>
                      <a:srgbClr val="F7F5EF"/>
                    </a:solidFill>
                  </a:tcPr>
                </a:tc>
              </a:tr>
              <a:tr h="463550">
                <a:tc>
                  <a:txBody>
                    <a:bodyPr>
                      <a:noAutofit/>
                    </a:bodyPr>
                    <a:lstStyle/>
                    <a:p>
                      <a:pPr algn="l"/>
                      <a:r>
                        <a:rPr sz="1200" b="1">
                          <a:solidFill>
                            <a:srgbClr val="263645"/>
                          </a:solidFill>
                          <a:latin typeface="Arial"/>
                          <a:ea typeface="Arial"/>
                          <a:cs typeface="Arial"/>
                        </a:rPr>
                        <a:t>Standard NN</a:t>
                      </a:r>
                    </a:p>
                  </a:txBody>
                  <a:tcPr marL="85725" marR="85725" marT="76200" marB="76200" anchor="ctr">
                    <a:solidFill>
                      <a:srgbClr val="FFFFFF"/>
                    </a:solidFill>
                  </a:tcPr>
                </a:tc>
                <a:tc>
                  <a:txBody>
                    <a:bodyPr>
                      <a:noAutofit/>
                    </a:bodyPr>
                    <a:lstStyle/>
                    <a:p>
                      <a:pPr algn="ctr"/>
                      <a:r>
                        <a:rPr sz="1200" b="0">
                          <a:solidFill>
                            <a:srgbClr val="263645"/>
                          </a:solidFill>
                          <a:latin typeface="Arial"/>
                          <a:ea typeface="Arial"/>
                          <a:cs typeface="Arial"/>
                        </a:rPr>
                        <a:t>0.2119</a:t>
                      </a:r>
                    </a:p>
                  </a:txBody>
                  <a:tcPr marL="85725" marR="85725" marT="76200" marB="76200" anchor="ctr">
                    <a:solidFill>
                      <a:srgbClr val="FFFFFF"/>
                    </a:solidFill>
                  </a:tcPr>
                </a:tc>
                <a:tc>
                  <a:txBody>
                    <a:bodyPr>
                      <a:noAutofit/>
                    </a:bodyPr>
                    <a:lstStyle/>
                    <a:p>
                      <a:pPr algn="ctr"/>
                      <a:r>
                        <a:rPr sz="1200" b="0">
                          <a:solidFill>
                            <a:srgbClr val="263645"/>
                          </a:solidFill>
                          <a:latin typeface="Arial"/>
                          <a:ea typeface="Arial"/>
                          <a:cs typeface="Arial"/>
                        </a:rPr>
                        <a:t>-3.183</a:t>
                      </a:r>
                    </a:p>
                  </a:txBody>
                  <a:tcPr marL="85725" marR="85725" marT="76200" marB="76200" anchor="ctr">
                    <a:solidFill>
                      <a:srgbClr val="FFFFFF"/>
                    </a:solidFill>
                  </a:tcPr>
                </a:tc>
              </a:tr>
              <a:tr h="463550">
                <a:tc>
                  <a:txBody>
                    <a:bodyPr>
                      <a:noAutofit/>
                    </a:bodyPr>
                    <a:lstStyle/>
                    <a:p>
                      <a:pPr algn="l"/>
                      <a:r>
                        <a:rPr sz="1200" b="1">
                          <a:solidFill>
                            <a:srgbClr val="263645"/>
                          </a:solidFill>
                          <a:latin typeface="Arial"/>
                          <a:ea typeface="Arial"/>
                          <a:cs typeface="Arial"/>
                        </a:rPr>
                        <a:t>Random forest</a:t>
                      </a:r>
                    </a:p>
                  </a:txBody>
                  <a:tcPr marL="85725" marR="85725" marT="76200" marB="76200" anchor="ctr">
                    <a:solidFill>
                      <a:srgbClr val="F7F5EF"/>
                    </a:solidFill>
                  </a:tcPr>
                </a:tc>
                <a:tc>
                  <a:txBody>
                    <a:bodyPr>
                      <a:noAutofit/>
                    </a:bodyPr>
                    <a:lstStyle/>
                    <a:p>
                      <a:pPr algn="ctr"/>
                      <a:r>
                        <a:rPr sz="1200" b="0">
                          <a:solidFill>
                            <a:srgbClr val="263645"/>
                          </a:solidFill>
                          <a:latin typeface="Arial"/>
                          <a:ea typeface="Arial"/>
                          <a:cs typeface="Arial"/>
                        </a:rPr>
                        <a:t>0.0670</a:t>
                      </a:r>
                    </a:p>
                  </a:txBody>
                  <a:tcPr marL="85725" marR="85725" marT="76200" marB="76200" anchor="ctr">
                    <a:solidFill>
                      <a:srgbClr val="F7F5EF"/>
                    </a:solidFill>
                  </a:tcPr>
                </a:tc>
                <a:tc>
                  <a:txBody>
                    <a:bodyPr>
                      <a:noAutofit/>
                    </a:bodyPr>
                    <a:lstStyle/>
                    <a:p>
                      <a:pPr algn="ctr"/>
                      <a:r>
                        <a:rPr sz="1200" b="0">
                          <a:solidFill>
                            <a:srgbClr val="263645"/>
                          </a:solidFill>
                          <a:latin typeface="Arial"/>
                          <a:ea typeface="Arial"/>
                          <a:cs typeface="Arial"/>
                        </a:rPr>
                        <a:t>0.582</a:t>
                      </a:r>
                    </a:p>
                  </a:txBody>
                  <a:tcPr marL="85725" marR="85725" marT="76200" marB="76200" anchor="ctr">
                    <a:solidFill>
                      <a:srgbClr val="F7F5EF"/>
                    </a:solidFill>
                  </a:tcPr>
                </a:tc>
              </a:tr>
              <a:tr h="463550">
                <a:tc>
                  <a:txBody>
                    <a:bodyPr>
                      <a:noAutofit/>
                    </a:bodyPr>
                    <a:lstStyle/>
                    <a:p>
                      <a:pPr algn="l"/>
                      <a:r>
                        <a:rPr sz="1200" b="1">
                          <a:solidFill>
                            <a:srgbClr val="263645"/>
                          </a:solidFill>
                          <a:latin typeface="Arial"/>
                          <a:ea typeface="Arial"/>
                          <a:cs typeface="Arial"/>
                        </a:rPr>
                        <a:t>Gradient boosting</a:t>
                      </a:r>
                    </a:p>
                  </a:txBody>
                  <a:tcPr marL="85725" marR="85725" marT="76200" marB="76200" anchor="ctr">
                    <a:solidFill>
                      <a:srgbClr val="F3ECD6"/>
                    </a:solidFill>
                  </a:tcPr>
                </a:tc>
                <a:tc>
                  <a:txBody>
                    <a:bodyPr>
                      <a:noAutofit/>
                    </a:bodyPr>
                    <a:lstStyle/>
                    <a:p>
                      <a:pPr algn="ctr"/>
                      <a:r>
                        <a:rPr sz="1200" b="1">
                          <a:solidFill>
                            <a:srgbClr val="263645"/>
                          </a:solidFill>
                          <a:latin typeface="Arial"/>
                          <a:ea typeface="Arial"/>
                          <a:cs typeface="Arial"/>
                        </a:rPr>
                        <a:t>0.0649</a:t>
                      </a:r>
                    </a:p>
                  </a:txBody>
                  <a:tcPr marL="85725" marR="85725" marT="76200" marB="76200" anchor="ctr">
                    <a:solidFill>
                      <a:srgbClr val="F3ECD6"/>
                    </a:solidFill>
                  </a:tcPr>
                </a:tc>
                <a:tc>
                  <a:txBody>
                    <a:bodyPr>
                      <a:noAutofit/>
                    </a:bodyPr>
                    <a:lstStyle/>
                    <a:p>
                      <a:pPr algn="ctr"/>
                      <a:r>
                        <a:rPr sz="1200" b="1">
                          <a:solidFill>
                            <a:srgbClr val="263645"/>
                          </a:solidFill>
                          <a:latin typeface="Arial"/>
                          <a:ea typeface="Arial"/>
                          <a:cs typeface="Arial"/>
                        </a:rPr>
                        <a:t>0.607</a:t>
                      </a:r>
                    </a:p>
                  </a:txBody>
                  <a:tcPr marL="85725" marR="85725" marT="76200" marB="76200" anchor="ctr">
                    <a:solidFill>
                      <a:srgbClr val="F3ECD6"/>
                    </a:solidFill>
                  </a:tcPr>
                </a:tc>
              </a:tr>
            </a:tbl>
          </a:graphicData>
        </a:graphic>
      </p:graphicFrame>
      <p:sp>
        <p:nvSpPr>
          <p:cNvPr id="16" name="content-5">
            <a:extLst xmlns:a="http://schemas.openxmlformats.org/drawingml/2006/main">
              <a:ext uri="{FF2B5EF4-FFF2-40B4-BE49-F238E27FC236}">
                <a16:creationId xmlns:a16="http://schemas.microsoft.com/office/drawing/2014/main" id="{D5CB7572-8660-4FB3-8531-12136C1340E2}"/>
              </a:ext>
            </a:extLst>
          </p:cNvPr>
          <p:cNvSpPr>
            <a:spLocks xmlns:a="http://schemas.openxmlformats.org/drawingml/2006/main" noGrp="1"/>
          </p:cNvSpPr>
          <p:nvPr/>
        </p:nvSpPr>
        <p:spPr>
          <a:xfrm xmlns:a="http://schemas.openxmlformats.org/drawingml/2006/main">
            <a:off x="714375" y="5353050"/>
            <a:ext cx="7734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65717B"/>
                </a:solidFill>
                <a:latin typeface="Arial"/>
                <a:ea typeface="Arial"/>
                <a:cs typeface="Arial"/>
              </a:defRPr>
            </a:defPPr>
          </a:lstStyle>
          <a:p xmlns:a="http://schemas.openxmlformats.org/drawingml/2006/main">
            <a:pPr algn="l">
              <a:defRPr sz="1275" b="0">
                <a:solidFill>
                  <a:srgbClr val="65717B"/>
                </a:solidFill>
                <a:latin typeface="Arial"/>
                <a:ea typeface="Arial"/>
                <a:cs typeface="Arial"/>
              </a:defRPr>
            </a:pPr>
            <a:r>
              <a:rPr sz="1275" b="0">
                <a:solidFill>
                  <a:srgbClr val="65717B"/>
                </a:solidFill>
                <a:latin typeface="Arial"/>
                <a:ea typeface="Arial"/>
                <a:cs typeface="Arial"/>
              </a:rPr>
              <a:t>PINN MAE: 0.1117 nm. All models: 0% observed bound violations.</a:t>
            </a:r>
          </a:p>
        </p:txBody>
      </p:sp>
      <p:sp>
        <p:nvSpPr>
          <p:cNvPr id="17" name="content-6">
            <a:extLst xmlns:a="http://schemas.openxmlformats.org/drawingml/2006/main">
              <a:ext uri="{FF2B5EF4-FFF2-40B4-BE49-F238E27FC236}">
                <a16:creationId xmlns:a16="http://schemas.microsoft.com/office/drawing/2014/main" id="{2CA5D2B1-B78B-475C-A992-B57B09F614A7}"/>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Gradient boosting and random forest outperform the initial neural models</a:t>
            </a:r>
          </a:p>
        </p:txBody>
      </p:sp>
    </p:spTree>
    <p:extLst>
      <p:ext uri="{BB962C8B-B14F-4D97-AF65-F5344CB8AC3E}">
        <p14:creationId xmlns:p14="http://schemas.microsoft.com/office/powerpoint/2010/main" val="1382801872"/>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15</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Measured high-concentration extrapolation</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graphicFrame>
        <p:nvGraphicFramePr>
          <p:cNvPr id="13" name="Chart">
            <a:extLst xmlns:a="http://schemas.openxmlformats.org/drawingml/2006/main">
              <a:ext uri="{FF2B5EF4-FFF2-40B4-BE49-F238E27FC236}">
                <a16:creationId xmlns:a16="http://schemas.microsoft.com/office/drawing/2014/main" id="{DCA9A8AA-BFB2-4C2C-B494-B7C102034D77}"/>
              </a:ext>
            </a:extLst>
          </p:cNvPr>
          <p:cNvGraphicFramePr/>
          <p:nvPr/>
        </p:nvGraphicFramePr>
        <p:xfrm>
          <a:off xmlns:a="http://schemas.openxmlformats.org/drawingml/2006/main" x="523875" y="2028825"/>
          <a:ext xmlns:a="http://schemas.openxmlformats.org/drawingml/2006/main" cx="4743450" cy="3276600"/>
        </p:xfrm>
        <a:graphic xmlns:a="http://schemas.openxmlformats.org/drawingml/2006/main">
          <a:graphicData uri="http://schemas.openxmlformats.org/drawingml/2006/chart">
            <c:chart xmlns:r="http://schemas.openxmlformats.org/officeDocument/2006/relationships" xmlns:c="http://schemas.openxmlformats.org/drawingml/2006/chart" r:id="Rb2a3d81a70014c5f"/>
          </a:graphicData>
        </a:graphic>
      </p:graphicFrame>
      <p:graphicFrame>
        <p:nvGraphicFramePr>
          <p:cNvPr id="14" name="">
            <a:extLst xmlns:a="http://schemas.openxmlformats.org/drawingml/2006/main">
              <a:ext uri="{FF2B5EF4-FFF2-40B4-BE49-F238E27FC236}">
                <a16:creationId xmlns:a16="http://schemas.microsoft.com/office/drawing/2014/main" id="{A88526C6-DD40-4377-93B5-1234FA5B79D1}"/>
              </a:ext>
            </a:extLst>
          </p:cNvPr>
          <p:cNvGraphicFramePr/>
          <p:nvPr/>
        </p:nvGraphicFramePr>
        <p:xfrm>
          <a:off xmlns:a="http://schemas.openxmlformats.org/drawingml/2006/main" x="5476875" y="2143125"/>
          <a:ext xmlns:a="http://schemas.openxmlformats.org/drawingml/2006/main" cx="3095625" cy="2724150"/>
        </p:xfrm>
        <a:graphic xmlns:a="http://schemas.openxmlformats.org/drawingml/2006/main">
          <a:graphicData uri="http://schemas.openxmlformats.org/drawingml/2006/table">
            <a:tbl>
              <a:tblPr/>
              <a:tblGrid>
                <a:gridCol w="2028825"/>
                <a:gridCol w="1066800"/>
              </a:tblGrid>
              <a:tr h="454025">
                <a:tc>
                  <a:txBody>
                    <a:bodyPr>
                      <a:noAutofit/>
                    </a:bodyPr>
                    <a:lstStyle/>
                    <a:p>
                      <a:pPr algn="l"/>
                      <a:r>
                        <a:rPr sz="1275" b="1">
                          <a:solidFill>
                            <a:srgbClr val="FFFFFF"/>
                          </a:solidFill>
                          <a:latin typeface="Arial"/>
                          <a:ea typeface="Arial"/>
                          <a:cs typeface="Arial"/>
                        </a:rPr>
                        <a:t>Model</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RMSE (nm)</a:t>
                      </a:r>
                    </a:p>
                  </a:txBody>
                  <a:tcPr marL="85725" marR="85725" marT="76200" marB="76200" anchor="ctr">
                    <a:solidFill>
                      <a:srgbClr val="002B5E"/>
                    </a:solidFill>
                  </a:tcPr>
                </a:tc>
              </a:tr>
              <a:tr h="454025">
                <a:tc>
                  <a:txBody>
                    <a:bodyPr>
                      <a:noAutofit/>
                    </a:bodyPr>
                    <a:lstStyle/>
                    <a:p>
                      <a:pPr algn="l"/>
                      <a:r>
                        <a:rPr sz="1275" b="1">
                          <a:solidFill>
                            <a:srgbClr val="263645"/>
                          </a:solidFill>
                          <a:latin typeface="Arial"/>
                          <a:ea typeface="Arial"/>
                          <a:cs typeface="Arial"/>
                        </a:rPr>
                        <a:t>PINN</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0.6168</a:t>
                      </a:r>
                    </a:p>
                  </a:txBody>
                  <a:tcPr marL="85725" marR="85725" marT="76200" marB="76200" anchor="ctr">
                    <a:solidFill>
                      <a:srgbClr val="FFFFFF"/>
                    </a:solidFill>
                  </a:tcPr>
                </a:tc>
              </a:tr>
              <a:tr h="454025">
                <a:tc>
                  <a:txBody>
                    <a:bodyPr>
                      <a:noAutofit/>
                    </a:bodyPr>
                    <a:lstStyle/>
                    <a:p>
                      <a:pPr algn="l"/>
                      <a:r>
                        <a:rPr sz="1275" b="1">
                          <a:solidFill>
                            <a:srgbClr val="263645"/>
                          </a:solidFill>
                          <a:latin typeface="Arial"/>
                          <a:ea typeface="Arial"/>
                          <a:cs typeface="Arial"/>
                        </a:rPr>
                        <a:t>Bounded NN</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0.6115</a:t>
                      </a:r>
                    </a:p>
                  </a:txBody>
                  <a:tcPr marL="85725" marR="85725" marT="76200" marB="76200" anchor="ctr">
                    <a:solidFill>
                      <a:srgbClr val="F7F5EF"/>
                    </a:solidFill>
                  </a:tcPr>
                </a:tc>
              </a:tr>
              <a:tr h="454025">
                <a:tc>
                  <a:txBody>
                    <a:bodyPr>
                      <a:noAutofit/>
                    </a:bodyPr>
                    <a:lstStyle/>
                    <a:p>
                      <a:pPr algn="l"/>
                      <a:r>
                        <a:rPr sz="1275" b="1">
                          <a:solidFill>
                            <a:srgbClr val="263645"/>
                          </a:solidFill>
                          <a:latin typeface="Arial"/>
                          <a:ea typeface="Arial"/>
                          <a:cs typeface="Arial"/>
                        </a:rPr>
                        <a:t>Standard NN</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0.1042</a:t>
                      </a:r>
                    </a:p>
                  </a:txBody>
                  <a:tcPr marL="85725" marR="85725" marT="76200" marB="76200" anchor="ctr">
                    <a:solidFill>
                      <a:srgbClr val="FFFFFF"/>
                    </a:solidFill>
                  </a:tcPr>
                </a:tc>
              </a:tr>
              <a:tr h="454025">
                <a:tc>
                  <a:txBody>
                    <a:bodyPr>
                      <a:noAutofit/>
                    </a:bodyPr>
                    <a:lstStyle/>
                    <a:p>
                      <a:pPr algn="l"/>
                      <a:r>
                        <a:rPr sz="1275" b="1">
                          <a:solidFill>
                            <a:srgbClr val="263645"/>
                          </a:solidFill>
                          <a:latin typeface="Arial"/>
                          <a:ea typeface="Arial"/>
                          <a:cs typeface="Arial"/>
                        </a:rPr>
                        <a:t>Random forest</a:t>
                      </a:r>
                    </a:p>
                  </a:txBody>
                  <a:tcPr marL="85725" marR="85725" marT="76200" marB="76200" anchor="ctr">
                    <a:solidFill>
                      <a:srgbClr val="F3ECD6"/>
                    </a:solidFill>
                  </a:tcPr>
                </a:tc>
                <a:tc>
                  <a:txBody>
                    <a:bodyPr>
                      <a:noAutofit/>
                    </a:bodyPr>
                    <a:lstStyle/>
                    <a:p>
                      <a:pPr algn="ctr"/>
                      <a:r>
                        <a:rPr sz="1275" b="1">
                          <a:solidFill>
                            <a:srgbClr val="263645"/>
                          </a:solidFill>
                          <a:latin typeface="Arial"/>
                          <a:ea typeface="Arial"/>
                          <a:cs typeface="Arial"/>
                        </a:rPr>
                        <a:t>0.0294</a:t>
                      </a:r>
                    </a:p>
                  </a:txBody>
                  <a:tcPr marL="85725" marR="85725" marT="76200" marB="76200" anchor="ctr">
                    <a:solidFill>
                      <a:srgbClr val="F3ECD6"/>
                    </a:solidFill>
                  </a:tcPr>
                </a:tc>
              </a:tr>
              <a:tr h="454025">
                <a:tc>
                  <a:txBody>
                    <a:bodyPr>
                      <a:noAutofit/>
                    </a:bodyPr>
                    <a:lstStyle/>
                    <a:p>
                      <a:pPr algn="l"/>
                      <a:r>
                        <a:rPr sz="1275" b="1">
                          <a:solidFill>
                            <a:srgbClr val="263645"/>
                          </a:solidFill>
                          <a:latin typeface="Arial"/>
                          <a:ea typeface="Arial"/>
                          <a:cs typeface="Arial"/>
                        </a:rPr>
                        <a:t>Gradient boosting</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0.0296</a:t>
                      </a:r>
                    </a:p>
                  </a:txBody>
                  <a:tcPr marL="85725" marR="85725" marT="76200" marB="76200" anchor="ctr">
                    <a:solidFill>
                      <a:srgbClr val="FFFFFF"/>
                    </a:solidFill>
                  </a:tcPr>
                </a:tc>
              </a:tr>
            </a:tbl>
          </a:graphicData>
        </a:graphic>
      </p:graphicFrame>
      <p:sp>
        <p:nvSpPr>
          <p:cNvPr id="15" name="content-4">
            <a:extLst xmlns:a="http://schemas.openxmlformats.org/drawingml/2006/main">
              <a:ext uri="{FF2B5EF4-FFF2-40B4-BE49-F238E27FC236}">
                <a16:creationId xmlns:a16="http://schemas.microsoft.com/office/drawing/2014/main" id="{269E646F-60BF-4C1E-B7AE-E4F72E5E665B}"/>
              </a:ext>
            </a:extLst>
          </p:cNvPr>
          <p:cNvSpPr>
            <a:spLocks xmlns:a="http://schemas.openxmlformats.org/drawingml/2006/main" noGrp="1"/>
          </p:cNvSpPr>
          <p:nvPr/>
        </p:nvSpPr>
        <p:spPr>
          <a:xfrm xmlns:a="http://schemas.openxmlformats.org/drawingml/2006/main">
            <a:off x="5505450" y="4981575"/>
            <a:ext cx="30670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263645"/>
                </a:solidFill>
                <a:latin typeface="Arial"/>
                <a:ea typeface="Arial"/>
                <a:cs typeface="Arial"/>
              </a:defRPr>
            </a:defPPr>
          </a:lstStyle>
          <a:p xmlns:a="http://schemas.openxmlformats.org/drawingml/2006/main">
            <a:pPr algn="l">
              <a:defRPr sz="1275" b="0">
                <a:solidFill>
                  <a:srgbClr val="263645"/>
                </a:solidFill>
                <a:latin typeface="Arial"/>
                <a:ea typeface="Arial"/>
                <a:cs typeface="Arial"/>
              </a:defRPr>
            </a:pPr>
            <a:r>
              <a:rPr sz="1275" b="0">
                <a:solidFill>
                  <a:srgbClr val="263645"/>
                </a:solidFill>
                <a:latin typeface="Arial"/>
                <a:ea typeface="Arial"/>
                <a:cs typeface="Arial"/>
              </a:rPr>
              <a:t>10 measured test rows</a:t>
            </a:r>
          </a:p>
          <a:p xmlns:a="http://schemas.openxmlformats.org/drawingml/2006/main">
            <a:pPr algn="l">
              <a:defRPr sz="1275" b="0">
                <a:solidFill>
                  <a:srgbClr val="263645"/>
                </a:solidFill>
                <a:latin typeface="Arial"/>
                <a:ea typeface="Arial"/>
                <a:cs typeface="Arial"/>
              </a:defRPr>
            </a:pPr>
            <a:r>
              <a:rPr sz="1275" b="0">
                <a:solidFill>
                  <a:srgbClr val="263645"/>
                </a:solidFill>
                <a:latin typeface="Arial"/>
                <a:ea typeface="Arial"/>
                <a:cs typeface="Arial"/>
              </a:rPr>
              <a:t>All models have negative R²</a:t>
            </a:r>
          </a:p>
          <a:p xmlns:a="http://schemas.openxmlformats.org/drawingml/2006/main">
            <a:pPr algn="l">
              <a:defRPr sz="1275" b="0">
                <a:solidFill>
                  <a:srgbClr val="263645"/>
                </a:solidFill>
                <a:latin typeface="Arial"/>
                <a:ea typeface="Arial"/>
                <a:cs typeface="Arial"/>
              </a:defRPr>
            </a:pPr>
            <a:r>
              <a:rPr sz="1275" b="0">
                <a:solidFill>
                  <a:srgbClr val="263645"/>
                </a:solidFill>
                <a:latin typeface="Arial"/>
                <a:ea typeface="Arial"/>
                <a:cs typeface="Arial"/>
              </a:rPr>
              <a:t>PINN R²: −759.817</a:t>
            </a:r>
          </a:p>
        </p:txBody>
      </p:sp>
      <p:sp>
        <p:nvSpPr>
          <p:cNvPr id="16" name="content-5">
            <a:extLst xmlns:a="http://schemas.openxmlformats.org/drawingml/2006/main">
              <a:ext uri="{FF2B5EF4-FFF2-40B4-BE49-F238E27FC236}">
                <a16:creationId xmlns:a16="http://schemas.microsoft.com/office/drawing/2014/main" id="{D7FB8BAF-EE15-418D-8A51-879B43AFB8C9}"/>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The PINN satisfies the bound while its error grows at unseen high concentrations</a:t>
            </a:r>
          </a:p>
        </p:txBody>
      </p:sp>
    </p:spTree>
    <p:extLst>
      <p:ext uri="{BB962C8B-B14F-4D97-AF65-F5344CB8AC3E}">
        <p14:creationId xmlns:p14="http://schemas.microsoft.com/office/powerpoint/2010/main" val="138280187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16</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Seven-input synthetic benchmark</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sp>
        <p:nvSpPr>
          <p:cNvPr id="13" name="content-4">
            <a:extLst xmlns:a="http://schemas.openxmlformats.org/drawingml/2006/main">
              <a:ext uri="{FF2B5EF4-FFF2-40B4-BE49-F238E27FC236}">
                <a16:creationId xmlns:a16="http://schemas.microsoft.com/office/drawing/2014/main" id="{AC0114B6-C41F-4909-BD1E-7DEF38B1AB70}"/>
              </a:ext>
            </a:extLst>
          </p:cNvPr>
          <p:cNvSpPr>
            <a:spLocks xmlns:a="http://schemas.openxmlformats.org/drawingml/2006/main" noGrp="1"/>
          </p:cNvSpPr>
          <p:nvPr/>
        </p:nvSpPr>
        <p:spPr>
          <a:xfrm xmlns:a="http://schemas.openxmlformats.org/drawingml/2006/main">
            <a:off x="714375" y="1619250"/>
            <a:ext cx="7762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263645"/>
                </a:solidFill>
                <a:latin typeface="Arial"/>
                <a:ea typeface="Arial"/>
                <a:cs typeface="Arial"/>
              </a:defRPr>
            </a:defPPr>
          </a:lstStyle>
          <a:p xmlns:a="http://schemas.openxmlformats.org/drawingml/2006/main">
            <a:pPr algn="l">
              <a:defRPr sz="1425" b="0">
                <a:solidFill>
                  <a:srgbClr val="263645"/>
                </a:solidFill>
                <a:latin typeface="Arial"/>
                <a:ea typeface="Arial"/>
                <a:cs typeface="Arial"/>
              </a:defRPr>
            </a:pPr>
            <a:r>
              <a:rPr sz="1425" b="0">
                <a:solidFill>
                  <a:srgbClr val="263645"/>
                </a:solidFill>
                <a:latin typeface="Arial"/>
                <a:ea typeface="Arial"/>
                <a:cs typeface="Arial"/>
              </a:rPr>
              <a:t>2,808 retained rows, seven inputs, 442 held-out rows</a:t>
            </a:r>
          </a:p>
        </p:txBody>
      </p:sp>
      <p:graphicFrame>
        <p:nvGraphicFramePr>
          <p:cNvPr id="14" name="Chart">
            <a:extLst xmlns:a="http://schemas.openxmlformats.org/drawingml/2006/main">
              <a:ext uri="{FF2B5EF4-FFF2-40B4-BE49-F238E27FC236}">
                <a16:creationId xmlns:a16="http://schemas.microsoft.com/office/drawing/2014/main" id="{10226C08-971A-47C9-88EC-868A24B4C160}"/>
              </a:ext>
            </a:extLst>
          </p:cNvPr>
          <p:cNvGraphicFramePr/>
          <p:nvPr/>
        </p:nvGraphicFramePr>
        <p:xfrm>
          <a:off xmlns:a="http://schemas.openxmlformats.org/drawingml/2006/main" x="552450" y="2076450"/>
          <a:ext xmlns:a="http://schemas.openxmlformats.org/drawingml/2006/main" cx="4743450" cy="3143250"/>
        </p:xfrm>
        <a:graphic xmlns:a="http://schemas.openxmlformats.org/drawingml/2006/main">
          <a:graphicData uri="http://schemas.openxmlformats.org/drawingml/2006/chart">
            <c:chart xmlns:r="http://schemas.openxmlformats.org/officeDocument/2006/relationships" xmlns:c="http://schemas.openxmlformats.org/drawingml/2006/chart" r:id="R7b053d69da2c46cd"/>
          </a:graphicData>
        </a:graphic>
      </p:graphicFrame>
      <p:graphicFrame>
        <p:nvGraphicFramePr>
          <p:cNvPr id="15" name="">
            <a:extLst xmlns:a="http://schemas.openxmlformats.org/drawingml/2006/main">
              <a:ext uri="{FF2B5EF4-FFF2-40B4-BE49-F238E27FC236}">
                <a16:creationId xmlns:a16="http://schemas.microsoft.com/office/drawing/2014/main" id="{FE26B6D2-35F7-4EFF-B187-3A99CFCCF49E}"/>
              </a:ext>
            </a:extLst>
          </p:cNvPr>
          <p:cNvGraphicFramePr/>
          <p:nvPr/>
        </p:nvGraphicFramePr>
        <p:xfrm>
          <a:off xmlns:a="http://schemas.openxmlformats.org/drawingml/2006/main" x="5486400" y="2105025"/>
          <a:ext xmlns:a="http://schemas.openxmlformats.org/drawingml/2006/main" cx="3105150" cy="2781300"/>
        </p:xfrm>
        <a:graphic xmlns:a="http://schemas.openxmlformats.org/drawingml/2006/main">
          <a:graphicData uri="http://schemas.openxmlformats.org/drawingml/2006/table">
            <a:tbl>
              <a:tblPr/>
              <a:tblGrid>
                <a:gridCol w="1409700"/>
                <a:gridCol w="933450"/>
                <a:gridCol w="762000"/>
              </a:tblGrid>
              <a:tr h="463550">
                <a:tc>
                  <a:txBody>
                    <a:bodyPr>
                      <a:noAutofit/>
                    </a:bodyPr>
                    <a:lstStyle/>
                    <a:p>
                      <a:pPr algn="l"/>
                      <a:r>
                        <a:rPr sz="1200" b="1">
                          <a:solidFill>
                            <a:srgbClr val="FFFFFF"/>
                          </a:solidFill>
                          <a:latin typeface="Arial"/>
                          <a:ea typeface="Arial"/>
                          <a:cs typeface="Arial"/>
                        </a:rPr>
                        <a:t>Model</a:t>
                      </a:r>
                    </a:p>
                  </a:txBody>
                  <a:tcPr marL="85725" marR="85725" marT="76200" marB="76200" anchor="ctr">
                    <a:solidFill>
                      <a:srgbClr val="002B5E"/>
                    </a:solidFill>
                  </a:tcPr>
                </a:tc>
                <a:tc>
                  <a:txBody>
                    <a:bodyPr>
                      <a:noAutofit/>
                    </a:bodyPr>
                    <a:lstStyle/>
                    <a:p>
                      <a:pPr algn="ctr"/>
                      <a:r>
                        <a:rPr sz="1200" b="1">
                          <a:solidFill>
                            <a:srgbClr val="FFFFFF"/>
                          </a:solidFill>
                          <a:latin typeface="Arial"/>
                          <a:ea typeface="Arial"/>
                          <a:cs typeface="Arial"/>
                        </a:rPr>
                        <a:t>RMSE (nm)</a:t>
                      </a:r>
                    </a:p>
                  </a:txBody>
                  <a:tcPr marL="85725" marR="85725" marT="76200" marB="76200" anchor="ctr">
                    <a:solidFill>
                      <a:srgbClr val="002B5E"/>
                    </a:solidFill>
                  </a:tcPr>
                </a:tc>
                <a:tc>
                  <a:txBody>
                    <a:bodyPr>
                      <a:noAutofit/>
                    </a:bodyPr>
                    <a:lstStyle/>
                    <a:p>
                      <a:pPr algn="ctr"/>
                      <a:r>
                        <a:rPr sz="1200" b="1">
                          <a:solidFill>
                            <a:srgbClr val="FFFFFF"/>
                          </a:solidFill>
                          <a:latin typeface="Arial"/>
                          <a:ea typeface="Arial"/>
                          <a:cs typeface="Arial"/>
                        </a:rPr>
                        <a:t>R²</a:t>
                      </a:r>
                    </a:p>
                  </a:txBody>
                  <a:tcPr marL="85725" marR="85725" marT="76200" marB="76200" anchor="ctr">
                    <a:solidFill>
                      <a:srgbClr val="002B5E"/>
                    </a:solidFill>
                  </a:tcPr>
                </a:tc>
              </a:tr>
              <a:tr h="463550">
                <a:tc>
                  <a:txBody>
                    <a:bodyPr>
                      <a:noAutofit/>
                    </a:bodyPr>
                    <a:lstStyle/>
                    <a:p>
                      <a:pPr algn="l"/>
                      <a:r>
                        <a:rPr sz="1200" b="1">
                          <a:solidFill>
                            <a:srgbClr val="263645"/>
                          </a:solidFill>
                          <a:latin typeface="Arial"/>
                          <a:ea typeface="Arial"/>
                          <a:cs typeface="Arial"/>
                        </a:rPr>
                        <a:t>PINN</a:t>
                      </a:r>
                    </a:p>
                  </a:txBody>
                  <a:tcPr marL="85725" marR="85725" marT="76200" marB="76200" anchor="ctr">
                    <a:solidFill>
                      <a:srgbClr val="FFFFFF"/>
                    </a:solidFill>
                  </a:tcPr>
                </a:tc>
                <a:tc>
                  <a:txBody>
                    <a:bodyPr>
                      <a:noAutofit/>
                    </a:bodyPr>
                    <a:lstStyle/>
                    <a:p>
                      <a:pPr algn="ctr"/>
                      <a:r>
                        <a:rPr sz="1200" b="0">
                          <a:solidFill>
                            <a:srgbClr val="263645"/>
                          </a:solidFill>
                          <a:latin typeface="Arial"/>
                          <a:ea typeface="Arial"/>
                          <a:cs typeface="Arial"/>
                        </a:rPr>
                        <a:t>0.0557</a:t>
                      </a:r>
                    </a:p>
                  </a:txBody>
                  <a:tcPr marL="85725" marR="85725" marT="76200" marB="76200" anchor="ctr">
                    <a:solidFill>
                      <a:srgbClr val="FFFFFF"/>
                    </a:solidFill>
                  </a:tcPr>
                </a:tc>
                <a:tc>
                  <a:txBody>
                    <a:bodyPr>
                      <a:noAutofit/>
                    </a:bodyPr>
                    <a:lstStyle/>
                    <a:p>
                      <a:pPr algn="ctr"/>
                      <a:r>
                        <a:rPr sz="1200" b="0">
                          <a:solidFill>
                            <a:srgbClr val="263645"/>
                          </a:solidFill>
                          <a:latin typeface="Arial"/>
                          <a:ea typeface="Arial"/>
                          <a:cs typeface="Arial"/>
                        </a:rPr>
                        <a:t>0.905</a:t>
                      </a:r>
                    </a:p>
                  </a:txBody>
                  <a:tcPr marL="85725" marR="85725" marT="76200" marB="76200" anchor="ctr">
                    <a:solidFill>
                      <a:srgbClr val="FFFFFF"/>
                    </a:solidFill>
                  </a:tcPr>
                </a:tc>
              </a:tr>
              <a:tr h="463550">
                <a:tc>
                  <a:txBody>
                    <a:bodyPr>
                      <a:noAutofit/>
                    </a:bodyPr>
                    <a:lstStyle/>
                    <a:p>
                      <a:pPr algn="l"/>
                      <a:r>
                        <a:rPr sz="1200" b="1">
                          <a:solidFill>
                            <a:srgbClr val="263645"/>
                          </a:solidFill>
                          <a:latin typeface="Arial"/>
                          <a:ea typeface="Arial"/>
                          <a:cs typeface="Arial"/>
                        </a:rPr>
                        <a:t>Bounded NN</a:t>
                      </a:r>
                    </a:p>
                  </a:txBody>
                  <a:tcPr marL="85725" marR="85725" marT="76200" marB="76200" anchor="ctr">
                    <a:solidFill>
                      <a:srgbClr val="F7F5EF"/>
                    </a:solidFill>
                  </a:tcPr>
                </a:tc>
                <a:tc>
                  <a:txBody>
                    <a:bodyPr>
                      <a:noAutofit/>
                    </a:bodyPr>
                    <a:lstStyle/>
                    <a:p>
                      <a:pPr algn="ctr"/>
                      <a:r>
                        <a:rPr sz="1200" b="0">
                          <a:solidFill>
                            <a:srgbClr val="263645"/>
                          </a:solidFill>
                          <a:latin typeface="Arial"/>
                          <a:ea typeface="Arial"/>
                          <a:cs typeface="Arial"/>
                        </a:rPr>
                        <a:t>0.0551</a:t>
                      </a:r>
                    </a:p>
                  </a:txBody>
                  <a:tcPr marL="85725" marR="85725" marT="76200" marB="76200" anchor="ctr">
                    <a:solidFill>
                      <a:srgbClr val="F7F5EF"/>
                    </a:solidFill>
                  </a:tcPr>
                </a:tc>
                <a:tc>
                  <a:txBody>
                    <a:bodyPr>
                      <a:noAutofit/>
                    </a:bodyPr>
                    <a:lstStyle/>
                    <a:p>
                      <a:pPr algn="ctr"/>
                      <a:r>
                        <a:rPr sz="1200" b="0">
                          <a:solidFill>
                            <a:srgbClr val="263645"/>
                          </a:solidFill>
                          <a:latin typeface="Arial"/>
                          <a:ea typeface="Arial"/>
                          <a:cs typeface="Arial"/>
                        </a:rPr>
                        <a:t>0.907</a:t>
                      </a:r>
                    </a:p>
                  </a:txBody>
                  <a:tcPr marL="85725" marR="85725" marT="76200" marB="76200" anchor="ctr">
                    <a:solidFill>
                      <a:srgbClr val="F7F5EF"/>
                    </a:solidFill>
                  </a:tcPr>
                </a:tc>
              </a:tr>
              <a:tr h="463550">
                <a:tc>
                  <a:txBody>
                    <a:bodyPr>
                      <a:noAutofit/>
                    </a:bodyPr>
                    <a:lstStyle/>
                    <a:p>
                      <a:pPr algn="l"/>
                      <a:r>
                        <a:rPr sz="1200" b="1">
                          <a:solidFill>
                            <a:srgbClr val="263645"/>
                          </a:solidFill>
                          <a:latin typeface="Arial"/>
                          <a:ea typeface="Arial"/>
                          <a:cs typeface="Arial"/>
                        </a:rPr>
                        <a:t>Standard NN</a:t>
                      </a:r>
                    </a:p>
                  </a:txBody>
                  <a:tcPr marL="85725" marR="85725" marT="76200" marB="76200" anchor="ctr">
                    <a:solidFill>
                      <a:srgbClr val="FFFFFF"/>
                    </a:solidFill>
                  </a:tcPr>
                </a:tc>
                <a:tc>
                  <a:txBody>
                    <a:bodyPr>
                      <a:noAutofit/>
                    </a:bodyPr>
                    <a:lstStyle/>
                    <a:p>
                      <a:pPr algn="ctr"/>
                      <a:r>
                        <a:rPr sz="1200" b="0">
                          <a:solidFill>
                            <a:srgbClr val="263645"/>
                          </a:solidFill>
                          <a:latin typeface="Arial"/>
                          <a:ea typeface="Arial"/>
                          <a:cs typeface="Arial"/>
                        </a:rPr>
                        <a:t>0.0541</a:t>
                      </a:r>
                    </a:p>
                  </a:txBody>
                  <a:tcPr marL="85725" marR="85725" marT="76200" marB="76200" anchor="ctr">
                    <a:solidFill>
                      <a:srgbClr val="FFFFFF"/>
                    </a:solidFill>
                  </a:tcPr>
                </a:tc>
                <a:tc>
                  <a:txBody>
                    <a:bodyPr>
                      <a:noAutofit/>
                    </a:bodyPr>
                    <a:lstStyle/>
                    <a:p>
                      <a:pPr algn="ctr"/>
                      <a:r>
                        <a:rPr sz="1200" b="0">
                          <a:solidFill>
                            <a:srgbClr val="263645"/>
                          </a:solidFill>
                          <a:latin typeface="Arial"/>
                          <a:ea typeface="Arial"/>
                          <a:cs typeface="Arial"/>
                        </a:rPr>
                        <a:t>0.911</a:t>
                      </a:r>
                    </a:p>
                  </a:txBody>
                  <a:tcPr marL="85725" marR="85725" marT="76200" marB="76200" anchor="ctr">
                    <a:solidFill>
                      <a:srgbClr val="FFFFFF"/>
                    </a:solidFill>
                  </a:tcPr>
                </a:tc>
              </a:tr>
              <a:tr h="463550">
                <a:tc>
                  <a:txBody>
                    <a:bodyPr>
                      <a:noAutofit/>
                    </a:bodyPr>
                    <a:lstStyle/>
                    <a:p>
                      <a:pPr algn="l"/>
                      <a:r>
                        <a:rPr sz="1200" b="1">
                          <a:solidFill>
                            <a:srgbClr val="263645"/>
                          </a:solidFill>
                          <a:latin typeface="Arial"/>
                          <a:ea typeface="Arial"/>
                          <a:cs typeface="Arial"/>
                        </a:rPr>
                        <a:t>Random forest</a:t>
                      </a:r>
                    </a:p>
                  </a:txBody>
                  <a:tcPr marL="85725" marR="85725" marT="76200" marB="76200" anchor="ctr">
                    <a:solidFill>
                      <a:srgbClr val="F3ECD6"/>
                    </a:solidFill>
                  </a:tcPr>
                </a:tc>
                <a:tc>
                  <a:txBody>
                    <a:bodyPr>
                      <a:noAutofit/>
                    </a:bodyPr>
                    <a:lstStyle/>
                    <a:p>
                      <a:pPr algn="ctr"/>
                      <a:r>
                        <a:rPr sz="1200" b="1">
                          <a:solidFill>
                            <a:srgbClr val="263645"/>
                          </a:solidFill>
                          <a:latin typeface="Arial"/>
                          <a:ea typeface="Arial"/>
                          <a:cs typeface="Arial"/>
                        </a:rPr>
                        <a:t>0.0359</a:t>
                      </a:r>
                    </a:p>
                  </a:txBody>
                  <a:tcPr marL="85725" marR="85725" marT="76200" marB="76200" anchor="ctr">
                    <a:solidFill>
                      <a:srgbClr val="F3ECD6"/>
                    </a:solidFill>
                  </a:tcPr>
                </a:tc>
                <a:tc>
                  <a:txBody>
                    <a:bodyPr>
                      <a:noAutofit/>
                    </a:bodyPr>
                    <a:lstStyle/>
                    <a:p>
                      <a:pPr algn="ctr"/>
                      <a:r>
                        <a:rPr sz="1200" b="1">
                          <a:solidFill>
                            <a:srgbClr val="263645"/>
                          </a:solidFill>
                          <a:latin typeface="Arial"/>
                          <a:ea typeface="Arial"/>
                          <a:cs typeface="Arial"/>
                        </a:rPr>
                        <a:t>0.961</a:t>
                      </a:r>
                    </a:p>
                  </a:txBody>
                  <a:tcPr marL="85725" marR="85725" marT="76200" marB="76200" anchor="ctr">
                    <a:solidFill>
                      <a:srgbClr val="F3ECD6"/>
                    </a:solidFill>
                  </a:tcPr>
                </a:tc>
              </a:tr>
              <a:tr h="463550">
                <a:tc>
                  <a:txBody>
                    <a:bodyPr>
                      <a:noAutofit/>
                    </a:bodyPr>
                    <a:lstStyle/>
                    <a:p>
                      <a:pPr algn="l"/>
                      <a:r>
                        <a:rPr sz="1200" b="1">
                          <a:solidFill>
                            <a:srgbClr val="263645"/>
                          </a:solidFill>
                          <a:latin typeface="Arial"/>
                          <a:ea typeface="Arial"/>
                          <a:cs typeface="Arial"/>
                        </a:rPr>
                        <a:t>Gradient boosting</a:t>
                      </a:r>
                    </a:p>
                  </a:txBody>
                  <a:tcPr marL="85725" marR="85725" marT="76200" marB="76200" anchor="ctr">
                    <a:solidFill>
                      <a:srgbClr val="FFFFFF"/>
                    </a:solidFill>
                  </a:tcPr>
                </a:tc>
                <a:tc>
                  <a:txBody>
                    <a:bodyPr>
                      <a:noAutofit/>
                    </a:bodyPr>
                    <a:lstStyle/>
                    <a:p>
                      <a:pPr algn="ctr"/>
                      <a:r>
                        <a:rPr sz="1200" b="0">
                          <a:solidFill>
                            <a:srgbClr val="263645"/>
                          </a:solidFill>
                          <a:latin typeface="Arial"/>
                          <a:ea typeface="Arial"/>
                          <a:cs typeface="Arial"/>
                        </a:rPr>
                        <a:t>0.0748</a:t>
                      </a:r>
                    </a:p>
                  </a:txBody>
                  <a:tcPr marL="85725" marR="85725" marT="76200" marB="76200" anchor="ctr">
                    <a:solidFill>
                      <a:srgbClr val="FFFFFF"/>
                    </a:solidFill>
                  </a:tcPr>
                </a:tc>
                <a:tc>
                  <a:txBody>
                    <a:bodyPr>
                      <a:noAutofit/>
                    </a:bodyPr>
                    <a:lstStyle/>
                    <a:p>
                      <a:pPr algn="ctr"/>
                      <a:r>
                        <a:rPr sz="1200" b="0">
                          <a:solidFill>
                            <a:srgbClr val="263645"/>
                          </a:solidFill>
                          <a:latin typeface="Arial"/>
                          <a:ea typeface="Arial"/>
                          <a:cs typeface="Arial"/>
                        </a:rPr>
                        <a:t>0.829</a:t>
                      </a:r>
                    </a:p>
                  </a:txBody>
                  <a:tcPr marL="85725" marR="85725" marT="76200" marB="76200" anchor="ctr">
                    <a:solidFill>
                      <a:srgbClr val="FFFFFF"/>
                    </a:solidFill>
                  </a:tcPr>
                </a:tc>
              </a:tr>
            </a:tbl>
          </a:graphicData>
        </a:graphic>
      </p:graphicFrame>
      <p:sp>
        <p:nvSpPr>
          <p:cNvPr id="16" name="content-5">
            <a:extLst xmlns:a="http://schemas.openxmlformats.org/drawingml/2006/main">
              <a:ext uri="{FF2B5EF4-FFF2-40B4-BE49-F238E27FC236}">
                <a16:creationId xmlns:a16="http://schemas.microsoft.com/office/drawing/2014/main" id="{53B72FC1-554A-4534-B2B7-368DF09999B0}"/>
              </a:ext>
            </a:extLst>
          </p:cNvPr>
          <p:cNvSpPr>
            <a:spLocks xmlns:a="http://schemas.openxmlformats.org/drawingml/2006/main" noGrp="1"/>
          </p:cNvSpPr>
          <p:nvPr/>
        </p:nvSpPr>
        <p:spPr>
          <a:xfrm xmlns:a="http://schemas.openxmlformats.org/drawingml/2006/main">
            <a:off x="714375" y="5353050"/>
            <a:ext cx="7734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65717B"/>
                </a:solidFill>
                <a:latin typeface="Arial"/>
                <a:ea typeface="Arial"/>
                <a:cs typeface="Arial"/>
              </a:defRPr>
            </a:defPPr>
          </a:lstStyle>
          <a:p xmlns:a="http://schemas.openxmlformats.org/drawingml/2006/main">
            <a:pPr algn="l">
              <a:defRPr sz="1275" b="0">
                <a:solidFill>
                  <a:srgbClr val="65717B"/>
                </a:solidFill>
                <a:latin typeface="Arial"/>
                <a:ea typeface="Arial"/>
                <a:cs typeface="Arial"/>
              </a:defRPr>
            </a:pPr>
            <a:r>
              <a:rPr sz="1275" b="0">
                <a:solidFill>
                  <a:srgbClr val="65717B"/>
                </a:solidFill>
                <a:latin typeface="Arial"/>
                <a:ea typeface="Arial"/>
                <a:cs typeface="Arial"/>
              </a:rPr>
              <a:t>PINN MAE: 0.0436 nm. All models: 0% observed bound violations.</a:t>
            </a:r>
          </a:p>
        </p:txBody>
      </p:sp>
      <p:sp>
        <p:nvSpPr>
          <p:cNvPr id="17" name="content-6">
            <a:extLst xmlns:a="http://schemas.openxmlformats.org/drawingml/2006/main">
              <a:ext uri="{FF2B5EF4-FFF2-40B4-BE49-F238E27FC236}">
                <a16:creationId xmlns:a16="http://schemas.microsoft.com/office/drawing/2014/main" id="{3B3BA1E3-5E7B-4018-9468-0EC5C5972CD4}"/>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Synthetic PINN R² reaches 0.905. Random forest still gives the lowest error</a:t>
            </a:r>
          </a:p>
        </p:txBody>
      </p:sp>
    </p:spTree>
    <p:extLst>
      <p:ext uri="{BB962C8B-B14F-4D97-AF65-F5344CB8AC3E}">
        <p14:creationId xmlns:p14="http://schemas.microsoft.com/office/powerpoint/2010/main" val="1382801872"/>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17</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Synthetic holdout parity: PINN and random forest</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graphicFrame>
        <p:nvGraphicFramePr>
          <p:cNvPr id="13" name="Chart">
            <a:extLst xmlns:a="http://schemas.openxmlformats.org/drawingml/2006/main">
              <a:ext uri="{FF2B5EF4-FFF2-40B4-BE49-F238E27FC236}">
                <a16:creationId xmlns:a16="http://schemas.microsoft.com/office/drawing/2014/main" id="{D34EE299-24E8-44EB-BD87-3FD41C068B88}"/>
              </a:ext>
            </a:extLst>
          </p:cNvPr>
          <p:cNvGraphicFramePr/>
          <p:nvPr/>
        </p:nvGraphicFramePr>
        <p:xfrm>
          <a:off xmlns:a="http://schemas.openxmlformats.org/drawingml/2006/main" x="438150" y="1943100"/>
          <a:ext xmlns:a="http://schemas.openxmlformats.org/drawingml/2006/main" cx="4000500" cy="3190875"/>
        </p:xfrm>
        <a:graphic xmlns:a="http://schemas.openxmlformats.org/drawingml/2006/main">
          <a:graphicData uri="http://schemas.openxmlformats.org/drawingml/2006/chart">
            <c:chart xmlns:r="http://schemas.openxmlformats.org/officeDocument/2006/relationships" xmlns:c="http://schemas.openxmlformats.org/drawingml/2006/chart" r:id="R0709e90d642e4884"/>
          </a:graphicData>
        </a:graphic>
      </p:graphicFrame>
      <p:graphicFrame>
        <p:nvGraphicFramePr>
          <p:cNvPr id="14" name="Chart">
            <a:extLst xmlns:a="http://schemas.openxmlformats.org/drawingml/2006/main">
              <a:ext uri="{FF2B5EF4-FFF2-40B4-BE49-F238E27FC236}">
                <a16:creationId xmlns:a16="http://schemas.microsoft.com/office/drawing/2014/main" id="{B645A6C3-DBDB-4533-ACA1-0BA4EA735F0A}"/>
              </a:ext>
            </a:extLst>
          </p:cNvPr>
          <p:cNvGraphicFramePr/>
          <p:nvPr/>
        </p:nvGraphicFramePr>
        <p:xfrm>
          <a:off xmlns:a="http://schemas.openxmlformats.org/drawingml/2006/main" x="4705350" y="1943100"/>
          <a:ext xmlns:a="http://schemas.openxmlformats.org/drawingml/2006/main" cx="4000500" cy="3190875"/>
        </p:xfrm>
        <a:graphic xmlns:a="http://schemas.openxmlformats.org/drawingml/2006/main">
          <a:graphicData uri="http://schemas.openxmlformats.org/drawingml/2006/chart">
            <c:chart xmlns:r="http://schemas.openxmlformats.org/officeDocument/2006/relationships" xmlns:c="http://schemas.openxmlformats.org/drawingml/2006/chart" r:id="Re423fda7d1bf420e"/>
          </a:graphicData>
        </a:graphic>
      </p:graphicFrame>
      <p:pic>
        <p:nvPicPr>
          <p:cNvPr id="15" name="">
            <a:extLst xmlns:a="http://schemas.openxmlformats.org/drawingml/2006/main">
              <a:ext uri="{FF2B5EF4-FFF2-40B4-BE49-F238E27FC236}">
                <a16:creationId xmlns:a16="http://schemas.microsoft.com/office/drawing/2014/main" id="{E32217D1-C4BC-4755-BB38-FFFBEAE52F66}"/>
              </a:ext>
            </a:extLst>
          </p:cNvPr>
          <p:cNvPicPr>
            <a:picLocks xmlns:a="http://schemas.openxmlformats.org/drawingml/2006/main" noChangeAspect="1"/>
          </p:cNvPicPr>
          <p:nvPr/>
        </p:nvPicPr>
        <p:blipFill>
          <a:blip xmlns:r="http://schemas.openxmlformats.org/officeDocument/2006/relationships" xmlns:a="http://schemas.openxmlformats.org/drawingml/2006/main" r:embed="R4de46289b4184fce"/>
          <a:stretch xmlns:a="http://schemas.openxmlformats.org/drawingml/2006/main"/>
        </p:blipFill>
        <p:spPr>
          <a:xfrm xmlns:a="http://schemas.openxmlformats.org/drawingml/2006/main">
            <a:off x="733425" y="5274044"/>
            <a:ext cx="3476625" cy="310413"/>
          </a:xfrm>
          <a:prstGeom xmlns:a="http://schemas.openxmlformats.org/drawingml/2006/main" prst="rect">
            <a:avLst/>
          </a:prstGeom>
        </p:spPr>
      </p:pic>
      <p:pic>
        <p:nvPicPr>
          <p:cNvPr id="16" name="">
            <a:extLst xmlns:a="http://schemas.openxmlformats.org/drawingml/2006/main">
              <a:ext uri="{FF2B5EF4-FFF2-40B4-BE49-F238E27FC236}">
                <a16:creationId xmlns:a16="http://schemas.microsoft.com/office/drawing/2014/main" id="{74581AAB-4C71-4B3C-9975-146914049ABB}"/>
              </a:ext>
            </a:extLst>
          </p:cNvPr>
          <p:cNvPicPr>
            <a:picLocks xmlns:a="http://schemas.openxmlformats.org/drawingml/2006/main" noChangeAspect="1"/>
          </p:cNvPicPr>
          <p:nvPr/>
        </p:nvPicPr>
        <p:blipFill>
          <a:blip xmlns:r="http://schemas.openxmlformats.org/officeDocument/2006/relationships" xmlns:a="http://schemas.openxmlformats.org/drawingml/2006/main" r:embed="R3fda76479ccf4899"/>
          <a:stretch xmlns:a="http://schemas.openxmlformats.org/drawingml/2006/main"/>
        </p:blipFill>
        <p:spPr>
          <a:xfrm xmlns:a="http://schemas.openxmlformats.org/drawingml/2006/main">
            <a:off x="5000625" y="5262105"/>
            <a:ext cx="3476625" cy="334291"/>
          </a:xfrm>
          <a:prstGeom xmlns:a="http://schemas.openxmlformats.org/drawingml/2006/main" prst="rect">
            <a:avLst/>
          </a:prstGeom>
        </p:spPr>
      </p:pic>
      <p:sp>
        <p:nvSpPr>
          <p:cNvPr id="17" name="content-4">
            <a:extLst xmlns:a="http://schemas.openxmlformats.org/drawingml/2006/main">
              <a:ext uri="{FF2B5EF4-FFF2-40B4-BE49-F238E27FC236}">
                <a16:creationId xmlns:a16="http://schemas.microsoft.com/office/drawing/2014/main" id="{80C80996-E012-419B-87B9-15327250299F}"/>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Both plots use all 442 identical test rows and matching axes</a:t>
            </a:r>
          </a:p>
        </p:txBody>
      </p:sp>
    </p:spTree>
    <p:extLst>
      <p:ext uri="{BB962C8B-B14F-4D97-AF65-F5344CB8AC3E}">
        <p14:creationId xmlns:p14="http://schemas.microsoft.com/office/powerpoint/2010/main" val="1382801872"/>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18</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Concentration-monotonicity ablation</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graphicFrame>
        <p:nvGraphicFramePr>
          <p:cNvPr id="13" name="">
            <a:extLst xmlns:a="http://schemas.openxmlformats.org/drawingml/2006/main">
              <a:ext uri="{FF2B5EF4-FFF2-40B4-BE49-F238E27FC236}">
                <a16:creationId xmlns:a16="http://schemas.microsoft.com/office/drawing/2014/main" id="{5021D2CA-D30D-4D73-BD5E-4393EF3F1A38}"/>
              </a:ext>
            </a:extLst>
          </p:cNvPr>
          <p:cNvGraphicFramePr/>
          <p:nvPr/>
        </p:nvGraphicFramePr>
        <p:xfrm>
          <a:off xmlns:a="http://schemas.openxmlformats.org/drawingml/2006/main" x="571500" y="1762125"/>
          <a:ext xmlns:a="http://schemas.openxmlformats.org/drawingml/2006/main" cx="8001000" cy="1485900"/>
        </p:xfrm>
        <a:graphic xmlns:a="http://schemas.openxmlformats.org/drawingml/2006/main">
          <a:graphicData uri="http://schemas.openxmlformats.org/drawingml/2006/table">
            <a:tbl>
              <a:tblPr/>
              <a:tblGrid>
                <a:gridCol w="2962275"/>
                <a:gridCol w="1362075"/>
                <a:gridCol w="1362075"/>
                <a:gridCol w="2314575"/>
              </a:tblGrid>
              <a:tr h="495300">
                <a:tc>
                  <a:txBody>
                    <a:bodyPr>
                      <a:noAutofit/>
                    </a:bodyPr>
                    <a:lstStyle/>
                    <a:p>
                      <a:pPr algn="l"/>
                      <a:r>
                        <a:rPr sz="1350" b="1">
                          <a:solidFill>
                            <a:srgbClr val="FFFFFF"/>
                          </a:solidFill>
                          <a:latin typeface="Arial"/>
                          <a:ea typeface="Arial"/>
                          <a:cs typeface="Arial"/>
                        </a:rPr>
                        <a:t>PINN run</a:t>
                      </a:r>
                    </a:p>
                  </a:txBody>
                  <a:tcPr marL="85725" marR="85725" marT="76200" marB="76200" anchor="ctr">
                    <a:solidFill>
                      <a:srgbClr val="002B5E"/>
                    </a:solidFill>
                  </a:tcPr>
                </a:tc>
                <a:tc>
                  <a:txBody>
                    <a:bodyPr>
                      <a:noAutofit/>
                    </a:bodyPr>
                    <a:lstStyle/>
                    <a:p>
                      <a:pPr algn="ctr"/>
                      <a:r>
                        <a:rPr sz="1350" b="1">
                          <a:solidFill>
                            <a:srgbClr val="FFFFFF"/>
                          </a:solidFill>
                          <a:latin typeface="Arial"/>
                          <a:ea typeface="Arial"/>
                          <a:cs typeface="Arial"/>
                        </a:rPr>
                        <a:t>RMSE (nm)</a:t>
                      </a:r>
                    </a:p>
                  </a:txBody>
                  <a:tcPr marL="85725" marR="85725" marT="76200" marB="76200" anchor="ctr">
                    <a:solidFill>
                      <a:srgbClr val="002B5E"/>
                    </a:solidFill>
                  </a:tcPr>
                </a:tc>
                <a:tc>
                  <a:txBody>
                    <a:bodyPr>
                      <a:noAutofit/>
                    </a:bodyPr>
                    <a:lstStyle/>
                    <a:p>
                      <a:pPr algn="ctr"/>
                      <a:r>
                        <a:rPr sz="1350" b="1">
                          <a:solidFill>
                            <a:srgbClr val="FFFFFF"/>
                          </a:solidFill>
                          <a:latin typeface="Arial"/>
                          <a:ea typeface="Arial"/>
                          <a:cs typeface="Arial"/>
                        </a:rPr>
                        <a:t>R²</a:t>
                      </a:r>
                    </a:p>
                  </a:txBody>
                  <a:tcPr marL="85725" marR="85725" marT="76200" marB="76200" anchor="ctr">
                    <a:solidFill>
                      <a:srgbClr val="002B5E"/>
                    </a:solidFill>
                  </a:tcPr>
                </a:tc>
                <a:tc>
                  <a:txBody>
                    <a:bodyPr>
                      <a:noAutofit/>
                    </a:bodyPr>
                    <a:lstStyle/>
                    <a:p>
                      <a:pPr algn="ctr"/>
                      <a:r>
                        <a:rPr sz="1350" b="1">
                          <a:solidFill>
                            <a:srgbClr val="FFFFFF"/>
                          </a:solidFill>
                          <a:latin typeface="Arial"/>
                          <a:ea typeface="Arial"/>
                          <a:cs typeface="Arial"/>
                        </a:rPr>
                        <a:t>Negative local</a:t>
                      </a:r>
                    </a:p>
                    <a:p>
                      <a:pPr algn="ctr"/>
                      <a:r>
                        <a:rPr sz="1350" b="1">
                          <a:solidFill>
                            <a:srgbClr val="FFFFFF"/>
                          </a:solidFill>
                          <a:latin typeface="Arial"/>
                          <a:ea typeface="Arial"/>
                          <a:cs typeface="Arial"/>
                        </a:rPr>
                        <a:t>concentration slope</a:t>
                      </a:r>
                    </a:p>
                  </a:txBody>
                  <a:tcPr marL="85725" marR="85725" marT="76200" marB="76200" anchor="ctr">
                    <a:solidFill>
                      <a:srgbClr val="002B5E"/>
                    </a:solidFill>
                  </a:tcPr>
                </a:tc>
              </a:tr>
              <a:tr h="495300">
                <a:tc>
                  <a:txBody>
                    <a:bodyPr>
                      <a:noAutofit/>
                    </a:bodyPr>
                    <a:lstStyle/>
                    <a:p>
                      <a:pPr algn="l"/>
                      <a:r>
                        <a:rPr sz="1350" b="1">
                          <a:solidFill>
                            <a:srgbClr val="263645"/>
                          </a:solidFill>
                          <a:latin typeface="Arial"/>
                          <a:ea typeface="Arial"/>
                          <a:cs typeface="Arial"/>
                        </a:rPr>
                        <a:t>Default curvature prior</a:t>
                      </a:r>
                    </a:p>
                  </a:txBody>
                  <a:tcPr marL="85725" marR="85725" marT="76200" marB="76200" anchor="ctr">
                    <a:solidFill>
                      <a:srgbClr val="FFFFFF"/>
                    </a:solidFill>
                  </a:tcPr>
                </a:tc>
                <a:tc>
                  <a:txBody>
                    <a:bodyPr>
                      <a:noAutofit/>
                    </a:bodyPr>
                    <a:lstStyle/>
                    <a:p>
                      <a:pPr algn="ctr"/>
                      <a:r>
                        <a:rPr sz="1350" b="0">
                          <a:solidFill>
                            <a:srgbClr val="263645"/>
                          </a:solidFill>
                          <a:latin typeface="Arial"/>
                          <a:ea typeface="Arial"/>
                          <a:cs typeface="Arial"/>
                        </a:rPr>
                        <a:t>0.055718</a:t>
                      </a:r>
                    </a:p>
                  </a:txBody>
                  <a:tcPr marL="85725" marR="85725" marT="76200" marB="76200" anchor="ctr">
                    <a:solidFill>
                      <a:srgbClr val="FFFFFF"/>
                    </a:solidFill>
                  </a:tcPr>
                </a:tc>
                <a:tc>
                  <a:txBody>
                    <a:bodyPr>
                      <a:noAutofit/>
                    </a:bodyPr>
                    <a:lstStyle/>
                    <a:p>
                      <a:pPr algn="ctr"/>
                      <a:r>
                        <a:rPr sz="1350" b="0">
                          <a:solidFill>
                            <a:srgbClr val="263645"/>
                          </a:solidFill>
                          <a:latin typeface="Arial"/>
                          <a:ea typeface="Arial"/>
                          <a:cs typeface="Arial"/>
                        </a:rPr>
                        <a:t>0.905199</a:t>
                      </a:r>
                    </a:p>
                  </a:txBody>
                  <a:tcPr marL="85725" marR="85725" marT="76200" marB="76200" anchor="ctr">
                    <a:solidFill>
                      <a:srgbClr val="FFFFFF"/>
                    </a:solidFill>
                  </a:tcPr>
                </a:tc>
                <a:tc>
                  <a:txBody>
                    <a:bodyPr>
                      <a:noAutofit/>
                    </a:bodyPr>
                    <a:lstStyle/>
                    <a:p>
                      <a:pPr algn="ctr"/>
                      <a:r>
                        <a:rPr sz="1350" b="0">
                          <a:solidFill>
                            <a:srgbClr val="263645"/>
                          </a:solidFill>
                          <a:latin typeface="Arial"/>
                          <a:ea typeface="Arial"/>
                          <a:cs typeface="Arial"/>
                        </a:rPr>
                        <a:t>43.44%</a:t>
                      </a:r>
                    </a:p>
                  </a:txBody>
                  <a:tcPr marL="85725" marR="85725" marT="76200" marB="76200" anchor="ctr">
                    <a:solidFill>
                      <a:srgbClr val="FFFFFF"/>
                    </a:solidFill>
                  </a:tcPr>
                </a:tc>
              </a:tr>
              <a:tr h="495300">
                <a:tc>
                  <a:txBody>
                    <a:bodyPr>
                      <a:noAutofit/>
                    </a:bodyPr>
                    <a:lstStyle/>
                    <a:p>
                      <a:pPr algn="l"/>
                      <a:r>
                        <a:rPr sz="1350" b="1">
                          <a:solidFill>
                            <a:srgbClr val="263645"/>
                          </a:solidFill>
                          <a:latin typeface="Arial"/>
                          <a:ea typeface="Arial"/>
                          <a:cs typeface="Arial"/>
                        </a:rPr>
                        <a:t>Positive concentration penalty</a:t>
                      </a:r>
                    </a:p>
                  </a:txBody>
                  <a:tcPr marL="85725" marR="85725" marT="76200" marB="76200" anchor="ctr">
                    <a:solidFill>
                      <a:srgbClr val="F7F5EF"/>
                    </a:solidFill>
                  </a:tcPr>
                </a:tc>
                <a:tc>
                  <a:txBody>
                    <a:bodyPr>
                      <a:noAutofit/>
                    </a:bodyPr>
                    <a:lstStyle/>
                    <a:p>
                      <a:pPr algn="ctr"/>
                      <a:r>
                        <a:rPr sz="1350" b="0">
                          <a:solidFill>
                            <a:srgbClr val="263645"/>
                          </a:solidFill>
                          <a:latin typeface="Arial"/>
                          <a:ea typeface="Arial"/>
                          <a:cs typeface="Arial"/>
                        </a:rPr>
                        <a:t>0.056009</a:t>
                      </a:r>
                    </a:p>
                  </a:txBody>
                  <a:tcPr marL="85725" marR="85725" marT="76200" marB="76200" anchor="ctr">
                    <a:solidFill>
                      <a:srgbClr val="F7F5EF"/>
                    </a:solidFill>
                  </a:tcPr>
                </a:tc>
                <a:tc>
                  <a:txBody>
                    <a:bodyPr>
                      <a:noAutofit/>
                    </a:bodyPr>
                    <a:lstStyle/>
                    <a:p>
                      <a:pPr algn="ctr"/>
                      <a:r>
                        <a:rPr sz="1350" b="0">
                          <a:solidFill>
                            <a:srgbClr val="263645"/>
                          </a:solidFill>
                          <a:latin typeface="Arial"/>
                          <a:ea typeface="Arial"/>
                          <a:cs typeface="Arial"/>
                        </a:rPr>
                        <a:t>0.904208</a:t>
                      </a:r>
                    </a:p>
                  </a:txBody>
                  <a:tcPr marL="85725" marR="85725" marT="76200" marB="76200" anchor="ctr">
                    <a:solidFill>
                      <a:srgbClr val="F7F5EF"/>
                    </a:solidFill>
                  </a:tcPr>
                </a:tc>
                <a:tc>
                  <a:txBody>
                    <a:bodyPr>
                      <a:noAutofit/>
                    </a:bodyPr>
                    <a:lstStyle/>
                    <a:p>
                      <a:pPr algn="ctr"/>
                      <a:r>
                        <a:rPr sz="1350" b="0">
                          <a:solidFill>
                            <a:srgbClr val="263645"/>
                          </a:solidFill>
                          <a:latin typeface="Arial"/>
                          <a:ea typeface="Arial"/>
                          <a:cs typeface="Arial"/>
                        </a:rPr>
                        <a:t>40.99%</a:t>
                      </a:r>
                    </a:p>
                  </a:txBody>
                  <a:tcPr marL="85725" marR="85725" marT="76200" marB="76200" anchor="ctr">
                    <a:solidFill>
                      <a:srgbClr val="F7F5EF"/>
                    </a:solidFill>
                  </a:tcPr>
                </a:tc>
              </a:tr>
            </a:tbl>
          </a:graphicData>
        </a:graphic>
      </p:graphicFrame>
      <p:graphicFrame>
        <p:nvGraphicFramePr>
          <p:cNvPr id="14" name="Chart">
            <a:extLst xmlns:a="http://schemas.openxmlformats.org/drawingml/2006/main">
              <a:ext uri="{FF2B5EF4-FFF2-40B4-BE49-F238E27FC236}">
                <a16:creationId xmlns:a16="http://schemas.microsoft.com/office/drawing/2014/main" id="{BA967A8A-4F7D-4C53-8DB2-A58FA48FBC87}"/>
              </a:ext>
            </a:extLst>
          </p:cNvPr>
          <p:cNvGraphicFramePr/>
          <p:nvPr/>
        </p:nvGraphicFramePr>
        <p:xfrm>
          <a:off xmlns:a="http://schemas.openxmlformats.org/drawingml/2006/main" x="771525" y="3524250"/>
          <a:ext xmlns:a="http://schemas.openxmlformats.org/drawingml/2006/main" cx="7543800" cy="1924050"/>
        </p:xfrm>
        <a:graphic xmlns:a="http://schemas.openxmlformats.org/drawingml/2006/main">
          <a:graphicData uri="http://schemas.openxmlformats.org/drawingml/2006/chart">
            <c:chart xmlns:r="http://schemas.openxmlformats.org/officeDocument/2006/relationships" xmlns:c="http://schemas.openxmlformats.org/drawingml/2006/chart" r:id="Rcbd60e592d034cfc"/>
          </a:graphicData>
        </a:graphic>
      </p:graphicFrame>
      <p:sp>
        <p:nvSpPr>
          <p:cNvPr id="15" name="content-4">
            <a:extLst xmlns:a="http://schemas.openxmlformats.org/drawingml/2006/main">
              <a:ext uri="{FF2B5EF4-FFF2-40B4-BE49-F238E27FC236}">
                <a16:creationId xmlns:a16="http://schemas.microsoft.com/office/drawing/2014/main" id="{F5F0F7B0-8CAF-4388-A226-52AE162A9350}"/>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The penalty reduces some negative slopes but slightly worsens held-out error</a:t>
            </a:r>
          </a:p>
        </p:txBody>
      </p:sp>
    </p:spTree>
    <p:extLst>
      <p:ext uri="{BB962C8B-B14F-4D97-AF65-F5344CB8AC3E}">
        <p14:creationId xmlns:p14="http://schemas.microsoft.com/office/powerpoint/2010/main" val="138280187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19</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Training histories and selected checkpoints</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graphicFrame>
        <p:nvGraphicFramePr>
          <p:cNvPr id="13" name="Chart">
            <a:extLst xmlns:a="http://schemas.openxmlformats.org/drawingml/2006/main">
              <a:ext uri="{FF2B5EF4-FFF2-40B4-BE49-F238E27FC236}">
                <a16:creationId xmlns:a16="http://schemas.microsoft.com/office/drawing/2014/main" id="{D2CEEDAE-9952-418F-89D5-EAB852F7AAE6}"/>
              </a:ext>
            </a:extLst>
          </p:cNvPr>
          <p:cNvGraphicFramePr/>
          <p:nvPr/>
        </p:nvGraphicFramePr>
        <p:xfrm>
          <a:off xmlns:a="http://schemas.openxmlformats.org/drawingml/2006/main" x="457200" y="1943100"/>
          <a:ext xmlns:a="http://schemas.openxmlformats.org/drawingml/2006/main" cx="3952875" cy="3238500"/>
        </p:xfrm>
        <a:graphic xmlns:a="http://schemas.openxmlformats.org/drawingml/2006/main">
          <a:graphicData uri="http://schemas.openxmlformats.org/drawingml/2006/chart">
            <c:chart xmlns:r="http://schemas.openxmlformats.org/officeDocument/2006/relationships" xmlns:c="http://schemas.openxmlformats.org/drawingml/2006/chart" r:id="R36a9064755ae4b3d"/>
          </a:graphicData>
        </a:graphic>
      </p:graphicFrame>
      <p:graphicFrame>
        <p:nvGraphicFramePr>
          <p:cNvPr id="14" name="Chart">
            <a:extLst xmlns:a="http://schemas.openxmlformats.org/drawingml/2006/main">
              <a:ext uri="{FF2B5EF4-FFF2-40B4-BE49-F238E27FC236}">
                <a16:creationId xmlns:a16="http://schemas.microsoft.com/office/drawing/2014/main" id="{D6FEE319-F454-47BC-938A-FBA3E4373D27}"/>
              </a:ext>
            </a:extLst>
          </p:cNvPr>
          <p:cNvGraphicFramePr/>
          <p:nvPr/>
        </p:nvGraphicFramePr>
        <p:xfrm>
          <a:off xmlns:a="http://schemas.openxmlformats.org/drawingml/2006/main" x="4733925" y="1943100"/>
          <a:ext xmlns:a="http://schemas.openxmlformats.org/drawingml/2006/main" cx="3952875" cy="3238500"/>
        </p:xfrm>
        <a:graphic xmlns:a="http://schemas.openxmlformats.org/drawingml/2006/main">
          <a:graphicData uri="http://schemas.openxmlformats.org/drawingml/2006/chart">
            <c:chart xmlns:r="http://schemas.openxmlformats.org/officeDocument/2006/relationships" xmlns:c="http://schemas.openxmlformats.org/drawingml/2006/chart" r:id="R4360e2ed0c1f4d65"/>
          </a:graphicData>
        </a:graphic>
      </p:graphicFrame>
      <p:sp>
        <p:nvSpPr>
          <p:cNvPr id="15" name="content-4">
            <a:extLst xmlns:a="http://schemas.openxmlformats.org/drawingml/2006/main">
              <a:ext uri="{FF2B5EF4-FFF2-40B4-BE49-F238E27FC236}">
                <a16:creationId xmlns:a16="http://schemas.microsoft.com/office/drawing/2014/main" id="{53DC54C1-FFEC-4AA7-9BAD-4394A59E8B2F}"/>
              </a:ext>
            </a:extLst>
          </p:cNvPr>
          <p:cNvSpPr>
            <a:spLocks xmlns:a="http://schemas.openxmlformats.org/drawingml/2006/main" noGrp="1"/>
          </p:cNvSpPr>
          <p:nvPr/>
        </p:nvSpPr>
        <p:spPr>
          <a:xfrm xmlns:a="http://schemas.openxmlformats.org/drawingml/2006/main">
            <a:off x="790575" y="5248275"/>
            <a:ext cx="32766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25" b="1">
                <a:solidFill>
                  <a:srgbClr val="002B5E"/>
                </a:solidFill>
                <a:latin typeface="Arial"/>
                <a:ea typeface="Arial"/>
                <a:cs typeface="Arial"/>
              </a:defRPr>
            </a:defPPr>
          </a:lstStyle>
          <a:p xmlns:a="http://schemas.openxmlformats.org/drawingml/2006/main">
            <a:pPr algn="ctr">
              <a:defRPr sz="1425" b="1">
                <a:solidFill>
                  <a:srgbClr val="002B5E"/>
                </a:solidFill>
                <a:latin typeface="Arial"/>
                <a:ea typeface="Arial"/>
                <a:cs typeface="Arial"/>
              </a:defRPr>
            </a:pPr>
            <a:r>
              <a:rPr sz="1425" b="1">
                <a:solidFill>
                  <a:srgbClr val="002B5E"/>
                </a:solidFill>
                <a:latin typeface="Arial"/>
                <a:ea typeface="Arial"/>
                <a:cs typeface="Arial"/>
              </a:rPr>
              <a:t>Selected epoch 76</a:t>
            </a:r>
          </a:p>
          <a:p xmlns:a="http://schemas.openxmlformats.org/drawingml/2006/main">
            <a:pPr algn="ctr">
              <a:defRPr sz="1425" b="1">
                <a:solidFill>
                  <a:srgbClr val="002B5E"/>
                </a:solidFill>
                <a:latin typeface="Arial"/>
                <a:ea typeface="Arial"/>
                <a:cs typeface="Arial"/>
              </a:defRPr>
            </a:pPr>
            <a:r>
              <a:rPr sz="1425" b="1">
                <a:solidFill>
                  <a:srgbClr val="002B5E"/>
                </a:solidFill>
                <a:latin typeface="Arial"/>
                <a:ea typeface="Arial"/>
                <a:cs typeface="Arial"/>
              </a:rPr>
              <a:t>Training stopped at epoch 226</a:t>
            </a:r>
          </a:p>
        </p:txBody>
      </p:sp>
      <p:sp>
        <p:nvSpPr>
          <p:cNvPr id="16" name="content-5">
            <a:extLst xmlns:a="http://schemas.openxmlformats.org/drawingml/2006/main">
              <a:ext uri="{FF2B5EF4-FFF2-40B4-BE49-F238E27FC236}">
                <a16:creationId xmlns:a16="http://schemas.microsoft.com/office/drawing/2014/main" id="{53600992-73B4-4E01-89DA-42D11397D4EE}"/>
              </a:ext>
            </a:extLst>
          </p:cNvPr>
          <p:cNvSpPr>
            <a:spLocks xmlns:a="http://schemas.openxmlformats.org/drawingml/2006/main" noGrp="1"/>
          </p:cNvSpPr>
          <p:nvPr/>
        </p:nvSpPr>
        <p:spPr>
          <a:xfrm xmlns:a="http://schemas.openxmlformats.org/drawingml/2006/main">
            <a:off x="5067300" y="5248275"/>
            <a:ext cx="32766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25" b="1">
                <a:solidFill>
                  <a:srgbClr val="002B5E"/>
                </a:solidFill>
                <a:latin typeface="Arial"/>
                <a:ea typeface="Arial"/>
                <a:cs typeface="Arial"/>
              </a:defRPr>
            </a:defPPr>
          </a:lstStyle>
          <a:p xmlns:a="http://schemas.openxmlformats.org/drawingml/2006/main">
            <a:pPr algn="ctr">
              <a:defRPr sz="1425" b="1">
                <a:solidFill>
                  <a:srgbClr val="002B5E"/>
                </a:solidFill>
                <a:latin typeface="Arial"/>
                <a:ea typeface="Arial"/>
                <a:cs typeface="Arial"/>
              </a:defRPr>
            </a:pPr>
            <a:r>
              <a:rPr sz="1425" b="1">
                <a:solidFill>
                  <a:srgbClr val="002B5E"/>
                </a:solidFill>
                <a:latin typeface="Arial"/>
                <a:ea typeface="Arial"/>
                <a:cs typeface="Arial"/>
              </a:rPr>
              <a:t>Selected epoch 1,500</a:t>
            </a:r>
          </a:p>
          <a:p xmlns:a="http://schemas.openxmlformats.org/drawingml/2006/main">
            <a:pPr algn="ctr">
              <a:defRPr sz="1425" b="1">
                <a:solidFill>
                  <a:srgbClr val="002B5E"/>
                </a:solidFill>
                <a:latin typeface="Arial"/>
                <a:ea typeface="Arial"/>
                <a:cs typeface="Arial"/>
              </a:defRPr>
            </a:pPr>
            <a:r>
              <a:rPr sz="1425" b="1">
                <a:solidFill>
                  <a:srgbClr val="002B5E"/>
                </a:solidFill>
                <a:latin typeface="Arial"/>
                <a:ea typeface="Arial"/>
                <a:cs typeface="Arial"/>
              </a:rPr>
              <a:t>Training reached the configured limit</a:t>
            </a:r>
          </a:p>
        </p:txBody>
      </p:sp>
      <p:sp>
        <p:nvSpPr>
          <p:cNvPr id="17" name="content-6">
            <a:extLst xmlns:a="http://schemas.openxmlformats.org/drawingml/2006/main">
              <a:ext uri="{FF2B5EF4-FFF2-40B4-BE49-F238E27FC236}">
                <a16:creationId xmlns:a16="http://schemas.microsoft.com/office/drawing/2014/main" id="{DAABED79-B031-464D-8379-4614F1F96720}"/>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A validation-based optimization-budget study remains a next step</a:t>
            </a:r>
          </a:p>
        </p:txBody>
      </p:sp>
    </p:spTree>
    <p:extLst>
      <p:ext uri="{BB962C8B-B14F-4D97-AF65-F5344CB8AC3E}">
        <p14:creationId xmlns:p14="http://schemas.microsoft.com/office/powerpoint/2010/main" val="1382801872"/>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20</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Architecture choices from the literature</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graphicFrame>
        <p:nvGraphicFramePr>
          <p:cNvPr id="13" name="">
            <a:extLst xmlns:a="http://schemas.openxmlformats.org/drawingml/2006/main">
              <a:ext uri="{FF2B5EF4-FFF2-40B4-BE49-F238E27FC236}">
                <a16:creationId xmlns:a16="http://schemas.microsoft.com/office/drawing/2014/main" id="{D4EC3415-25CE-4B77-B4CA-4BAADF0863EE}"/>
              </a:ext>
            </a:extLst>
          </p:cNvPr>
          <p:cNvGraphicFramePr/>
          <p:nvPr/>
        </p:nvGraphicFramePr>
        <p:xfrm>
          <a:off xmlns:a="http://schemas.openxmlformats.org/drawingml/2006/main" x="571500" y="1752600"/>
          <a:ext xmlns:a="http://schemas.openxmlformats.org/drawingml/2006/main" cx="8001000" cy="3543300"/>
        </p:xfrm>
        <a:graphic xmlns:a="http://schemas.openxmlformats.org/drawingml/2006/main">
          <a:graphicData uri="http://schemas.openxmlformats.org/drawingml/2006/table">
            <a:tbl>
              <a:tblPr/>
              <a:tblGrid>
                <a:gridCol w="2209800"/>
                <a:gridCol w="2219325"/>
                <a:gridCol w="3571875"/>
              </a:tblGrid>
              <a:tr h="590550">
                <a:tc>
                  <a:txBody>
                    <a:bodyPr>
                      <a:noAutofit/>
                    </a:bodyPr>
                    <a:lstStyle/>
                    <a:p>
                      <a:pPr algn="l"/>
                      <a:r>
                        <a:rPr sz="1275" b="1">
                          <a:solidFill>
                            <a:srgbClr val="FFFFFF"/>
                          </a:solidFill>
                          <a:latin typeface="Arial"/>
                          <a:ea typeface="Arial"/>
                          <a:cs typeface="Arial"/>
                        </a:rPr>
                        <a:t>Architecture</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Relevant work</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Decision for this project</a:t>
                      </a:r>
                    </a:p>
                  </a:txBody>
                  <a:tcPr marL="85725" marR="85725" marT="76200" marB="76200" anchor="ctr">
                    <a:solidFill>
                      <a:srgbClr val="002B5E"/>
                    </a:solidFill>
                  </a:tcPr>
                </a:tc>
              </a:tr>
              <a:tr h="590550">
                <a:tc>
                  <a:txBody>
                    <a:bodyPr>
                      <a:noAutofit/>
                    </a:bodyPr>
                    <a:lstStyle/>
                    <a:p>
                      <a:pPr algn="l"/>
                      <a:r>
                        <a:rPr sz="1275" b="1">
                          <a:solidFill>
                            <a:srgbClr val="263645"/>
                          </a:solidFill>
                          <a:latin typeface="Arial"/>
                          <a:ea typeface="Arial"/>
                          <a:cs typeface="Arial"/>
                        </a:rPr>
                        <a:t>Compact tanh MLP</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Raissi et al., 2019</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Initial backbone for differentiable</a:t>
                      </a:r>
                    </a:p>
                    <a:p>
                      <a:pPr algn="ctr"/>
                      <a:r>
                        <a:rPr sz="1275" b="0">
                          <a:solidFill>
                            <a:srgbClr val="263645"/>
                          </a:solidFill>
                          <a:latin typeface="Arial"/>
                          <a:ea typeface="Arial"/>
                          <a:cs typeface="Arial"/>
                        </a:rPr>
                        <a:t>small-data constrained regression</a:t>
                      </a:r>
                    </a:p>
                  </a:txBody>
                  <a:tcPr marL="85725" marR="85725" marT="76200" marB="76200" anchor="ctr">
                    <a:solidFill>
                      <a:srgbClr val="FFFFFF"/>
                    </a:solidFill>
                  </a:tcPr>
                </a:tc>
              </a:tr>
              <a:tr h="590550">
                <a:tc>
                  <a:txBody>
                    <a:bodyPr>
                      <a:noAutofit/>
                    </a:bodyPr>
                    <a:lstStyle/>
                    <a:p>
                      <a:pPr algn="l"/>
                      <a:r>
                        <a:rPr sz="1275" b="1">
                          <a:solidFill>
                            <a:srgbClr val="263645"/>
                          </a:solidFill>
                          <a:latin typeface="Arial"/>
                          <a:ea typeface="Arial"/>
                          <a:cs typeface="Arial"/>
                        </a:rPr>
                        <a:t>Modified or gated MLP</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Wang et al., 2021</a:t>
                      </a:r>
                    </a:p>
                    <a:p>
                      <a:pPr algn="ctr"/>
                      <a:r>
                        <a:rPr sz="1275" b="0">
                          <a:solidFill>
                            <a:srgbClr val="263645"/>
                          </a:solidFill>
                          <a:latin typeface="Arial"/>
                          <a:ea typeface="Arial"/>
                          <a:cs typeface="Arial"/>
                        </a:rPr>
                        <a:t>Gradient pathologies</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Next candidate if diagnostics show</a:t>
                      </a:r>
                    </a:p>
                    <a:p>
                      <a:pPr algn="ctr"/>
                      <a:r>
                        <a:rPr sz="1275" b="0">
                          <a:solidFill>
                            <a:srgbClr val="263645"/>
                          </a:solidFill>
                          <a:latin typeface="Arial"/>
                          <a:ea typeface="Arial"/>
                          <a:cs typeface="Arial"/>
                        </a:rPr>
                        <a:t>conflicting loss gradients</a:t>
                      </a:r>
                    </a:p>
                  </a:txBody>
                  <a:tcPr marL="85725" marR="85725" marT="76200" marB="76200" anchor="ctr">
                    <a:solidFill>
                      <a:srgbClr val="F7F5EF"/>
                    </a:solidFill>
                  </a:tcPr>
                </a:tc>
              </a:tr>
              <a:tr h="590550">
                <a:tc>
                  <a:txBody>
                    <a:bodyPr>
                      <a:noAutofit/>
                    </a:bodyPr>
                    <a:lstStyle/>
                    <a:p>
                      <a:pPr algn="l"/>
                      <a:r>
                        <a:rPr sz="1275" b="1">
                          <a:solidFill>
                            <a:srgbClr val="263645"/>
                          </a:solidFill>
                          <a:latin typeface="Arial"/>
                          <a:ea typeface="Arial"/>
                          <a:cs typeface="Arial"/>
                        </a:rPr>
                        <a:t>Fourier-feature PINN</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Wang et al., 2021</a:t>
                      </a:r>
                    </a:p>
                    <a:p>
                      <a:pPr algn="ctr"/>
                      <a:r>
                        <a:rPr sz="1275" b="0">
                          <a:solidFill>
                            <a:srgbClr val="263645"/>
                          </a:solidFill>
                          <a:latin typeface="Arial"/>
                          <a:ea typeface="Arial"/>
                          <a:cs typeface="Arial"/>
                        </a:rPr>
                        <a:t>Eigenvector bias</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Test only with evidence of multiscale</a:t>
                      </a:r>
                    </a:p>
                    <a:p>
                      <a:pPr algn="ctr"/>
                      <a:r>
                        <a:rPr sz="1275" b="0">
                          <a:solidFill>
                            <a:srgbClr val="263645"/>
                          </a:solidFill>
                          <a:latin typeface="Arial"/>
                          <a:ea typeface="Arial"/>
                          <a:cs typeface="Arial"/>
                        </a:rPr>
                        <a:t>response rather than measurement noise</a:t>
                      </a:r>
                    </a:p>
                  </a:txBody>
                  <a:tcPr marL="85725" marR="85725" marT="76200" marB="76200" anchor="ctr">
                    <a:solidFill>
                      <a:srgbClr val="FFFFFF"/>
                    </a:solidFill>
                  </a:tcPr>
                </a:tc>
              </a:tr>
              <a:tr h="590550">
                <a:tc>
                  <a:txBody>
                    <a:bodyPr>
                      <a:noAutofit/>
                    </a:bodyPr>
                    <a:lstStyle/>
                    <a:p>
                      <a:pPr algn="l"/>
                      <a:r>
                        <a:rPr sz="1275" b="1">
                          <a:solidFill>
                            <a:srgbClr val="263645"/>
                          </a:solidFill>
                          <a:latin typeface="Arial"/>
                          <a:ea typeface="Arial"/>
                          <a:cs typeface="Arial"/>
                        </a:rPr>
                        <a:t>Bayesian PINN</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Yang et al., 2021</a:t>
                      </a:r>
                    </a:p>
                    <a:p>
                      <a:pPr algn="ctr"/>
                      <a:r>
                        <a:rPr sz="1275" b="0">
                          <a:solidFill>
                            <a:srgbClr val="263645"/>
                          </a:solidFill>
                          <a:latin typeface="Arial"/>
                          <a:ea typeface="Arial"/>
                          <a:cs typeface="Arial"/>
                        </a:rPr>
                        <a:t>B-PINNs</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Consider after auditing replicate noise</a:t>
                      </a:r>
                    </a:p>
                    <a:p>
                      <a:pPr algn="ctr"/>
                      <a:r>
                        <a:rPr sz="1275" b="0">
                          <a:solidFill>
                            <a:srgbClr val="263645"/>
                          </a:solidFill>
                          <a:latin typeface="Arial"/>
                          <a:ea typeface="Arial"/>
                          <a:cs typeface="Arial"/>
                        </a:rPr>
                        <a:t>and checking uncertainty calibration</a:t>
                      </a:r>
                    </a:p>
                  </a:txBody>
                  <a:tcPr marL="85725" marR="85725" marT="76200" marB="76200" anchor="ctr">
                    <a:solidFill>
                      <a:srgbClr val="F7F5EF"/>
                    </a:solidFill>
                  </a:tcPr>
                </a:tc>
              </a:tr>
              <a:tr h="590550">
                <a:tc>
                  <a:txBody>
                    <a:bodyPr>
                      <a:noAutofit/>
                    </a:bodyPr>
                    <a:lstStyle/>
                    <a:p>
                      <a:pPr algn="l"/>
                      <a:r>
                        <a:rPr sz="1275" b="1">
                          <a:solidFill>
                            <a:srgbClr val="263645"/>
                          </a:solidFill>
                          <a:latin typeface="Arial"/>
                          <a:ea typeface="Arial"/>
                          <a:cs typeface="Arial"/>
                        </a:rPr>
                        <a:t>DeepONet / FNO</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Lu et al., 2021</a:t>
                      </a:r>
                    </a:p>
                    <a:p>
                      <a:pPr algn="ctr"/>
                      <a:r>
                        <a:rPr sz="1275" b="0">
                          <a:solidFill>
                            <a:srgbClr val="263645"/>
                          </a:solidFill>
                          <a:latin typeface="Arial"/>
                          <a:ea typeface="Arial"/>
                          <a:cs typeface="Arial"/>
                        </a:rPr>
                        <a:t>Li et al., ICLR 2021</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Defer until trajectories, profiles,</a:t>
                      </a:r>
                    </a:p>
                    <a:p>
                      <a:pPr algn="ctr"/>
                      <a:r>
                        <a:rPr sz="1275" b="0">
                          <a:solidFill>
                            <a:srgbClr val="263645"/>
                          </a:solidFill>
                          <a:latin typeface="Arial"/>
                          <a:ea typeface="Arial"/>
                          <a:cs typeface="Arial"/>
                        </a:rPr>
                        <a:t>or families of field solutions exist</a:t>
                      </a:r>
                    </a:p>
                  </a:txBody>
                  <a:tcPr marL="85725" marR="85725" marT="76200" marB="76200" anchor="ctr">
                    <a:solidFill>
                      <a:srgbClr val="FFFFFF"/>
                    </a:solidFill>
                  </a:tcPr>
                </a:tc>
              </a:tr>
            </a:tbl>
          </a:graphicData>
        </a:graphic>
      </p:graphicFrame>
      <p:sp>
        <p:nvSpPr>
          <p:cNvPr id="14" name="content-4">
            <a:extLst xmlns:a="http://schemas.openxmlformats.org/drawingml/2006/main">
              <a:ext uri="{FF2B5EF4-FFF2-40B4-BE49-F238E27FC236}">
                <a16:creationId xmlns:a16="http://schemas.microsoft.com/office/drawing/2014/main" id="{5A202076-C47F-4BC6-AC39-4769F12B0BD5}"/>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The current scalar table supports a compact network before operator-learning models</a:t>
            </a:r>
          </a:p>
        </p:txBody>
      </p:sp>
    </p:spTree>
    <p:extLst>
      <p:ext uri="{BB962C8B-B14F-4D97-AF65-F5344CB8AC3E}">
        <p14:creationId xmlns:p14="http://schemas.microsoft.com/office/powerpoint/2010/main" val="1382801872"/>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21</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Recorded experiments and reproducibility</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graphicFrame>
        <p:nvGraphicFramePr>
          <p:cNvPr id="13" name="">
            <a:extLst xmlns:a="http://schemas.openxmlformats.org/drawingml/2006/main">
              <a:ext uri="{FF2B5EF4-FFF2-40B4-BE49-F238E27FC236}">
                <a16:creationId xmlns:a16="http://schemas.microsoft.com/office/drawing/2014/main" id="{DC61FC92-268B-4E95-8C9D-74AABEC2AAD1}"/>
              </a:ext>
            </a:extLst>
          </p:cNvPr>
          <p:cNvGraphicFramePr/>
          <p:nvPr/>
        </p:nvGraphicFramePr>
        <p:xfrm>
          <a:off xmlns:a="http://schemas.openxmlformats.org/drawingml/2006/main" x="571500" y="1771650"/>
          <a:ext xmlns:a="http://schemas.openxmlformats.org/drawingml/2006/main" cx="8001000" cy="2847975"/>
        </p:xfrm>
        <a:graphic xmlns:a="http://schemas.openxmlformats.org/drawingml/2006/main">
          <a:graphicData uri="http://schemas.openxmlformats.org/drawingml/2006/table">
            <a:tbl>
              <a:tblPr/>
              <a:tblGrid>
                <a:gridCol w="3257550"/>
                <a:gridCol w="952500"/>
                <a:gridCol w="2257425"/>
                <a:gridCol w="1533525"/>
              </a:tblGrid>
              <a:tr h="474663">
                <a:tc>
                  <a:txBody>
                    <a:bodyPr>
                      <a:noAutofit/>
                    </a:bodyPr>
                    <a:lstStyle/>
                    <a:p>
                      <a:pPr algn="l"/>
                      <a:r>
                        <a:rPr sz="1275" b="1">
                          <a:solidFill>
                            <a:srgbClr val="FFFFFF"/>
                          </a:solidFill>
                          <a:latin typeface="Arial"/>
                          <a:ea typeface="Arial"/>
                          <a:cs typeface="Arial"/>
                        </a:rPr>
                        <a:t>Run</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Version</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Start, Oct 11 (EDT)</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PINN RMSE</a:t>
                      </a:r>
                    </a:p>
                  </a:txBody>
                  <a:tcPr marL="85725" marR="85725" marT="76200" marB="76200" anchor="ctr">
                    <a:solidFill>
                      <a:srgbClr val="002B5E"/>
                    </a:solidFill>
                  </a:tcPr>
                </a:tc>
              </a:tr>
              <a:tr h="474663">
                <a:tc>
                  <a:txBody>
                    <a:bodyPr>
                      <a:noAutofit/>
                    </a:bodyPr>
                    <a:lstStyle/>
                    <a:p>
                      <a:pPr algn="l"/>
                      <a:r>
                        <a:rPr sz="1275" b="1">
                          <a:solidFill>
                            <a:srgbClr val="263645"/>
                          </a:solidFill>
                          <a:latin typeface="Arial"/>
                          <a:ea typeface="Arial"/>
                          <a:cs typeface="Arial"/>
                        </a:rPr>
                        <a:t>Measured grouped baseline</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0.1.0</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Unknown legacy time</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0.122251 nm</a:t>
                      </a:r>
                    </a:p>
                  </a:txBody>
                  <a:tcPr marL="85725" marR="85725" marT="76200" marB="76200" anchor="ctr">
                    <a:solidFill>
                      <a:srgbClr val="FFFFFF"/>
                    </a:solidFill>
                  </a:tcPr>
                </a:tc>
              </a:tr>
              <a:tr h="474663">
                <a:tc>
                  <a:txBody>
                    <a:bodyPr>
                      <a:noAutofit/>
                    </a:bodyPr>
                    <a:lstStyle/>
                    <a:p>
                      <a:pPr algn="l"/>
                      <a:r>
                        <a:rPr sz="1275" b="1">
                          <a:solidFill>
                            <a:srgbClr val="263645"/>
                          </a:solidFill>
                          <a:latin typeface="Arial"/>
                          <a:ea typeface="Arial"/>
                          <a:cs typeface="Arial"/>
                        </a:rPr>
                        <a:t>Measured extrapolation</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0.1.0</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Unknown legacy time</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0.616773 nm</a:t>
                      </a:r>
                    </a:p>
                  </a:txBody>
                  <a:tcPr marL="85725" marR="85725" marT="76200" marB="76200" anchor="ctr">
                    <a:solidFill>
                      <a:srgbClr val="F7F5EF"/>
                    </a:solidFill>
                  </a:tcPr>
                </a:tc>
              </a:tr>
              <a:tr h="474663">
                <a:tc>
                  <a:txBody>
                    <a:bodyPr>
                      <a:noAutofit/>
                    </a:bodyPr>
                    <a:lstStyle/>
                    <a:p>
                      <a:pPr algn="l"/>
                      <a:r>
                        <a:rPr sz="1275" b="1">
                          <a:solidFill>
                            <a:srgbClr val="263645"/>
                          </a:solidFill>
                          <a:latin typeface="Arial"/>
                          <a:ea typeface="Arial"/>
                          <a:cs typeface="Arial"/>
                        </a:rPr>
                        <a:t>Synthetic grouped benchmark</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0.2.0</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11:42:34</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0.055718 nm</a:t>
                      </a:r>
                    </a:p>
                  </a:txBody>
                  <a:tcPr marL="85725" marR="85725" marT="76200" marB="76200" anchor="ctr">
                    <a:solidFill>
                      <a:srgbClr val="FFFFFF"/>
                    </a:solidFill>
                  </a:tcPr>
                </a:tc>
              </a:tr>
              <a:tr h="474663">
                <a:tc>
                  <a:txBody>
                    <a:bodyPr>
                      <a:noAutofit/>
                    </a:bodyPr>
                    <a:lstStyle/>
                    <a:p>
                      <a:pPr algn="l"/>
                      <a:r>
                        <a:rPr sz="1275" b="1">
                          <a:solidFill>
                            <a:srgbClr val="263645"/>
                          </a:solidFill>
                          <a:latin typeface="Arial"/>
                          <a:ea typeface="Arial"/>
                          <a:cs typeface="Arial"/>
                        </a:rPr>
                        <a:t>Measured grouped rerun</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0.2.0</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11:44:41</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0.122251 nm</a:t>
                      </a:r>
                    </a:p>
                  </a:txBody>
                  <a:tcPr marL="85725" marR="85725" marT="76200" marB="76200" anchor="ctr">
                    <a:solidFill>
                      <a:srgbClr val="F7F5EF"/>
                    </a:solidFill>
                  </a:tcPr>
                </a:tc>
              </a:tr>
              <a:tr h="474663">
                <a:tc>
                  <a:txBody>
                    <a:bodyPr>
                      <a:noAutofit/>
                    </a:bodyPr>
                    <a:lstStyle/>
                    <a:p>
                      <a:pPr algn="l"/>
                      <a:r>
                        <a:rPr sz="1275" b="1">
                          <a:solidFill>
                            <a:srgbClr val="263645"/>
                          </a:solidFill>
                          <a:latin typeface="Arial"/>
                          <a:ea typeface="Arial"/>
                          <a:cs typeface="Arial"/>
                        </a:rPr>
                        <a:t>Synthetic concentration ablation</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0.2.0</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11:45:28</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0.056009 nm</a:t>
                      </a:r>
                    </a:p>
                  </a:txBody>
                  <a:tcPr marL="85725" marR="85725" marT="76200" marB="76200" anchor="ctr">
                    <a:solidFill>
                      <a:srgbClr val="FFFFFF"/>
                    </a:solidFill>
                  </a:tcPr>
                </a:tc>
              </a:tr>
            </a:tbl>
          </a:graphicData>
        </a:graphic>
      </p:graphicFrame>
      <p:sp>
        <p:nvSpPr>
          <p:cNvPr id="14" name="content-4">
            <a:extLst xmlns:a="http://schemas.openxmlformats.org/drawingml/2006/main">
              <a:ext uri="{FF2B5EF4-FFF2-40B4-BE49-F238E27FC236}">
                <a16:creationId xmlns:a16="http://schemas.microsoft.com/office/drawing/2014/main" id="{5BFB83D9-6B36-4270-89ED-068B7E13CB15}"/>
              </a:ext>
            </a:extLst>
          </p:cNvPr>
          <p:cNvSpPr>
            <a:spLocks xmlns:a="http://schemas.openxmlformats.org/drawingml/2006/main" noGrp="1"/>
          </p:cNvSpPr>
          <p:nvPr/>
        </p:nvSpPr>
        <p:spPr>
          <a:xfrm xmlns:a="http://schemas.openxmlformats.org/drawingml/2006/main">
            <a:off x="733425" y="4962525"/>
            <a:ext cx="76771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Each new run stores execution times, per-model settings and results, exact source/configuration, data and artifact hashes, split IDs, and saved checkpoints.</a:t>
            </a:r>
          </a:p>
        </p:txBody>
      </p:sp>
      <p:sp>
        <p:nvSpPr>
          <p:cNvPr id="15" name="content-5">
            <a:extLst xmlns:a="http://schemas.openxmlformats.org/drawingml/2006/main">
              <a:ext uri="{FF2B5EF4-FFF2-40B4-BE49-F238E27FC236}">
                <a16:creationId xmlns:a16="http://schemas.microsoft.com/office/drawing/2014/main" id="{80BFE553-B65E-4DD8-8F67-82D135668371}"/>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Ten integrity tests passed. All 111 archived artifacts match their published Git bytes</a:t>
            </a:r>
          </a:p>
        </p:txBody>
      </p:sp>
    </p:spTree>
    <p:extLst>
      <p:ext uri="{BB962C8B-B14F-4D97-AF65-F5344CB8AC3E}">
        <p14:creationId xmlns:p14="http://schemas.microsoft.com/office/powerpoint/2010/main" val="1382801872"/>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22</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What initial testing establishes</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sp>
        <p:nvSpPr>
          <p:cNvPr id="13" name="content-4">
            <a:extLst xmlns:a="http://schemas.openxmlformats.org/drawingml/2006/main">
              <a:ext uri="{FF2B5EF4-FFF2-40B4-BE49-F238E27FC236}">
                <a16:creationId xmlns:a16="http://schemas.microsoft.com/office/drawing/2014/main" id="{EE106784-CA9E-4756-ABF4-66373F2A03F5}"/>
              </a:ext>
            </a:extLst>
          </p:cNvPr>
          <p:cNvSpPr>
            <a:spLocks xmlns:a="http://schemas.openxmlformats.org/drawingml/2006/main" noGrp="1"/>
          </p:cNvSpPr>
          <p:nvPr/>
        </p:nvSpPr>
        <p:spPr>
          <a:xfrm xmlns:a="http://schemas.openxmlformats.org/drawingml/2006/main">
            <a:off x="723900" y="171450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SUPPORTED FINDINGS</a:t>
            </a:r>
          </a:p>
        </p:txBody>
      </p:sp>
      <p:sp>
        <p:nvSpPr>
          <p:cNvPr id="14" name="content-5">
            <a:extLst xmlns:a="http://schemas.openxmlformats.org/drawingml/2006/main">
              <a:ext uri="{FF2B5EF4-FFF2-40B4-BE49-F238E27FC236}">
                <a16:creationId xmlns:a16="http://schemas.microsoft.com/office/drawing/2014/main" id="{F8429CD4-F91A-4A0D-9780-3510F9DBAFFA}"/>
              </a:ext>
            </a:extLst>
          </p:cNvPr>
          <p:cNvSpPr>
            <a:spLocks xmlns:a="http://schemas.openxmlformats.org/drawingml/2006/main" noGrp="1"/>
          </p:cNvSpPr>
          <p:nvPr/>
        </p:nvSpPr>
        <p:spPr>
          <a:xfrm xmlns:a="http://schemas.openxmlformats.org/drawingml/2006/main">
            <a:off x="723900" y="2114550"/>
            <a:ext cx="3714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The bounded architecture guarantees physically valid thickness predictions for valid totals.</a:t>
            </a:r>
          </a:p>
        </p:txBody>
      </p:sp>
      <p:sp>
        <p:nvSpPr>
          <p:cNvPr id="15" name="content-6">
            <a:extLst xmlns:a="http://schemas.openxmlformats.org/drawingml/2006/main">
              <a:ext uri="{FF2B5EF4-FFF2-40B4-BE49-F238E27FC236}">
                <a16:creationId xmlns:a16="http://schemas.microsoft.com/office/drawing/2014/main" id="{772A5EC4-D0EF-4E25-8256-6A0D43907D1A}"/>
              </a:ext>
            </a:extLst>
          </p:cNvPr>
          <p:cNvSpPr>
            <a:spLocks xmlns:a="http://schemas.openxmlformats.org/drawingml/2006/main" noGrp="1"/>
          </p:cNvSpPr>
          <p:nvPr/>
        </p:nvSpPr>
        <p:spPr>
          <a:xfrm xmlns:a="http://schemas.openxmlformats.org/drawingml/2006/main">
            <a:off x="723900" y="2962275"/>
            <a:ext cx="3714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The measured PINN trails tree models on the initial concentration-group holdout.</a:t>
            </a:r>
          </a:p>
        </p:txBody>
      </p:sp>
      <p:sp>
        <p:nvSpPr>
          <p:cNvPr id="16" name="content-7">
            <a:extLst xmlns:a="http://schemas.openxmlformats.org/drawingml/2006/main">
              <a:ext uri="{FF2B5EF4-FFF2-40B4-BE49-F238E27FC236}">
                <a16:creationId xmlns:a16="http://schemas.microsoft.com/office/drawing/2014/main" id="{45A8FE25-3E81-4A40-8A4F-B9D14FA41498}"/>
              </a:ext>
            </a:extLst>
          </p:cNvPr>
          <p:cNvSpPr>
            <a:spLocks xmlns:a="http://schemas.openxmlformats.org/drawingml/2006/main" noGrp="1"/>
          </p:cNvSpPr>
          <p:nvPr/>
        </p:nvSpPr>
        <p:spPr>
          <a:xfrm xmlns:a="http://schemas.openxmlformats.org/drawingml/2006/main">
            <a:off x="723900" y="3810000"/>
            <a:ext cx="3714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The synthetic PINN fits the represented distribution, while random forest remains stronger.</a:t>
            </a:r>
          </a:p>
        </p:txBody>
      </p:sp>
      <p:sp>
        <p:nvSpPr>
          <p:cNvPr id="17" name="content-8">
            <a:extLst xmlns:a="http://schemas.openxmlformats.org/drawingml/2006/main">
              <a:ext uri="{FF2B5EF4-FFF2-40B4-BE49-F238E27FC236}">
                <a16:creationId xmlns:a16="http://schemas.microsoft.com/office/drawing/2014/main" id="{9A1F7099-B5E2-4B7F-B346-0EFF647D3180}"/>
              </a:ext>
            </a:extLst>
          </p:cNvPr>
          <p:cNvSpPr>
            <a:spLocks xmlns:a="http://schemas.openxmlformats.org/drawingml/2006/main" noGrp="1"/>
          </p:cNvSpPr>
          <p:nvPr/>
        </p:nvSpPr>
        <p:spPr>
          <a:xfrm xmlns:a="http://schemas.openxmlformats.org/drawingml/2006/main">
            <a:off x="5048250" y="1714500"/>
            <a:ext cx="3381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LIMITS ON INTERPRETATION</a:t>
            </a:r>
          </a:p>
        </p:txBody>
      </p:sp>
      <p:sp>
        <p:nvSpPr>
          <p:cNvPr id="18" name="content-9">
            <a:extLst xmlns:a="http://schemas.openxmlformats.org/drawingml/2006/main">
              <a:ext uri="{FF2B5EF4-FFF2-40B4-BE49-F238E27FC236}">
                <a16:creationId xmlns:a16="http://schemas.microsoft.com/office/drawing/2014/main" id="{61FB17A4-CBD6-4415-BE01-AED5E884B3E2}"/>
              </a:ext>
            </a:extLst>
          </p:cNvPr>
          <p:cNvSpPr>
            <a:spLocks xmlns:a="http://schemas.openxmlformats.org/drawingml/2006/main" noGrp="1"/>
          </p:cNvSpPr>
          <p:nvPr/>
        </p:nvSpPr>
        <p:spPr>
          <a:xfrm xmlns:a="http://schemas.openxmlformats.org/drawingml/2006/main">
            <a:off x="5048250" y="2114550"/>
            <a:ext cx="34004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Total thickness is a measured input. Recipe-only prediction needs a separate model design.</a:t>
            </a:r>
          </a:p>
        </p:txBody>
      </p:sp>
      <p:sp>
        <p:nvSpPr>
          <p:cNvPr id="19" name="content-10">
            <a:extLst xmlns:a="http://schemas.openxmlformats.org/drawingml/2006/main">
              <a:ext uri="{FF2B5EF4-FFF2-40B4-BE49-F238E27FC236}">
                <a16:creationId xmlns:a16="http://schemas.microsoft.com/office/drawing/2014/main" id="{CDD38C25-C909-4622-B7CC-68180F1A927F}"/>
              </a:ext>
            </a:extLst>
          </p:cNvPr>
          <p:cNvSpPr>
            <a:spLocks xmlns:a="http://schemas.openxmlformats.org/drawingml/2006/main" noGrp="1"/>
          </p:cNvSpPr>
          <p:nvPr/>
        </p:nvSpPr>
        <p:spPr>
          <a:xfrm xmlns:a="http://schemas.openxmlformats.org/drawingml/2006/main">
            <a:off x="5048250" y="2962275"/>
            <a:ext cx="34004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Synthetic parent provenance and independent experimental batches remain unresolved.</a:t>
            </a:r>
          </a:p>
        </p:txBody>
      </p:sp>
      <p:sp>
        <p:nvSpPr>
          <p:cNvPr id="20" name="content-11">
            <a:extLst xmlns:a="http://schemas.openxmlformats.org/drawingml/2006/main">
              <a:ext uri="{FF2B5EF4-FFF2-40B4-BE49-F238E27FC236}">
                <a16:creationId xmlns:a16="http://schemas.microsoft.com/office/drawing/2014/main" id="{CAF569D8-5B78-467B-A3FF-B0EB761CD01D}"/>
              </a:ext>
            </a:extLst>
          </p:cNvPr>
          <p:cNvSpPr>
            <a:spLocks xmlns:a="http://schemas.openxmlformats.org/drawingml/2006/main" noGrp="1"/>
          </p:cNvSpPr>
          <p:nvPr/>
        </p:nvSpPr>
        <p:spPr>
          <a:xfrm xmlns:a="http://schemas.openxmlformats.org/drawingml/2006/main">
            <a:off x="5048250" y="3810000"/>
            <a:ext cx="34004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No calibrated uncertainty, governing PDE, or identified adsorption mechanism is established.</a:t>
            </a:r>
          </a:p>
        </p:txBody>
      </p:sp>
      <p:sp>
        <p:nvSpPr>
          <p:cNvPr id="21" name="content-12">
            <a:extLst xmlns:a="http://schemas.openxmlformats.org/drawingml/2006/main">
              <a:ext uri="{FF2B5EF4-FFF2-40B4-BE49-F238E27FC236}">
                <a16:creationId xmlns:a16="http://schemas.microsoft.com/office/drawing/2014/main" id="{15EFE338-8C9C-4CB4-8701-ED697CF1934D}"/>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Physics plausibility and predictive accuracy require separate evidence</a:t>
            </a:r>
          </a:p>
        </p:txBody>
      </p:sp>
    </p:spTree>
    <p:extLst>
      <p:ext uri="{BB962C8B-B14F-4D97-AF65-F5344CB8AC3E}">
        <p14:creationId xmlns:p14="http://schemas.microsoft.com/office/powerpoint/2010/main" val="1382801872"/>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23</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Next experiments and decision criteria</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graphicFrame>
        <p:nvGraphicFramePr>
          <p:cNvPr id="13" name="">
            <a:extLst xmlns:a="http://schemas.openxmlformats.org/drawingml/2006/main">
              <a:ext uri="{FF2B5EF4-FFF2-40B4-BE49-F238E27FC236}">
                <a16:creationId xmlns:a16="http://schemas.microsoft.com/office/drawing/2014/main" id="{FFC3868D-4A81-49B4-A331-F8F68B38E4BE}"/>
              </a:ext>
            </a:extLst>
          </p:cNvPr>
          <p:cNvGraphicFramePr/>
          <p:nvPr/>
        </p:nvGraphicFramePr>
        <p:xfrm>
          <a:off xmlns:a="http://schemas.openxmlformats.org/drawingml/2006/main" x="571500" y="1733550"/>
          <a:ext xmlns:a="http://schemas.openxmlformats.org/drawingml/2006/main" cx="8001000" cy="3390900"/>
        </p:xfrm>
        <a:graphic xmlns:a="http://schemas.openxmlformats.org/drawingml/2006/main">
          <a:graphicData uri="http://schemas.openxmlformats.org/drawingml/2006/table">
            <a:tbl>
              <a:tblPr/>
              <a:tblGrid>
                <a:gridCol w="1666875"/>
                <a:gridCol w="4105275"/>
                <a:gridCol w="2228850"/>
              </a:tblGrid>
              <a:tr h="565150">
                <a:tc>
                  <a:txBody>
                    <a:bodyPr>
                      <a:noAutofit/>
                    </a:bodyPr>
                    <a:lstStyle/>
                    <a:p>
                      <a:pPr algn="l"/>
                      <a:r>
                        <a:rPr sz="1275" b="1">
                          <a:solidFill>
                            <a:srgbClr val="FFFFFF"/>
                          </a:solidFill>
                          <a:latin typeface="Arial"/>
                          <a:ea typeface="Arial"/>
                          <a:cs typeface="Arial"/>
                        </a:rPr>
                        <a:t>Workstream</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Next action</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Evidence to proceed</a:t>
                      </a:r>
                    </a:p>
                  </a:txBody>
                  <a:tcPr marL="85725" marR="85725" marT="76200" marB="76200" anchor="ctr">
                    <a:solidFill>
                      <a:srgbClr val="002B5E"/>
                    </a:solidFill>
                  </a:tcPr>
                </a:tc>
              </a:tr>
              <a:tr h="565150">
                <a:tc>
                  <a:txBody>
                    <a:bodyPr>
                      <a:noAutofit/>
                    </a:bodyPr>
                    <a:lstStyle/>
                    <a:p>
                      <a:pPr algn="l"/>
                      <a:r>
                        <a:rPr sz="1275" b="1">
                          <a:solidFill>
                            <a:srgbClr val="263645"/>
                          </a:solidFill>
                          <a:latin typeface="Arial"/>
                          <a:ea typeface="Arial"/>
                          <a:cs typeface="Arial"/>
                        </a:rPr>
                        <a:t>Data preparation</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Aggregate the available datasets</a:t>
                      </a:r>
                    </a:p>
                    <a:p>
                      <a:pPr algn="ctr"/>
                      <a:r>
                        <a:rPr sz="1275" b="0">
                          <a:solidFill>
                            <a:srgbClr val="263645"/>
                          </a:solidFill>
                          <a:latin typeface="Arial"/>
                          <a:ea typeface="Arial"/>
                          <a:cs typeface="Arial"/>
                        </a:rPr>
                        <a:t>Align sample IDs, units and feature fields</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Prepared tables with</a:t>
                      </a:r>
                    </a:p>
                    <a:p>
                      <a:pPr algn="ctr"/>
                      <a:r>
                        <a:rPr sz="1275" b="0">
                          <a:solidFill>
                            <a:srgbClr val="263645"/>
                          </a:solidFill>
                          <a:latin typeface="Arial"/>
                          <a:ea typeface="Arial"/>
                          <a:cs typeface="Arial"/>
                        </a:rPr>
                        <a:t>traceable sample matches</a:t>
                      </a:r>
                    </a:p>
                  </a:txBody>
                  <a:tcPr marL="85725" marR="85725" marT="76200" marB="76200" anchor="ctr">
                    <a:solidFill>
                      <a:srgbClr val="FFFFFF"/>
                    </a:solidFill>
                  </a:tcPr>
                </a:tc>
              </a:tr>
              <a:tr h="565150">
                <a:tc>
                  <a:txBody>
                    <a:bodyPr>
                      <a:noAutofit/>
                    </a:bodyPr>
                    <a:lstStyle/>
                    <a:p>
                      <a:pPr algn="l"/>
                      <a:r>
                        <a:rPr sz="1275" b="1">
                          <a:solidFill>
                            <a:srgbClr val="263645"/>
                          </a:solidFill>
                          <a:latin typeface="Arial"/>
                          <a:ea typeface="Arial"/>
                          <a:cs typeface="Arial"/>
                        </a:rPr>
                        <a:t>Remaining losses</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Preprocess available physics values</a:t>
                      </a:r>
                    </a:p>
                    <a:p>
                      <a:pPr algn="ctr"/>
                      <a:r>
                        <a:rPr sz="1275" b="0">
                          <a:solidFill>
                            <a:srgbClr val="263645"/>
                          </a:solidFill>
                          <a:latin typeface="Arial"/>
                          <a:ea typeface="Arial"/>
                          <a:cs typeface="Arial"/>
                        </a:rPr>
                        <a:t>Check regime and dry conversion, then enable</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Validated inputs and</a:t>
                      </a:r>
                    </a:p>
                    <a:p>
                      <a:pPr algn="ctr"/>
                      <a:r>
                        <a:rPr sz="1275" b="0">
                          <a:solidFill>
                            <a:srgbClr val="263645"/>
                          </a:solidFill>
                          <a:latin typeface="Arial"/>
                          <a:ea typeface="Arial"/>
                          <a:cs typeface="Arial"/>
                        </a:rPr>
                        <a:t>loss-by-loss ablations</a:t>
                      </a:r>
                    </a:p>
                  </a:txBody>
                  <a:tcPr marL="85725" marR="85725" marT="76200" marB="76200" anchor="ctr">
                    <a:solidFill>
                      <a:srgbClr val="F7F5EF"/>
                    </a:solidFill>
                  </a:tcPr>
                </a:tc>
              </a:tr>
              <a:tr h="565150">
                <a:tc>
                  <a:txBody>
                    <a:bodyPr>
                      <a:noAutofit/>
                    </a:bodyPr>
                    <a:lstStyle/>
                    <a:p>
                      <a:pPr algn="l"/>
                      <a:r>
                        <a:rPr sz="1275" b="1">
                          <a:solidFill>
                            <a:srgbClr val="263645"/>
                          </a:solidFill>
                          <a:latin typeface="Arial"/>
                          <a:ea typeface="Arial"/>
                          <a:cs typeface="Arial"/>
                        </a:rPr>
                        <a:t>Validation</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Repeat seeds and grouped experimental CV</a:t>
                      </a:r>
                    </a:p>
                    <a:p>
                      <a:pPr algn="ctr"/>
                      <a:r>
                        <a:rPr sz="1275" b="0">
                          <a:solidFill>
                            <a:srgbClr val="263645"/>
                          </a:solidFill>
                          <a:latin typeface="Arial"/>
                          <a:ea typeface="Arial"/>
                          <a:cs typeface="Arial"/>
                        </a:rPr>
                        <a:t>Reserve new independent test experiments</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Stable error on an</a:t>
                      </a:r>
                    </a:p>
                    <a:p>
                      <a:pPr algn="ctr"/>
                      <a:r>
                        <a:rPr sz="1275" b="0">
                          <a:solidFill>
                            <a:srgbClr val="263645"/>
                          </a:solidFill>
                          <a:latin typeface="Arial"/>
                          <a:ea typeface="Arial"/>
                          <a:cs typeface="Arial"/>
                        </a:rPr>
                        <a:t>untouched measured test</a:t>
                      </a:r>
                    </a:p>
                  </a:txBody>
                  <a:tcPr marL="85725" marR="85725" marT="76200" marB="76200" anchor="ctr">
                    <a:solidFill>
                      <a:srgbClr val="FFFFFF"/>
                    </a:solidFill>
                  </a:tcPr>
                </a:tc>
              </a:tr>
              <a:tr h="565150">
                <a:tc>
                  <a:txBody>
                    <a:bodyPr>
                      <a:noAutofit/>
                    </a:bodyPr>
                    <a:lstStyle/>
                    <a:p>
                      <a:pPr algn="l"/>
                      <a:r>
                        <a:rPr sz="1275" b="1">
                          <a:solidFill>
                            <a:srgbClr val="263645"/>
                          </a:solidFill>
                          <a:latin typeface="Arial"/>
                          <a:ea typeface="Arial"/>
                          <a:cs typeface="Arial"/>
                        </a:rPr>
                        <a:t>Architecture and losses</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Test compact adsorption or saturation priors</a:t>
                      </a:r>
                    </a:p>
                    <a:p>
                      <a:pPr algn="ctr"/>
                      <a:r>
                        <a:rPr sz="1275" b="0">
                          <a:solidFill>
                            <a:srgbClr val="263645"/>
                          </a:solidFill>
                          <a:latin typeface="Arial"/>
                          <a:ea typeface="Arial"/>
                          <a:cs typeface="Arial"/>
                        </a:rPr>
                        <a:t>Tune only on training/validation</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Gain over bounded NN</a:t>
                      </a:r>
                    </a:p>
                    <a:p>
                      <a:pPr algn="ctr"/>
                      <a:r>
                        <a:rPr sz="1275" b="0">
                          <a:solidFill>
                            <a:srgbClr val="263645"/>
                          </a:solidFill>
                          <a:latin typeface="Arial"/>
                          <a:ea typeface="Arial"/>
                          <a:cs typeface="Arial"/>
                        </a:rPr>
                        <a:t>with a frozen test</a:t>
                      </a:r>
                    </a:p>
                  </a:txBody>
                  <a:tcPr marL="85725" marR="85725" marT="76200" marB="76200" anchor="ctr">
                    <a:solidFill>
                      <a:srgbClr val="F7F5EF"/>
                    </a:solidFill>
                  </a:tcPr>
                </a:tc>
              </a:tr>
              <a:tr h="565150">
                <a:tc>
                  <a:txBody>
                    <a:bodyPr>
                      <a:noAutofit/>
                    </a:bodyPr>
                    <a:lstStyle/>
                    <a:p>
                      <a:pPr algn="l"/>
                      <a:r>
                        <a:rPr sz="1275" b="1">
                          <a:solidFill>
                            <a:srgbClr val="263645"/>
                          </a:solidFill>
                          <a:latin typeface="Arial"/>
                          <a:ea typeface="Arial"/>
                          <a:cs typeface="Arial"/>
                        </a:rPr>
                        <a:t>Data efficiency</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Augment after splitting measured parents</a:t>
                      </a:r>
                    </a:p>
                    <a:p>
                      <a:pPr algn="ctr"/>
                      <a:r>
                        <a:rPr sz="1275" b="0">
                          <a:solidFill>
                            <a:srgbClr val="263645"/>
                          </a:solidFill>
                          <a:latin typeface="Arial"/>
                          <a:ea typeface="Arial"/>
                          <a:cs typeface="Arial"/>
                        </a:rPr>
                        <a:t>Use fixed measured-test learning curves</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Gain on measured tests</a:t>
                      </a:r>
                    </a:p>
                    <a:p>
                      <a:pPr algn="ctr"/>
                      <a:r>
                        <a:rPr sz="1275" b="0">
                          <a:solidFill>
                            <a:srgbClr val="263645"/>
                          </a:solidFill>
                          <a:latin typeface="Arial"/>
                          <a:ea typeface="Arial"/>
                          <a:cs typeface="Arial"/>
                        </a:rPr>
                        <a:t>with known training parents</a:t>
                      </a:r>
                    </a:p>
                  </a:txBody>
                  <a:tcPr marL="85725" marR="85725" marT="76200" marB="76200" anchor="ctr">
                    <a:solidFill>
                      <a:srgbClr val="FFFFFF"/>
                    </a:solidFill>
                  </a:tcPr>
                </a:tc>
              </a:tr>
            </a:tbl>
          </a:graphicData>
        </a:graphic>
      </p:graphicFrame>
      <p:sp>
        <p:nvSpPr>
          <p:cNvPr id="14" name="content-4">
            <a:extLst xmlns:a="http://schemas.openxmlformats.org/drawingml/2006/main">
              <a:ext uri="{FF2B5EF4-FFF2-40B4-BE49-F238E27FC236}">
                <a16:creationId xmlns:a16="http://schemas.microsoft.com/office/drawing/2014/main" id="{646EC12D-4ED3-43D8-A732-A5B4D02B7185}"/>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Immediate priority: aggregate and preprocess the available data for the remaining losses</a:t>
            </a:r>
          </a:p>
        </p:txBody>
      </p:sp>
    </p:spTree>
    <p:extLst>
      <p:ext uri="{BB962C8B-B14F-4D97-AF65-F5344CB8AC3E}">
        <p14:creationId xmlns:p14="http://schemas.microsoft.com/office/powerpoint/2010/main" val="1382801872"/>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24</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References and archived evidence</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sp>
        <p:nvSpPr>
          <p:cNvPr id="13" name="content-4">
            <a:extLst xmlns:a="http://schemas.openxmlformats.org/drawingml/2006/main">
              <a:ext uri="{FF2B5EF4-FFF2-40B4-BE49-F238E27FC236}">
                <a16:creationId xmlns:a16="http://schemas.microsoft.com/office/drawing/2014/main" id="{FC736084-3FEB-42ED-B998-FCF79EB285AB}"/>
              </a:ext>
            </a:extLst>
          </p:cNvPr>
          <p:cNvSpPr>
            <a:spLocks xmlns:a="http://schemas.openxmlformats.org/drawingml/2006/main" noGrp="1"/>
          </p:cNvSpPr>
          <p:nvPr/>
        </p:nvSpPr>
        <p:spPr>
          <a:xfrm xmlns:a="http://schemas.openxmlformats.org/drawingml/2006/main">
            <a:off x="714375" y="1695450"/>
            <a:ext cx="7667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PHYSICS-INFORMED ARCHITECTURES</a:t>
            </a:r>
          </a:p>
        </p:txBody>
      </p:sp>
      <p:sp>
        <p:nvSpPr>
          <p:cNvPr id="14" name="content-5">
            <a:extLst xmlns:a="http://schemas.openxmlformats.org/drawingml/2006/main">
              <a:ext uri="{FF2B5EF4-FFF2-40B4-BE49-F238E27FC236}">
                <a16:creationId xmlns:a16="http://schemas.microsoft.com/office/drawing/2014/main" id="{A0A333B8-9856-493B-9DAA-8D797024646F}"/>
              </a:ext>
            </a:extLst>
          </p:cNvPr>
          <p:cNvSpPr>
            <a:spLocks xmlns:a="http://schemas.openxmlformats.org/drawingml/2006/main" noGrp="1"/>
          </p:cNvSpPr>
          <p:nvPr/>
        </p:nvSpPr>
        <p:spPr>
          <a:xfrm xmlns:a="http://schemas.openxmlformats.org/drawingml/2006/main">
            <a:off x="714375" y="2066925"/>
            <a:ext cx="38957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263645"/>
                </a:solidFill>
                <a:latin typeface="Arial"/>
                <a:ea typeface="Arial"/>
                <a:cs typeface="Arial"/>
              </a:defRPr>
            </a:defPPr>
          </a:lstStyle>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hlinkClick xmlns:r="http://schemas.openxmlformats.org/officeDocument/2006/relationships" r:id="R31ffaffc2535476f"/>
              </a:rPr>
              <a:t>Raissi, Perdikaris &amp; Karniadakis (2019)</a:t>
            </a:r>
          </a:p>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rPr>
              <a:t>Physics-informed neural networks, JCP</a:t>
            </a:r>
          </a:p>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rPr>
              <a:t>DOI: 10.1016/j.jcp.2018.10.045</a:t>
            </a:r>
          </a:p>
        </p:txBody>
      </p:sp>
      <p:sp>
        <p:nvSpPr>
          <p:cNvPr id="15" name="content-6">
            <a:extLst xmlns:a="http://schemas.openxmlformats.org/drawingml/2006/main">
              <a:ext uri="{FF2B5EF4-FFF2-40B4-BE49-F238E27FC236}">
                <a16:creationId xmlns:a16="http://schemas.microsoft.com/office/drawing/2014/main" id="{0414AF52-2D0A-47EB-9C78-89567B4FF205}"/>
              </a:ext>
            </a:extLst>
          </p:cNvPr>
          <p:cNvSpPr>
            <a:spLocks xmlns:a="http://schemas.openxmlformats.org/drawingml/2006/main" noGrp="1"/>
          </p:cNvSpPr>
          <p:nvPr/>
        </p:nvSpPr>
        <p:spPr>
          <a:xfrm xmlns:a="http://schemas.openxmlformats.org/drawingml/2006/main">
            <a:off x="714375" y="2847975"/>
            <a:ext cx="38957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263645"/>
                </a:solidFill>
                <a:latin typeface="Arial"/>
                <a:ea typeface="Arial"/>
                <a:cs typeface="Arial"/>
              </a:defRPr>
            </a:defPPr>
          </a:lstStyle>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hlinkClick xmlns:r="http://schemas.openxmlformats.org/officeDocument/2006/relationships" r:id="R56afa9715bcf4590"/>
              </a:rPr>
              <a:t>Lu et al. (2021)</a:t>
            </a:r>
          </a:p>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rPr>
              <a:t>Hard constraints for inverse design</a:t>
            </a:r>
          </a:p>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rPr>
              <a:t>arXiv: 2102.04626</a:t>
            </a:r>
          </a:p>
        </p:txBody>
      </p:sp>
      <p:sp>
        <p:nvSpPr>
          <p:cNvPr id="16" name="content-7">
            <a:extLst xmlns:a="http://schemas.openxmlformats.org/drawingml/2006/main">
              <a:ext uri="{FF2B5EF4-FFF2-40B4-BE49-F238E27FC236}">
                <a16:creationId xmlns:a16="http://schemas.microsoft.com/office/drawing/2014/main" id="{2249D103-169E-4E49-AA23-D4DAF12B031B}"/>
              </a:ext>
            </a:extLst>
          </p:cNvPr>
          <p:cNvSpPr>
            <a:spLocks xmlns:a="http://schemas.openxmlformats.org/drawingml/2006/main" noGrp="1"/>
          </p:cNvSpPr>
          <p:nvPr/>
        </p:nvSpPr>
        <p:spPr>
          <a:xfrm xmlns:a="http://schemas.openxmlformats.org/drawingml/2006/main">
            <a:off x="714375" y="3629025"/>
            <a:ext cx="38957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263645"/>
                </a:solidFill>
                <a:latin typeface="Arial"/>
                <a:ea typeface="Arial"/>
                <a:cs typeface="Arial"/>
              </a:defRPr>
            </a:defPPr>
          </a:lstStyle>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hlinkClick xmlns:r="http://schemas.openxmlformats.org/officeDocument/2006/relationships" r:id="Ra7a806640b904e9f"/>
              </a:rPr>
              <a:t>Wang, Teng &amp; Perdikaris (2021)</a:t>
            </a:r>
          </a:p>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rPr>
              <a:t>Gradient flow pathologies in PINNs</a:t>
            </a:r>
          </a:p>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rPr>
              <a:t>DOI: 10.1137/20M1318043</a:t>
            </a:r>
          </a:p>
        </p:txBody>
      </p:sp>
      <p:sp>
        <p:nvSpPr>
          <p:cNvPr id="17" name="content-8">
            <a:extLst xmlns:a="http://schemas.openxmlformats.org/drawingml/2006/main">
              <a:ext uri="{FF2B5EF4-FFF2-40B4-BE49-F238E27FC236}">
                <a16:creationId xmlns:a16="http://schemas.microsoft.com/office/drawing/2014/main" id="{9775158D-3DEE-43BE-B773-688D3774F0D8}"/>
              </a:ext>
            </a:extLst>
          </p:cNvPr>
          <p:cNvSpPr>
            <a:spLocks xmlns:a="http://schemas.openxmlformats.org/drawingml/2006/main" noGrp="1"/>
          </p:cNvSpPr>
          <p:nvPr/>
        </p:nvSpPr>
        <p:spPr>
          <a:xfrm xmlns:a="http://schemas.openxmlformats.org/drawingml/2006/main">
            <a:off x="714375" y="4410075"/>
            <a:ext cx="38957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263645"/>
                </a:solidFill>
                <a:latin typeface="Arial"/>
                <a:ea typeface="Arial"/>
                <a:cs typeface="Arial"/>
              </a:defRPr>
            </a:defPPr>
          </a:lstStyle>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hlinkClick xmlns:r="http://schemas.openxmlformats.org/officeDocument/2006/relationships" r:id="R9f241809999e4fbe"/>
              </a:rPr>
              <a:t>Wang, Wang &amp; Perdikaris (2021)</a:t>
            </a:r>
          </a:p>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rPr>
              <a:t>Fourier-feature eigenvector bias</a:t>
            </a:r>
          </a:p>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rPr>
              <a:t>DOI: 10.1016/j.cma.2021.113938</a:t>
            </a:r>
          </a:p>
        </p:txBody>
      </p:sp>
      <p:sp>
        <p:nvSpPr>
          <p:cNvPr id="18" name="content-9">
            <a:extLst xmlns:a="http://schemas.openxmlformats.org/drawingml/2006/main">
              <a:ext uri="{FF2B5EF4-FFF2-40B4-BE49-F238E27FC236}">
                <a16:creationId xmlns:a16="http://schemas.microsoft.com/office/drawing/2014/main" id="{B7286FF3-EA98-44AD-B195-907102365921}"/>
              </a:ext>
            </a:extLst>
          </p:cNvPr>
          <p:cNvSpPr>
            <a:spLocks xmlns:a="http://schemas.openxmlformats.org/drawingml/2006/main" noGrp="1"/>
          </p:cNvSpPr>
          <p:nvPr/>
        </p:nvSpPr>
        <p:spPr>
          <a:xfrm xmlns:a="http://schemas.openxmlformats.org/drawingml/2006/main">
            <a:off x="5010150" y="2066925"/>
            <a:ext cx="35147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263645"/>
                </a:solidFill>
                <a:latin typeface="Arial"/>
                <a:ea typeface="Arial"/>
                <a:cs typeface="Arial"/>
              </a:defRPr>
            </a:defPPr>
          </a:lstStyle>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hlinkClick xmlns:r="http://schemas.openxmlformats.org/officeDocument/2006/relationships" r:id="R694978e077fa44b2"/>
              </a:rPr>
              <a:t>Yang, Meng &amp; Karniadakis (2021)</a:t>
            </a:r>
          </a:p>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rPr>
              <a:t>B-PINNs for noisy forward/inverse problems</a:t>
            </a:r>
          </a:p>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rPr>
              <a:t>DOI: 10.1016/j.jcp.2020.109913</a:t>
            </a:r>
          </a:p>
        </p:txBody>
      </p:sp>
      <p:sp>
        <p:nvSpPr>
          <p:cNvPr id="19" name="content-10">
            <a:extLst xmlns:a="http://schemas.openxmlformats.org/drawingml/2006/main">
              <a:ext uri="{FF2B5EF4-FFF2-40B4-BE49-F238E27FC236}">
                <a16:creationId xmlns:a16="http://schemas.microsoft.com/office/drawing/2014/main" id="{B6B8B89F-AD64-4961-9C92-D920E80E3FE0}"/>
              </a:ext>
            </a:extLst>
          </p:cNvPr>
          <p:cNvSpPr>
            <a:spLocks xmlns:a="http://schemas.openxmlformats.org/drawingml/2006/main" noGrp="1"/>
          </p:cNvSpPr>
          <p:nvPr/>
        </p:nvSpPr>
        <p:spPr>
          <a:xfrm xmlns:a="http://schemas.openxmlformats.org/drawingml/2006/main">
            <a:off x="5010150" y="2847975"/>
            <a:ext cx="35147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263645"/>
                </a:solidFill>
                <a:latin typeface="Arial"/>
                <a:ea typeface="Arial"/>
                <a:cs typeface="Arial"/>
              </a:defRPr>
            </a:defPPr>
          </a:lstStyle>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hlinkClick xmlns:r="http://schemas.openxmlformats.org/officeDocument/2006/relationships" r:id="Rc10ccc02983a4db3"/>
              </a:rPr>
              <a:t>Lu et al. (2021)</a:t>
            </a:r>
          </a:p>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rPr>
              <a:t>DeepONet, Nature Machine Intelligence</a:t>
            </a:r>
          </a:p>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rPr>
              <a:t>DOI: 10.1038/s42256-021-00302-5</a:t>
            </a:r>
          </a:p>
        </p:txBody>
      </p:sp>
      <p:sp>
        <p:nvSpPr>
          <p:cNvPr id="20" name="content-11">
            <a:extLst xmlns:a="http://schemas.openxmlformats.org/drawingml/2006/main">
              <a:ext uri="{FF2B5EF4-FFF2-40B4-BE49-F238E27FC236}">
                <a16:creationId xmlns:a16="http://schemas.microsoft.com/office/drawing/2014/main" id="{1BE936FC-91D1-4EF2-A154-6EE89539DCDA}"/>
              </a:ext>
            </a:extLst>
          </p:cNvPr>
          <p:cNvSpPr>
            <a:spLocks xmlns:a="http://schemas.openxmlformats.org/drawingml/2006/main" noGrp="1"/>
          </p:cNvSpPr>
          <p:nvPr/>
        </p:nvSpPr>
        <p:spPr>
          <a:xfrm xmlns:a="http://schemas.openxmlformats.org/drawingml/2006/main">
            <a:off x="5010150" y="3629025"/>
            <a:ext cx="35147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263645"/>
                </a:solidFill>
                <a:latin typeface="Arial"/>
                <a:ea typeface="Arial"/>
                <a:cs typeface="Arial"/>
              </a:defRPr>
            </a:defPPr>
          </a:lstStyle>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hlinkClick xmlns:r="http://schemas.openxmlformats.org/officeDocument/2006/relationships" r:id="R3c6bb70c61074c3f"/>
              </a:rPr>
              <a:t>Li et al. (ICLR 2021)</a:t>
            </a:r>
          </a:p>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rPr>
              <a:t>Fourier Neural Operator</a:t>
            </a:r>
          </a:p>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rPr>
              <a:t>arXiv: 2010.08895</a:t>
            </a:r>
          </a:p>
        </p:txBody>
      </p:sp>
      <p:sp>
        <p:nvSpPr>
          <p:cNvPr id="21" name="content-12">
            <a:extLst xmlns:a="http://schemas.openxmlformats.org/drawingml/2006/main">
              <a:ext uri="{FF2B5EF4-FFF2-40B4-BE49-F238E27FC236}">
                <a16:creationId xmlns:a16="http://schemas.microsoft.com/office/drawing/2014/main" id="{B8641A0B-27E7-45FC-867B-5E1A13102F74}"/>
              </a:ext>
            </a:extLst>
          </p:cNvPr>
          <p:cNvSpPr>
            <a:spLocks xmlns:a="http://schemas.openxmlformats.org/drawingml/2006/main" noGrp="1"/>
          </p:cNvSpPr>
          <p:nvPr/>
        </p:nvSpPr>
        <p:spPr>
          <a:xfrm xmlns:a="http://schemas.openxmlformats.org/drawingml/2006/main">
            <a:off x="5010150" y="4514850"/>
            <a:ext cx="35147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CODE AND RESULTS</a:t>
            </a:r>
          </a:p>
        </p:txBody>
      </p:sp>
      <p:sp>
        <p:nvSpPr>
          <p:cNvPr id="22" name="content-13">
            <a:extLst xmlns:a="http://schemas.openxmlformats.org/drawingml/2006/main">
              <a:ext uri="{FF2B5EF4-FFF2-40B4-BE49-F238E27FC236}">
                <a16:creationId xmlns:a16="http://schemas.microsoft.com/office/drawing/2014/main" id="{A1E37ADA-2E0D-43BD-8EB1-003BF1C7BCBD}"/>
              </a:ext>
            </a:extLst>
          </p:cNvPr>
          <p:cNvSpPr>
            <a:spLocks xmlns:a="http://schemas.openxmlformats.org/drawingml/2006/main" noGrp="1"/>
          </p:cNvSpPr>
          <p:nvPr/>
        </p:nvSpPr>
        <p:spPr>
          <a:xfrm xmlns:a="http://schemas.openxmlformats.org/drawingml/2006/main">
            <a:off x="5010150" y="4838700"/>
            <a:ext cx="35147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002B5E"/>
                </a:solidFill>
                <a:latin typeface="Arial"/>
                <a:ea typeface="Arial"/>
                <a:cs typeface="Arial"/>
              </a:defRPr>
            </a:defPPr>
          </a:lstStyle>
          <a:p xmlns:a="http://schemas.openxmlformats.org/drawingml/2006/main">
            <a:pPr algn="l">
              <a:defRPr sz="1200" b="0">
                <a:solidFill>
                  <a:srgbClr val="002B5E"/>
                </a:solidFill>
                <a:latin typeface="Arial"/>
                <a:ea typeface="Arial"/>
                <a:cs typeface="Arial"/>
              </a:defRPr>
            </a:pPr>
            <a:r>
              <a:rPr sz="1200" b="0">
                <a:solidFill>
                  <a:srgbClr val="002B5E"/>
                </a:solidFill>
                <a:latin typeface="Arial"/>
                <a:ea typeface="Arial"/>
                <a:cs typeface="Arial"/>
              </a:rPr>
              <a:t>GitHub: aadams2006 / Pitt-ML-MSE-Project</a:t>
            </a:r>
          </a:p>
          <a:p xmlns:a="http://schemas.openxmlformats.org/drawingml/2006/main">
            <a:pPr algn="l">
              <a:defRPr sz="1200" b="0">
                <a:solidFill>
                  <a:srgbClr val="002B5E"/>
                </a:solidFill>
                <a:latin typeface="Arial"/>
                <a:ea typeface="Arial"/>
                <a:cs typeface="Arial"/>
              </a:defRPr>
            </a:pPr>
            <a:r>
              <a:rPr sz="1200" b="0">
                <a:solidFill>
                  <a:srgbClr val="002B5E"/>
                </a:solidFill>
                <a:latin typeface="Arial"/>
                <a:ea typeface="Arial"/>
                <a:cs typeface="Arial"/>
              </a:rPr>
              <a:t>PINN folder and experiment register</a:t>
            </a:r>
          </a:p>
          <a:p xmlns:a="http://schemas.openxmlformats.org/drawingml/2006/main">
            <a:pPr algn="l">
              <a:defRPr sz="1200" b="0">
                <a:solidFill>
                  <a:srgbClr val="002B5E"/>
                </a:solidFill>
                <a:latin typeface="Arial"/>
                <a:ea typeface="Arial"/>
                <a:cs typeface="Arial"/>
              </a:defRPr>
            </a:pPr>
            <a:r>
              <a:rPr sz="1200" b="0">
                <a:solidFill>
                  <a:srgbClr val="002B5E"/>
                </a:solidFill>
                <a:latin typeface="Arial"/>
                <a:ea typeface="Arial"/>
                <a:cs typeface="Arial"/>
                <a:hlinkClick xmlns:r="http://schemas.openxmlformats.org/officeDocument/2006/relationships" r:id="R8f9e5422d7484156"/>
              </a:rPr>
              <a:t>Draft pull request #6</a:t>
            </a:r>
          </a:p>
        </p:txBody>
      </p:sp>
      <p:sp>
        <p:nvSpPr>
          <p:cNvPr id="23" name="content-14">
            <a:extLst xmlns:a="http://schemas.openxmlformats.org/drawingml/2006/main">
              <a:ext uri="{FF2B5EF4-FFF2-40B4-BE49-F238E27FC236}">
                <a16:creationId xmlns:a16="http://schemas.microsoft.com/office/drawing/2014/main" id="{E14603E0-7AE0-44B9-B3D8-F0273DC8920B}"/>
              </a:ext>
            </a:extLst>
          </p:cNvPr>
          <p:cNvSpPr>
            <a:spLocks xmlns:a="http://schemas.openxmlformats.org/drawingml/2006/main" noGrp="1"/>
          </p:cNvSpPr>
          <p:nvPr/>
        </p:nvSpPr>
        <p:spPr>
          <a:xfrm xmlns:a="http://schemas.openxmlformats.org/drawingml/2006/main">
            <a:off x="714375" y="5895975"/>
            <a:ext cx="77057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275" b="0">
                <a:solidFill>
                  <a:srgbClr val="65717B"/>
                </a:solidFill>
                <a:latin typeface="Arial"/>
                <a:ea typeface="Arial"/>
                <a:cs typeface="Arial"/>
              </a:defRPr>
            </a:defPPr>
          </a:lstStyle>
          <a:p xmlns:a="http://schemas.openxmlformats.org/drawingml/2006/main">
            <a:pPr algn="ctr">
              <a:defRPr sz="1275" b="0">
                <a:solidFill>
                  <a:srgbClr val="65717B"/>
                </a:solidFill>
                <a:latin typeface="Arial"/>
                <a:ea typeface="Arial"/>
                <a:cs typeface="Arial"/>
              </a:defRPr>
            </a:pPr>
            <a:r>
              <a:rPr sz="1275" b="0">
                <a:solidFill>
                  <a:srgbClr val="65717B"/>
                </a:solidFill>
                <a:latin typeface="Arial"/>
                <a:ea typeface="Arial"/>
                <a:cs typeface="Arial"/>
              </a:rPr>
              <a:t>Results through October 11, 2026. Full sources and numerical details are in speaker notes.</a:t>
            </a:r>
          </a:p>
        </p:txBody>
      </p:sp>
    </p:spTree>
    <p:extLst>
      <p:ext uri="{BB962C8B-B14F-4D97-AF65-F5344CB8AC3E}">
        <p14:creationId xmlns:p14="http://schemas.microsoft.com/office/powerpoint/2010/main" val="1382801872"/>
      </p:ext>
    </p:extLst>
  </p:cSld>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Georgia"/>
        <a:ea typeface="ＭＳ Ｐゴシック"/>
        <a:cs typeface="ＭＳ Ｐゴシック"/>
      </a:majorFont>
      <a:minorFont>
        <a:latin typeface="Georgia"/>
        <a:ea typeface="ＭＳ Ｐゴシック"/>
        <a:cs typeface="ＭＳ Ｐゴシック"/>
      </a:minorFont>
    </a:fontScheme>
    <a:fmtScheme name="Blank Presentation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2026-10-14T16:20:57.5770000Z</dcterms:created>
  <dcterms:modified xsi:type="dcterms:W3CDTF">2026-10-14T16:20:57.5780000Z</dcterms:modified>
</coreProperties>
</file>