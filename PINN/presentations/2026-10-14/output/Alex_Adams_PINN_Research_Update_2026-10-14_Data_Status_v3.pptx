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aa736e4fdc47f9" /><Relationship Type="http://schemas.openxmlformats.org/officeDocument/2006/relationships/extended-properties" Target="/docProps/app.xml" Id="R4314684056a34109" /><Relationship Type="http://schemas.openxmlformats.org/officeDocument/2006/relationships/officeDocument" Target="/ppt/presentation.xml" Id="R82e0bba001084ee2" /></Relationships>
</file>

<file path=ppt/presentation.xml><?xml version="1.0" encoding="utf-8"?>
<p:presentation xmlns:p="http://schemas.openxmlformats.org/presentationml/2006/main">
  <p:sldMasterIdLst>
    <p:sldMasterId xmlns:r="http://schemas.openxmlformats.org/officeDocument/2006/relationships" id="2147483648" r:id="Rd19638641e7742ad"/>
  </p:sldMasterIdLst>
  <p:notesMasterIdLst>
    <p:notesMasterId xmlns:r="http://schemas.openxmlformats.org/officeDocument/2006/relationships" r:id="Rba5d19e92a724f92"/>
  </p:notesMasterIdLst>
  <p:sldIdLst>
    <p:sldId xmlns:r="http://schemas.openxmlformats.org/officeDocument/2006/relationships" id="256" r:id="R408357cf3c954c7f"/>
    <p:sldId xmlns:r="http://schemas.openxmlformats.org/officeDocument/2006/relationships" id="257" r:id="Re65284d07169428a"/>
    <p:sldId xmlns:r="http://schemas.openxmlformats.org/officeDocument/2006/relationships" id="258" r:id="Rcc2a7855be8146cc"/>
    <p:sldId xmlns:r="http://schemas.openxmlformats.org/officeDocument/2006/relationships" id="259" r:id="Ra45b837255814b35"/>
    <p:sldId xmlns:r="http://schemas.openxmlformats.org/officeDocument/2006/relationships" id="260" r:id="R3370830b7f09473a"/>
    <p:sldId xmlns:r="http://schemas.openxmlformats.org/officeDocument/2006/relationships" id="261" r:id="Rfbd2445b63d34312"/>
    <p:sldId xmlns:r="http://schemas.openxmlformats.org/officeDocument/2006/relationships" id="262" r:id="R2d77915ae4574672"/>
    <p:sldId xmlns:r="http://schemas.openxmlformats.org/officeDocument/2006/relationships" id="263" r:id="R0304d29e576c4f4c"/>
    <p:sldId xmlns:r="http://schemas.openxmlformats.org/officeDocument/2006/relationships" id="264" r:id="R24e3f9515f764a1d"/>
    <p:sldId xmlns:r="http://schemas.openxmlformats.org/officeDocument/2006/relationships" id="265" r:id="Rd84fcbbbee974767"/>
    <p:sldId xmlns:r="http://schemas.openxmlformats.org/officeDocument/2006/relationships" id="266" r:id="Rc9f947784d644a87"/>
    <p:sldId xmlns:r="http://schemas.openxmlformats.org/officeDocument/2006/relationships" id="267" r:id="R614a46960c5548ea"/>
    <p:sldId xmlns:r="http://schemas.openxmlformats.org/officeDocument/2006/relationships" id="268" r:id="R77e543f4ab7a4bd4"/>
    <p:sldId xmlns:r="http://schemas.openxmlformats.org/officeDocument/2006/relationships" id="269" r:id="Ra776bcacd8da48a4"/>
    <p:sldId xmlns:r="http://schemas.openxmlformats.org/officeDocument/2006/relationships" id="270" r:id="Rd28f9d5f2606404b"/>
    <p:sldId xmlns:r="http://schemas.openxmlformats.org/officeDocument/2006/relationships" id="271" r:id="Rb57f30516dad41e9"/>
    <p:sldId xmlns:r="http://schemas.openxmlformats.org/officeDocument/2006/relationships" id="272" r:id="R989f5a77b76b4e92"/>
    <p:sldId xmlns:r="http://schemas.openxmlformats.org/officeDocument/2006/relationships" id="273" r:id="R05210acbae7044c1"/>
    <p:sldId xmlns:r="http://schemas.openxmlformats.org/officeDocument/2006/relationships" id="274" r:id="Rf0c1a23a243f4c22"/>
    <p:sldId xmlns:r="http://schemas.openxmlformats.org/officeDocument/2006/relationships" id="275" r:id="R7188b3c7c67f44b0"/>
    <p:sldId xmlns:r="http://schemas.openxmlformats.org/officeDocument/2006/relationships" id="276" r:id="Ra32f160027af41ce"/>
    <p:sldId xmlns:r="http://schemas.openxmlformats.org/officeDocument/2006/relationships" id="277" r:id="R5de9547e5fa64e9f"/>
    <p:sldId xmlns:r="http://schemas.openxmlformats.org/officeDocument/2006/relationships" id="278" r:id="R69559aa4fa8c40eb"/>
    <p:sldId xmlns:r="http://schemas.openxmlformats.org/officeDocument/2006/relationships" id="279" r:id="R2d46ccbb6be944c9"/>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c2c67d5721149a7" /><Relationship Type="http://schemas.openxmlformats.org/officeDocument/2006/relationships/slideMaster" Target="/ppt/slideMasters/slideMaster1.xml" Id="Rd19638641e7742ad" /><Relationship Type="http://schemas.openxmlformats.org/officeDocument/2006/relationships/notesMaster" Target="/ppt/notesMasters/notesMaster1.xml" Id="Rba5d19e92a724f92" /><Relationship Type="http://schemas.openxmlformats.org/officeDocument/2006/relationships/presProps" Target="/ppt/presProps.xml" Id="R51d32f7598ea430d" /><Relationship Type="http://schemas.openxmlformats.org/officeDocument/2006/relationships/viewProps" Target="/ppt/viewProps.xml" Id="R7d14e255a7264b5f" /><Relationship Type="http://schemas.openxmlformats.org/officeDocument/2006/relationships/tableStyles" Target="/ppt/tableStyles.xml" Id="R02f17c79b24d4e86" /><Relationship Type="http://schemas.openxmlformats.org/officeDocument/2006/relationships/slide" Target="/ppt/slides/slide1.xml" Id="R408357cf3c954c7f" /><Relationship Type="http://schemas.openxmlformats.org/officeDocument/2006/relationships/slide" Target="/ppt/slides/slide2.xml" Id="Re65284d07169428a" /><Relationship Type="http://schemas.openxmlformats.org/officeDocument/2006/relationships/slide" Target="/ppt/slides/slide3.xml" Id="Rcc2a7855be8146cc" /><Relationship Type="http://schemas.openxmlformats.org/officeDocument/2006/relationships/slide" Target="/ppt/slides/slide4.xml" Id="Ra45b837255814b35" /><Relationship Type="http://schemas.openxmlformats.org/officeDocument/2006/relationships/slide" Target="/ppt/slides/slide5.xml" Id="R3370830b7f09473a" /><Relationship Type="http://schemas.openxmlformats.org/officeDocument/2006/relationships/slide" Target="/ppt/slides/slide6.xml" Id="Rfbd2445b63d34312" /><Relationship Type="http://schemas.openxmlformats.org/officeDocument/2006/relationships/slide" Target="/ppt/slides/slide7.xml" Id="R2d77915ae4574672" /><Relationship Type="http://schemas.openxmlformats.org/officeDocument/2006/relationships/slide" Target="/ppt/slides/slide8.xml" Id="R0304d29e576c4f4c" /><Relationship Type="http://schemas.openxmlformats.org/officeDocument/2006/relationships/slide" Target="/ppt/slides/slide9.xml" Id="R24e3f9515f764a1d" /><Relationship Type="http://schemas.openxmlformats.org/officeDocument/2006/relationships/slide" Target="/ppt/slides/slide10.xml" Id="Rd84fcbbbee974767" /><Relationship Type="http://schemas.openxmlformats.org/officeDocument/2006/relationships/slide" Target="/ppt/slides/slide11.xml" Id="Rc9f947784d644a87" /><Relationship Type="http://schemas.openxmlformats.org/officeDocument/2006/relationships/slide" Target="/ppt/slides/slide12.xml" Id="R614a46960c5548ea" /><Relationship Type="http://schemas.openxmlformats.org/officeDocument/2006/relationships/slide" Target="/ppt/slides/slide13.xml" Id="R77e543f4ab7a4bd4" /><Relationship Type="http://schemas.openxmlformats.org/officeDocument/2006/relationships/slide" Target="/ppt/slides/slide14.xml" Id="Ra776bcacd8da48a4" /><Relationship Type="http://schemas.openxmlformats.org/officeDocument/2006/relationships/slide" Target="/ppt/slides/slide15.xml" Id="Rd28f9d5f2606404b" /><Relationship Type="http://schemas.openxmlformats.org/officeDocument/2006/relationships/slide" Target="/ppt/slides/slide16.xml" Id="Rb57f30516dad41e9" /><Relationship Type="http://schemas.openxmlformats.org/officeDocument/2006/relationships/slide" Target="/ppt/slides/slide17.xml" Id="R989f5a77b76b4e92" /><Relationship Type="http://schemas.openxmlformats.org/officeDocument/2006/relationships/slide" Target="/ppt/slides/slide18.xml" Id="R05210acbae7044c1" /><Relationship Type="http://schemas.openxmlformats.org/officeDocument/2006/relationships/slide" Target="/ppt/slides/slide19.xml" Id="Rf0c1a23a243f4c22" /><Relationship Type="http://schemas.openxmlformats.org/officeDocument/2006/relationships/slide" Target="/ppt/slides/slide20.xml" Id="R7188b3c7c67f44b0" /><Relationship Type="http://schemas.openxmlformats.org/officeDocument/2006/relationships/slide" Target="/ppt/slides/slide21.xml" Id="Ra32f160027af41ce" /><Relationship Type="http://schemas.openxmlformats.org/officeDocument/2006/relationships/slide" Target="/ppt/slides/slide22.xml" Id="R5de9547e5fa64e9f" /><Relationship Type="http://schemas.openxmlformats.org/officeDocument/2006/relationships/slide" Target="/ppt/slides/slide23.xml" Id="R69559aa4fa8c40eb" /><Relationship Type="http://schemas.openxmlformats.org/officeDocument/2006/relationships/slide" Target="/ppt/slides/slide24.xml" Id="R2d46ccbb6be944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02d87fed2645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cdc6f32d4a4ca8" /><Relationship Type="http://schemas.openxmlformats.org/officeDocument/2006/relationships/notesMaster" Target="/ppt/notesMasters/notesMaster1.xml" Id="R47a1b023d4a948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0bf7e1518a4478" /><Relationship Type="http://schemas.openxmlformats.org/officeDocument/2006/relationships/notesMaster" Target="/ppt/notesMasters/notesMaster1.xml" Id="R9d62e149349048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307f3989334ecb" /><Relationship Type="http://schemas.openxmlformats.org/officeDocument/2006/relationships/notesMaster" Target="/ppt/notesMasters/notesMaster1.xml" Id="Rfc911adecd754e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9ad65858d9493d" /><Relationship Type="http://schemas.openxmlformats.org/officeDocument/2006/relationships/notesMaster" Target="/ppt/notesMasters/notesMaster1.xml" Id="R22969fda43d649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ee5721320447c2" /><Relationship Type="http://schemas.openxmlformats.org/officeDocument/2006/relationships/notesMaster" Target="/ppt/notesMasters/notesMaster1.xml" Id="R625a797cfa684c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696cda1e944436" /><Relationship Type="http://schemas.openxmlformats.org/officeDocument/2006/relationships/notesMaster" Target="/ppt/notesMasters/notesMaster1.xml" Id="R03940a994d094a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c74f90364c4d02" /><Relationship Type="http://schemas.openxmlformats.org/officeDocument/2006/relationships/notesMaster" Target="/ppt/notesMasters/notesMaster1.xml" Id="Ra0fbf4e5b3cc41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12567868184ea1" /><Relationship Type="http://schemas.openxmlformats.org/officeDocument/2006/relationships/notesMaster" Target="/ppt/notesMasters/notesMaster1.xml" Id="Reec95ad93f944f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30752e369a4f4d" /><Relationship Type="http://schemas.openxmlformats.org/officeDocument/2006/relationships/notesMaster" Target="/ppt/notesMasters/notesMaster1.xml" Id="R389c4e3b089846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d1ef255010494c" /><Relationship Type="http://schemas.openxmlformats.org/officeDocument/2006/relationships/notesMaster" Target="/ppt/notesMasters/notesMaster1.xml" Id="Rd3941755b3ee46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59db96ad5e472a" /><Relationship Type="http://schemas.openxmlformats.org/officeDocument/2006/relationships/notesMaster" Target="/ppt/notesMasters/notesMaster1.xml" Id="R0e11dc4e351b40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33d1c356c14b28" /><Relationship Type="http://schemas.openxmlformats.org/officeDocument/2006/relationships/notesMaster" Target="/ppt/notesMasters/notesMaster1.xml" Id="Rb970d2f891dd44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7e9f5c0fce4aa4" /><Relationship Type="http://schemas.openxmlformats.org/officeDocument/2006/relationships/notesMaster" Target="/ppt/notesMasters/notesMaster1.xml" Id="Rc18956de30b342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4f8a8e86be45e4" /><Relationship Type="http://schemas.openxmlformats.org/officeDocument/2006/relationships/notesMaster" Target="/ppt/notesMasters/notesMaster1.xml" Id="Rbaad2ca0485a4a8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8ab921a8f1411c" /><Relationship Type="http://schemas.openxmlformats.org/officeDocument/2006/relationships/notesMaster" Target="/ppt/notesMasters/notesMaster1.xml" Id="Ra67e92ec3cb94d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9474baee5a04a58" /><Relationship Type="http://schemas.openxmlformats.org/officeDocument/2006/relationships/notesMaster" Target="/ppt/notesMasters/notesMaster1.xml" Id="R503079bcfac443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57d1bb70b64bb3" /><Relationship Type="http://schemas.openxmlformats.org/officeDocument/2006/relationships/notesMaster" Target="/ppt/notesMasters/notesMaster1.xml" Id="R118d8764d6f844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53d69896cb4796" /><Relationship Type="http://schemas.openxmlformats.org/officeDocument/2006/relationships/notesMaster" Target="/ppt/notesMasters/notesMaster1.xml" Id="R76f09c998fbe4a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7d256f85634458" /><Relationship Type="http://schemas.openxmlformats.org/officeDocument/2006/relationships/notesMaster" Target="/ppt/notesMasters/notesMaster1.xml" Id="Re4194c608a584f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2c1e529a5e740a7" /><Relationship Type="http://schemas.openxmlformats.org/officeDocument/2006/relationships/notesMaster" Target="/ppt/notesMasters/notesMaster1.xml" Id="R3b841c41e75141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a5b8594f5a4e42" /><Relationship Type="http://schemas.openxmlformats.org/officeDocument/2006/relationships/notesMaster" Target="/ppt/notesMasters/notesMaster1.xml" Id="R1ec3511f9c9943d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003067774c4261" /><Relationship Type="http://schemas.openxmlformats.org/officeDocument/2006/relationships/notesMaster" Target="/ppt/notesMasters/notesMaster1.xml" Id="Rd5aa619cabed4b3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ecaae5c9304f30" /><Relationship Type="http://schemas.openxmlformats.org/officeDocument/2006/relationships/notesMaster" Target="/ppt/notesMasters/notesMaster1.xml" Id="R9e3ff3cedfcb495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89e5a015c34e42" /><Relationship Type="http://schemas.openxmlformats.org/officeDocument/2006/relationships/notesMaster" Target="/ppt/notesMasters/notesMaster1.xml" Id="R0f4f8cd44305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update for October 14, 2026. Results available through October 11, 2026. All numbers in this deck come from archived PINN runs. The supplied September deck provides the theme and layout reference. No new training runs were executed for this presentation.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PINN means physics-informed neural network. The network is an adjustable mathematical function, and training repeatedly changes its parameters to reduce prediction errors and selected physical residuals. A loss is the numerical score used for this adjustment. Classical PINNs commonly use governing differential equations. Our present implementation is physics-constrained tabular regression: the output transform enforces the thickness bound and the default loss adds a curvature prior. No governing adsorption PDE is solved. The illustrative training loop depicts optional physics penalties conceptually, rather than asserting that all four candidate constraints are active. Generated conceptual diagram using the built-in image-generation tool; node count is schematic and is not the implemented architecture. See the later architecture slide for the exact two 16-unit layers.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https://maziarraissi.github.io/PINNs/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PINN is physics-constrained tabular regression. It does not yet solve a governing PDE or identify an adsorption mechanism. Its inputs include measured total thickness, so recipe-only process forecasting remains a separate objective.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completed October 11, 2026. v0.1 runs predate prospective execution timestamps. v0.2 adds timestamped lifecycle records and seven-input synthetic benchmarks. The measured rerun reproduces v0.1 results. The code and artifacts are published on codex/pinn-physics-and-run-tracking with draft PR #6.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https://github.com/aadams2006/Pitt-ML-MSE-Project/tree/c771a486fe82b1ea13e7a70e156f64f01db03128/PINN/CHANGELOG.md</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overlap: 182+6+113 is not the number excluded. The union of invalid checks is 192, leaving 2808. The default physical checks also reject negative bonded values, negative layer inputs, missing/nonfinite values and invalid log inputs. There were no additional excluded rows under these checks for this benchmark. The combined synthetic source remains byte-identical to its original snapshot. Parent-row provenance is unavailable.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https://github.com/aadams2006/Pitt-ML-MSE-Project/tree/c771a486fe82b1ea13e7a70e156f64f01db03128/PINN/datasets/provenance.json</a:t>
            </a:r>
            <a:endParaRPr>
              <a:latin typeface="Arial"/>
              <a:ea typeface="Arial"/>
              <a:cs typeface="Arial"/>
            </a:endParaRPr>
          </a:p>
          <a:p xmlns:a="http://schemas.openxmlformats.org/drawingml/2006/main">
            <a:r>
              <a:t>https://github.com/aadams2006/Pitt-ML-MSE-Project/tree/c771a486fe82b1ea13e7a70e156f64f01db03128/PINN/runs/v020_synthetic_grouped/data_audit.json</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concentration spans 0.02 to 10 in the measured CSV, a 500-fold range. A natural log reduces scale imbalance. The source labels say g/mL, but high values and differences between workbooks and derived tables require lab confirmation. StandardScaler fits the training rows only. Bonded thickness never enters the input set. Total thickness is also the raw output envelope and is required at inference. Solvent descriptors have only three solvent-associated combinations in the synthetic data.</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https://github.com/aadams2006/Pitt-ML-MSE-Project/tree/c771a486fe82b1ea13e7a70e156f64f01db03128/PINN/config_synthetic.json</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 inputs, Linear(d,16), tanh, Linear(16,16), tanh, Linear(16,1), then sigmoid multiplied by raw measured total thickness. Parameter count is 16d+16+272+17, giving 353 for d=3 and 417 for d=7. Xavier-uniform weights and zero biases initialize the network. A positive measured total is required in data loading. Finite logits approach the endpoints asymptotically. The standard-NN ablation retains the same hidden layers but uses a linear unbounded output. Diagram structure is reused from slide 15 of the provided reference.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Ldata = mean(((hB_hat-hB)/sy)^2), with sy the population standard deviation of training targets floored at 1e-6. Lsmooth is a diagonal-Hessian curvature prior of hB_hat/sy in standardized/log-transformed coordinates, not a full Hessian norm. Differentiate the total-thickness envelope too. v0.2 evaluates derivative terms on up to 256 deterministic training-row samples per epoch. No arbitrary Cartesian collocation is added. Monotonic penalties are local soft penalties on normalized gradients. Weight decay is an optimizer parameter, separate from the displayed loss. October 14, 2026 project-status clarification from Alexander Adams: values required for all proposed loss terms are available. The remaining datasets require aggregation and preprocessing before these terms can enter training. Their zero weights describe the archived runs, not missing measurements. The LLD residual applies to the mobile layer.</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symbols reproduce the implementation exactly. q is predicted bonded thickness divided by s_y, the population standard deviation of training targets with floor 1e-6 nm. n is the count of training data rows, m is the count selected for derivatives (up to 256 per epoch), and d is the number of inputs. z contains standardized transformed predictors, including log concentration. J is the configured set of monotonic features and s_j is their selected direction, positive or negative. z_U is the standardized withdrawal-velocity coordinate; this is not an unscaled SI-velocity derivative. All derivatives include the total-thickness output envelope. Curvature is a diagonal Hessian penalty, not the full Hessian norm. Monotonicity is a soft local penalty. No derivative penalty is evaluated on the held-out test. LaTeX sources for all equations are retained in assets/equations.tex.</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update supplied by Alexander Adams on October 14, 2026: the values required for all proposed loss functions are available. Aggregation and preprocessing of the other datasets remain outstanding. The reported archived runs used data fit and the general curvature prior, plus a separate positive-concentration monotonicity ablation. Velocity curvature and the LLD residual remain off in these runs; this reflects dataset preparation status rather than unavailable measurements. The bound is an output transform, not a weighted loss. The concentration sign remains an exploratory hypothesis, and data availability alone does not validate a causal viscosity relationship or hydrodynamic applicability. The nonnegative mobile layer follows from the bound and is not an independent constraint.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0.9458 classical plate coefficient is supported by the JFM two-liquid dip-coating paper. U in mm/s converts by 1e-3 to m/s, viscosity cP by 1e-3 to Pa*s, surface tension mN/m by 1e-3 to N/m, and wet thickness m to nm by 1e9. rho is kg/m3 and g=9.81 m/s2. The conversion factor must be independent of the bonded target, positive and &lt;=1. The Ca threshold is a conservative starting gate, not a universal regime guarantee. Geometry, wetting, evaporation and interface validity are supplied by the lab flag. Current runs leave this loss off. October 14, 2026 project-status clarification from Alexander Adams: values required for all proposed loss terms are available. The remaining datasets require aggregation and preprocessing before these terms can enter training. Their zero weights describe the archived runs, not missing measurements. The LLD residual applies to the mobile layer.</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a:p xmlns:a="http://schemas.openxmlformats.org/drawingml/2006/main">
            <a:r>
              <a:t>https://github.com/aadams2006/Pitt-ML-MSE-Project/tree/c771a486fe82b1ea13e7a70e156f64f01db03128/PINN/config_measured_physics.example.json</a:t>
            </a:r>
            <a:endParaRPr>
              <a:latin typeface="Arial"/>
              <a:ea typeface="Arial"/>
              <a:cs typeface="Arial"/>
            </a:endParaRPr>
          </a:p>
          <a:p xmlns:a="http://schemas.openxmlformats.org/drawingml/2006/main">
            <a:r>
              <a:t>https://www.cambridge.org/core/journals/journal-of-fluid-mechanics/article/dipcoating-flow-in-the-presence-of-two-immiscible-liquids/CB484EB73B1903B5933AB087847C642E</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neural models use full-batch supervised training, training-only preprocessing and normalized data loss. Adam uses coupled weight decay as implemented by torch.optim.Adam. Torch uses float32 tensors, one CPU thread and deterministic operations. Early stopping counts epochs without validation improvement &gt;1e-7 and restores the selected state. v0.2 experimental PINN selects epoch 76 and stops after epoch 226. Synthetic PINNs select epoch 1500. RF and GB settings are fixed untuned baselines.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https://github.com/aadams2006/Pitt-ML-MSE-Project/tree/c771a486fe82b1ea13e7a70e156f64f01db03128/PINN/runs/v020_experimental_grouped/run_record.json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Grouped split reserves 20% of concentration groups for test and then 20% of remaining groups for validation, so row proportions vary. Extrapolation reserves the largest four of sixteen measured concentration levels. The v0.2 synthetic default and monotonicity runs use identical retained rows and partitions. Existing historical stratified-CV RF scores in the September deck use other protocols and are not direct competitors for these single-split results. True independent batches/specimens should replace concentration as the grouping unit when 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https://github.com/aadams2006/Pitt-ML-MSE-Project/tree/c771a486fe82b1ea13e7a70e156f64f01db03128/PINN/runs/legacy_initial_extrapolation/splits.csv</a:t>
            </a:r>
            <a:endParaRPr>
              <a:latin typeface="Arial"/>
              <a:ea typeface="Arial"/>
              <a:cs typeface="Arial"/>
            </a:endParaRPr>
          </a:p>
          <a:p xmlns:a="http://schemas.openxmlformats.org/drawingml/2006/main">
            <a:r>
              <a:t>https://github.com/aadams2006/Pitt-ML-MSE-Project/tree/c771a486fe82b1ea13e7a70e156f64f01db03128/PINN/runs/v020_synthetic_grouped/splits.csv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v0.2 experimental grouped run reproduces the original measured grouped results. Metrics refer only to 18 test observations on held-out concentration levels. PINN MAE 0.111693 nm, RMSE 0.122251 nm, R2 -0.391624. GB MAE 0.055622 nm, RMSE 0.064933 nm, R2 0.607406. All five observed violation fractions are zero, but only bounded outputs guarantee the inequality. Negative R2 means worse than a constant test-set-mean predictor on this small split. This is not evidence that neural models cannot work after a separate validation-based study.</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v0.1 extrapolation uses 36 training, 12 validation and 10 test rows. RF RMSE is 0.029366 and R2 -0.724719, GB RMSE 0.029637 and R2 -0.756752. Test bonded values range only 0.50 to 0.57 nm, so R2 is highly sensitive to small error. At recorded concentration 10 the PINN predicts about 1.839 nm for observed 0.51 nm, still below measured total 13.18 nm. Multiplication by increasing total may contribute to error when the learned fraction extrapolates poorly. This is a plausible explanation, not a proven mechanism. No subsequent tuning used this test.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https://github.com/aadams2006/Pitt-ML-MSE-Project/tree/c771a486fe82b1ea13e7a70e156f64f01db03128/PINN/runs/legacy_initial_extrapolation/metrics.csv</a:t>
            </a:r>
            <a:endParaRPr>
              <a:latin typeface="Arial"/>
              <a:ea typeface="Arial"/>
              <a:cs typeface="Arial"/>
            </a:endParaRPr>
          </a:p>
          <a:p xmlns:a="http://schemas.openxmlformats.org/drawingml/2006/main">
            <a:r>
              <a:t>https://github.com/aadams2006/Pitt-ML-MSE-Project/tree/c771a486fe82b1ea13e7a70e156f64f01db03128/PINN/runs/legacy_initial_extrapolation/predictions.csv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PINN MAE 0.043595 nm, RMSE 0.055718 nm, R2 0.905199. RF MAE 0.020570 nm, RMSE 0.035903 nm, R2 0.960637. This is one synthetic-distribution holdout with seed 42. It cannot be compared as an accuracy improvement over the 58-row measured study because data, feature count, regime composition and test distribution differ. Synthetic siblings and generator statistics may leak without parent provenance. All test violation fractions are zero.</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is one archived held-out synthetic row. Axes are equal in both panels, from 0.15 to 1.15 nm, and the gray diagonal marks predicted=observed. Repeated or overlapping points are not jittered. The raw dataset contains synthetic replicates, so apparent point density does not indicate independent experimental replication. Random forest predictions lie closer to the diagonal on this run.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sets monotonic_weight=.01 and sign +1 on concentration only. Architecture, seed, preprocessing, split and other weights match the default run. Fractions come from training-only gradients, not test data. Default pooled negative fraction .434405, ablation .409903. Cohorts are solvent-associated viscosities .377, .423 and .68 cP. In the .377 cohort the training Spearman association is only .100041. A soft local penalty does not guarantee global monotonicity, and synthetic correlation is not evidence of causal chemistry. Keep this hypothesis separate from the default.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https://github.com/aadams2006/Pitt-ML-MSE-Project/tree/c771a486fe82b1ea13e7a70e156f64f01db03128/PINN/runs/v020_synthetic_grouped/training_trend_diagnostics.csv</a:t>
            </a:r>
            <a:endParaRPr>
              <a:latin typeface="Arial"/>
              <a:ea typeface="Arial"/>
              <a:cs typeface="Arial"/>
            </a:endParaRPr>
          </a:p>
          <a:p xmlns:a="http://schemas.openxmlformats.org/drawingml/2006/main">
            <a:r>
              <a:t>https://github.com/aadams2006/Pitt-ML-MSE-Project/tree/c771a486fe82b1ea13e7a70e156f64f01db03128/PINN/runs/v020_synthetic_concentration_monotonic/training_trend_diagnostics.csv</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Charts use log10 of archived normalized data-loss and validation-loss histories. Log display retains the full initial and final loss ranges without clipping. A value of -1 means normalized MSE=0.1, 0 means 1, and 3 means 1000. The normalization uses each run training target standard deviation, so charts describe within-run optimization rather than comparing absolute nm errors across datasets. Figure samples every fifth measured epoch and every 25th synthetic epoch plus endpoints. All three synthetic neural models selected epoch 1500. Test results never select epochs.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https://github.com/aadams2006/Pitt-ML-MSE-Project/tree/c771a486fe82b1ea13e7a70e156f64f01db03128/PINN/runs/v020_experimental_grouped/pinn_history.csv</a:t>
            </a:r>
            <a:endParaRPr>
              <a:latin typeface="Arial"/>
              <a:ea typeface="Arial"/>
              <a:cs typeface="Arial"/>
            </a:endParaRPr>
          </a:p>
          <a:p xmlns:a="http://schemas.openxmlformats.org/drawingml/2006/main">
            <a:r>
              <a:t>https://github.com/aadams2006/Pitt-ML-MSE-Project/tree/c771a486fe82b1ea13e7a70e156f64f01db03128/PINN/runs/v020_synthetic_grouped/pinn_history.csv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is methodological background rather than evidence of a PDMS adsorption law. The sigmoid envelope is our algebraic project parameterization, not a reproduction of Lu et al. hPINN augmented-Lagrangian optimization. Operator architectures need function-valued input/output structure absent from three/seven scalar predictors. Full verified source links appear on the reference slide and in the repository literature review.</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https://arxiv.org/abs/2001.04536</a:t>
            </a:r>
            <a:endParaRPr>
              <a:latin typeface="Arial"/>
              <a:ea typeface="Arial"/>
              <a:cs typeface="Arial"/>
            </a:endParaRPr>
          </a:p>
          <a:p xmlns:a="http://schemas.openxmlformats.org/drawingml/2006/main">
            <a:r>
              <a:t>https://arxiv.org/abs/2012.10047</a:t>
            </a:r>
            <a:endParaRPr>
              <a:latin typeface="Arial"/>
              <a:ea typeface="Arial"/>
              <a:cs typeface="Arial"/>
            </a:endParaRPr>
          </a:p>
          <a:p xmlns:a="http://schemas.openxmlformats.org/drawingml/2006/main">
            <a:r>
              <a:t>https://arxiv.org/abs/2003.06097</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start/end execution times were never recorded. Their file modification times are approximate archival evidence and are not presented as execution timestamps. Three v0.2 runs capture UTC and America/New_York times prospectively. Code version plus exact source hash and source snapshot is authoritative when the worktree differed from its Git base. The v0.2 Git-status path-scope bug was corrected and annotated without changing scientific results. Byte-preserving attributes and a later Git renormalization repair preserve archive hashes. Source, models, raw/processed identity, predictions and runs are published on branch codex/pinn-physics-and-run-tracking, draft PR #6. Future runs record automatically but require a commit/push to publish.</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a:p xmlns:a="http://schemas.openxmlformats.org/drawingml/2006/main">
            <a:r>
              <a:t>https://github.com/aadams2006/Pitt-ML-MSE-Project/tree/c771a486fe82b1ea13e7a70e156f64f01db03128/PINN/run_tracking.py</a:t>
            </a:r>
            <a:endParaRPr>
              <a:latin typeface="Arial"/>
              <a:ea typeface="Arial"/>
              <a:cs typeface="Arial"/>
            </a:endParaRPr>
          </a:p>
          <a:p xmlns:a="http://schemas.openxmlformats.org/drawingml/2006/main">
            <a:r>
              <a:t>https://github.com/aadams2006/Pitt-ML-MSE-Project/tree/c771a486fe82b1ea13e7a70e156f64f01db03128/PINN/verify_runs.py</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single-seed, single-split exploratory tests. Test-set concentration ranges, solvent combinations, independent replicate count, source-unit ambiguity and target algebraic coupling limit causal and deployment claims. The high-concentration test demonstrates that staying within a bound does not ensure accurate extrapolation. No accuracy benefit from default curvature or the tested positive monotonicity penalty is established here.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https://github.com/aadams2006/Pitt-ML-MSE-Project/tree/c771a486fe82b1ea13e7a70e156f64f01db03128/PINN/INITIAL_RESULTS.md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Alexander Adams confirmed on October 14, 2026 that values for all loss functions are available. The immediate task is to aggregate the datasets, align sample identities, harmonize units and preprocess the values into model-ready tables. Then validate applicability and run controlled loss-by-loss ablations on shared splits. Availability does not imply these terms were used in the archived runs or that their effect on accuracy is established. No new numerical result is promised here. Proposed saturation or adsorption parameterizations still need physical evidence and identifiability checks. Split measured experiments before generating synthetic training rows and keep the test frozen during tuning.</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a:p xmlns:a="http://schemas.openxmlformats.org/drawingml/2006/main">
            <a:r>
              <a:t>Project status clarification from Alexander Adams, October 14, 2026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citations are the reviewed papers, not newly generated research claims. The deck uses the five archived PINN runs and the requested reference theme. The classical LLD coefficient and applicability discussion are sourced on slide 9. Data, code, run manifests and predictions identify all quantitative figures. Meeting date: October 14, 2026. Result cutoff: October 11, 2026.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https://arxiv.org/abs/2102.04626</a:t>
            </a:r>
            <a:endParaRPr>
              <a:latin typeface="Arial"/>
              <a:ea typeface="Arial"/>
              <a:cs typeface="Arial"/>
            </a:endParaRPr>
          </a:p>
          <a:p xmlns:a="http://schemas.openxmlformats.org/drawingml/2006/main">
            <a:r>
              <a:t>https://doi.org/10.1137/20M1318043</a:t>
            </a:r>
            <a:endParaRPr>
              <a:latin typeface="Arial"/>
              <a:ea typeface="Arial"/>
              <a:cs typeface="Arial"/>
            </a:endParaRPr>
          </a:p>
          <a:p xmlns:a="http://schemas.openxmlformats.org/drawingml/2006/main">
            <a:r>
              <a:t>https://doi.org/10.1016/j.cma.2021.113938</a:t>
            </a:r>
            <a:endParaRPr>
              <a:latin typeface="Arial"/>
              <a:ea typeface="Arial"/>
              <a:cs typeface="Arial"/>
            </a:endParaRPr>
          </a:p>
          <a:p xmlns:a="http://schemas.openxmlformats.org/drawingml/2006/main">
            <a:r>
              <a:t>https://doi.org/10.1016/j.jcp.2020.109913</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289feefe7f47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7a74a5cf8d742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c36c913cec4d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e3fa5bc6dc42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4d02f0770342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87c45fff20425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6f4a1433323447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8a54c88f4f45c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54eb4ecec3a442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163d4aaa2e247a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3391a629a49431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3519B7-3883-4256-AD28-2878A12C7BA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D07BAA1-1016-4990-9F55-6B68C839CE8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Click to edit Master subtitle style</a:t>
            </a:r>
          </a:p>
        </p:txBody>
      </p:sp>
      <p:sp>
        <p:nvSpPr>
          <p:cNvPr id="4" name="Rectangle 4">
            <a:extLst xmlns:a="http://schemas.openxmlformats.org/drawingml/2006/main">
              <a:ext uri="{FF2B5EF4-FFF2-40B4-BE49-F238E27FC236}">
                <a16:creationId xmlns:a16="http://schemas.microsoft.com/office/drawing/2014/main" id="{4C46B55D-4FDD-4E0F-8C26-D4FEF5357B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4171307C-C51C-4D07-8C44-B366E36D28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6033F4C-8C69-4D83-8635-F61BB998D06C}"/>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23B762C-B6A6-9E40-924F-04B5C1CFB6FD}"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2F2015-DA44-409A-A285-B9ED1F413F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AC756D-D57A-4FB4-BF24-B3682E651C2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F97C5E9C-4F89-4A68-B472-7598DCED97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84A45B6C-98C5-49CE-9B67-B01747CC1A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04FEB70-EAE0-4863-9111-6A448959FFD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5606D3B2-4460-404C-9951-68348479498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E1B15A-26BB-4F39-B958-57310BB58E0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DE0B06A-D76A-4F15-ADC7-E6D263699A3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buNone/>
            </a:pPr>
            <a:r>
              <a:t>Click to edit Master text styles</a:t>
            </a:r>
          </a:p>
        </p:txBody>
      </p:sp>
      <p:sp>
        <p:nvSpPr>
          <p:cNvPr id="4" name="Rectangle 4">
            <a:extLst xmlns:a="http://schemas.openxmlformats.org/drawingml/2006/main">
              <a:ext uri="{FF2B5EF4-FFF2-40B4-BE49-F238E27FC236}">
                <a16:creationId xmlns:a16="http://schemas.microsoft.com/office/drawing/2014/main" id="{C49CD982-2EC1-4153-83DF-1EC5C4FB97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BAC010E5-17DF-4078-8678-D8F52B8873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C011E2C1-E625-4D78-8DF3-4756262D095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579F2DB-BBB3-4E41-85F8-28240E55DF5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FCD10-A365-474E-A2CE-EF049E29A8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187F19F-9917-43F9-BE88-FA32787A79A0}"/>
              </a:ext>
            </a:extLst>
          </p:cNvPr>
          <p:cNvSpPr>
            <a:spLocks xmlns:a="http://schemas.openxmlformats.org/drawingml/2006/main" noGrp="1"/>
          </p:cNvSpPr>
          <p:nvPr>
            <p:ph idx="1"/>
          </p:nvPr>
        </p:nvSpPr>
        <p:spPr>
          <a:xfrm xmlns:a="http://schemas.openxmlformats.org/drawingml/2006/main">
            <a:off x="3810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784F32A-F152-491C-AF34-FB3B93BBE379}"/>
              </a:ext>
            </a:extLst>
          </p:cNvPr>
          <p:cNvSpPr>
            <a:spLocks xmlns:a="http://schemas.openxmlformats.org/drawingml/2006/main" noGrp="1"/>
          </p:cNvSpPr>
          <p:nvPr>
            <p:ph idx="2"/>
          </p:nvPr>
        </p:nvSpPr>
        <p:spPr>
          <a:xfrm xmlns:a="http://schemas.openxmlformats.org/drawingml/2006/main">
            <a:off x="46482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Rectangle 4">
            <a:extLst xmlns:a="http://schemas.openxmlformats.org/drawingml/2006/main">
              <a:ext uri="{FF2B5EF4-FFF2-40B4-BE49-F238E27FC236}">
                <a16:creationId xmlns:a16="http://schemas.microsoft.com/office/drawing/2014/main" id="{6D830AB6-8A28-4ACC-8429-157D2F6580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170EE714-C7B4-4E8A-8EC7-B70C9A4302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14145AC3-D24C-43A8-9CD0-227F95DAA0B1}"/>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D6B05E2-D1E0-A14A-974D-C4645B5C109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8D08E5-C0C1-4E4C-883F-D8F5EB435C53}"/>
              </a:ext>
            </a:extLst>
          </p:cNvPr>
          <p:cNvSpPr>
            <a:spLocks xmlns:a="http://schemas.openxmlformats.org/drawingml/2006/main" noGrp="1"/>
          </p:cNvSpPr>
          <p:nvPr>
            <p:ph type="title" idx="0"/>
          </p:nvPr>
        </p:nvSpPr>
        <p:spPr>
          <a:xfrm xmlns:a="http://schemas.openxmlformats.org/drawingml/2006/main">
            <a:off x="540754" y="834475"/>
            <a:ext cx="8229600" cy="1143000"/>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41B6794-5E42-4FEA-81F6-CB62BBEE64CC}"/>
              </a:ext>
            </a:extLst>
          </p:cNvPr>
          <p:cNvSpPr>
            <a:spLocks xmlns:a="http://schemas.openxmlformats.org/drawingml/2006/main" noGrp="1"/>
          </p:cNvSpPr>
          <p:nvPr>
            <p:ph type="body" idx="1"/>
          </p:nvPr>
        </p:nvSpPr>
        <p:spPr>
          <a:xfrm xmlns:a="http://schemas.openxmlformats.org/drawingml/2006/main">
            <a:off x="540754" y="2094950"/>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F7B07DE-5DB1-4AF3-96F3-90329F6491A6}"/>
              </a:ext>
            </a:extLst>
          </p:cNvPr>
          <p:cNvSpPr>
            <a:spLocks xmlns:a="http://schemas.openxmlformats.org/drawingml/2006/main" noGrp="1"/>
          </p:cNvSpPr>
          <p:nvPr>
            <p:ph idx="2"/>
          </p:nvPr>
        </p:nvSpPr>
        <p:spPr>
          <a:xfrm xmlns:a="http://schemas.openxmlformats.org/drawingml/2006/main">
            <a:off x="540754" y="2734712"/>
            <a:ext cx="4040188"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AB9E131-AC7F-4C56-BE7A-70EF8C5DB2F2}"/>
              </a:ext>
            </a:extLst>
          </p:cNvPr>
          <p:cNvSpPr>
            <a:spLocks xmlns:a="http://schemas.openxmlformats.org/drawingml/2006/main" noGrp="1"/>
          </p:cNvSpPr>
          <p:nvPr>
            <p:ph type="body" idx="3"/>
          </p:nvPr>
        </p:nvSpPr>
        <p:spPr>
          <a:xfrm xmlns:a="http://schemas.openxmlformats.org/drawingml/2006/main">
            <a:off x="4728579" y="2094950"/>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98AC5A4-C9C5-4EC9-9E34-A68FD2C4F174}"/>
              </a:ext>
            </a:extLst>
          </p:cNvPr>
          <p:cNvSpPr>
            <a:spLocks xmlns:a="http://schemas.openxmlformats.org/drawingml/2006/main" noGrp="1"/>
          </p:cNvSpPr>
          <p:nvPr>
            <p:ph idx="4"/>
          </p:nvPr>
        </p:nvSpPr>
        <p:spPr>
          <a:xfrm xmlns:a="http://schemas.openxmlformats.org/drawingml/2006/main">
            <a:off x="4728579" y="2734712"/>
            <a:ext cx="4041775"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Rectangle 4">
            <a:extLst xmlns:a="http://schemas.openxmlformats.org/drawingml/2006/main">
              <a:ext uri="{FF2B5EF4-FFF2-40B4-BE49-F238E27FC236}">
                <a16:creationId xmlns:a16="http://schemas.microsoft.com/office/drawing/2014/main" id="{C3A97FCB-5709-4D17-8C7B-32AA10DBF5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8" name="Rectangle 5">
            <a:extLst xmlns:a="http://schemas.openxmlformats.org/drawingml/2006/main">
              <a:ext uri="{FF2B5EF4-FFF2-40B4-BE49-F238E27FC236}">
                <a16:creationId xmlns:a16="http://schemas.microsoft.com/office/drawing/2014/main" id="{DE036080-EA59-429E-A65A-25077B590C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9" name="Rectangle 6">
            <a:extLst xmlns:a="http://schemas.openxmlformats.org/drawingml/2006/main">
              <a:ext uri="{FF2B5EF4-FFF2-40B4-BE49-F238E27FC236}">
                <a16:creationId xmlns:a16="http://schemas.microsoft.com/office/drawing/2014/main" id="{F5765F59-955D-4ED0-B021-62C71CD6470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25E9514-10CB-424A-997B-3133D5EBEFB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47BCF5-0D5D-4B29-A09C-277BE6AD51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Rectangle 4">
            <a:extLst xmlns:a="http://schemas.openxmlformats.org/drawingml/2006/main">
              <a:ext uri="{FF2B5EF4-FFF2-40B4-BE49-F238E27FC236}">
                <a16:creationId xmlns:a16="http://schemas.microsoft.com/office/drawing/2014/main" id="{0FFBEC28-19E7-4F28-B227-EFB472615B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4" name="Rectangle 5">
            <a:extLst xmlns:a="http://schemas.openxmlformats.org/drawingml/2006/main">
              <a:ext uri="{FF2B5EF4-FFF2-40B4-BE49-F238E27FC236}">
                <a16:creationId xmlns:a16="http://schemas.microsoft.com/office/drawing/2014/main" id="{C43FF6E4-0AE1-41AF-B400-D57963AC6D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Rectangle 6">
            <a:extLst xmlns:a="http://schemas.openxmlformats.org/drawingml/2006/main">
              <a:ext uri="{FF2B5EF4-FFF2-40B4-BE49-F238E27FC236}">
                <a16:creationId xmlns:a16="http://schemas.microsoft.com/office/drawing/2014/main" id="{56EB2B7B-44E3-4D6D-B411-0369C07F6A6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15F44A3-DF41-BC45-8D50-3E3E7CD7A537}"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Rectangle 4">
            <a:extLst xmlns:a="http://schemas.openxmlformats.org/drawingml/2006/main">
              <a:ext uri="{FF2B5EF4-FFF2-40B4-BE49-F238E27FC236}">
                <a16:creationId xmlns:a16="http://schemas.microsoft.com/office/drawing/2014/main" id="{7FAAB3D9-7E87-4C91-A156-1DEB485DCD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3" name="Rectangle 5">
            <a:extLst xmlns:a="http://schemas.openxmlformats.org/drawingml/2006/main">
              <a:ext uri="{FF2B5EF4-FFF2-40B4-BE49-F238E27FC236}">
                <a16:creationId xmlns:a16="http://schemas.microsoft.com/office/drawing/2014/main" id="{5ED68A7A-B7FF-4BE3-865F-3362EE2BC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Rectangle 6">
            <a:extLst xmlns:a="http://schemas.openxmlformats.org/drawingml/2006/main">
              <a:ext uri="{FF2B5EF4-FFF2-40B4-BE49-F238E27FC236}">
                <a16:creationId xmlns:a16="http://schemas.microsoft.com/office/drawing/2014/main" id="{837E636F-8210-4FFF-9FD6-5278800F7C2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BA675F84-6783-734C-BED8-10126B3C36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807FF3-2152-4B46-9B59-D603E7A4A16A}"/>
              </a:ext>
            </a:extLst>
          </p:cNvPr>
          <p:cNvSpPr>
            <a:spLocks xmlns:a="http://schemas.openxmlformats.org/drawingml/2006/main" noGrp="1"/>
          </p:cNvSpPr>
          <p:nvPr>
            <p:ph type="title" idx="0"/>
          </p:nvPr>
        </p:nvSpPr>
        <p:spPr>
          <a:xfrm xmlns:a="http://schemas.openxmlformats.org/drawingml/2006/main">
            <a:off x="448844" y="916445"/>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6599BF-B4BB-4C88-BC35-C50376F53928}"/>
              </a:ext>
            </a:extLst>
          </p:cNvPr>
          <p:cNvSpPr>
            <a:spLocks xmlns:a="http://schemas.openxmlformats.org/drawingml/2006/main" noGrp="1"/>
          </p:cNvSpPr>
          <p:nvPr>
            <p:ph idx="1"/>
          </p:nvPr>
        </p:nvSpPr>
        <p:spPr>
          <a:xfrm xmlns:a="http://schemas.openxmlformats.org/drawingml/2006/main">
            <a:off x="3566694" y="916446"/>
            <a:ext cx="5111750" cy="5048616"/>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E2ACA88-1AD3-4D56-AB89-90EFA79E7371}"/>
              </a:ext>
            </a:extLst>
          </p:cNvPr>
          <p:cNvSpPr>
            <a:spLocks xmlns:a="http://schemas.openxmlformats.org/drawingml/2006/main" noGrp="1"/>
          </p:cNvSpPr>
          <p:nvPr>
            <p:ph type="body" idx="2"/>
          </p:nvPr>
        </p:nvSpPr>
        <p:spPr>
          <a:xfrm xmlns:a="http://schemas.openxmlformats.org/drawingml/2006/main">
            <a:off x="448844" y="2078495"/>
            <a:ext cx="3008313" cy="4046287"/>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81D0D7AB-C1F3-4E5B-AEB4-16336F84D2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B869F3D8-6EB4-4F71-97C9-78AC85827B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34DDB736-9068-4F95-9E19-119E5764DB2F}"/>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F637E51-C70B-C94A-BECF-99D78F235191}"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CBE6F9-4A4F-471C-994D-BEFF4C81C62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02905F-DCF6-4053-A355-E593CE2ABD4A}"/>
              </a:ext>
            </a:extLst>
          </p:cNvPr>
          <p:cNvSpPr>
            <a:spLocks xmlns:a="http://schemas.openxmlformats.org/drawingml/2006/main" noGrp="1"/>
          </p:cNvSpPr>
          <p:nvPr>
            <p:ph type="pic" idx="1"/>
          </p:nvPr>
        </p:nvSpPr>
        <p:spPr>
          <a:xfrm xmlns:a="http://schemas.openxmlformats.org/drawingml/2006/main">
            <a:off x="1792288" y="935845"/>
            <a:ext cx="5486400" cy="3791729"/>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F14D4BF0-41DA-413F-AD56-49A767EF0E5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E65E0FB1-75E4-4D27-A8F1-1178F88CB2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67F16A1E-7223-4ADA-8D23-E0F5C5CE09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9830EF26-2064-4AA6-B3B8-8026D49585B9}"/>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E4E131D9-E14C-C841-B84A-081687F5DAF0}"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BEC508-6207-4976-86F8-8EADA13A83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54F6FA4-222C-4F6C-8831-2086676AE0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0975C10-8CBE-422F-BC7F-B59B680AB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D56E3FA0-F11C-4131-BBFA-428D8760D1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AFE3DD3-B11C-46FB-BE83-6079337C786D}"/>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3C8000B-9E22-1C46-AF2F-E6F8349AF53E}"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2AA0F27-CF13-4641-9317-275F79B88F49}"/>
              </a:ext>
            </a:extLst>
          </p:cNvPr>
          <p:cNvSpPr>
            <a:spLocks xmlns:a="http://schemas.openxmlformats.org/drawingml/2006/main" noGrp="1"/>
          </p:cNvSpPr>
          <p:nvPr>
            <p:ph type="title" idx="0"/>
          </p:nvPr>
        </p:nvSpPr>
        <p:spPr>
          <a:xfrm xmlns:a="http://schemas.openxmlformats.org/drawingml/2006/main">
            <a:off x="6667500" y="914400"/>
            <a:ext cx="2095500" cy="4953000"/>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913FB93-3690-4EEA-B261-6C0AE8454F1B}"/>
              </a:ext>
            </a:extLst>
          </p:cNvPr>
          <p:cNvSpPr>
            <a:spLocks xmlns:a="http://schemas.openxmlformats.org/drawingml/2006/main" noGrp="1"/>
          </p:cNvSpPr>
          <p:nvPr>
            <p:ph type="body" idx="1"/>
          </p:nvPr>
        </p:nvSpPr>
        <p:spPr>
          <a:xfrm xmlns:a="http://schemas.openxmlformats.org/drawingml/2006/main">
            <a:off x="381000" y="914400"/>
            <a:ext cx="6134100" cy="4953000"/>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E811AFD-8B52-4258-8190-3D8D9D467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277F300E-5893-4DAE-87E3-500C3A6E06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B4378CC4-0F99-430F-AAEA-A8A2A248F34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EC5F0B9-3D97-7A42-AEDD-5885432A0FF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3a74c16ef5ca47b8" /><Relationship Type="http://schemas.openxmlformats.org/officeDocument/2006/relationships/theme" Target="/ppt/slideMasters/theme/theme2.xml" Id="R248b50a8a8324e38" /><Relationship Type="http://schemas.openxmlformats.org/officeDocument/2006/relationships/slideLayout" Target="/ppt/slideLayouts/slideLayout1.xml" Id="Rdcd6eff18eed4aad" /><Relationship Type="http://schemas.openxmlformats.org/officeDocument/2006/relationships/slideLayout" Target="/ppt/slideLayouts/slideLayout2.xml" Id="R2fd762d64a74404a" /><Relationship Type="http://schemas.openxmlformats.org/officeDocument/2006/relationships/slideLayout" Target="/ppt/slideLayouts/slideLayout3.xml" Id="Rfc7c7579ca224a54" /><Relationship Type="http://schemas.openxmlformats.org/officeDocument/2006/relationships/slideLayout" Target="/ppt/slideLayouts/slideLayout4.xml" Id="Rbc815d3523c149e2" /><Relationship Type="http://schemas.openxmlformats.org/officeDocument/2006/relationships/slideLayout" Target="/ppt/slideLayouts/slideLayout5.xml" Id="Reb63b2e6256549c6" /><Relationship Type="http://schemas.openxmlformats.org/officeDocument/2006/relationships/slideLayout" Target="/ppt/slideLayouts/slideLayout6.xml" Id="R74e4dbc7dd9f457f" /><Relationship Type="http://schemas.openxmlformats.org/officeDocument/2006/relationships/slideLayout" Target="/ppt/slideLayouts/slideLayout7.xml" Id="Rce35bad7d04a4766" /><Relationship Type="http://schemas.openxmlformats.org/officeDocument/2006/relationships/slideLayout" Target="/ppt/slideLayouts/slideLayout8.xml" Id="Rb9621a5d71f94d38" /><Relationship Type="http://schemas.openxmlformats.org/officeDocument/2006/relationships/slideLayout" Target="/ppt/slideLayouts/slideLayout9.xml" Id="R79f366504bfa483c" /><Relationship Type="http://schemas.openxmlformats.org/officeDocument/2006/relationships/slideLayout" Target="/ppt/slideLayouts/slideLayout10.xml" Id="Re0b25040bbfe4022" /><Relationship Type="http://schemas.openxmlformats.org/officeDocument/2006/relationships/slideLayout" Target="/ppt/slideLayouts/slideLayout11.xml" Id="R50a36ef2d03d43f0"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33" name="Picture 7">
            <a:extLst xmlns:a="http://schemas.openxmlformats.org/drawingml/2006/main">
              <a:ext uri="{FF2B5EF4-FFF2-40B4-BE49-F238E27FC236}">
                <a16:creationId xmlns:a16="http://schemas.microsoft.com/office/drawing/2014/main" id="{95C00435-B2F9-4C69-8E26-05E6E840F8C4}"/>
              </a:ext>
            </a:extLst>
          </p:cNvPr>
          <p:cNvPicPr>
            <a:picLocks xmlns:a="http://schemas.openxmlformats.org/drawingml/2006/main" noChangeAspect="1"/>
          </p:cNvPicPr>
          <p:nvPr/>
        </p:nvPicPr>
        <p:blipFill>
          <a:blip xmlns:r="http://schemas.openxmlformats.org/officeDocument/2006/relationships" xmlns:a="http://schemas.openxmlformats.org/drawingml/2006/main" r:embed="R3a74c16ef5ca47b8"/>
          <a:srcRect xmlns:a="http://schemas.openxmlformats.org/drawingml/2006/main" l="0" t="0" r="0" b="0"/>
          <a:stretch xmlns:a="http://schemas.openxmlformats.org/drawingml/2006/main">
            <a:fillRect l="0" t="0" r="0" b="0"/>
          </a:stretch>
        </p:blipFill>
        <p:spPr>
          <a:xfrm xmlns:a="http://schemas.openxmlformats.org/drawingml/2006/main">
            <a:off x="3175" y="0"/>
            <a:ext cx="9137650" cy="6858000"/>
          </a:xfrm>
          <a:prstGeom xmlns:a="http://schemas.openxmlformats.org/drawingml/2006/main" prst="rect">
            <a:avLst/>
          </a:prstGeom>
          <a:ln xmlns:a="http://schemas.openxmlformats.org/drawingml/2006/main">
            <a:noFill/>
          </a:ln>
        </p:spPr>
      </p:pic>
      <p:sp>
        <p:nvSpPr>
          <p:cNvPr id="1027" name="Rectangle 2">
            <a:extLst xmlns:a="http://schemas.openxmlformats.org/drawingml/2006/main">
              <a:ext uri="{FF2B5EF4-FFF2-40B4-BE49-F238E27FC236}">
                <a16:creationId xmlns:a16="http://schemas.microsoft.com/office/drawing/2014/main" id="{B7443329-56D9-4084-9702-0DEF1C2E7570}"/>
              </a:ext>
            </a:extLst>
          </p:cNvPr>
          <p:cNvSpPr>
            <a:spLocks xmlns:a="http://schemas.openxmlformats.org/drawingml/2006/main" noGrp="1"/>
          </p:cNvSpPr>
          <p:nvPr>
            <p:ph type="title" idx="0"/>
          </p:nvPr>
        </p:nvSpPr>
        <p:spPr>
          <a:xfrm xmlns:a="http://schemas.openxmlformats.org/drawingml/2006/main">
            <a:off x="749300" y="914400"/>
            <a:ext cx="7924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8" name="Rectangle 3">
            <a:extLst xmlns:a="http://schemas.openxmlformats.org/drawingml/2006/main">
              <a:ext uri="{FF2B5EF4-FFF2-40B4-BE49-F238E27FC236}">
                <a16:creationId xmlns:a16="http://schemas.microsoft.com/office/drawing/2014/main" id="{0DECAE6B-0022-4053-94AB-68D543CC2135}"/>
              </a:ext>
            </a:extLst>
          </p:cNvPr>
          <p:cNvSpPr>
            <a:spLocks xmlns:a="http://schemas.openxmlformats.org/drawingml/2006/main" noGrp="1"/>
          </p:cNvSpPr>
          <p:nvPr>
            <p:ph type="body" idx="1"/>
          </p:nvPr>
        </p:nvSpPr>
        <p:spPr>
          <a:xfrm xmlns:a="http://schemas.openxmlformats.org/drawingml/2006/main">
            <a:off x="749300" y="1981200"/>
            <a:ext cx="7924800" cy="388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on text regions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Rectangle 4">
            <a:extLst xmlns:a="http://schemas.openxmlformats.org/drawingml/2006/main">
              <a:ext uri="{FF2B5EF4-FFF2-40B4-BE49-F238E27FC236}">
                <a16:creationId xmlns:a16="http://schemas.microsoft.com/office/drawing/2014/main" id="{090FC530-1439-4B61-B68C-0B87E8621B4D}"/>
              </a:ext>
            </a:extLst>
          </p:cNvPr>
          <p:cNvSpPr>
            <a:spLocks xmlns:a="http://schemas.openxmlformats.org/drawingml/2006/main" noGrp="1"/>
          </p:cNvSpPr>
          <p:nvPr>
            <p:ph type="dt" idx="2"/>
          </p:nvPr>
        </p:nvSpPr>
        <p:spPr>
          <a:xfrm xmlns:a="http://schemas.openxmlformats.org/drawingml/2006/main">
            <a:off x="7315200" y="6299200"/>
            <a:ext cx="144780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lgn="r">
              <a:buNone/>
              <a:defRPr sz="900">
                <a:solidFill>
                  <a:srgbClr val="002B5E"/>
                </a:solidFill>
                <a:latin typeface="Georgia"/>
                <a:ea typeface="Georgia"/>
                <a:cs typeface="Georgia"/>
              </a:defRPr>
            </a:lvl1pPr>
          </a:lstStyle>
          <a:p xmlns:a="http://schemas.openxmlformats.org/drawingml/2006/main">
            <a:pPr>
              <a:buNone/>
            </a:pPr>
            <a:r>
              <a:t>19 Oct 2009</a:t>
            </a:r>
          </a:p>
        </p:txBody>
      </p:sp>
      <p:sp>
        <p:nvSpPr>
          <p:cNvPr id="1029" name="Rectangle 5">
            <a:extLst xmlns:a="http://schemas.openxmlformats.org/drawingml/2006/main">
              <a:ext uri="{FF2B5EF4-FFF2-40B4-BE49-F238E27FC236}">
                <a16:creationId xmlns:a16="http://schemas.microsoft.com/office/drawing/2014/main" id="{47F820D9-E544-4A69-A89B-E5DD861588E7}"/>
              </a:ext>
            </a:extLst>
          </p:cNvPr>
          <p:cNvSpPr>
            <a:spLocks xmlns:a="http://schemas.openxmlformats.org/drawingml/2006/main" noGrp="1"/>
          </p:cNvSpPr>
          <p:nvPr>
            <p:ph type="ftr" idx="3"/>
          </p:nvPr>
        </p:nvSpPr>
        <p:spPr>
          <a:xfrm xmlns:a="http://schemas.openxmlformats.org/drawingml/2006/main">
            <a:off x="749300" y="6299200"/>
            <a:ext cx="6223000" cy="558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buNone/>
              <a:defRPr sz="900">
                <a:solidFill>
                  <a:srgbClr val="002B5E"/>
                </a:solidFill>
                <a:latin typeface="Georgia"/>
                <a:ea typeface="Georgia"/>
                <a:cs typeface="Georgia"/>
              </a:defRPr>
            </a:lvl1pPr>
          </a:lstStyle>
          <a:p xmlns:a="http://schemas.openxmlformats.org/drawingml/2006/main">
            <a:pPr>
              <a:buNone/>
            </a:pPr>
            <a:endParaRPr/>
          </a:p>
        </p:txBody>
      </p:sp>
      <p:sp>
        <p:nvSpPr>
          <p:cNvPr id="1031" name="TextBox 8">
            <a:extLst xmlns:a="http://schemas.openxmlformats.org/drawingml/2006/main">
              <a:ext uri="{FF2B5EF4-FFF2-40B4-BE49-F238E27FC236}">
                <a16:creationId xmlns:a16="http://schemas.microsoft.com/office/drawing/2014/main" id="{136F2A4D-48D6-4760-A99B-D836B4A7783E}"/>
              </a:ext>
            </a:extLst>
          </p:cNvPr>
          <p:cNvSpPr>
            <a:spLocks xmlns:a="http://schemas.openxmlformats.org/drawingml/2006/main" noGrp="1"/>
          </p:cNvSpPr>
          <p:nvPr/>
        </p:nvSpPr>
        <p:spPr>
          <a:xfrm xmlns:a="http://schemas.openxmlformats.org/drawingml/2006/main">
            <a:off x="3835400" y="254000"/>
            <a:ext cx="4927600" cy="307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buNone/>
              <a:defRPr sz="2400">
                <a:solidFill>
                  <a:schemeClr val="tx1"/>
                </a:solidFill>
                <a:latin typeface="Arial"/>
                <a:ea typeface="Arial"/>
                <a:cs typeface="Arial"/>
              </a:defRPr>
            </a:lvl1pPr>
            <a:lvl2pPr marL="742950" indent="-285750">
              <a:buNone/>
              <a:defRPr sz="2400">
                <a:solidFill>
                  <a:schemeClr val="tx1"/>
                </a:solidFill>
                <a:latin typeface="Arial"/>
                <a:ea typeface="Arial"/>
                <a:cs typeface="Arial"/>
              </a:defRPr>
            </a:lvl2pPr>
            <a:lvl3pPr marL="1143000" indent="-228600">
              <a:buNone/>
              <a:defRPr sz="2400">
                <a:solidFill>
                  <a:schemeClr val="tx1"/>
                </a:solidFill>
                <a:latin typeface="Arial"/>
                <a:ea typeface="Arial"/>
                <a:cs typeface="Arial"/>
              </a:defRPr>
            </a:lvl3pPr>
            <a:lvl4pPr marL="1600200" indent="-228600">
              <a:buNone/>
              <a:defRPr sz="2400">
                <a:solidFill>
                  <a:schemeClr val="tx1"/>
                </a:solidFill>
                <a:latin typeface="Arial"/>
                <a:ea typeface="Arial"/>
                <a:cs typeface="Arial"/>
              </a:defRPr>
            </a:lvl4pPr>
            <a:lvl5pPr marL="2057400" indent="-228600">
              <a:buNone/>
              <a:defRPr sz="2400">
                <a:solidFill>
                  <a:schemeClr val="tx1"/>
                </a:solidFill>
                <a:latin typeface="Arial"/>
                <a:ea typeface="Arial"/>
                <a:cs typeface="Arial"/>
              </a:defRPr>
            </a:lvl5pPr>
            <a:lvl6pPr marL="2514600" indent="-228600">
              <a:spcBef>
                <a:spcPct val="0"/>
              </a:spcBef>
              <a:spcAft>
                <a:spcPct val="0"/>
              </a:spcAft>
              <a:buNone/>
              <a:defRPr sz="2400">
                <a:solidFill>
                  <a:schemeClr val="tx1"/>
                </a:solidFill>
                <a:latin typeface="Arial"/>
                <a:ea typeface="Arial"/>
                <a:cs typeface="Arial"/>
              </a:defRPr>
            </a:lvl6pPr>
            <a:lvl7pPr marL="2971800" indent="-228600">
              <a:spcBef>
                <a:spcPct val="0"/>
              </a:spcBef>
              <a:spcAft>
                <a:spcPct val="0"/>
              </a:spcAft>
              <a:buNone/>
              <a:defRPr sz="2400">
                <a:solidFill>
                  <a:schemeClr val="tx1"/>
                </a:solidFill>
                <a:latin typeface="Arial"/>
                <a:ea typeface="Arial"/>
                <a:cs typeface="Arial"/>
              </a:defRPr>
            </a:lvl7pPr>
            <a:lvl8pPr marL="3429000" indent="-228600">
              <a:spcBef>
                <a:spcPct val="0"/>
              </a:spcBef>
              <a:spcAft>
                <a:spcPct val="0"/>
              </a:spcAft>
              <a:buNone/>
              <a:defRPr sz="2400">
                <a:solidFill>
                  <a:schemeClr val="tx1"/>
                </a:solidFill>
                <a:latin typeface="Arial"/>
                <a:ea typeface="Arial"/>
                <a:cs typeface="Arial"/>
              </a:defRPr>
            </a:lvl8pPr>
            <a:lvl9pPr marL="3886200" indent="-228600">
              <a:spcBef>
                <a:spcPct val="0"/>
              </a:spcBef>
              <a:spcAft>
                <a:spcPct val="0"/>
              </a:spcAft>
              <a:buNone/>
              <a:defRPr sz="2400">
                <a:solidFill>
                  <a:schemeClr val="tx1"/>
                </a:solidFill>
                <a:latin typeface="Arial"/>
                <a:ea typeface="Arial"/>
                <a:cs typeface="Arial"/>
              </a:defRPr>
            </a:lvl9pPr>
          </a:lstStyle>
          <a:p xmlns:a="http://schemas.openxmlformats.org/drawingml/2006/main">
            <a:pPr algn="r">
              <a:buNone/>
            </a:pPr>
            <a:r>
              <a:rPr sz="1400" b="1">
                <a:solidFill>
                  <a:srgbClr val="002B5E"/>
                </a:solidFill>
                <a:latin typeface="Georgia"/>
                <a:ea typeface="Georgia"/>
                <a:cs typeface="Georgia"/>
              </a:rPr>
              <a:t>Chemical and Petroleum Engineering Department</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d6eff18eed4aad"/>
    <p:sldLayoutId xmlns:r="http://schemas.openxmlformats.org/officeDocument/2006/relationships" id="2147483650" r:id="R2fd762d64a74404a"/>
    <p:sldLayoutId xmlns:r="http://schemas.openxmlformats.org/officeDocument/2006/relationships" id="2147483651" r:id="Rfc7c7579ca224a54"/>
    <p:sldLayoutId xmlns:r="http://schemas.openxmlformats.org/officeDocument/2006/relationships" id="2147483652" r:id="Rbc815d3523c149e2"/>
    <p:sldLayoutId xmlns:r="http://schemas.openxmlformats.org/officeDocument/2006/relationships" id="2147483653" r:id="Reb63b2e6256549c6"/>
    <p:sldLayoutId xmlns:r="http://schemas.openxmlformats.org/officeDocument/2006/relationships" id="2147483654" r:id="R74e4dbc7dd9f457f"/>
    <p:sldLayoutId xmlns:r="http://schemas.openxmlformats.org/officeDocument/2006/relationships" id="2147483655" r:id="Rce35bad7d04a4766"/>
    <p:sldLayoutId xmlns:r="http://schemas.openxmlformats.org/officeDocument/2006/relationships" id="2147483656" r:id="Rb9621a5d71f94d38"/>
    <p:sldLayoutId xmlns:r="http://schemas.openxmlformats.org/officeDocument/2006/relationships" id="2147483657" r:id="R79f366504bfa483c"/>
    <p:sldLayoutId xmlns:r="http://schemas.openxmlformats.org/officeDocument/2006/relationships" id="2147483658" r:id="Re0b25040bbfe4022"/>
    <p:sldLayoutId xmlns:r="http://schemas.openxmlformats.org/officeDocument/2006/relationships" id="2147483659" r:id="R50a36ef2d03d43f0"/>
  </p:sldLayoutIdLst>
  <p:hf sldNum="0" hdr="0"/>
  <p:txStyles>
    <p:titleStyle>
      <a:lvl1pPr xmlns:a="http://schemas.openxmlformats.org/drawingml/2006/main" algn="l">
        <a:spcBef>
          <a:spcPct val="0"/>
        </a:spcBef>
        <a:spcAft>
          <a:spcPct val="0"/>
        </a:spcAft>
        <a:buNone/>
        <a:defRPr sz="3600" b="1">
          <a:solidFill>
            <a:srgbClr val="948151"/>
          </a:solidFill>
          <a:latin typeface="+mj-lt"/>
          <a:ea typeface="+mj-lt"/>
          <a:cs typeface="+mj-lt"/>
        </a:defRPr>
      </a:lvl1pPr>
      <a:lvl2pPr xmlns:a="http://schemas.openxmlformats.org/drawingml/2006/main" algn="l">
        <a:spcBef>
          <a:spcPct val="0"/>
        </a:spcBef>
        <a:spcAft>
          <a:spcPct val="0"/>
        </a:spcAft>
        <a:buNone/>
        <a:defRPr sz="3600" b="1">
          <a:solidFill>
            <a:srgbClr val="948151"/>
          </a:solidFill>
          <a:latin typeface="Georgia"/>
          <a:ea typeface="Georgia"/>
          <a:cs typeface="Georgia"/>
        </a:defRPr>
      </a:lvl2pPr>
      <a:lvl3pPr xmlns:a="http://schemas.openxmlformats.org/drawingml/2006/main" algn="l">
        <a:spcBef>
          <a:spcPct val="0"/>
        </a:spcBef>
        <a:spcAft>
          <a:spcPct val="0"/>
        </a:spcAft>
        <a:buNone/>
        <a:defRPr sz="3600" b="1">
          <a:solidFill>
            <a:srgbClr val="948151"/>
          </a:solidFill>
          <a:latin typeface="Georgia"/>
          <a:ea typeface="Georgia"/>
          <a:cs typeface="Georgia"/>
        </a:defRPr>
      </a:lvl3pPr>
      <a:lvl4pPr xmlns:a="http://schemas.openxmlformats.org/drawingml/2006/main" algn="l">
        <a:spcBef>
          <a:spcPct val="0"/>
        </a:spcBef>
        <a:spcAft>
          <a:spcPct val="0"/>
        </a:spcAft>
        <a:buNone/>
        <a:defRPr sz="3600" b="1">
          <a:solidFill>
            <a:srgbClr val="948151"/>
          </a:solidFill>
          <a:latin typeface="Georgia"/>
          <a:ea typeface="Georgia"/>
          <a:cs typeface="Georgia"/>
        </a:defRPr>
      </a:lvl4pPr>
      <a:lvl5pPr xmlns:a="http://schemas.openxmlformats.org/drawingml/2006/main" algn="l">
        <a:spcBef>
          <a:spcPct val="0"/>
        </a:spcBef>
        <a:spcAft>
          <a:spcPct val="0"/>
        </a:spcAft>
        <a:buNone/>
        <a:defRPr sz="3600" b="1">
          <a:solidFill>
            <a:srgbClr val="948151"/>
          </a:solidFill>
          <a:latin typeface="Georgia"/>
          <a:ea typeface="Georgia"/>
          <a:cs typeface="Georgia"/>
        </a:defRPr>
      </a:lvl5pPr>
      <a:lvl6pPr xmlns:a="http://schemas.openxmlformats.org/drawingml/2006/main" marL="457200" algn="l">
        <a:spcBef>
          <a:spcPct val="0"/>
        </a:spcBef>
        <a:spcAft>
          <a:spcPct val="0"/>
        </a:spcAft>
        <a:buNone/>
        <a:defRPr sz="4400">
          <a:solidFill>
            <a:srgbClr val="003E7E"/>
          </a:solidFill>
          <a:latin typeface="Georgia"/>
          <a:ea typeface="Georgia"/>
          <a:cs typeface="Georgia"/>
        </a:defRPr>
      </a:lvl6pPr>
      <a:lvl7pPr xmlns:a="http://schemas.openxmlformats.org/drawingml/2006/main" marL="914400" algn="l">
        <a:spcBef>
          <a:spcPct val="0"/>
        </a:spcBef>
        <a:spcAft>
          <a:spcPct val="0"/>
        </a:spcAft>
        <a:buNone/>
        <a:defRPr sz="4400">
          <a:solidFill>
            <a:srgbClr val="003E7E"/>
          </a:solidFill>
          <a:latin typeface="Georgia"/>
          <a:ea typeface="Georgia"/>
          <a:cs typeface="Georgia"/>
        </a:defRPr>
      </a:lvl7pPr>
      <a:lvl8pPr xmlns:a="http://schemas.openxmlformats.org/drawingml/2006/main" marL="1371600" algn="l">
        <a:spcBef>
          <a:spcPct val="0"/>
        </a:spcBef>
        <a:spcAft>
          <a:spcPct val="0"/>
        </a:spcAft>
        <a:buNone/>
        <a:defRPr sz="4400">
          <a:solidFill>
            <a:srgbClr val="003E7E"/>
          </a:solidFill>
          <a:latin typeface="Georgia"/>
          <a:ea typeface="Georgia"/>
          <a:cs typeface="Georgia"/>
        </a:defRPr>
      </a:lvl8pPr>
      <a:lvl9pPr xmlns:a="http://schemas.openxmlformats.org/drawingml/2006/main" marL="1828800" algn="l">
        <a:spcBef>
          <a:spcPct val="0"/>
        </a:spcBef>
        <a:spcAft>
          <a:spcPct val="0"/>
        </a:spcAft>
        <a:buNone/>
        <a:defRPr sz="4400">
          <a:solidFill>
            <a:srgbClr val="003E7E"/>
          </a:solidFill>
          <a:latin typeface="Georgia"/>
          <a:ea typeface="Georgia"/>
          <a:cs typeface="Georgia"/>
        </a:defRPr>
      </a:lvl9pPr>
    </p:titleStyle>
    <p:bodyStyle>
      <a:lvl1pPr xmlns:a="http://schemas.openxmlformats.org/drawingml/2006/main" marL="342900" indent="-342900" algn="l">
        <a:spcBef>
          <a:spcPct val="20000"/>
        </a:spcBef>
        <a:spcAft>
          <a:spcPts val="600"/>
        </a:spcAft>
        <a:buClr>
          <a:srgbClr val="000000"/>
        </a:buClr>
        <a:buChar char="•"/>
        <a:defRPr sz="3200">
          <a:solidFill>
            <a:srgbClr val="002B5E"/>
          </a:solidFill>
          <a:latin typeface="+mn-lt"/>
          <a:ea typeface="+mn-lt"/>
          <a:cs typeface="+mn-lt"/>
        </a:defRPr>
      </a:lvl1pPr>
      <a:lvl2pPr xmlns:a="http://schemas.openxmlformats.org/drawingml/2006/main" marL="742950" indent="-285750" algn="l">
        <a:spcBef>
          <a:spcPct val="20000"/>
        </a:spcBef>
        <a:spcAft>
          <a:spcPts val="1200"/>
        </a:spcAft>
        <a:buClr>
          <a:srgbClr val="000000"/>
        </a:buClr>
        <a:buChar char="–"/>
        <a:defRPr sz="2800">
          <a:solidFill>
            <a:srgbClr val="002B5E"/>
          </a:solidFill>
          <a:latin typeface="+mn-lt"/>
          <a:ea typeface="+mn-lt"/>
          <a:cs typeface="+mn-lt"/>
        </a:defRPr>
      </a:lvl2pPr>
      <a:lvl3pPr xmlns:a="http://schemas.openxmlformats.org/drawingml/2006/main" marL="1143000" indent="-228600" algn="l">
        <a:spcBef>
          <a:spcPct val="20000"/>
        </a:spcBef>
        <a:spcAft>
          <a:spcPts val="1200"/>
        </a:spcAft>
        <a:buClr>
          <a:srgbClr val="000000"/>
        </a:buClr>
        <a:buChar char="•"/>
        <a:defRPr sz="2400">
          <a:solidFill>
            <a:srgbClr val="002B5E"/>
          </a:solidFill>
          <a:latin typeface="+mn-lt"/>
          <a:ea typeface="+mn-lt"/>
          <a:cs typeface="+mn-lt"/>
        </a:defRPr>
      </a:lvl3pPr>
      <a:lvl4pPr xmlns:a="http://schemas.openxmlformats.org/drawingml/2006/main" marL="1600200" indent="-228600" algn="l">
        <a:spcBef>
          <a:spcPct val="20000"/>
        </a:spcBef>
        <a:spcAft>
          <a:spcPts val="1200"/>
        </a:spcAft>
        <a:buClr>
          <a:srgbClr val="000000"/>
        </a:buClr>
        <a:buChar char="–"/>
        <a:defRPr sz="2000">
          <a:solidFill>
            <a:srgbClr val="002B5E"/>
          </a:solidFill>
          <a:latin typeface="+mn-lt"/>
          <a:ea typeface="+mn-lt"/>
          <a:cs typeface="+mn-lt"/>
        </a:defRPr>
      </a:lvl4pPr>
      <a:lvl5pPr xmlns:a="http://schemas.openxmlformats.org/drawingml/2006/main" marL="2057400" indent="-228600" algn="l">
        <a:spcBef>
          <a:spcPct val="20000"/>
        </a:spcBef>
        <a:spcAft>
          <a:spcPts val="1200"/>
        </a:spcAft>
        <a:buClr>
          <a:srgbClr val="000000"/>
        </a:buClr>
        <a:buChar char="»"/>
        <a:defRPr sz="2000">
          <a:solidFill>
            <a:srgbClr val="002B5E"/>
          </a:solidFill>
          <a:latin typeface="+mn-lt"/>
          <a:ea typeface="+mn-lt"/>
          <a:cs typeface="+mn-lt"/>
        </a:defRPr>
      </a:lvl5pPr>
      <a:lvl6pPr xmlns:a="http://schemas.openxmlformats.org/drawingml/2006/main" marL="2514600" indent="-228600" algn="l">
        <a:spcBef>
          <a:spcPct val="20000"/>
        </a:spcBef>
        <a:spcAft>
          <a:spcPct val="0"/>
        </a:spcAft>
        <a:buChar char="»"/>
        <a:defRPr sz="2000">
          <a:solidFill>
            <a:srgbClr val="003E7E"/>
          </a:solidFill>
          <a:latin typeface="+mn-lt"/>
          <a:ea typeface="+mn-lt"/>
          <a:cs typeface="+mn-lt"/>
        </a:defRPr>
      </a:lvl6pPr>
      <a:lvl7pPr xmlns:a="http://schemas.openxmlformats.org/drawingml/2006/main" marL="2971800" indent="-228600" algn="l">
        <a:spcBef>
          <a:spcPct val="20000"/>
        </a:spcBef>
        <a:spcAft>
          <a:spcPct val="0"/>
        </a:spcAft>
        <a:buChar char="»"/>
        <a:defRPr sz="2000">
          <a:solidFill>
            <a:srgbClr val="003E7E"/>
          </a:solidFill>
          <a:latin typeface="+mn-lt"/>
          <a:ea typeface="+mn-lt"/>
          <a:cs typeface="+mn-lt"/>
        </a:defRPr>
      </a:lvl7pPr>
      <a:lvl8pPr xmlns:a="http://schemas.openxmlformats.org/drawingml/2006/main" marL="3429000" indent="-228600" algn="l">
        <a:spcBef>
          <a:spcPct val="20000"/>
        </a:spcBef>
        <a:spcAft>
          <a:spcPct val="0"/>
        </a:spcAft>
        <a:buChar char="»"/>
        <a:defRPr sz="2000">
          <a:solidFill>
            <a:srgbClr val="003E7E"/>
          </a:solidFill>
          <a:latin typeface="+mn-lt"/>
          <a:ea typeface="+mn-lt"/>
          <a:cs typeface="+mn-lt"/>
        </a:defRPr>
      </a:lvl8pPr>
      <a:lvl9pPr xmlns:a="http://schemas.openxmlformats.org/drawingml/2006/main" marL="3886200" indent="-228600" algn="l">
        <a:spcBef>
          <a:spcPct val="20000"/>
        </a:spcBef>
        <a:spcAft>
          <a:spcPct val="0"/>
        </a:spcAft>
        <a:buChar char="»"/>
        <a:defRPr sz="2000">
          <a:solidFill>
            <a:srgbClr val="003E7E"/>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84350b2e7ea643ba" /><Relationship Type="http://schemas.openxmlformats.org/officeDocument/2006/relationships/notesSlide" Target="/ppt/notesSlides/notesSlide1.xml" Id="Ra2844559080948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ea738c66634493a" /><Relationship Type="http://schemas.openxmlformats.org/officeDocument/2006/relationships/image" Target="/ppt/media/image.png" Id="R54f4ca52cd0e46b1" /><Relationship Type="http://schemas.openxmlformats.org/officeDocument/2006/relationships/notesSlide" Target="/ppt/notesSlides/notesSlide2.xml" Id="R36de1b58abfd43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13f33002e5f4fe8" /><Relationship Type="http://schemas.openxmlformats.org/officeDocument/2006/relationships/notesSlide" Target="/ppt/notesSlides/notesSlide3.xml" Id="R08164c43726243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6fd07cb11284e52" /><Relationship Type="http://schemas.openxmlformats.org/officeDocument/2006/relationships/notesSlide" Target="/ppt/notesSlides/notesSlide4.xml" Id="Rf716e75dfa1a49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552c6b0907a467e" /><Relationship Type="http://schemas.openxmlformats.org/officeDocument/2006/relationships/notesSlide" Target="/ppt/notesSlides/notesSlide5.xml" Id="Rcd6d875985954c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461accf957c4a5d" /><Relationship Type="http://schemas.openxmlformats.org/officeDocument/2006/relationships/notesSlide" Target="/ppt/notesSlides/notesSlide6.xml" Id="R5fa68cedac754c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1fc777655d414601" /><Relationship Type="http://schemas.openxmlformats.org/officeDocument/2006/relationships/image" Target="/ppt/media/image2.png" Id="R3180ba6adf5c4dae" /><Relationship Type="http://schemas.openxmlformats.org/officeDocument/2006/relationships/image" Target="/ppt/media/image3.png" Id="Rffc691ebe17844c0" /><Relationship Type="http://schemas.openxmlformats.org/officeDocument/2006/relationships/notesSlide" Target="/ppt/notesSlides/notesSlide7.xml" Id="R156aeb8f4e6444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78f36f8f1da4e86" /><Relationship Type="http://schemas.openxmlformats.org/officeDocument/2006/relationships/image" Target="/ppt/media/image4.png" Id="R1b84eeb01e2549d2" /><Relationship Type="http://schemas.openxmlformats.org/officeDocument/2006/relationships/notesSlide" Target="/ppt/notesSlides/notesSlide8.xml" Id="Rf5b391a1baf14a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07c0902befc419b" /><Relationship Type="http://schemas.openxmlformats.org/officeDocument/2006/relationships/image" Target="/ppt/media/image5.png" Id="Raf83ad48157b4812" /><Relationship Type="http://schemas.openxmlformats.org/officeDocument/2006/relationships/image" Target="/ppt/media/image6.png" Id="R6fd31ec2742e48ed" /><Relationship Type="http://schemas.openxmlformats.org/officeDocument/2006/relationships/image" Target="/ppt/media/image7.png" Id="Rc3e957b92bcb4f32" /><Relationship Type="http://schemas.openxmlformats.org/officeDocument/2006/relationships/image" Target="/ppt/media/image8.png" Id="R5ef2c094f5644528" /><Relationship Type="http://schemas.openxmlformats.org/officeDocument/2006/relationships/image" Target="/ppt/media/image9.png" Id="Re56e8a2816be4505" /><Relationship Type="http://schemas.openxmlformats.org/officeDocument/2006/relationships/notesSlide" Target="/ppt/notesSlides/notesSlide9.xml" Id="R73eef7b76ead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c3fe2a2ca814db9" /><Relationship Type="http://schemas.openxmlformats.org/officeDocument/2006/relationships/notesSlide" Target="/ppt/notesSlides/notesSlide10.xml" Id="R0404e8580e7248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1add41adc9924feb" /><Relationship Type="http://schemas.openxmlformats.org/officeDocument/2006/relationships/image" Target="/ppt/media/image10.png" Id="R376e7321ebd44035" /><Relationship Type="http://schemas.openxmlformats.org/officeDocument/2006/relationships/image" Target="/ppt/media/image11.png" Id="Rc6da5eadd18d4842" /><Relationship Type="http://schemas.openxmlformats.org/officeDocument/2006/relationships/image" Target="/ppt/media/image12.png" Id="Raeffa8e194ec41f7" /><Relationship Type="http://schemas.openxmlformats.org/officeDocument/2006/relationships/notesSlide" Target="/ppt/notesSlides/notesSlide11.xml" Id="Rcc85247575ca44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87aa6e337d54763" /><Relationship Type="http://schemas.openxmlformats.org/officeDocument/2006/relationships/notesSlide" Target="/ppt/notesSlides/notesSlide12.xml" Id="R67457e7ea5024a5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fa80032e27dd46af" /><Relationship Type="http://schemas.openxmlformats.org/officeDocument/2006/relationships/notesSlide" Target="/ppt/notesSlides/notesSlide13.xml" Id="R64765fd8a1fc40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da69fc73eebf4a66" /><Relationship Type="http://schemas.openxmlformats.org/officeDocument/2006/relationships/chart" Target="/ppt/slides/charts/chart1.xml" Id="Rfb8fe7e2ae5e4459" /><Relationship Type="http://schemas.openxmlformats.org/officeDocument/2006/relationships/notesSlide" Target="/ppt/notesSlides/notesSlide14.xml" Id="Rbf42ff9c3bf24c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becf4923f2f34acb" /><Relationship Type="http://schemas.openxmlformats.org/officeDocument/2006/relationships/chart" Target="/ppt/slides/charts/chart2.xml" Id="R593a85414e484dff" /><Relationship Type="http://schemas.openxmlformats.org/officeDocument/2006/relationships/notesSlide" Target="/ppt/notesSlides/notesSlide15.xml" Id="R532ca34beb2547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d25588b6c90c4546" /><Relationship Type="http://schemas.openxmlformats.org/officeDocument/2006/relationships/chart" Target="/ppt/slides/charts/chart3.xml" Id="R6b11ed4ac3c54433" /><Relationship Type="http://schemas.openxmlformats.org/officeDocument/2006/relationships/notesSlide" Target="/ppt/notesSlides/notesSlide16.xml" Id="Rb287efe6aa7148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431c87bc3344019" /><Relationship Type="http://schemas.openxmlformats.org/officeDocument/2006/relationships/chart" Target="/ppt/slides/charts/chart4.xml" Id="R6a0633eaf1774564" /><Relationship Type="http://schemas.openxmlformats.org/officeDocument/2006/relationships/chart" Target="/ppt/slides/charts/chart5.xml" Id="R84236ab761b64fa3" /><Relationship Type="http://schemas.openxmlformats.org/officeDocument/2006/relationships/image" Target="/ppt/media/image13.png" Id="Rd26832fca0df4bc7" /><Relationship Type="http://schemas.openxmlformats.org/officeDocument/2006/relationships/image" Target="/ppt/media/image14.png" Id="R0c21a2744f5c4d8a" /><Relationship Type="http://schemas.openxmlformats.org/officeDocument/2006/relationships/notesSlide" Target="/ppt/notesSlides/notesSlide17.xml" Id="Ra1a4092786b147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20e7e0397dc4c03" /><Relationship Type="http://schemas.openxmlformats.org/officeDocument/2006/relationships/chart" Target="/ppt/slides/charts/chart6.xml" Id="R574d2a569bf94a0c" /><Relationship Type="http://schemas.openxmlformats.org/officeDocument/2006/relationships/notesSlide" Target="/ppt/notesSlides/notesSlide18.xml" Id="R0a1ce5a4ced743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8968791cf5e34ec3" /><Relationship Type="http://schemas.openxmlformats.org/officeDocument/2006/relationships/chart" Target="/ppt/slides/charts/chart7.xml" Id="Rdb2b54e7b03a4c6b" /><Relationship Type="http://schemas.openxmlformats.org/officeDocument/2006/relationships/chart" Target="/ppt/slides/charts/chart8.xml" Id="R3d6d3ae266664653" /><Relationship Type="http://schemas.openxmlformats.org/officeDocument/2006/relationships/notesSlide" Target="/ppt/notesSlides/notesSlide19.xml" Id="R3ef41c7238534b1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5e6a6e4b9614486c" /><Relationship Type="http://schemas.openxmlformats.org/officeDocument/2006/relationships/notesSlide" Target="/ppt/notesSlides/notesSlide20.xml" Id="R17145f8d0eb747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728b6d8d004b47f8" /><Relationship Type="http://schemas.openxmlformats.org/officeDocument/2006/relationships/notesSlide" Target="/ppt/notesSlides/notesSlide21.xml" Id="R517d1bdbb3a34e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859d25466e314239" /><Relationship Type="http://schemas.openxmlformats.org/officeDocument/2006/relationships/notesSlide" Target="/ppt/notesSlides/notesSlide22.xml" Id="R2e517bb6fdb64e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a57fafe46e484501" /><Relationship Type="http://schemas.openxmlformats.org/officeDocument/2006/relationships/notesSlide" Target="/ppt/notesSlides/notesSlide23.xml" Id="Ra5fccea539b845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70eb7b3ddb10443f" /><Relationship Type="http://schemas.openxmlformats.org/officeDocument/2006/relationships/hyperlink" Target="https://doi.org/10.1016/j.jcp.2018.10.045" TargetMode="External" Id="R51d4308b4de6474c" /><Relationship Type="http://schemas.openxmlformats.org/officeDocument/2006/relationships/hyperlink" Target="https://arxiv.org/abs/2102.04626" TargetMode="External" Id="R14d3ac644595494d" /><Relationship Type="http://schemas.openxmlformats.org/officeDocument/2006/relationships/hyperlink" Target="https://doi.org/10.1137/20M1318043" TargetMode="External" Id="R81773eb6f9954541" /><Relationship Type="http://schemas.openxmlformats.org/officeDocument/2006/relationships/hyperlink" Target="https://doi.org/10.1016/j.cma.2021.113938" TargetMode="External" Id="Ra21737e211794df5" /><Relationship Type="http://schemas.openxmlformats.org/officeDocument/2006/relationships/hyperlink" Target="https://doi.org/10.1016/j.jcp.2020.109913" TargetMode="External" Id="R2073fc25d7834ede" /><Relationship Type="http://schemas.openxmlformats.org/officeDocument/2006/relationships/hyperlink" Target="https://www.nature.com/articles/s42256-021-00302-5" TargetMode="External" Id="Ree54ded954a74bac" /><Relationship Type="http://schemas.openxmlformats.org/officeDocument/2006/relationships/hyperlink" Target="https://arxiv.org/abs/2010.08895" TargetMode="External" Id="R942b70496e8a4d2e" /><Relationship Type="http://schemas.openxmlformats.org/officeDocument/2006/relationships/hyperlink" Target="https://github.com/aadams2006/Pitt-ML-MSE-Project/pull/6" TargetMode="External" Id="R8807c6f0d3674f89" /><Relationship Type="http://schemas.openxmlformats.org/officeDocument/2006/relationships/notesSlide" Target="/ppt/notesSlides/notesSlide24.xml" Id="R861b0e4030674d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Held-out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0.122251174504</c:v>
                </c:pt>
                <c:pt idx="1">
                  <c:v>0.122413918793</c:v>
                </c:pt>
                <c:pt idx="2">
                  <c:v>0.211947087379</c:v>
                </c:pt>
                <c:pt idx="3">
                  <c:v>0.0669798898392</c:v>
                </c:pt>
                <c:pt idx="4">
                  <c:v>0.0649327549626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25"/>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Bonded thickness at held-out concentrations</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scatterChart>
        <c:scatterStyle val="marker"/>
        <c:varyColors val="0"/>
        <c:ser>
          <c:idx val="0"/>
          <c:order val="0"/>
          <c:tx>
            <c:v>Observed</c:v>
          </c:tx>
          <c:spPr>
            <a:ln xmlns:a="http://schemas.openxmlformats.org/drawingml/2006/main" w="0">
              <a:noFill/>
            </a:ln>
          </c:spPr>
          <c:marker>
            <c:symbol val="circle"/>
            <c:size val="6"/>
            <c:spPr>
              <a:solidFill xmlns:a="http://schemas.openxmlformats.org/drawingml/2006/main">
                <a:srgbClr val="65717B"/>
              </a:solidFill>
            </c:spPr>
          </c:marker>
          <c:xVal>
            <c:numRef>
              <c:f>'Chart Data'!$A$2:$A$11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Data'!$B$2:$B$11</c:f>
              <c:numCache>
                <c:formatCode>0.0</c:formatCode>
                <c:ptCount val="10"/>
                <c:pt idx="0">
                  <c:v>0.55</c:v>
                </c:pt>
                <c:pt idx="1">
                  <c:v>0.56</c:v>
                </c:pt>
                <c:pt idx="2">
                  <c:v>0.57</c:v>
                </c:pt>
                <c:pt idx="3">
                  <c:v>0.56</c:v>
                </c:pt>
                <c:pt idx="4">
                  <c:v>0.55</c:v>
                </c:pt>
                <c:pt idx="5">
                  <c:v>0.55</c:v>
                </c:pt>
                <c:pt idx="6">
                  <c:v>0.5</c:v>
                </c:pt>
                <c:pt idx="7">
                  <c:v>0.53</c:v>
                </c:pt>
                <c:pt idx="8">
                  <c:v>0.52</c:v>
                </c:pt>
                <c:pt idx="9">
                  <c:v>0.51</c:v>
                </c:pt>
              </c:numCache>
            </c:numRef>
          </c:yVal>
        </c:ser>
        <c:ser>
          <c:idx val="1"/>
          <c:order val="1"/>
          <c:tx>
            <c:v>PINN</c:v>
          </c:tx>
          <c:spPr>
            <a:ln xmlns:a="http://schemas.openxmlformats.org/drawingml/2006/main" w="0">
              <a:noFill/>
            </a:ln>
          </c:spPr>
          <c:marker>
            <c:symbol val="diamond"/>
            <c:size val="6"/>
            <c:spPr>
              <a:solidFill xmlns:a="http://schemas.openxmlformats.org/drawingml/2006/main">
                <a:srgbClr val="B49A45"/>
              </a:solidFill>
            </c:spPr>
          </c:marker>
          <c:xVal>
            <c:numRef>
              <c:f>'Chart Data'!$C$2:$C$11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Data'!$D$2:$D$11</c:f>
              <c:numCache>
                <c:formatCode>0.0</c:formatCode>
                <c:ptCount val="10"/>
                <c:pt idx="0">
                  <c:v>0.56907463</c:v>
                </c:pt>
                <c:pt idx="1">
                  <c:v>0.5641197</c:v>
                </c:pt>
                <c:pt idx="2">
                  <c:v>0.5681376</c:v>
                </c:pt>
                <c:pt idx="3">
                  <c:v>0.72506624</c:v>
                </c:pt>
                <c:pt idx="4">
                  <c:v>0.7303391</c:v>
                </c:pt>
                <c:pt idx="5">
                  <c:v>0.74429506</c:v>
                </c:pt>
                <c:pt idx="6">
                  <c:v>1.3099606</c:v>
                </c:pt>
                <c:pt idx="7">
                  <c:v>1.2968558</c:v>
                </c:pt>
                <c:pt idx="8">
                  <c:v>1.3546778</c:v>
                </c:pt>
                <c:pt idx="9">
                  <c:v>1.8386797</c:v>
                </c:pt>
              </c:numCache>
            </c:numRef>
          </c:yVal>
        </c:ser>
        <c:ser>
          <c:idx val="2"/>
          <c:order val="2"/>
          <c:tx>
            <c:v>RF</c:v>
          </c:tx>
          <c:spPr>
            <a:ln xmlns:a="http://schemas.openxmlformats.org/drawingml/2006/main" w="0">
              <a:noFill/>
            </a:ln>
          </c:spPr>
          <c:marker>
            <c:symbol val="square"/>
            <c:size val="5"/>
            <c:spPr>
              <a:solidFill xmlns:a="http://schemas.openxmlformats.org/drawingml/2006/main">
                <a:srgbClr val="002B5E"/>
              </a:solidFill>
            </c:spPr>
          </c:marker>
          <c:xVal>
            <c:numRef>
              <c:f>'Chart Data'!$E$2:$E$11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Data'!$F$2:$F$11</c:f>
              <c:numCache>
                <c:formatCode>0.0</c:formatCode>
                <c:ptCount val="10"/>
                <c:pt idx="0">
                  <c:v>0.579423108466</c:v>
                </c:pt>
                <c:pt idx="1">
                  <c:v>0.580101441799</c:v>
                </c:pt>
                <c:pt idx="2">
                  <c:v>0.579423108466</c:v>
                </c:pt>
                <c:pt idx="3">
                  <c:v>0.579423108466</c:v>
                </c:pt>
                <c:pt idx="4">
                  <c:v>0.580101441799</c:v>
                </c:pt>
                <c:pt idx="5">
                  <c:v>0.580101441799</c:v>
                </c:pt>
                <c:pt idx="6">
                  <c:v>0.499368168591</c:v>
                </c:pt>
                <c:pt idx="7">
                  <c:v>0.499368168591</c:v>
                </c:pt>
                <c:pt idx="8">
                  <c:v>0.499368168591</c:v>
                </c:pt>
                <c:pt idx="9">
                  <c:v>0.570919464887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3"/>
        </c:scaling>
        <c:delete val="0"/>
        <c:axPos val="l"/>
        <c:majorGridlines>
          <c:spPr>
            <a:ln xmlns:a="http://schemas.openxmlformats.org/drawingml/2006/main" w="5715">
              <a:solidFill>
                <a:srgbClr val="E3E8ED"/>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
          <c:min val="2"/>
        </c:scaling>
        <c:delete val="0"/>
        <c:axPos val="b"/>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Recorded concentration</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holdout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0.0557184336452</c:v>
                </c:pt>
                <c:pt idx="1">
                  <c:v>0.0551370011058</c:v>
                </c:pt>
                <c:pt idx="2">
                  <c:v>0.0541327713898</c:v>
                </c:pt>
                <c:pt idx="3">
                  <c:v>0.0359033641316</c:v>
                </c:pt>
                <c:pt idx="4">
                  <c:v>0.0747828628055</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09"/>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PINN</c:v>
          </c:tx>
          <c:spPr>
            <a:ln xmlns:a="http://schemas.openxmlformats.org/drawingml/2006/main" w="0">
              <a:noFill/>
            </a:ln>
          </c:spPr>
          <c:marker>
            <c:symbol val="circle"/>
            <c:size val="4"/>
            <c:spPr>
              <a:solidFill xmlns:a="http://schemas.openxmlformats.org/drawingml/2006/main">
                <a:srgbClr val="B49A45"/>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0.59696734</c:v>
                </c:pt>
                <c:pt idx="1">
                  <c:v>0.5486745</c:v>
                </c:pt>
                <c:pt idx="2">
                  <c:v>0.34996343</c:v>
                </c:pt>
                <c:pt idx="3">
                  <c:v>0.48975813</c:v>
                </c:pt>
                <c:pt idx="4">
                  <c:v>0.59696734</c:v>
                </c:pt>
                <c:pt idx="5">
                  <c:v>0.49593437</c:v>
                </c:pt>
                <c:pt idx="6">
                  <c:v>0.60311306</c:v>
                </c:pt>
                <c:pt idx="7">
                  <c:v>0.5283603</c:v>
                </c:pt>
                <c:pt idx="8">
                  <c:v>0.60311306</c:v>
                </c:pt>
                <c:pt idx="9">
                  <c:v>0.5024233</c:v>
                </c:pt>
                <c:pt idx="10">
                  <c:v>0.5486745</c:v>
                </c:pt>
                <c:pt idx="11">
                  <c:v>0.49593437</c:v>
                </c:pt>
                <c:pt idx="12">
                  <c:v>0.546766</c:v>
                </c:pt>
                <c:pt idx="13">
                  <c:v>0.5486745</c:v>
                </c:pt>
                <c:pt idx="14">
                  <c:v>0.60311306</c:v>
                </c:pt>
                <c:pt idx="15">
                  <c:v>0.36521357</c:v>
                </c:pt>
                <c:pt idx="16">
                  <c:v>0.59696734</c:v>
                </c:pt>
                <c:pt idx="17">
                  <c:v>0.60311306</c:v>
                </c:pt>
                <c:pt idx="18">
                  <c:v>0.6356003</c:v>
                </c:pt>
                <c:pt idx="19">
                  <c:v>0.5450106</c:v>
                </c:pt>
                <c:pt idx="20">
                  <c:v>0.5370819</c:v>
                </c:pt>
                <c:pt idx="21">
                  <c:v>0.56144875</c:v>
                </c:pt>
                <c:pt idx="22">
                  <c:v>0.50907737</c:v>
                </c:pt>
                <c:pt idx="23">
                  <c:v>0.343968</c:v>
                </c:pt>
                <c:pt idx="24">
                  <c:v>0.50547767</c:v>
                </c:pt>
                <c:pt idx="25">
                  <c:v>0.6098168</c:v>
                </c:pt>
                <c:pt idx="26">
                  <c:v>0.59196347</c:v>
                </c:pt>
                <c:pt idx="27">
                  <c:v>0.52718467</c:v>
                </c:pt>
                <c:pt idx="28">
                  <c:v>0.5582989</c:v>
                </c:pt>
                <c:pt idx="29">
                  <c:v>0.6326119</c:v>
                </c:pt>
                <c:pt idx="30">
                  <c:v>0.5139351</c:v>
                </c:pt>
                <c:pt idx="31">
                  <c:v>0.552439</c:v>
                </c:pt>
                <c:pt idx="32">
                  <c:v>0.56615996</c:v>
                </c:pt>
                <c:pt idx="33">
                  <c:v>0.5166878</c:v>
                </c:pt>
                <c:pt idx="34">
                  <c:v>0.57790685</c:v>
                </c:pt>
                <c:pt idx="35">
                  <c:v>0.53585434</c:v>
                </c:pt>
                <c:pt idx="36">
                  <c:v>0.5123666</c:v>
                </c:pt>
                <c:pt idx="37">
                  <c:v>0.540307</c:v>
                </c:pt>
                <c:pt idx="38">
                  <c:v>0.5067889</c:v>
                </c:pt>
                <c:pt idx="39">
                  <c:v>0.5145946</c:v>
                </c:pt>
                <c:pt idx="40">
                  <c:v>0.56844705</c:v>
                </c:pt>
                <c:pt idx="41">
                  <c:v>0.5704627</c:v>
                </c:pt>
                <c:pt idx="42">
                  <c:v>0.37184486</c:v>
                </c:pt>
                <c:pt idx="43">
                  <c:v>0.595492</c:v>
                </c:pt>
                <c:pt idx="44">
                  <c:v>0.3755845</c:v>
                </c:pt>
                <c:pt idx="45">
                  <c:v>0.55729574</c:v>
                </c:pt>
                <c:pt idx="46">
                  <c:v>0.5595283</c:v>
                </c:pt>
                <c:pt idx="47">
                  <c:v>0.41618788</c:v>
                </c:pt>
                <c:pt idx="48">
                  <c:v>0.603833</c:v>
                </c:pt>
                <c:pt idx="49">
                  <c:v>0.39425188</c:v>
                </c:pt>
                <c:pt idx="50">
                  <c:v>0.5997098</c:v>
                </c:pt>
                <c:pt idx="51">
                  <c:v>0.5571774</c:v>
                </c:pt>
                <c:pt idx="52">
                  <c:v>0.5564956</c:v>
                </c:pt>
                <c:pt idx="53">
                  <c:v>0.51107764</c:v>
                </c:pt>
                <c:pt idx="54">
                  <c:v>0.4143212</c:v>
                </c:pt>
                <c:pt idx="55">
                  <c:v>0.5766692</c:v>
                </c:pt>
                <c:pt idx="56">
                  <c:v>0.56272614</c:v>
                </c:pt>
                <c:pt idx="57">
                  <c:v>0.5460838</c:v>
                </c:pt>
                <c:pt idx="58">
                  <c:v>0.5398583</c:v>
                </c:pt>
                <c:pt idx="59">
                  <c:v>0.5580388</c:v>
                </c:pt>
                <c:pt idx="60">
                  <c:v>0.5481931</c:v>
                </c:pt>
                <c:pt idx="61">
                  <c:v>0.5656163</c:v>
                </c:pt>
                <c:pt idx="62">
                  <c:v>0.5316548</c:v>
                </c:pt>
                <c:pt idx="63">
                  <c:v>0.5165249</c:v>
                </c:pt>
                <c:pt idx="64">
                  <c:v>0.5595182</c:v>
                </c:pt>
                <c:pt idx="65">
                  <c:v>0.36208704</c:v>
                </c:pt>
                <c:pt idx="66">
                  <c:v>0.5524334</c:v>
                </c:pt>
                <c:pt idx="67">
                  <c:v>0.47222742</c:v>
                </c:pt>
                <c:pt idx="68">
                  <c:v>0.5273232</c:v>
                </c:pt>
                <c:pt idx="69">
                  <c:v>0.57198775</c:v>
                </c:pt>
                <c:pt idx="70">
                  <c:v>0.5097155</c:v>
                </c:pt>
                <c:pt idx="71">
                  <c:v>0.4059473</c:v>
                </c:pt>
                <c:pt idx="72">
                  <c:v>0.36165175</c:v>
                </c:pt>
                <c:pt idx="73">
                  <c:v>0.5441243</c:v>
                </c:pt>
                <c:pt idx="74">
                  <c:v>0.6152657</c:v>
                </c:pt>
                <c:pt idx="75">
                  <c:v>0.5703117</c:v>
                </c:pt>
                <c:pt idx="76">
                  <c:v>0.51757437</c:v>
                </c:pt>
                <c:pt idx="77">
                  <c:v>0.5546082</c:v>
                </c:pt>
                <c:pt idx="78">
                  <c:v>0.57271194</c:v>
                </c:pt>
                <c:pt idx="79">
                  <c:v>0.36111122</c:v>
                </c:pt>
                <c:pt idx="80">
                  <c:v>0.5383311</c:v>
                </c:pt>
                <c:pt idx="81">
                  <c:v>0.56072354</c:v>
                </c:pt>
                <c:pt idx="82">
                  <c:v>0.525246</c:v>
                </c:pt>
                <c:pt idx="83">
                  <c:v>0.5754508</c:v>
                </c:pt>
                <c:pt idx="84">
                  <c:v>0.5475229</c:v>
                </c:pt>
                <c:pt idx="85">
                  <c:v>0.53858346</c:v>
                </c:pt>
                <c:pt idx="86">
                  <c:v>0.53884727</c:v>
                </c:pt>
                <c:pt idx="87">
                  <c:v>0.5266072</c:v>
                </c:pt>
                <c:pt idx="88">
                  <c:v>0.50878423</c:v>
                </c:pt>
                <c:pt idx="89">
                  <c:v>0.4466353</c:v>
                </c:pt>
                <c:pt idx="90">
                  <c:v>0.45149878</c:v>
                </c:pt>
                <c:pt idx="91">
                  <c:v>0.34461737</c:v>
                </c:pt>
                <c:pt idx="92">
                  <c:v>0.47793487</c:v>
                </c:pt>
                <c:pt idx="93">
                  <c:v>0.5675328</c:v>
                </c:pt>
                <c:pt idx="94">
                  <c:v>0.5718567</c:v>
                </c:pt>
                <c:pt idx="95">
                  <c:v>0.5542081</c:v>
                </c:pt>
                <c:pt idx="96">
                  <c:v>0.50970703</c:v>
                </c:pt>
                <c:pt idx="97">
                  <c:v>0.501267</c:v>
                </c:pt>
                <c:pt idx="98">
                  <c:v>0.46750587</c:v>
                </c:pt>
                <c:pt idx="99">
                  <c:v>0.40739208</c:v>
                </c:pt>
                <c:pt idx="100">
                  <c:v>0.36329666</c:v>
                </c:pt>
                <c:pt idx="101">
                  <c:v>0.5340791</c:v>
                </c:pt>
                <c:pt idx="102">
                  <c:v>0.63416725</c:v>
                </c:pt>
                <c:pt idx="103">
                  <c:v>0.5491251</c:v>
                </c:pt>
                <c:pt idx="104">
                  <c:v>0.5903047</c:v>
                </c:pt>
                <c:pt idx="105">
                  <c:v>0.433425</c:v>
                </c:pt>
                <c:pt idx="106">
                  <c:v>0.5062768</c:v>
                </c:pt>
                <c:pt idx="107">
                  <c:v>0.52567065</c:v>
                </c:pt>
                <c:pt idx="108">
                  <c:v>0.37356365</c:v>
                </c:pt>
                <c:pt idx="109">
                  <c:v>0.48010248</c:v>
                </c:pt>
                <c:pt idx="110">
                  <c:v>0.55518</c:v>
                </c:pt>
                <c:pt idx="111">
                  <c:v>0.513375</c:v>
                </c:pt>
                <c:pt idx="112">
                  <c:v>0.53191835</c:v>
                </c:pt>
                <c:pt idx="113">
                  <c:v>0.5682764</c:v>
                </c:pt>
                <c:pt idx="114">
                  <c:v>0.36433268</c:v>
                </c:pt>
                <c:pt idx="115">
                  <c:v>0.5343763</c:v>
                </c:pt>
                <c:pt idx="116">
                  <c:v>0.5404621</c:v>
                </c:pt>
                <c:pt idx="117">
                  <c:v>0.5390822</c:v>
                </c:pt>
                <c:pt idx="118">
                  <c:v>0.6064009</c:v>
                </c:pt>
                <c:pt idx="119">
                  <c:v>0.5109565</c:v>
                </c:pt>
                <c:pt idx="120">
                  <c:v>0.630664</c:v>
                </c:pt>
                <c:pt idx="121">
                  <c:v>0.3624343</c:v>
                </c:pt>
                <c:pt idx="122">
                  <c:v>0.5764871</c:v>
                </c:pt>
                <c:pt idx="123">
                  <c:v>0.5563527</c:v>
                </c:pt>
                <c:pt idx="124">
                  <c:v>0.5329247</c:v>
                </c:pt>
                <c:pt idx="125">
                  <c:v>0.5579428</c:v>
                </c:pt>
                <c:pt idx="126">
                  <c:v>0.5121247</c:v>
                </c:pt>
                <c:pt idx="127">
                  <c:v>0.44877568</c:v>
                </c:pt>
                <c:pt idx="128">
                  <c:v>0.37329012</c:v>
                </c:pt>
                <c:pt idx="129">
                  <c:v>0.56026417</c:v>
                </c:pt>
                <c:pt idx="130">
                  <c:v>0.55419606</c:v>
                </c:pt>
                <c:pt idx="131">
                  <c:v>0.5927572</c:v>
                </c:pt>
                <c:pt idx="132">
                  <c:v>0.6110346</c:v>
                </c:pt>
                <c:pt idx="133">
                  <c:v>0.5148594</c:v>
                </c:pt>
                <c:pt idx="134">
                  <c:v>0.47473273</c:v>
                </c:pt>
                <c:pt idx="135">
                  <c:v>0.6277075</c:v>
                </c:pt>
                <c:pt idx="136">
                  <c:v>0.5484341</c:v>
                </c:pt>
                <c:pt idx="137">
                  <c:v>0.5190001</c:v>
                </c:pt>
                <c:pt idx="138">
                  <c:v>0.38325247</c:v>
                </c:pt>
                <c:pt idx="139">
                  <c:v>0.50751513</c:v>
                </c:pt>
                <c:pt idx="140">
                  <c:v>0.5177406</c:v>
                </c:pt>
                <c:pt idx="141">
                  <c:v>0.40173277</c:v>
                </c:pt>
                <c:pt idx="142">
                  <c:v>0.6261041</c:v>
                </c:pt>
                <c:pt idx="143">
                  <c:v>0.6167446</c:v>
                </c:pt>
                <c:pt idx="144">
                  <c:v>0.5315027</c:v>
                </c:pt>
                <c:pt idx="145">
                  <c:v>0.5168186</c:v>
                </c:pt>
                <c:pt idx="146">
                  <c:v>0.501859</c:v>
                </c:pt>
                <c:pt idx="147">
                  <c:v>0.5253377</c:v>
                </c:pt>
                <c:pt idx="148">
                  <c:v>0.62950474</c:v>
                </c:pt>
                <c:pt idx="149">
                  <c:v>0.5478795</c:v>
                </c:pt>
                <c:pt idx="150">
                  <c:v>0.5704499</c:v>
                </c:pt>
                <c:pt idx="151">
                  <c:v>0.56248915</c:v>
                </c:pt>
                <c:pt idx="152">
                  <c:v>0.55152225</c:v>
                </c:pt>
                <c:pt idx="153">
                  <c:v>0.5570139</c:v>
                </c:pt>
                <c:pt idx="154">
                  <c:v>0.56267244</c:v>
                </c:pt>
                <c:pt idx="155">
                  <c:v>0.6154517</c:v>
                </c:pt>
                <c:pt idx="156">
                  <c:v>0.59457624</c:v>
                </c:pt>
                <c:pt idx="157">
                  <c:v>0.7741603</c:v>
                </c:pt>
                <c:pt idx="158">
                  <c:v>0.78898036</c:v>
                </c:pt>
                <c:pt idx="159">
                  <c:v>0.31024674</c:v>
                </c:pt>
                <c:pt idx="160">
                  <c:v>0.3109943</c:v>
                </c:pt>
                <c:pt idx="161">
                  <c:v>0.33040112</c:v>
                </c:pt>
                <c:pt idx="162">
                  <c:v>0.6162786</c:v>
                </c:pt>
                <c:pt idx="163">
                  <c:v>0.75064796</c:v>
                </c:pt>
                <c:pt idx="164">
                  <c:v>0.31977916</c:v>
                </c:pt>
                <c:pt idx="165">
                  <c:v>0.30681708</c:v>
                </c:pt>
                <c:pt idx="166">
                  <c:v>0.64002573</c:v>
                </c:pt>
                <c:pt idx="167">
                  <c:v>0.3188815</c:v>
                </c:pt>
                <c:pt idx="168">
                  <c:v>0.34968445</c:v>
                </c:pt>
                <c:pt idx="169">
                  <c:v>0.3102258</c:v>
                </c:pt>
                <c:pt idx="170">
                  <c:v>0.351761</c:v>
                </c:pt>
                <c:pt idx="171">
                  <c:v>0.98227185</c:v>
                </c:pt>
                <c:pt idx="172">
                  <c:v>0.31111902</c:v>
                </c:pt>
                <c:pt idx="173">
                  <c:v>0.5412023</c:v>
                </c:pt>
                <c:pt idx="174">
                  <c:v>0.320608</c:v>
                </c:pt>
                <c:pt idx="175">
                  <c:v>0.34373486</c:v>
                </c:pt>
                <c:pt idx="176">
                  <c:v>0.9369762</c:v>
                </c:pt>
                <c:pt idx="177">
                  <c:v>0.6574708</c:v>
                </c:pt>
                <c:pt idx="178">
                  <c:v>0.9585298</c:v>
                </c:pt>
                <c:pt idx="179">
                  <c:v>0.30756852</c:v>
                </c:pt>
                <c:pt idx="180">
                  <c:v>0.28737414</c:v>
                </c:pt>
                <c:pt idx="181">
                  <c:v>0.6264132</c:v>
                </c:pt>
                <c:pt idx="182">
                  <c:v>0.31119606</c:v>
                </c:pt>
                <c:pt idx="183">
                  <c:v>0.7657151</c:v>
                </c:pt>
                <c:pt idx="184">
                  <c:v>0.6432699</c:v>
                </c:pt>
                <c:pt idx="185">
                  <c:v>0.33270204</c:v>
                </c:pt>
                <c:pt idx="186">
                  <c:v>0.45352426</c:v>
                </c:pt>
                <c:pt idx="187">
                  <c:v>0.58496237</c:v>
                </c:pt>
                <c:pt idx="188">
                  <c:v>0.5745471</c:v>
                </c:pt>
                <c:pt idx="189">
                  <c:v>0.3837499</c:v>
                </c:pt>
                <c:pt idx="190">
                  <c:v>0.91348404</c:v>
                </c:pt>
                <c:pt idx="191">
                  <c:v>0.31157997</c:v>
                </c:pt>
                <c:pt idx="192">
                  <c:v>1.007314</c:v>
                </c:pt>
                <c:pt idx="193">
                  <c:v>0.3410277</c:v>
                </c:pt>
                <c:pt idx="194">
                  <c:v>0.3231</c:v>
                </c:pt>
                <c:pt idx="195">
                  <c:v>0.6441148</c:v>
                </c:pt>
                <c:pt idx="196">
                  <c:v>0.75160974</c:v>
                </c:pt>
                <c:pt idx="197">
                  <c:v>0.679096</c:v>
                </c:pt>
                <c:pt idx="198">
                  <c:v>0.3170719</c:v>
                </c:pt>
                <c:pt idx="199">
                  <c:v>0.30580547</c:v>
                </c:pt>
                <c:pt idx="200">
                  <c:v>1.0678182</c:v>
                </c:pt>
                <c:pt idx="201">
                  <c:v>1.0109125</c:v>
                </c:pt>
                <c:pt idx="202">
                  <c:v>0.9420595</c:v>
                </c:pt>
                <c:pt idx="203">
                  <c:v>0.32290617</c:v>
                </c:pt>
                <c:pt idx="204">
                  <c:v>0.75941753</c:v>
                </c:pt>
                <c:pt idx="205">
                  <c:v>0.44870865</c:v>
                </c:pt>
                <c:pt idx="206">
                  <c:v>0.66289204</c:v>
                </c:pt>
                <c:pt idx="207">
                  <c:v>0.63752294</c:v>
                </c:pt>
                <c:pt idx="208">
                  <c:v>0.29120874</c:v>
                </c:pt>
                <c:pt idx="209">
                  <c:v>0.3695116</c:v>
                </c:pt>
                <c:pt idx="210">
                  <c:v>0.35971785</c:v>
                </c:pt>
                <c:pt idx="211">
                  <c:v>0.72831947</c:v>
                </c:pt>
                <c:pt idx="212">
                  <c:v>0.3184255</c:v>
                </c:pt>
                <c:pt idx="213">
                  <c:v>0.4530694</c:v>
                </c:pt>
                <c:pt idx="214">
                  <c:v>0.6370243</c:v>
                </c:pt>
                <c:pt idx="215">
                  <c:v>0.77186275</c:v>
                </c:pt>
                <c:pt idx="216">
                  <c:v>0.3430235</c:v>
                </c:pt>
                <c:pt idx="217">
                  <c:v>0.9738897</c:v>
                </c:pt>
                <c:pt idx="218">
                  <c:v>0.291375</c:v>
                </c:pt>
                <c:pt idx="219">
                  <c:v>0.58704054</c:v>
                </c:pt>
                <c:pt idx="220">
                  <c:v>0.77597976</c:v>
                </c:pt>
                <c:pt idx="221">
                  <c:v>0.6383151</c:v>
                </c:pt>
                <c:pt idx="222">
                  <c:v>0.97503173</c:v>
                </c:pt>
                <c:pt idx="223">
                  <c:v>0.3477485</c:v>
                </c:pt>
                <c:pt idx="224">
                  <c:v>0.4793764</c:v>
                </c:pt>
                <c:pt idx="225">
                  <c:v>1.0771691</c:v>
                </c:pt>
                <c:pt idx="226">
                  <c:v>0.59222627</c:v>
                </c:pt>
                <c:pt idx="227">
                  <c:v>0.94769806</c:v>
                </c:pt>
                <c:pt idx="228">
                  <c:v>0.34086427</c:v>
                </c:pt>
                <c:pt idx="229">
                  <c:v>0.35237104</c:v>
                </c:pt>
                <c:pt idx="230">
                  <c:v>0.35577932</c:v>
                </c:pt>
                <c:pt idx="231">
                  <c:v>0.9534315</c:v>
                </c:pt>
                <c:pt idx="232">
                  <c:v>0.46525842</c:v>
                </c:pt>
                <c:pt idx="233">
                  <c:v>0.35236156</c:v>
                </c:pt>
                <c:pt idx="234">
                  <c:v>0.34490296</c:v>
                </c:pt>
                <c:pt idx="235">
                  <c:v>0.34955132</c:v>
                </c:pt>
                <c:pt idx="236">
                  <c:v>0.3583921</c:v>
                </c:pt>
                <c:pt idx="237">
                  <c:v>0.5988566</c:v>
                </c:pt>
                <c:pt idx="238">
                  <c:v>0.46222463</c:v>
                </c:pt>
                <c:pt idx="239">
                  <c:v>0.6217774</c:v>
                </c:pt>
                <c:pt idx="240">
                  <c:v>0.38397256</c:v>
                </c:pt>
                <c:pt idx="241">
                  <c:v>0.76098293</c:v>
                </c:pt>
                <c:pt idx="242">
                  <c:v>1.0141757</c:v>
                </c:pt>
                <c:pt idx="243">
                  <c:v>0.650197</c:v>
                </c:pt>
                <c:pt idx="244">
                  <c:v>0.9551995</c:v>
                </c:pt>
                <c:pt idx="245">
                  <c:v>0.34681362</c:v>
                </c:pt>
                <c:pt idx="246">
                  <c:v>0.38354787</c:v>
                </c:pt>
                <c:pt idx="247">
                  <c:v>0.4808741</c:v>
                </c:pt>
                <c:pt idx="248">
                  <c:v>0.65980554</c:v>
                </c:pt>
                <c:pt idx="249">
                  <c:v>0.31123573</c:v>
                </c:pt>
                <c:pt idx="250">
                  <c:v>0.7033042</c:v>
                </c:pt>
                <c:pt idx="251">
                  <c:v>0.9533628</c:v>
                </c:pt>
                <c:pt idx="252">
                  <c:v>0.3558592</c:v>
                </c:pt>
                <c:pt idx="253">
                  <c:v>0.3496911</c:v>
                </c:pt>
                <c:pt idx="254">
                  <c:v>0.30542633</c:v>
                </c:pt>
                <c:pt idx="255">
                  <c:v>0.3588816</c:v>
                </c:pt>
                <c:pt idx="256">
                  <c:v>0.7471549</c:v>
                </c:pt>
                <c:pt idx="257">
                  <c:v>0.32473254</c:v>
                </c:pt>
                <c:pt idx="258">
                  <c:v>0.33307484</c:v>
                </c:pt>
                <c:pt idx="259">
                  <c:v>0.5835719</c:v>
                </c:pt>
                <c:pt idx="260">
                  <c:v>0.3424254</c:v>
                </c:pt>
                <c:pt idx="261">
                  <c:v>0.9292843</c:v>
                </c:pt>
                <c:pt idx="262">
                  <c:v>1.0724971</c:v>
                </c:pt>
                <c:pt idx="263">
                  <c:v>0.31916717</c:v>
                </c:pt>
                <c:pt idx="264">
                  <c:v>0.9684102</c:v>
                </c:pt>
                <c:pt idx="265">
                  <c:v>0.37723765</c:v>
                </c:pt>
                <c:pt idx="266">
                  <c:v>0.30652437</c:v>
                </c:pt>
                <c:pt idx="267">
                  <c:v>0.33780083</c:v>
                </c:pt>
                <c:pt idx="268">
                  <c:v>0.6459459</c:v>
                </c:pt>
                <c:pt idx="269">
                  <c:v>0.34110057</c:v>
                </c:pt>
                <c:pt idx="270">
                  <c:v>0.34647325</c:v>
                </c:pt>
                <c:pt idx="271">
                  <c:v>0.9465083</c:v>
                </c:pt>
                <c:pt idx="272">
                  <c:v>0.33993295</c:v>
                </c:pt>
                <c:pt idx="273">
                  <c:v>0.32076746</c:v>
                </c:pt>
                <c:pt idx="274">
                  <c:v>0.652499</c:v>
                </c:pt>
                <c:pt idx="275">
                  <c:v>0.78674674</c:v>
                </c:pt>
                <c:pt idx="276">
                  <c:v>0.459445</c:v>
                </c:pt>
                <c:pt idx="277">
                  <c:v>1.007115</c:v>
                </c:pt>
                <c:pt idx="278">
                  <c:v>0.3052634</c:v>
                </c:pt>
                <c:pt idx="279">
                  <c:v>0.9558534</c:v>
                </c:pt>
                <c:pt idx="280">
                  <c:v>0.37651128</c:v>
                </c:pt>
                <c:pt idx="281">
                  <c:v>0.35903123</c:v>
                </c:pt>
                <c:pt idx="282">
                  <c:v>0.33037373</c:v>
                </c:pt>
                <c:pt idx="283">
                  <c:v>0.610466</c:v>
                </c:pt>
                <c:pt idx="284">
                  <c:v>0.3232443</c:v>
                </c:pt>
                <c:pt idx="285">
                  <c:v>0.9446252</c:v>
                </c:pt>
                <c:pt idx="286">
                  <c:v>0.31168887</c:v>
                </c:pt>
                <c:pt idx="287">
                  <c:v>0.9593959</c:v>
                </c:pt>
                <c:pt idx="288">
                  <c:v>0.77599174</c:v>
                </c:pt>
                <c:pt idx="289">
                  <c:v>0.7835766</c:v>
                </c:pt>
                <c:pt idx="290">
                  <c:v>0.98326313</c:v>
                </c:pt>
                <c:pt idx="291">
                  <c:v>0.35219797</c:v>
                </c:pt>
                <c:pt idx="292">
                  <c:v>0.64109665</c:v>
                </c:pt>
                <c:pt idx="293">
                  <c:v>0.6156904</c:v>
                </c:pt>
                <c:pt idx="294">
                  <c:v>0.4540681</c:v>
                </c:pt>
                <c:pt idx="295">
                  <c:v>0.61018616</c:v>
                </c:pt>
                <c:pt idx="296">
                  <c:v>0.29005507</c:v>
                </c:pt>
                <c:pt idx="297">
                  <c:v>0.6186749</c:v>
                </c:pt>
                <c:pt idx="298">
                  <c:v>1.0652497</c:v>
                </c:pt>
                <c:pt idx="299">
                  <c:v>0.31727868</c:v>
                </c:pt>
                <c:pt idx="300">
                  <c:v>1.0096625</c:v>
                </c:pt>
                <c:pt idx="301">
                  <c:v>0.9922262</c:v>
                </c:pt>
                <c:pt idx="302">
                  <c:v>1.0669067</c:v>
                </c:pt>
                <c:pt idx="303">
                  <c:v>0.5878344</c:v>
                </c:pt>
                <c:pt idx="304">
                  <c:v>0.3233569</c:v>
                </c:pt>
                <c:pt idx="305">
                  <c:v>0.64815897</c:v>
                </c:pt>
                <c:pt idx="306">
                  <c:v>0.34889483</c:v>
                </c:pt>
                <c:pt idx="307">
                  <c:v>1.065837</c:v>
                </c:pt>
                <c:pt idx="308">
                  <c:v>0.7337007</c:v>
                </c:pt>
                <c:pt idx="309">
                  <c:v>0.76663357</c:v>
                </c:pt>
                <c:pt idx="310">
                  <c:v>0.76842755</c:v>
                </c:pt>
                <c:pt idx="311">
                  <c:v>0.3236134</c:v>
                </c:pt>
                <c:pt idx="312">
                  <c:v>0.96590346</c:v>
                </c:pt>
                <c:pt idx="313">
                  <c:v>0.5768023</c:v>
                </c:pt>
                <c:pt idx="314">
                  <c:v>0.7715338</c:v>
                </c:pt>
                <c:pt idx="315">
                  <c:v>0.43557128</c:v>
                </c:pt>
                <c:pt idx="316">
                  <c:v>0.31301898</c:v>
                </c:pt>
                <c:pt idx="317">
                  <c:v>0.34000894</c:v>
                </c:pt>
                <c:pt idx="318">
                  <c:v>0.52354103</c:v>
                </c:pt>
                <c:pt idx="319">
                  <c:v>0.3656894</c:v>
                </c:pt>
                <c:pt idx="320">
                  <c:v>0.36236158</c:v>
                </c:pt>
                <c:pt idx="321">
                  <c:v>0.36522284</c:v>
                </c:pt>
                <c:pt idx="322">
                  <c:v>0.33678728</c:v>
                </c:pt>
                <c:pt idx="323">
                  <c:v>0.4194828</c:v>
                </c:pt>
                <c:pt idx="324">
                  <c:v>0.68816143</c:v>
                </c:pt>
                <c:pt idx="325">
                  <c:v>0.38991833</c:v>
                </c:pt>
                <c:pt idx="326">
                  <c:v>0.3347279</c:v>
                </c:pt>
                <c:pt idx="327">
                  <c:v>0.42288673</c:v>
                </c:pt>
                <c:pt idx="328">
                  <c:v>0.3497838</c:v>
                </c:pt>
                <c:pt idx="329">
                  <c:v>0.6827942</c:v>
                </c:pt>
                <c:pt idx="330">
                  <c:v>0.700203</c:v>
                </c:pt>
                <c:pt idx="331">
                  <c:v>0.6470103</c:v>
                </c:pt>
                <c:pt idx="332">
                  <c:v>0.3725699</c:v>
                </c:pt>
                <c:pt idx="333">
                  <c:v>0.3525314</c:v>
                </c:pt>
                <c:pt idx="334">
                  <c:v>0.43070814</c:v>
                </c:pt>
                <c:pt idx="335">
                  <c:v>0.4864721</c:v>
                </c:pt>
                <c:pt idx="336">
                  <c:v>0.511518</c:v>
                </c:pt>
                <c:pt idx="337">
                  <c:v>0.34670308</c:v>
                </c:pt>
                <c:pt idx="338">
                  <c:v>0.36607543</c:v>
                </c:pt>
                <c:pt idx="339">
                  <c:v>0.6994619</c:v>
                </c:pt>
                <c:pt idx="340">
                  <c:v>0.4179744</c:v>
                </c:pt>
                <c:pt idx="341">
                  <c:v>0.44083545</c:v>
                </c:pt>
                <c:pt idx="342">
                  <c:v>0.5244096</c:v>
                </c:pt>
                <c:pt idx="343">
                  <c:v>0.37827122</c:v>
                </c:pt>
                <c:pt idx="344">
                  <c:v>0.59573793</c:v>
                </c:pt>
                <c:pt idx="345">
                  <c:v>0.6950214</c:v>
                </c:pt>
                <c:pt idx="346">
                  <c:v>0.6560379</c:v>
                </c:pt>
                <c:pt idx="347">
                  <c:v>0.59686655</c:v>
                </c:pt>
                <c:pt idx="348">
                  <c:v>0.5130307</c:v>
                </c:pt>
                <c:pt idx="349">
                  <c:v>0.47737253</c:v>
                </c:pt>
                <c:pt idx="350">
                  <c:v>0.41293952</c:v>
                </c:pt>
                <c:pt idx="351">
                  <c:v>0.4723819</c:v>
                </c:pt>
                <c:pt idx="352">
                  <c:v>0.35474285</c:v>
                </c:pt>
                <c:pt idx="353">
                  <c:v>0.57865036</c:v>
                </c:pt>
                <c:pt idx="354">
                  <c:v>0.3137741</c:v>
                </c:pt>
                <c:pt idx="355">
                  <c:v>0.50100124</c:v>
                </c:pt>
                <c:pt idx="356">
                  <c:v>0.488815</c:v>
                </c:pt>
                <c:pt idx="357">
                  <c:v>0.3996847</c:v>
                </c:pt>
                <c:pt idx="358">
                  <c:v>0.31842723</c:v>
                </c:pt>
                <c:pt idx="359">
                  <c:v>0.57578486</c:v>
                </c:pt>
                <c:pt idx="360">
                  <c:v>0.67859983</c:v>
                </c:pt>
                <c:pt idx="361">
                  <c:v>0.3596772</c:v>
                </c:pt>
                <c:pt idx="362">
                  <c:v>0.49663055</c:v>
                </c:pt>
                <c:pt idx="363">
                  <c:v>0.579651</c:v>
                </c:pt>
                <c:pt idx="364">
                  <c:v>0.3642018</c:v>
                </c:pt>
                <c:pt idx="365">
                  <c:v>0.36218116</c:v>
                </c:pt>
                <c:pt idx="366">
                  <c:v>0.4344419</c:v>
                </c:pt>
                <c:pt idx="367">
                  <c:v>0.3679419</c:v>
                </c:pt>
                <c:pt idx="368">
                  <c:v>0.48839122</c:v>
                </c:pt>
                <c:pt idx="369">
                  <c:v>0.411723</c:v>
                </c:pt>
                <c:pt idx="370">
                  <c:v>0.48370638</c:v>
                </c:pt>
                <c:pt idx="371">
                  <c:v>0.447876</c:v>
                </c:pt>
                <c:pt idx="372">
                  <c:v>0.64193434</c:v>
                </c:pt>
                <c:pt idx="373">
                  <c:v>0.5928801</c:v>
                </c:pt>
                <c:pt idx="374">
                  <c:v>0.31532806</c:v>
                </c:pt>
                <c:pt idx="375">
                  <c:v>0.33741632</c:v>
                </c:pt>
                <c:pt idx="376">
                  <c:v>0.6977405</c:v>
                </c:pt>
                <c:pt idx="377">
                  <c:v>0.48406675</c:v>
                </c:pt>
                <c:pt idx="378">
                  <c:v>0.37086657</c:v>
                </c:pt>
                <c:pt idx="379">
                  <c:v>0.35969812</c:v>
                </c:pt>
                <c:pt idx="380">
                  <c:v>0.36877814</c:v>
                </c:pt>
                <c:pt idx="381">
                  <c:v>0.28132913</c:v>
                </c:pt>
                <c:pt idx="382">
                  <c:v>0.6773597</c:v>
                </c:pt>
                <c:pt idx="383">
                  <c:v>0.57918113</c:v>
                </c:pt>
                <c:pt idx="384">
                  <c:v>0.6999698</c:v>
                </c:pt>
                <c:pt idx="385">
                  <c:v>0.5226618</c:v>
                </c:pt>
                <c:pt idx="386">
                  <c:v>0.4836642</c:v>
                </c:pt>
                <c:pt idx="387">
                  <c:v>0.4288426</c:v>
                </c:pt>
                <c:pt idx="388">
                  <c:v>0.40661183</c:v>
                </c:pt>
                <c:pt idx="389">
                  <c:v>0.64879215</c:v>
                </c:pt>
                <c:pt idx="390">
                  <c:v>0.48021147</c:v>
                </c:pt>
                <c:pt idx="391">
                  <c:v>0.36241472</c:v>
                </c:pt>
                <c:pt idx="392">
                  <c:v>0.5779122</c:v>
                </c:pt>
                <c:pt idx="393">
                  <c:v>0.5860346</c:v>
                </c:pt>
                <c:pt idx="394">
                  <c:v>0.396014</c:v>
                </c:pt>
                <c:pt idx="395">
                  <c:v>0.52984065</c:v>
                </c:pt>
                <c:pt idx="396">
                  <c:v>0.37765622</c:v>
                </c:pt>
                <c:pt idx="397">
                  <c:v>0.36290056</c:v>
                </c:pt>
                <c:pt idx="398">
                  <c:v>0.7012997</c:v>
                </c:pt>
                <c:pt idx="399">
                  <c:v>0.40052631</c:v>
                </c:pt>
                <c:pt idx="400">
                  <c:v>0.59317833</c:v>
                </c:pt>
                <c:pt idx="401">
                  <c:v>0.48788726</c:v>
                </c:pt>
                <c:pt idx="402">
                  <c:v>0.701642</c:v>
                </c:pt>
                <c:pt idx="403">
                  <c:v>0.43362615</c:v>
                </c:pt>
                <c:pt idx="404">
                  <c:v>0.69226325</c:v>
                </c:pt>
                <c:pt idx="405">
                  <c:v>0.4195461</c:v>
                </c:pt>
                <c:pt idx="406">
                  <c:v>0.3751683</c:v>
                </c:pt>
                <c:pt idx="407">
                  <c:v>0.28370476</c:v>
                </c:pt>
                <c:pt idx="408">
                  <c:v>0.31667742</c:v>
                </c:pt>
                <c:pt idx="409">
                  <c:v>0.4768279</c:v>
                </c:pt>
                <c:pt idx="410">
                  <c:v>0.41890925</c:v>
                </c:pt>
                <c:pt idx="411">
                  <c:v>0.49107105</c:v>
                </c:pt>
                <c:pt idx="412">
                  <c:v>0.36234123</c:v>
                </c:pt>
                <c:pt idx="413">
                  <c:v>0.42006925</c:v>
                </c:pt>
                <c:pt idx="414">
                  <c:v>0.52180654</c:v>
                </c:pt>
                <c:pt idx="415">
                  <c:v>0.4382403</c:v>
                </c:pt>
                <c:pt idx="416">
                  <c:v>0.6423948</c:v>
                </c:pt>
                <c:pt idx="417">
                  <c:v>0.40586782</c:v>
                </c:pt>
                <c:pt idx="418">
                  <c:v>0.64076847</c:v>
                </c:pt>
                <c:pt idx="419">
                  <c:v>0.69483125</c:v>
                </c:pt>
                <c:pt idx="420">
                  <c:v>0.48336902</c:v>
                </c:pt>
                <c:pt idx="421">
                  <c:v>0.38525006</c:v>
                </c:pt>
                <c:pt idx="422">
                  <c:v>0.52682966</c:v>
                </c:pt>
                <c:pt idx="423">
                  <c:v>0.53079504</c:v>
                </c:pt>
                <c:pt idx="424">
                  <c:v>0.4771477</c:v>
                </c:pt>
                <c:pt idx="425">
                  <c:v>0.4854418</c:v>
                </c:pt>
                <c:pt idx="426">
                  <c:v>0.35822105</c:v>
                </c:pt>
                <c:pt idx="427">
                  <c:v>0.44347787</c:v>
                </c:pt>
                <c:pt idx="428">
                  <c:v>0.6761816</c:v>
                </c:pt>
                <c:pt idx="429">
                  <c:v>0.32096356</c:v>
                </c:pt>
                <c:pt idx="430">
                  <c:v>0.43640015</c:v>
                </c:pt>
                <c:pt idx="431">
                  <c:v>0.4375609</c:v>
                </c:pt>
                <c:pt idx="432">
                  <c:v>0.635301</c:v>
                </c:pt>
                <c:pt idx="433">
                  <c:v>0.49560255</c:v>
                </c:pt>
                <c:pt idx="434">
                  <c:v>0.36516857</c:v>
                </c:pt>
                <c:pt idx="435">
                  <c:v>0.505248</c:v>
                </c:pt>
                <c:pt idx="436">
                  <c:v>0.6824544</c:v>
                </c:pt>
                <c:pt idx="437">
                  <c:v>0.494264</c:v>
                </c:pt>
                <c:pt idx="438">
                  <c:v>0.5264088</c:v>
                </c:pt>
                <c:pt idx="439">
                  <c:v>0.64534205</c:v>
                </c:pt>
                <c:pt idx="440">
                  <c:v>0.6765501</c:v>
                </c:pt>
                <c:pt idx="441">
                  <c:v>0.35764533</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Random forest</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Random forest</c:v>
          </c:tx>
          <c:spPr>
            <a:ln xmlns:a="http://schemas.openxmlformats.org/drawingml/2006/main" w="0">
              <a:noFill/>
            </a:ln>
          </c:spPr>
          <c:marker>
            <c:symbol val="circle"/>
            <c:size val="4"/>
            <c:spPr>
              <a:solidFill xmlns:a="http://schemas.openxmlformats.org/drawingml/2006/main">
                <a:srgbClr val="002B5E"/>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0.579989220459</c:v>
                </c:pt>
                <c:pt idx="1">
                  <c:v>0.517343098542</c:v>
                </c:pt>
                <c:pt idx="2">
                  <c:v>0.351453495572</c:v>
                </c:pt>
                <c:pt idx="3">
                  <c:v>0.464141960963</c:v>
                </c:pt>
                <c:pt idx="4">
                  <c:v>0.579989220459</c:v>
                </c:pt>
                <c:pt idx="5">
                  <c:v>0.465177640485</c:v>
                </c:pt>
                <c:pt idx="6">
                  <c:v>0.583002601472</c:v>
                </c:pt>
                <c:pt idx="7">
                  <c:v>0.495375381999</c:v>
                </c:pt>
                <c:pt idx="8">
                  <c:v>0.583002601472</c:v>
                </c:pt>
                <c:pt idx="9">
                  <c:v>0.657037417254</c:v>
                </c:pt>
                <c:pt idx="10">
                  <c:v>0.517343098542</c:v>
                </c:pt>
                <c:pt idx="11">
                  <c:v>0.465177640485</c:v>
                </c:pt>
                <c:pt idx="12">
                  <c:v>0.517387025561</c:v>
                </c:pt>
                <c:pt idx="13">
                  <c:v>0.517343098542</c:v>
                </c:pt>
                <c:pt idx="14">
                  <c:v>0.583002601472</c:v>
                </c:pt>
                <c:pt idx="15">
                  <c:v>0.361024363696</c:v>
                </c:pt>
                <c:pt idx="16">
                  <c:v>0.579989220459</c:v>
                </c:pt>
                <c:pt idx="17">
                  <c:v>0.583002601472</c:v>
                </c:pt>
                <c:pt idx="18">
                  <c:v>0.574730780496</c:v>
                </c:pt>
                <c:pt idx="19">
                  <c:v>0.507271854839</c:v>
                </c:pt>
                <c:pt idx="20">
                  <c:v>0.538628936</c:v>
                </c:pt>
                <c:pt idx="21">
                  <c:v>0.569471514379</c:v>
                </c:pt>
                <c:pt idx="22">
                  <c:v>0.522139120132</c:v>
                </c:pt>
                <c:pt idx="23">
                  <c:v>0.34814878376</c:v>
                </c:pt>
                <c:pt idx="24">
                  <c:v>0.475256109473</c:v>
                </c:pt>
                <c:pt idx="25">
                  <c:v>0.614037500261</c:v>
                </c:pt>
                <c:pt idx="26">
                  <c:v>0.592463403833</c:v>
                </c:pt>
                <c:pt idx="27">
                  <c:v>0.583593454722</c:v>
                </c:pt>
                <c:pt idx="28">
                  <c:v>0.558194899855</c:v>
                </c:pt>
                <c:pt idx="29">
                  <c:v>0.614816945826</c:v>
                </c:pt>
                <c:pt idx="30">
                  <c:v>0.541493326899</c:v>
                </c:pt>
                <c:pt idx="31">
                  <c:v>0.591877465741</c:v>
                </c:pt>
                <c:pt idx="32">
                  <c:v>0.646859864555</c:v>
                </c:pt>
                <c:pt idx="33">
                  <c:v>0.502377802513</c:v>
                </c:pt>
                <c:pt idx="34">
                  <c:v>0.614921267876</c:v>
                </c:pt>
                <c:pt idx="35">
                  <c:v>0.538795058696</c:v>
                </c:pt>
                <c:pt idx="36">
                  <c:v>0.505669864244</c:v>
                </c:pt>
                <c:pt idx="37">
                  <c:v>0.585432394158</c:v>
                </c:pt>
                <c:pt idx="38">
                  <c:v>0.502746005059</c:v>
                </c:pt>
                <c:pt idx="39">
                  <c:v>0.464565782214</c:v>
                </c:pt>
                <c:pt idx="40">
                  <c:v>0.577569344833</c:v>
                </c:pt>
                <c:pt idx="41">
                  <c:v>0.576896140386</c:v>
                </c:pt>
                <c:pt idx="42">
                  <c:v>0.380012261785</c:v>
                </c:pt>
                <c:pt idx="43">
                  <c:v>0.583930142119</c:v>
                </c:pt>
                <c:pt idx="44">
                  <c:v>0.374741173706</c:v>
                </c:pt>
                <c:pt idx="45">
                  <c:v>0.563311086707</c:v>
                </c:pt>
                <c:pt idx="46">
                  <c:v>0.570258316725</c:v>
                </c:pt>
                <c:pt idx="47">
                  <c:v>0.373437618075</c:v>
                </c:pt>
                <c:pt idx="48">
                  <c:v>0.587842874542</c:v>
                </c:pt>
                <c:pt idx="49">
                  <c:v>0.34522664437</c:v>
                </c:pt>
                <c:pt idx="50">
                  <c:v>0.62424545477</c:v>
                </c:pt>
                <c:pt idx="51">
                  <c:v>0.563319371466</c:v>
                </c:pt>
                <c:pt idx="52">
                  <c:v>0.563280523727</c:v>
                </c:pt>
                <c:pt idx="53">
                  <c:v>0.501433837475</c:v>
                </c:pt>
                <c:pt idx="54">
                  <c:v>0.352259691262</c:v>
                </c:pt>
                <c:pt idx="55">
                  <c:v>0.596160164139</c:v>
                </c:pt>
                <c:pt idx="56">
                  <c:v>0.559284984217</c:v>
                </c:pt>
                <c:pt idx="57">
                  <c:v>0.545557538995</c:v>
                </c:pt>
                <c:pt idx="58">
                  <c:v>0.593242116247</c:v>
                </c:pt>
                <c:pt idx="59">
                  <c:v>0.570129499926</c:v>
                </c:pt>
                <c:pt idx="60">
                  <c:v>0.541765222404</c:v>
                </c:pt>
                <c:pt idx="61">
                  <c:v>0.575647270488</c:v>
                </c:pt>
                <c:pt idx="62">
                  <c:v>0.515471270183</c:v>
                </c:pt>
                <c:pt idx="63">
                  <c:v>0.515897311157</c:v>
                </c:pt>
                <c:pt idx="64">
                  <c:v>0.570324989506</c:v>
                </c:pt>
                <c:pt idx="65">
                  <c:v>0.350447386704</c:v>
                </c:pt>
                <c:pt idx="66">
                  <c:v>0.548075436636</c:v>
                </c:pt>
                <c:pt idx="67">
                  <c:v>0.457198850656</c:v>
                </c:pt>
                <c:pt idx="68">
                  <c:v>0.565501291491</c:v>
                </c:pt>
                <c:pt idx="69">
                  <c:v>0.578051641983</c:v>
                </c:pt>
                <c:pt idx="70">
                  <c:v>0.51830192114</c:v>
                </c:pt>
                <c:pt idx="71">
                  <c:v>0.465583044206</c:v>
                </c:pt>
                <c:pt idx="72">
                  <c:v>0.34361596991</c:v>
                </c:pt>
                <c:pt idx="73">
                  <c:v>0.509767140823</c:v>
                </c:pt>
                <c:pt idx="74">
                  <c:v>0.611175415745</c:v>
                </c:pt>
                <c:pt idx="75">
                  <c:v>0.578095384323</c:v>
                </c:pt>
                <c:pt idx="76">
                  <c:v>0.537453335607</c:v>
                </c:pt>
                <c:pt idx="77">
                  <c:v>0.558266729937</c:v>
                </c:pt>
                <c:pt idx="78">
                  <c:v>0.596611610929</c:v>
                </c:pt>
                <c:pt idx="79">
                  <c:v>0.362309070487</c:v>
                </c:pt>
                <c:pt idx="80">
                  <c:v>0.505976524363</c:v>
                </c:pt>
                <c:pt idx="81">
                  <c:v>0.568852379063</c:v>
                </c:pt>
                <c:pt idx="82">
                  <c:v>0.527142304681</c:v>
                </c:pt>
                <c:pt idx="83">
                  <c:v>0.651556516338</c:v>
                </c:pt>
                <c:pt idx="84">
                  <c:v>0.543861143429</c:v>
                </c:pt>
                <c:pt idx="85">
                  <c:v>0.586792949811</c:v>
                </c:pt>
                <c:pt idx="86">
                  <c:v>0.515717493912</c:v>
                </c:pt>
                <c:pt idx="87">
                  <c:v>0.475621679728</c:v>
                </c:pt>
                <c:pt idx="88">
                  <c:v>0.503094532312</c:v>
                </c:pt>
                <c:pt idx="89">
                  <c:v>0.464857502709</c:v>
                </c:pt>
                <c:pt idx="90">
                  <c:v>0.462213994938</c:v>
                </c:pt>
                <c:pt idx="91">
                  <c:v>0.360717230351</c:v>
                </c:pt>
                <c:pt idx="92">
                  <c:v>0.523781787159</c:v>
                </c:pt>
                <c:pt idx="93">
                  <c:v>0.57476877915</c:v>
                </c:pt>
                <c:pt idx="94">
                  <c:v>0.578505068729</c:v>
                </c:pt>
                <c:pt idx="95">
                  <c:v>0.66456736765</c:v>
                </c:pt>
                <c:pt idx="96">
                  <c:v>0.519618536722</c:v>
                </c:pt>
                <c:pt idx="97">
                  <c:v>0.652002619868</c:v>
                </c:pt>
                <c:pt idx="98">
                  <c:v>0.459754734623</c:v>
                </c:pt>
                <c:pt idx="99">
                  <c:v>0.387102633353</c:v>
                </c:pt>
                <c:pt idx="100">
                  <c:v>0.354620938486</c:v>
                </c:pt>
                <c:pt idx="101">
                  <c:v>0.520155651317</c:v>
                </c:pt>
                <c:pt idx="102">
                  <c:v>0.629738467822</c:v>
                </c:pt>
                <c:pt idx="103">
                  <c:v>0.567603348253</c:v>
                </c:pt>
                <c:pt idx="104">
                  <c:v>0.665479999834</c:v>
                </c:pt>
                <c:pt idx="105">
                  <c:v>0.455538428963</c:v>
                </c:pt>
                <c:pt idx="106">
                  <c:v>0.633935966923</c:v>
                </c:pt>
                <c:pt idx="107">
                  <c:v>0.492568272281</c:v>
                </c:pt>
                <c:pt idx="108">
                  <c:v>0.395080219277</c:v>
                </c:pt>
                <c:pt idx="109">
                  <c:v>0.469802298541</c:v>
                </c:pt>
                <c:pt idx="110">
                  <c:v>0.568675563341</c:v>
                </c:pt>
                <c:pt idx="111">
                  <c:v>0.517110198715</c:v>
                </c:pt>
                <c:pt idx="112">
                  <c:v>0.51931961633</c:v>
                </c:pt>
                <c:pt idx="113">
                  <c:v>0.589892315197</c:v>
                </c:pt>
                <c:pt idx="114">
                  <c:v>0.365279812432</c:v>
                </c:pt>
                <c:pt idx="115">
                  <c:v>0.590696281943</c:v>
                </c:pt>
                <c:pt idx="116">
                  <c:v>0.537192917544</c:v>
                </c:pt>
                <c:pt idx="117">
                  <c:v>0.592663647248</c:v>
                </c:pt>
                <c:pt idx="118">
                  <c:v>0.615137860608</c:v>
                </c:pt>
                <c:pt idx="119">
                  <c:v>0.512013016945</c:v>
                </c:pt>
                <c:pt idx="120">
                  <c:v>0.557319229923</c:v>
                </c:pt>
                <c:pt idx="121">
                  <c:v>0.37574453242</c:v>
                </c:pt>
                <c:pt idx="122">
                  <c:v>0.578310173601</c:v>
                </c:pt>
                <c:pt idx="123">
                  <c:v>0.558328199422</c:v>
                </c:pt>
                <c:pt idx="124">
                  <c:v>0.515884399828</c:v>
                </c:pt>
                <c:pt idx="125">
                  <c:v>0.585299359802</c:v>
                </c:pt>
                <c:pt idx="126">
                  <c:v>0.509256710447</c:v>
                </c:pt>
                <c:pt idx="127">
                  <c:v>0.459963672942</c:v>
                </c:pt>
                <c:pt idx="128">
                  <c:v>0.372296997622</c:v>
                </c:pt>
                <c:pt idx="129">
                  <c:v>0.57800502906</c:v>
                </c:pt>
                <c:pt idx="130">
                  <c:v>0.551178360384</c:v>
                </c:pt>
                <c:pt idx="131">
                  <c:v>0.603131701689</c:v>
                </c:pt>
                <c:pt idx="132">
                  <c:v>0.612991654635</c:v>
                </c:pt>
                <c:pt idx="133">
                  <c:v>0.501603821421</c:v>
                </c:pt>
                <c:pt idx="134">
                  <c:v>0.465034877329</c:v>
                </c:pt>
                <c:pt idx="135">
                  <c:v>0.571941954698</c:v>
                </c:pt>
                <c:pt idx="136">
                  <c:v>0.516480861168</c:v>
                </c:pt>
                <c:pt idx="137">
                  <c:v>0.508656876064</c:v>
                </c:pt>
                <c:pt idx="138">
                  <c:v>0.375678569983</c:v>
                </c:pt>
                <c:pt idx="139">
                  <c:v>0.51560308951</c:v>
                </c:pt>
                <c:pt idx="140">
                  <c:v>0.511162176356</c:v>
                </c:pt>
                <c:pt idx="141">
                  <c:v>0.354416930492</c:v>
                </c:pt>
                <c:pt idx="142">
                  <c:v>0.599192359733</c:v>
                </c:pt>
                <c:pt idx="143">
                  <c:v>0.560187584324</c:v>
                </c:pt>
                <c:pt idx="144">
                  <c:v>0.519200135779</c:v>
                </c:pt>
                <c:pt idx="145">
                  <c:v>0.515090613789</c:v>
                </c:pt>
                <c:pt idx="146">
                  <c:v>0.47285370554</c:v>
                </c:pt>
                <c:pt idx="147">
                  <c:v>0.532619377662</c:v>
                </c:pt>
                <c:pt idx="148">
                  <c:v>0.602475015165</c:v>
                </c:pt>
                <c:pt idx="149">
                  <c:v>0.549219752899</c:v>
                </c:pt>
                <c:pt idx="150">
                  <c:v>0.662751866499</c:v>
                </c:pt>
                <c:pt idx="151">
                  <c:v>0.572162923023</c:v>
                </c:pt>
                <c:pt idx="152">
                  <c:v>0.549916524302</c:v>
                </c:pt>
                <c:pt idx="153">
                  <c:v>0.567660145513</c:v>
                </c:pt>
                <c:pt idx="154">
                  <c:v>0.562092200551</c:v>
                </c:pt>
                <c:pt idx="155">
                  <c:v>0.667387459266</c:v>
                </c:pt>
                <c:pt idx="156">
                  <c:v>0.686803707874</c:v>
                </c:pt>
                <c:pt idx="157">
                  <c:v>0.71171638873</c:v>
                </c:pt>
                <c:pt idx="158">
                  <c:v>0.722471951337</c:v>
                </c:pt>
                <c:pt idx="159">
                  <c:v>0.38011523797</c:v>
                </c:pt>
                <c:pt idx="160">
                  <c:v>0.379826417018</c:v>
                </c:pt>
                <c:pt idx="161">
                  <c:v>0.354533478919</c:v>
                </c:pt>
                <c:pt idx="162">
                  <c:v>0.656780700345</c:v>
                </c:pt>
                <c:pt idx="163">
                  <c:v>0.703908734497</c:v>
                </c:pt>
                <c:pt idx="164">
                  <c:v>0.347035296464</c:v>
                </c:pt>
                <c:pt idx="165">
                  <c:v>0.387627213088</c:v>
                </c:pt>
                <c:pt idx="166">
                  <c:v>0.675543605485</c:v>
                </c:pt>
                <c:pt idx="167">
                  <c:v>0.365178225774</c:v>
                </c:pt>
                <c:pt idx="168">
                  <c:v>0.25067889148</c:v>
                </c:pt>
                <c:pt idx="169">
                  <c:v>0.3833148098</c:v>
                </c:pt>
                <c:pt idx="170">
                  <c:v>0.315229485561</c:v>
                </c:pt>
                <c:pt idx="171">
                  <c:v>0.991541520141</c:v>
                </c:pt>
                <c:pt idx="172">
                  <c:v>0.38695842231</c:v>
                </c:pt>
                <c:pt idx="173">
                  <c:v>0.637430032507</c:v>
                </c:pt>
                <c:pt idx="174">
                  <c:v>0.337577247926</c:v>
                </c:pt>
                <c:pt idx="175">
                  <c:v>0.313610972915</c:v>
                </c:pt>
                <c:pt idx="176">
                  <c:v>0.945804356438</c:v>
                </c:pt>
                <c:pt idx="177">
                  <c:v>0.680411981273</c:v>
                </c:pt>
                <c:pt idx="178">
                  <c:v>0.965680458861</c:v>
                </c:pt>
                <c:pt idx="179">
                  <c:v>0.358228690634</c:v>
                </c:pt>
                <c:pt idx="180">
                  <c:v>0.330304288062</c:v>
                </c:pt>
                <c:pt idx="181">
                  <c:v>0.665202212332</c:v>
                </c:pt>
                <c:pt idx="182">
                  <c:v>0.339097378383</c:v>
                </c:pt>
                <c:pt idx="183">
                  <c:v>0.694480939</c:v>
                </c:pt>
                <c:pt idx="184">
                  <c:v>0.672763819255</c:v>
                </c:pt>
                <c:pt idx="185">
                  <c:v>0.253272381162</c:v>
                </c:pt>
                <c:pt idx="186">
                  <c:v>0.446913203087</c:v>
                </c:pt>
                <c:pt idx="187">
                  <c:v>0.648855807574</c:v>
                </c:pt>
                <c:pt idx="188">
                  <c:v>0.58285419099</c:v>
                </c:pt>
                <c:pt idx="189">
                  <c:v>0.30471979294</c:v>
                </c:pt>
                <c:pt idx="190">
                  <c:v>0.943559101003</c:v>
                </c:pt>
                <c:pt idx="191">
                  <c:v>0.36363858845</c:v>
                </c:pt>
                <c:pt idx="192">
                  <c:v>1.06193796682</c:v>
                </c:pt>
                <c:pt idx="193">
                  <c:v>0.323002090787</c:v>
                </c:pt>
                <c:pt idx="194">
                  <c:v>0.342278873628</c:v>
                </c:pt>
                <c:pt idx="195">
                  <c:v>0.675886435627</c:v>
                </c:pt>
                <c:pt idx="196">
                  <c:v>0.699139853234</c:v>
                </c:pt>
                <c:pt idx="197">
                  <c:v>0.69021333998</c:v>
                </c:pt>
                <c:pt idx="198">
                  <c:v>0.381718359682</c:v>
                </c:pt>
                <c:pt idx="199">
                  <c:v>0.38470865471</c:v>
                </c:pt>
                <c:pt idx="200">
                  <c:v>1.06296103617</c:v>
                </c:pt>
                <c:pt idx="201">
                  <c:v>1.01682822433</c:v>
                </c:pt>
                <c:pt idx="202">
                  <c:v>0.968075963213</c:v>
                </c:pt>
                <c:pt idx="203">
                  <c:v>0.274241982703</c:v>
                </c:pt>
                <c:pt idx="204">
                  <c:v>0.713373471512</c:v>
                </c:pt>
                <c:pt idx="205">
                  <c:v>0.426757775251</c:v>
                </c:pt>
                <c:pt idx="206">
                  <c:v>0.703729936702</c:v>
                </c:pt>
                <c:pt idx="207">
                  <c:v>0.675856725806</c:v>
                </c:pt>
                <c:pt idx="208">
                  <c:v>0.320716377272</c:v>
                </c:pt>
                <c:pt idx="209">
                  <c:v>0.279710717233</c:v>
                </c:pt>
                <c:pt idx="210">
                  <c:v>0.265930331835</c:v>
                </c:pt>
                <c:pt idx="211">
                  <c:v>0.695128920448</c:v>
                </c:pt>
                <c:pt idx="212">
                  <c:v>0.266867141806</c:v>
                </c:pt>
                <c:pt idx="213">
                  <c:v>0.443278976957</c:v>
                </c:pt>
                <c:pt idx="214">
                  <c:v>0.675748600607</c:v>
                </c:pt>
                <c:pt idx="215">
                  <c:v>0.713047586041</c:v>
                </c:pt>
                <c:pt idx="216">
                  <c:v>0.289249259603</c:v>
                </c:pt>
                <c:pt idx="217">
                  <c:v>0.980014694115</c:v>
                </c:pt>
                <c:pt idx="218">
                  <c:v>0.305917139222</c:v>
                </c:pt>
                <c:pt idx="219">
                  <c:v>0.683449791656</c:v>
                </c:pt>
                <c:pt idx="220">
                  <c:v>0.701062741226</c:v>
                </c:pt>
                <c:pt idx="221">
                  <c:v>0.646480329032</c:v>
                </c:pt>
                <c:pt idx="222">
                  <c:v>0.988782097082</c:v>
                </c:pt>
                <c:pt idx="223">
                  <c:v>0.250364616562</c:v>
                </c:pt>
                <c:pt idx="224">
                  <c:v>0.445674130446</c:v>
                </c:pt>
                <c:pt idx="225">
                  <c:v>1.03458660137</c:v>
                </c:pt>
                <c:pt idx="226">
                  <c:v>0.649078545694</c:v>
                </c:pt>
                <c:pt idx="227">
                  <c:v>0.95003067546</c:v>
                </c:pt>
                <c:pt idx="228">
                  <c:v>0.338691305364</c:v>
                </c:pt>
                <c:pt idx="229">
                  <c:v>0.315779420528</c:v>
                </c:pt>
                <c:pt idx="230">
                  <c:v>0.268447831555</c:v>
                </c:pt>
                <c:pt idx="231">
                  <c:v>0.965593678972</c:v>
                </c:pt>
                <c:pt idx="232">
                  <c:v>0.430831965699</c:v>
                </c:pt>
                <c:pt idx="233">
                  <c:v>0.252974750338</c:v>
                </c:pt>
                <c:pt idx="234">
                  <c:v>0.33050468824</c:v>
                </c:pt>
                <c:pt idx="235">
                  <c:v>0.319425813561</c:v>
                </c:pt>
                <c:pt idx="236">
                  <c:v>0.271485481856</c:v>
                </c:pt>
                <c:pt idx="237">
                  <c:v>0.606640663211</c:v>
                </c:pt>
                <c:pt idx="238">
                  <c:v>0.389598732453</c:v>
                </c:pt>
                <c:pt idx="239">
                  <c:v>0.662906378925</c:v>
                </c:pt>
                <c:pt idx="240">
                  <c:v>0.265210367011</c:v>
                </c:pt>
                <c:pt idx="241">
                  <c:v>0.746333456291</c:v>
                </c:pt>
                <c:pt idx="242">
                  <c:v>1.0089320757</c:v>
                </c:pt>
                <c:pt idx="243">
                  <c:v>0.674906652965</c:v>
                </c:pt>
                <c:pt idx="244">
                  <c:v>0.956741782242</c:v>
                </c:pt>
                <c:pt idx="245">
                  <c:v>0.331915429461</c:v>
                </c:pt>
                <c:pt idx="246">
                  <c:v>0.292176179473</c:v>
                </c:pt>
                <c:pt idx="247">
                  <c:v>0.401758685411</c:v>
                </c:pt>
                <c:pt idx="248">
                  <c:v>0.650940100407</c:v>
                </c:pt>
                <c:pt idx="249">
                  <c:v>0.383995298876</c:v>
                </c:pt>
                <c:pt idx="250">
                  <c:v>0.692965828351</c:v>
                </c:pt>
                <c:pt idx="251">
                  <c:v>0.966203555896</c:v>
                </c:pt>
                <c:pt idx="252">
                  <c:v>0.358937259816</c:v>
                </c:pt>
                <c:pt idx="253">
                  <c:v>0.345302643741</c:v>
                </c:pt>
                <c:pt idx="254">
                  <c:v>0.3860444091</c:v>
                </c:pt>
                <c:pt idx="255">
                  <c:v>0.268881620871</c:v>
                </c:pt>
                <c:pt idx="256">
                  <c:v>0.701043883326</c:v>
                </c:pt>
                <c:pt idx="257">
                  <c:v>0.390687359198</c:v>
                </c:pt>
                <c:pt idx="258">
                  <c:v>0.259799933682</c:v>
                </c:pt>
                <c:pt idx="259">
                  <c:v>0.682693084837</c:v>
                </c:pt>
                <c:pt idx="260">
                  <c:v>0.325409768583</c:v>
                </c:pt>
                <c:pt idx="261">
                  <c:v>0.952439484706</c:v>
                </c:pt>
                <c:pt idx="262">
                  <c:v>1.06615466695</c:v>
                </c:pt>
                <c:pt idx="263">
                  <c:v>0.379036312467</c:v>
                </c:pt>
                <c:pt idx="264">
                  <c:v>0.978055841749</c:v>
                </c:pt>
                <c:pt idx="265">
                  <c:v>0.271728659736</c:v>
                </c:pt>
                <c:pt idx="266">
                  <c:v>0.359879075299</c:v>
                </c:pt>
                <c:pt idx="267">
                  <c:v>0.332828401866</c:v>
                </c:pt>
                <c:pt idx="268">
                  <c:v>0.647510791722</c:v>
                </c:pt>
                <c:pt idx="269">
                  <c:v>0.251994142388</c:v>
                </c:pt>
                <c:pt idx="270">
                  <c:v>0.254142856021</c:v>
                </c:pt>
                <c:pt idx="271">
                  <c:v>0.957042245518</c:v>
                </c:pt>
                <c:pt idx="272">
                  <c:v>0.349097660933</c:v>
                </c:pt>
                <c:pt idx="273">
                  <c:v>0.277341382545</c:v>
                </c:pt>
                <c:pt idx="274">
                  <c:v>0.697861330126</c:v>
                </c:pt>
                <c:pt idx="275">
                  <c:v>0.705583577033</c:v>
                </c:pt>
                <c:pt idx="276">
                  <c:v>0.442197488106</c:v>
                </c:pt>
                <c:pt idx="277">
                  <c:v>1.02846125779</c:v>
                </c:pt>
                <c:pt idx="278">
                  <c:v>0.384854996817</c:v>
                </c:pt>
                <c:pt idx="279">
                  <c:v>0.955341946658</c:v>
                </c:pt>
                <c:pt idx="280">
                  <c:v>0.281902015675</c:v>
                </c:pt>
                <c:pt idx="281">
                  <c:v>0.331285056011</c:v>
                </c:pt>
                <c:pt idx="282">
                  <c:v>0.255912720548</c:v>
                </c:pt>
                <c:pt idx="283">
                  <c:v>0.661613288121</c:v>
                </c:pt>
                <c:pt idx="284">
                  <c:v>0.347823166872</c:v>
                </c:pt>
                <c:pt idx="285">
                  <c:v>0.988388404388</c:v>
                </c:pt>
                <c:pt idx="286">
                  <c:v>0.353810674167</c:v>
                </c:pt>
                <c:pt idx="287">
                  <c:v>0.958974650213</c:v>
                </c:pt>
                <c:pt idx="288">
                  <c:v>0.700532441522</c:v>
                </c:pt>
                <c:pt idx="289">
                  <c:v>0.705992408541</c:v>
                </c:pt>
                <c:pt idx="290">
                  <c:v>0.997371139121</c:v>
                </c:pt>
                <c:pt idx="291">
                  <c:v>0.439992425432</c:v>
                </c:pt>
                <c:pt idx="292">
                  <c:v>0.672083900509</c:v>
                </c:pt>
                <c:pt idx="293">
                  <c:v>0.694952026977</c:v>
                </c:pt>
                <c:pt idx="294">
                  <c:v>0.427845978133</c:v>
                </c:pt>
                <c:pt idx="295">
                  <c:v>0.614975875254</c:v>
                </c:pt>
                <c:pt idx="296">
                  <c:v>0.306158616645</c:v>
                </c:pt>
                <c:pt idx="297">
                  <c:v>0.641347133334</c:v>
                </c:pt>
                <c:pt idx="298">
                  <c:v>1.05756501824</c:v>
                </c:pt>
                <c:pt idx="299">
                  <c:v>0.352715126396</c:v>
                </c:pt>
                <c:pt idx="300">
                  <c:v>1.0178940864</c:v>
                </c:pt>
                <c:pt idx="301">
                  <c:v>0.993394505936</c:v>
                </c:pt>
                <c:pt idx="302">
                  <c:v>1.06675456976</c:v>
                </c:pt>
                <c:pt idx="303">
                  <c:v>0.605300981179</c:v>
                </c:pt>
                <c:pt idx="304">
                  <c:v>0.352306566332</c:v>
                </c:pt>
                <c:pt idx="305">
                  <c:v>0.649074953718</c:v>
                </c:pt>
                <c:pt idx="306">
                  <c:v>0.315933047491</c:v>
                </c:pt>
                <c:pt idx="307">
                  <c:v>1.06802498393</c:v>
                </c:pt>
                <c:pt idx="308">
                  <c:v>0.68559111593</c:v>
                </c:pt>
                <c:pt idx="309">
                  <c:v>0.716253338386</c:v>
                </c:pt>
                <c:pt idx="310">
                  <c:v>0.749429020052</c:v>
                </c:pt>
                <c:pt idx="311">
                  <c:v>0.260942797779</c:v>
                </c:pt>
                <c:pt idx="312">
                  <c:v>0.972587626214</c:v>
                </c:pt>
                <c:pt idx="313">
                  <c:v>0.606365223232</c:v>
                </c:pt>
                <c:pt idx="314">
                  <c:v>0.699211981979</c:v>
                </c:pt>
                <c:pt idx="315">
                  <c:v>0.382152577648</c:v>
                </c:pt>
                <c:pt idx="316">
                  <c:v>0.335126783162</c:v>
                </c:pt>
                <c:pt idx="317">
                  <c:v>0.279561820132</c:v>
                </c:pt>
                <c:pt idx="318">
                  <c:v>0.470603392917</c:v>
                </c:pt>
                <c:pt idx="319">
                  <c:v>0.423547617616</c:v>
                </c:pt>
                <c:pt idx="320">
                  <c:v>0.424763371848</c:v>
                </c:pt>
                <c:pt idx="321">
                  <c:v>0.444691457392</c:v>
                </c:pt>
                <c:pt idx="322">
                  <c:v>0.450481964351</c:v>
                </c:pt>
                <c:pt idx="323">
                  <c:v>0.406047511703</c:v>
                </c:pt>
                <c:pt idx="324">
                  <c:v>0.63765217695</c:v>
                </c:pt>
                <c:pt idx="325">
                  <c:v>0.398689197196</c:v>
                </c:pt>
                <c:pt idx="326">
                  <c:v>0.451186635844</c:v>
                </c:pt>
                <c:pt idx="327">
                  <c:v>0.4225639866</c:v>
                </c:pt>
                <c:pt idx="328">
                  <c:v>0.3783080014</c:v>
                </c:pt>
                <c:pt idx="329">
                  <c:v>0.640891716467</c:v>
                </c:pt>
                <c:pt idx="330">
                  <c:v>0.740990538827</c:v>
                </c:pt>
                <c:pt idx="331">
                  <c:v>0.666808499733</c:v>
                </c:pt>
                <c:pt idx="332">
                  <c:v>0.390528361528</c:v>
                </c:pt>
                <c:pt idx="333">
                  <c:v>0.207470521797</c:v>
                </c:pt>
                <c:pt idx="334">
                  <c:v>0.343487080557</c:v>
                </c:pt>
                <c:pt idx="335">
                  <c:v>0.556684801546</c:v>
                </c:pt>
                <c:pt idx="336">
                  <c:v>0.529496124986</c:v>
                </c:pt>
                <c:pt idx="337">
                  <c:v>0.358794968673</c:v>
                </c:pt>
                <c:pt idx="338">
                  <c:v>0.421373285712</c:v>
                </c:pt>
                <c:pt idx="339">
                  <c:v>0.742555799013</c:v>
                </c:pt>
                <c:pt idx="340">
                  <c:v>0.455279772698</c:v>
                </c:pt>
                <c:pt idx="341">
                  <c:v>0.337415970489</c:v>
                </c:pt>
                <c:pt idx="342">
                  <c:v>0.468876518597</c:v>
                </c:pt>
                <c:pt idx="343">
                  <c:v>0.395602692249</c:v>
                </c:pt>
                <c:pt idx="344">
                  <c:v>0.61971103177</c:v>
                </c:pt>
                <c:pt idx="345">
                  <c:v>0.700589580346</c:v>
                </c:pt>
                <c:pt idx="346">
                  <c:v>0.647506051706</c:v>
                </c:pt>
                <c:pt idx="347">
                  <c:v>0.627335468726</c:v>
                </c:pt>
                <c:pt idx="348">
                  <c:v>0.463530272339</c:v>
                </c:pt>
                <c:pt idx="349">
                  <c:v>0.565474937734</c:v>
                </c:pt>
                <c:pt idx="350">
                  <c:v>0.455314077067</c:v>
                </c:pt>
                <c:pt idx="351">
                  <c:v>0.531660428077</c:v>
                </c:pt>
                <c:pt idx="352">
                  <c:v>0.395608813081</c:v>
                </c:pt>
                <c:pt idx="353">
                  <c:v>0.638440535717</c:v>
                </c:pt>
                <c:pt idx="354">
                  <c:v>0.350872306351</c:v>
                </c:pt>
                <c:pt idx="355">
                  <c:v>0.470825365658</c:v>
                </c:pt>
                <c:pt idx="356">
                  <c:v>0.580233731611</c:v>
                </c:pt>
                <c:pt idx="357">
                  <c:v>0.400535119735</c:v>
                </c:pt>
                <c:pt idx="358">
                  <c:v>0.38969161619</c:v>
                </c:pt>
                <c:pt idx="359">
                  <c:v>0.624152844364</c:v>
                </c:pt>
                <c:pt idx="360">
                  <c:v>0.642973414167</c:v>
                </c:pt>
                <c:pt idx="361">
                  <c:v>0.416016294137</c:v>
                </c:pt>
                <c:pt idx="362">
                  <c:v>0.615752820614</c:v>
                </c:pt>
                <c:pt idx="363">
                  <c:v>0.640326018853</c:v>
                </c:pt>
                <c:pt idx="364">
                  <c:v>0.392598857769</c:v>
                </c:pt>
                <c:pt idx="365">
                  <c:v>0.386784279959</c:v>
                </c:pt>
                <c:pt idx="366">
                  <c:v>0.458345461151</c:v>
                </c:pt>
                <c:pt idx="367">
                  <c:v>0.391915828108</c:v>
                </c:pt>
                <c:pt idx="368">
                  <c:v>0.564736217149</c:v>
                </c:pt>
                <c:pt idx="369">
                  <c:v>0.401588125551</c:v>
                </c:pt>
                <c:pt idx="370">
                  <c:v>0.424643706089</c:v>
                </c:pt>
                <c:pt idx="371">
                  <c:v>0.358084233368</c:v>
                </c:pt>
                <c:pt idx="372">
                  <c:v>0.639546138547</c:v>
                </c:pt>
                <c:pt idx="373">
                  <c:v>0.614247315366</c:v>
                </c:pt>
                <c:pt idx="374">
                  <c:v>0.371090438004</c:v>
                </c:pt>
                <c:pt idx="375">
                  <c:v>0.455473811542</c:v>
                </c:pt>
                <c:pt idx="376">
                  <c:v>0.710643615223</c:v>
                </c:pt>
                <c:pt idx="377">
                  <c:v>0.569953280835</c:v>
                </c:pt>
                <c:pt idx="378">
                  <c:v>0.387595425392</c:v>
                </c:pt>
                <c:pt idx="379">
                  <c:v>0.420438644949</c:v>
                </c:pt>
                <c:pt idx="380">
                  <c:v>0.396933203255</c:v>
                </c:pt>
                <c:pt idx="381">
                  <c:v>0.383705783822</c:v>
                </c:pt>
                <c:pt idx="382">
                  <c:v>0.638346965062</c:v>
                </c:pt>
                <c:pt idx="383">
                  <c:v>0.634864491801</c:v>
                </c:pt>
                <c:pt idx="384">
                  <c:v>0.735773616689</c:v>
                </c:pt>
                <c:pt idx="385">
                  <c:v>0.59661062287</c:v>
                </c:pt>
                <c:pt idx="386">
                  <c:v>0.575103707256</c:v>
                </c:pt>
                <c:pt idx="387">
                  <c:v>0.371311321614</c:v>
                </c:pt>
                <c:pt idx="388">
                  <c:v>0.462936683087</c:v>
                </c:pt>
                <c:pt idx="389">
                  <c:v>0.643557687334</c:v>
                </c:pt>
                <c:pt idx="390">
                  <c:v>0.554268825152</c:v>
                </c:pt>
                <c:pt idx="391">
                  <c:v>0.409195706056</c:v>
                </c:pt>
                <c:pt idx="392">
                  <c:v>0.628940377495</c:v>
                </c:pt>
                <c:pt idx="393">
                  <c:v>0.642594514824</c:v>
                </c:pt>
                <c:pt idx="394">
                  <c:v>0.441445704483</c:v>
                </c:pt>
                <c:pt idx="395">
                  <c:v>0.598026107597</c:v>
                </c:pt>
                <c:pt idx="396">
                  <c:v>0.420691321065</c:v>
                </c:pt>
                <c:pt idx="397">
                  <c:v>0.413520009994</c:v>
                </c:pt>
                <c:pt idx="398">
                  <c:v>0.775016168793</c:v>
                </c:pt>
                <c:pt idx="399">
                  <c:v>0.337959617976</c:v>
                </c:pt>
                <c:pt idx="400">
                  <c:v>0.616352045253</c:v>
                </c:pt>
                <c:pt idx="401">
                  <c:v>0.569886549644</c:v>
                </c:pt>
                <c:pt idx="402">
                  <c:v>0.73458935373</c:v>
                </c:pt>
                <c:pt idx="403">
                  <c:v>0.425732186892</c:v>
                </c:pt>
                <c:pt idx="404">
                  <c:v>0.694090882733</c:v>
                </c:pt>
                <c:pt idx="405">
                  <c:v>0.4196126096</c:v>
                </c:pt>
                <c:pt idx="406">
                  <c:v>0.434660234582</c:v>
                </c:pt>
                <c:pt idx="407">
                  <c:v>0.386731421968</c:v>
                </c:pt>
                <c:pt idx="408">
                  <c:v>0.354670564305</c:v>
                </c:pt>
                <c:pt idx="409">
                  <c:v>0.549635152026</c:v>
                </c:pt>
                <c:pt idx="410">
                  <c:v>0.416343075766</c:v>
                </c:pt>
                <c:pt idx="411">
                  <c:v>0.560529055044</c:v>
                </c:pt>
                <c:pt idx="412">
                  <c:v>0.413893716415</c:v>
                </c:pt>
                <c:pt idx="413">
                  <c:v>0.277148831021</c:v>
                </c:pt>
                <c:pt idx="414">
                  <c:v>0.593891128257</c:v>
                </c:pt>
                <c:pt idx="415">
                  <c:v>0.341554361435</c:v>
                </c:pt>
                <c:pt idx="416">
                  <c:v>0.627410822314</c:v>
                </c:pt>
                <c:pt idx="417">
                  <c:v>0.34036828193</c:v>
                </c:pt>
                <c:pt idx="418">
                  <c:v>0.632990088869</c:v>
                </c:pt>
                <c:pt idx="419">
                  <c:v>0.70184486825</c:v>
                </c:pt>
                <c:pt idx="420">
                  <c:v>0.563238732998</c:v>
                </c:pt>
                <c:pt idx="421">
                  <c:v>0.398075060382</c:v>
                </c:pt>
                <c:pt idx="422">
                  <c:v>0.602179516355</c:v>
                </c:pt>
                <c:pt idx="423">
                  <c:v>0.502794633466</c:v>
                </c:pt>
                <c:pt idx="424">
                  <c:v>0.533498664653</c:v>
                </c:pt>
                <c:pt idx="425">
                  <c:v>0.553800289041</c:v>
                </c:pt>
                <c:pt idx="426">
                  <c:v>0.398327593939</c:v>
                </c:pt>
                <c:pt idx="427">
                  <c:v>0.343593780404</c:v>
                </c:pt>
                <c:pt idx="428">
                  <c:v>0.646518908568</c:v>
                </c:pt>
                <c:pt idx="429">
                  <c:v>0.369147487697</c:v>
                </c:pt>
                <c:pt idx="430">
                  <c:v>0.457971612175</c:v>
                </c:pt>
                <c:pt idx="431">
                  <c:v>0.356276214516</c:v>
                </c:pt>
                <c:pt idx="432">
                  <c:v>0.637938849221</c:v>
                </c:pt>
                <c:pt idx="433">
                  <c:v>0.459011183031</c:v>
                </c:pt>
                <c:pt idx="434">
                  <c:v>0.389557136118</c:v>
                </c:pt>
                <c:pt idx="435">
                  <c:v>0.571442615994</c:v>
                </c:pt>
                <c:pt idx="436">
                  <c:v>0.638851257887</c:v>
                </c:pt>
                <c:pt idx="437">
                  <c:v>0.456577820038</c:v>
                </c:pt>
                <c:pt idx="438">
                  <c:v>0.601403034204</c:v>
                </c:pt>
                <c:pt idx="439">
                  <c:v>0.668564070408</c:v>
                </c:pt>
                <c:pt idx="440">
                  <c:v>0.629102129893</c:v>
                </c:pt>
                <c:pt idx="441">
                  <c:v>0.422944868315</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Training rows with negative concentration partial derivative</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barChart>
        <c:barDir val="col"/>
        <c:grouping val="clustered"/>
        <c:varyColors val="0"/>
        <c:ser>
          <c:idx val="0"/>
          <c:order val="0"/>
          <c:tx>
            <c:v>Default</c:v>
          </c:tx>
          <c:spPr>
            <a:solidFill xmlns:a="http://schemas.openxmlformats.org/drawingml/2006/main">
              <a:srgbClr val="6F8FAE"/>
            </a:solidFill>
          </c:spPr>
          <c:invertIfNegative val="0"/>
          <c:cat>
            <c:strRef>
              <c:f>'Chart Data'!$A$2:$A$5</c:f>
              <c:strCache>
                <c:ptCount val="4"/>
                <c:pt idx="0">
                  <c:v>Pooled</c:v>
                </c:pt>
                <c:pt idx="1">
                  <c:v>0.377 cP</c:v>
                </c:pt>
                <c:pt idx="2">
                  <c:v>0.423 cP</c:v>
                </c:pt>
                <c:pt idx="3">
                  <c:v>0.68 cP</c:v>
                </c:pt>
              </c:strCache>
            </c:strRef>
          </c:cat>
          <c:val>
            <c:numRef>
              <c:f>'Chart Data'!$B$2:$B$5</c:f>
              <c:numCache>
                <c:formatCode>0%</c:formatCode>
                <c:ptCount val="4"/>
                <c:pt idx="0">
                  <c:v>0.434405308831</c:v>
                </c:pt>
                <c:pt idx="1">
                  <c:v>0.86553030303</c:v>
                </c:pt>
                <c:pt idx="2">
                  <c:v>0.231689088191</c:v>
                </c:pt>
                <c:pt idx="3">
                  <c:v>0.313648293963</c:v>
                </c:pt>
              </c:numCache>
            </c:numRef>
          </c:val>
        </c:ser>
        <c:ser>
          <c:idx val="1"/>
          <c:order val="1"/>
          <c:tx>
            <c:v>Concentration penalty</c:v>
          </c:tx>
          <c:spPr>
            <a:solidFill xmlns:a="http://schemas.openxmlformats.org/drawingml/2006/main">
              <a:srgbClr val="B49A45"/>
            </a:solidFill>
          </c:spPr>
          <c:invertIfNegative val="0"/>
          <c:cat>
            <c:strRef>
              <c:f>'Chart Data'!$C$2:$C$5</c:f>
              <c:strCache>
                <c:ptCount val="4"/>
                <c:pt idx="0">
                  <c:v>Pooled</c:v>
                </c:pt>
                <c:pt idx="1">
                  <c:v>0.377 cP</c:v>
                </c:pt>
                <c:pt idx="2">
                  <c:v>0.423 cP</c:v>
                </c:pt>
                <c:pt idx="3">
                  <c:v>0.68 cP</c:v>
                </c:pt>
              </c:strCache>
            </c:strRef>
          </c:cat>
          <c:val>
            <c:numRef>
              <c:f>'Chart Data'!$D$2:$D$5</c:f>
              <c:numCache>
                <c:formatCode>0%</c:formatCode>
                <c:ptCount val="4"/>
                <c:pt idx="0">
                  <c:v>0.409903011741</c:v>
                </c:pt>
                <c:pt idx="1">
                  <c:v>0.823863636364</c:v>
                </c:pt>
                <c:pt idx="2">
                  <c:v>0.206278026906</c:v>
                </c:pt>
                <c:pt idx="3">
                  <c:v>0.301837270341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3E8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Measured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Data'!$B$2:$B$47</c:f>
              <c:numCache>
                <c:formatCode>0.0</c:formatCode>
                <c:ptCount val="46"/>
                <c:pt idx="0">
                  <c:v>2.83287467538</c:v>
                </c:pt>
                <c:pt idx="1">
                  <c:v>2.76290178056</c:v>
                </c:pt>
                <c:pt idx="2">
                  <c:v>2.67926566202</c:v>
                </c:pt>
                <c:pt idx="3">
                  <c:v>2.58123505522</c:v>
                </c:pt>
                <c:pt idx="4">
                  <c:v>2.46818465013</c:v>
                </c:pt>
                <c:pt idx="5">
                  <c:v>2.33910255217</c:v>
                </c:pt>
                <c:pt idx="6">
                  <c:v>2.19285808493</c:v>
                </c:pt>
                <c:pt idx="7">
                  <c:v>2.02818154817</c:v>
                </c:pt>
                <c:pt idx="8">
                  <c:v>1.84310115374</c:v>
                </c:pt>
                <c:pt idx="9">
                  <c:v>1.63398746361</c:v>
                </c:pt>
                <c:pt idx="10">
                  <c:v>1.39414784365</c:v>
                </c:pt>
                <c:pt idx="11">
                  <c:v>1.11198204664</c:v>
                </c:pt>
                <c:pt idx="12">
                  <c:v>0.769203282558</c:v>
                </c:pt>
                <c:pt idx="13">
                  <c:v>0.349289969233</c:v>
                </c:pt>
                <c:pt idx="14">
                  <c:v>-0.0591419769408</c:v>
                </c:pt>
                <c:pt idx="15">
                  <c:v>-0.190571192575</c:v>
                </c:pt>
                <c:pt idx="16">
                  <c:v>-0.323096552196</c:v>
                </c:pt>
                <c:pt idx="17">
                  <c:v>-0.544964085446</c:v>
                </c:pt>
                <c:pt idx="18">
                  <c:v>-0.537269507216</c:v>
                </c:pt>
                <c:pt idx="19">
                  <c:v>-0.519809685275</c:v>
                </c:pt>
                <c:pt idx="20">
                  <c:v>-0.576016927764</c:v>
                </c:pt>
                <c:pt idx="21">
                  <c:v>-0.598481132499</c:v>
                </c:pt>
                <c:pt idx="22">
                  <c:v>-0.622395119995</c:v>
                </c:pt>
                <c:pt idx="23">
                  <c:v>-0.647526316351</c:v>
                </c:pt>
                <c:pt idx="24">
                  <c:v>-0.655802352283</c:v>
                </c:pt>
                <c:pt idx="25">
                  <c:v>-0.667343152346</c:v>
                </c:pt>
                <c:pt idx="26">
                  <c:v>-0.680855304156</c:v>
                </c:pt>
                <c:pt idx="27">
                  <c:v>-0.691282454496</c:v>
                </c:pt>
                <c:pt idx="28">
                  <c:v>-0.701847578261</c:v>
                </c:pt>
                <c:pt idx="29">
                  <c:v>-0.711096866112</c:v>
                </c:pt>
                <c:pt idx="30">
                  <c:v>-0.71964433085</c:v>
                </c:pt>
                <c:pt idx="31">
                  <c:v>-0.728542511994</c:v>
                </c:pt>
                <c:pt idx="32">
                  <c:v>-0.73708544208</c:v>
                </c:pt>
                <c:pt idx="33">
                  <c:v>-0.745301410646</c:v>
                </c:pt>
                <c:pt idx="34">
                  <c:v>-0.753136088039</c:v>
                </c:pt>
                <c:pt idx="35">
                  <c:v>-0.760555893271</c:v>
                </c:pt>
                <c:pt idx="36">
                  <c:v>-0.767680355725</c:v>
                </c:pt>
                <c:pt idx="37">
                  <c:v>-0.774464203947</c:v>
                </c:pt>
                <c:pt idx="38">
                  <c:v>-0.780922546509</c:v>
                </c:pt>
                <c:pt idx="39">
                  <c:v>-0.787101028315</c:v>
                </c:pt>
                <c:pt idx="40">
                  <c:v>-0.793032943945</c:v>
                </c:pt>
                <c:pt idx="41">
                  <c:v>-0.798740564293</c:v>
                </c:pt>
                <c:pt idx="42">
                  <c:v>-0.804212300201</c:v>
                </c:pt>
                <c:pt idx="43">
                  <c:v>-0.809437306789</c:v>
                </c:pt>
                <c:pt idx="44">
                  <c:v>-0.814419129838</c:v>
                </c:pt>
                <c:pt idx="45">
                  <c:v>-0.819169373128</c:v>
                </c:pt>
              </c:numCache>
            </c:numRef>
          </c:yVal>
        </c:ser>
        <c:ser>
          <c:idx val="1"/>
          <c:order val="1"/>
          <c:tx>
            <c:v>Validation data loss</c:v>
          </c:tx>
          <c:spPr>
            <a:ln xmlns:a="http://schemas.openxmlformats.org/drawingml/2006/main" w="19050">
              <a:solidFill>
                <a:srgbClr val="B49A45"/>
              </a:solidFill>
            </a:ln>
          </c:spPr>
          <c:marker>
            <c:symbol val="none"/>
          </c:marker>
          <c:xVal>
            <c:numRef>
              <c:f>'Chart Data'!$C$2:$C$47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Data'!$D$2:$D$47</c:f>
              <c:numCache>
                <c:formatCode>0.0</c:formatCode>
                <c:ptCount val="46"/>
                <c:pt idx="0">
                  <c:v>3.05674531361</c:v>
                </c:pt>
                <c:pt idx="1">
                  <c:v>3.0068535539</c:v>
                </c:pt>
                <c:pt idx="2">
                  <c:v>2.94666765781</c:v>
                </c:pt>
                <c:pt idx="3">
                  <c:v>2.8746313154</c:v>
                </c:pt>
                <c:pt idx="4">
                  <c:v>2.78941505341</c:v>
                </c:pt>
                <c:pt idx="5">
                  <c:v>2.68923881801</c:v>
                </c:pt>
                <c:pt idx="6">
                  <c:v>2.57169060326</c:v>
                </c:pt>
                <c:pt idx="7">
                  <c:v>2.43342226953</c:v>
                </c:pt>
                <c:pt idx="8">
                  <c:v>2.26964456973</c:v>
                </c:pt>
                <c:pt idx="9">
                  <c:v>2.07384429735</c:v>
                </c:pt>
                <c:pt idx="10">
                  <c:v>1.83753090256</c:v>
                </c:pt>
                <c:pt idx="11">
                  <c:v>1.54882297169</c:v>
                </c:pt>
                <c:pt idx="12">
                  <c:v>1.18801762455</c:v>
                </c:pt>
                <c:pt idx="13">
                  <c:v>0.720257037824</c:v>
                </c:pt>
                <c:pt idx="14">
                  <c:v>0.147911712574</c:v>
                </c:pt>
                <c:pt idx="15">
                  <c:v>-0.0958712163934</c:v>
                </c:pt>
                <c:pt idx="16">
                  <c:v>-0.0558843011408</c:v>
                </c:pt>
                <c:pt idx="17">
                  <c:v>0.110967949436</c:v>
                </c:pt>
                <c:pt idx="18">
                  <c:v>0.28340574798</c:v>
                </c:pt>
                <c:pt idx="19">
                  <c:v>0.293037133276</c:v>
                </c:pt>
                <c:pt idx="20">
                  <c:v>0.213528963655</c:v>
                </c:pt>
                <c:pt idx="21">
                  <c:v>0.155888796644</c:v>
                </c:pt>
                <c:pt idx="22">
                  <c:v>0.144490282202</c:v>
                </c:pt>
                <c:pt idx="23">
                  <c:v>0.157430369913</c:v>
                </c:pt>
                <c:pt idx="24">
                  <c:v>0.157797936317</c:v>
                </c:pt>
                <c:pt idx="25">
                  <c:v>0.131753723288</c:v>
                </c:pt>
                <c:pt idx="26">
                  <c:v>0.101976157092</c:v>
                </c:pt>
                <c:pt idx="27">
                  <c:v>0.0898627304637</c:v>
                </c:pt>
                <c:pt idx="28">
                  <c:v>0.0938199827103</c:v>
                </c:pt>
                <c:pt idx="29">
                  <c:v>0.0993946957778</c:v>
                </c:pt>
                <c:pt idx="30">
                  <c:v>0.0960119810565</c:v>
                </c:pt>
                <c:pt idx="31">
                  <c:v>0.0853134246656</c:v>
                </c:pt>
                <c:pt idx="32">
                  <c:v>0.0745776356011</c:v>
                </c:pt>
                <c:pt idx="33">
                  <c:v>0.0672588918208</c:v>
                </c:pt>
                <c:pt idx="34">
                  <c:v>0.0616844283963</c:v>
                </c:pt>
                <c:pt idx="35">
                  <c:v>0.0553214656592</c:v>
                </c:pt>
                <c:pt idx="36">
                  <c:v>0.0481091529082</c:v>
                </c:pt>
                <c:pt idx="37">
                  <c:v>0.041600579728</c:v>
                </c:pt>
                <c:pt idx="38">
                  <c:v>0.0364340643231</c:v>
                </c:pt>
                <c:pt idx="39">
                  <c:v>0.0317609675074</c:v>
                </c:pt>
                <c:pt idx="40">
                  <c:v>0.0265958293485</c:v>
                </c:pt>
                <c:pt idx="41">
                  <c:v>0.0209111996797</c:v>
                </c:pt>
                <c:pt idx="42">
                  <c:v>0.0153147830571</c:v>
                </c:pt>
                <c:pt idx="43">
                  <c:v>0.0101682523238</c:v>
                </c:pt>
                <c:pt idx="44">
                  <c:v>0.0053383935299</c:v>
                </c:pt>
                <c:pt idx="45">
                  <c:v>0.00059527974686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226"/>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Data'!$B$2:$B$62</c:f>
              <c:numCache>
                <c:formatCode>0.0</c:formatCode>
                <c:ptCount val="61"/>
                <c:pt idx="0">
                  <c:v>1.38587295481</c:v>
                </c:pt>
                <c:pt idx="1">
                  <c:v>-0.0298479425762</c:v>
                </c:pt>
                <c:pt idx="2">
                  <c:v>-0.331439646698</c:v>
                </c:pt>
                <c:pt idx="3">
                  <c:v>-0.434109379299</c:v>
                </c:pt>
                <c:pt idx="4">
                  <c:v>-0.482306932696</c:v>
                </c:pt>
                <c:pt idx="5">
                  <c:v>-0.522060510413</c:v>
                </c:pt>
                <c:pt idx="6">
                  <c:v>-0.557997779439</c:v>
                </c:pt>
                <c:pt idx="7">
                  <c:v>-0.591128996674</c:v>
                </c:pt>
                <c:pt idx="8">
                  <c:v>-0.622066900526</c:v>
                </c:pt>
                <c:pt idx="9">
                  <c:v>-0.651226617861</c:v>
                </c:pt>
                <c:pt idx="10">
                  <c:v>-0.678982904649</c:v>
                </c:pt>
                <c:pt idx="11">
                  <c:v>-0.705659450921</c:v>
                </c:pt>
                <c:pt idx="12">
                  <c:v>-0.731400276582</c:v>
                </c:pt>
                <c:pt idx="13">
                  <c:v>-0.756140597533</c:v>
                </c:pt>
                <c:pt idx="14">
                  <c:v>-0.779680798649</c:v>
                </c:pt>
                <c:pt idx="15">
                  <c:v>-0.801816512169</c:v>
                </c:pt>
                <c:pt idx="16">
                  <c:v>-0.822386882299</c:v>
                </c:pt>
                <c:pt idx="17">
                  <c:v>-0.841309536833</c:v>
                </c:pt>
                <c:pt idx="18">
                  <c:v>-0.858583901345</c:v>
                </c:pt>
                <c:pt idx="19">
                  <c:v>-0.874292186662</c:v>
                </c:pt>
                <c:pt idx="20">
                  <c:v>-0.888572285786</c:v>
                </c:pt>
                <c:pt idx="21">
                  <c:v>-0.901568283119</c:v>
                </c:pt>
                <c:pt idx="22">
                  <c:v>-0.913400811733</c:v>
                </c:pt>
                <c:pt idx="23">
                  <c:v>-0.924174653346</c:v>
                </c:pt>
                <c:pt idx="24">
                  <c:v>-0.933964119646</c:v>
                </c:pt>
                <c:pt idx="25">
                  <c:v>-0.942831004571</c:v>
                </c:pt>
                <c:pt idx="26">
                  <c:v>-0.950834143462</c:v>
                </c:pt>
                <c:pt idx="27">
                  <c:v>-0.958038698366</c:v>
                </c:pt>
                <c:pt idx="28">
                  <c:v>-0.964497157644</c:v>
                </c:pt>
                <c:pt idx="29">
                  <c:v>-0.970281403191</c:v>
                </c:pt>
                <c:pt idx="30">
                  <c:v>-0.975463157387</c:v>
                </c:pt>
                <c:pt idx="31">
                  <c:v>-0.980112261778</c:v>
                </c:pt>
                <c:pt idx="32">
                  <c:v>-0.984286818243</c:v>
                </c:pt>
                <c:pt idx="33">
                  <c:v>-0.988055721361</c:v>
                </c:pt>
                <c:pt idx="34">
                  <c:v>-0.991475534036</c:v>
                </c:pt>
                <c:pt idx="35">
                  <c:v>-0.994593973427</c:v>
                </c:pt>
                <c:pt idx="36">
                  <c:v>-0.997453917726</c:v>
                </c:pt>
                <c:pt idx="37">
                  <c:v>-1.00009196317</c:v>
                </c:pt>
                <c:pt idx="38">
                  <c:v>-1.00253846306</c:v>
                </c:pt>
                <c:pt idx="39">
                  <c:v>-1.00482527946</c:v>
                </c:pt>
                <c:pt idx="40">
                  <c:v>-1.0069724281</c:v>
                </c:pt>
                <c:pt idx="41">
                  <c:v>-1.00899306416</c:v>
                </c:pt>
                <c:pt idx="42">
                  <c:v>-1.01090802728</c:v>
                </c:pt>
                <c:pt idx="43">
                  <c:v>-1.01272870099</c:v>
                </c:pt>
                <c:pt idx="44">
                  <c:v>-1.01446627092</c:v>
                </c:pt>
                <c:pt idx="45">
                  <c:v>-1.01613626149</c:v>
                </c:pt>
                <c:pt idx="46">
                  <c:v>-1.01774062775</c:v>
                </c:pt>
                <c:pt idx="47">
                  <c:v>-1.01929207945</c:v>
                </c:pt>
                <c:pt idx="48">
                  <c:v>-1.02079359073</c:v>
                </c:pt>
                <c:pt idx="49">
                  <c:v>-1.02224578086</c:v>
                </c:pt>
                <c:pt idx="50">
                  <c:v>-1.02366405902</c:v>
                </c:pt>
                <c:pt idx="51">
                  <c:v>-1.02505160683</c:v>
                </c:pt>
                <c:pt idx="52">
                  <c:v>-1.02640728886</c:v>
                </c:pt>
                <c:pt idx="53">
                  <c:v>-1.0277352069</c:v>
                </c:pt>
                <c:pt idx="54">
                  <c:v>-1.0290400051</c:v>
                </c:pt>
                <c:pt idx="55">
                  <c:v>-1.03032330128</c:v>
                </c:pt>
                <c:pt idx="56">
                  <c:v>-1.03159721154</c:v>
                </c:pt>
                <c:pt idx="57">
                  <c:v>-1.03286125801</c:v>
                </c:pt>
                <c:pt idx="58">
                  <c:v>-1.03410886815</c:v>
                </c:pt>
                <c:pt idx="59">
                  <c:v>-1.03534908581</c:v>
                </c:pt>
                <c:pt idx="60">
                  <c:v>-1.03652953153</c:v>
                </c:pt>
              </c:numCache>
            </c:numRef>
          </c:yVal>
        </c:ser>
        <c:ser>
          <c:idx val="1"/>
          <c:order val="1"/>
          <c:tx>
            <c:v>Validation data loss</c:v>
          </c:tx>
          <c:spPr>
            <a:ln xmlns:a="http://schemas.openxmlformats.org/drawingml/2006/main" w="19050">
              <a:solidFill>
                <a:srgbClr val="B49A45"/>
              </a:solidFill>
            </a:ln>
          </c:spPr>
          <c:marker>
            <c:symbol val="none"/>
          </c:marker>
          <c:xVal>
            <c:numRef>
              <c:f>'Chart Data'!$C$2:$C$62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Data'!$D$2:$D$62</c:f>
              <c:numCache>
                <c:formatCode>0.0</c:formatCode>
                <c:ptCount val="61"/>
                <c:pt idx="0">
                  <c:v>1.43649748729</c:v>
                </c:pt>
                <c:pt idx="1">
                  <c:v>-0.0213647818458</c:v>
                </c:pt>
                <c:pt idx="2">
                  <c:v>-0.235734924155</c:v>
                </c:pt>
                <c:pt idx="3">
                  <c:v>-0.344864837142</c:v>
                </c:pt>
                <c:pt idx="4">
                  <c:v>-0.402064097887</c:v>
                </c:pt>
                <c:pt idx="5">
                  <c:v>-0.443153247084</c:v>
                </c:pt>
                <c:pt idx="6">
                  <c:v>-0.480316866362</c:v>
                </c:pt>
                <c:pt idx="7">
                  <c:v>-0.513301006972</c:v>
                </c:pt>
                <c:pt idx="8">
                  <c:v>-0.54558729274</c:v>
                </c:pt>
                <c:pt idx="9">
                  <c:v>-0.577725715105</c:v>
                </c:pt>
                <c:pt idx="10">
                  <c:v>-0.609379361922</c:v>
                </c:pt>
                <c:pt idx="11">
                  <c:v>-0.640037334897</c:v>
                </c:pt>
                <c:pt idx="12">
                  <c:v>-0.669157562696</c:v>
                </c:pt>
                <c:pt idx="13">
                  <c:v>-0.696378341948</c:v>
                </c:pt>
                <c:pt idx="14">
                  <c:v>-0.721416195141</c:v>
                </c:pt>
                <c:pt idx="15">
                  <c:v>-0.744158251703</c:v>
                </c:pt>
                <c:pt idx="16">
                  <c:v>-0.764510519544</c:v>
                </c:pt>
                <c:pt idx="17">
                  <c:v>-0.782402233627</c:v>
                </c:pt>
                <c:pt idx="18">
                  <c:v>-0.797949477142</c:v>
                </c:pt>
                <c:pt idx="19">
                  <c:v>-0.811321881746</c:v>
                </c:pt>
                <c:pt idx="20">
                  <c:v>-0.822840430509</c:v>
                </c:pt>
                <c:pt idx="21">
                  <c:v>-0.832730213863</c:v>
                </c:pt>
                <c:pt idx="22">
                  <c:v>-0.841316452565</c:v>
                </c:pt>
                <c:pt idx="23">
                  <c:v>-0.848794504171</c:v>
                </c:pt>
                <c:pt idx="24">
                  <c:v>-0.855375532356</c:v>
                </c:pt>
                <c:pt idx="25">
                  <c:v>-0.861189800493</c:v>
                </c:pt>
                <c:pt idx="26">
                  <c:v>-0.866404303432</c:v>
                </c:pt>
                <c:pt idx="27">
                  <c:v>-0.871102044556</c:v>
                </c:pt>
                <c:pt idx="28">
                  <c:v>-0.875369312096</c:v>
                </c:pt>
                <c:pt idx="29">
                  <c:v>-0.879252258123</c:v>
                </c:pt>
                <c:pt idx="30">
                  <c:v>-0.882880548336</c:v>
                </c:pt>
                <c:pt idx="31">
                  <c:v>-0.886307381854</c:v>
                </c:pt>
                <c:pt idx="32">
                  <c:v>-0.889450899259</c:v>
                </c:pt>
                <c:pt idx="33">
                  <c:v>-0.89249403985</c:v>
                </c:pt>
                <c:pt idx="34">
                  <c:v>-0.89539113287</c:v>
                </c:pt>
                <c:pt idx="35">
                  <c:v>-0.898142986534</c:v>
                </c:pt>
                <c:pt idx="36">
                  <c:v>-0.90091604567</c:v>
                </c:pt>
                <c:pt idx="37">
                  <c:v>-0.903599903286</c:v>
                </c:pt>
                <c:pt idx="38">
                  <c:v>-0.906170339915</c:v>
                </c:pt>
                <c:pt idx="39">
                  <c:v>-0.908777009458</c:v>
                </c:pt>
                <c:pt idx="40">
                  <c:v>-0.911282913931</c:v>
                </c:pt>
                <c:pt idx="41">
                  <c:v>-0.913727034347</c:v>
                </c:pt>
                <c:pt idx="42">
                  <c:v>-0.916076900323</c:v>
                </c:pt>
                <c:pt idx="43">
                  <c:v>-0.918537631775</c:v>
                </c:pt>
                <c:pt idx="44">
                  <c:v>-0.920820732076</c:v>
                </c:pt>
                <c:pt idx="45">
                  <c:v>-0.922990679325</c:v>
                </c:pt>
                <c:pt idx="46">
                  <c:v>-0.92518138276</c:v>
                </c:pt>
                <c:pt idx="47">
                  <c:v>-0.927401616681</c:v>
                </c:pt>
                <c:pt idx="48">
                  <c:v>-0.92948268268</c:v>
                </c:pt>
                <c:pt idx="49">
                  <c:v>-0.931534410334</c:v>
                </c:pt>
                <c:pt idx="50">
                  <c:v>-0.933579437628</c:v>
                </c:pt>
                <c:pt idx="51">
                  <c:v>-0.935497199341</c:v>
                </c:pt>
                <c:pt idx="52">
                  <c:v>-0.937438987947</c:v>
                </c:pt>
                <c:pt idx="53">
                  <c:v>-0.939355361946</c:v>
                </c:pt>
                <c:pt idx="54">
                  <c:v>-0.941245068963</c:v>
                </c:pt>
                <c:pt idx="55">
                  <c:v>-0.943016788008</c:v>
                </c:pt>
                <c:pt idx="56">
                  <c:v>-0.944909816825</c:v>
                </c:pt>
                <c:pt idx="57">
                  <c:v>-0.946557308867</c:v>
                </c:pt>
                <c:pt idx="58">
                  <c:v>-0.948313416131</c:v>
                </c:pt>
                <c:pt idx="59">
                  <c:v>-0.950063010346</c:v>
                </c:pt>
                <c:pt idx="60">
                  <c:v>-0.951739412599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footer-date">
            <a:extLst xmlns:a="http://schemas.openxmlformats.org/drawingml/2006/main">
              <a:ext uri="{FF2B5EF4-FFF2-40B4-BE49-F238E27FC236}">
                <a16:creationId xmlns:a16="http://schemas.microsoft.com/office/drawing/2014/main" id="{DB862365-F539-4E57-9DCA-8BC7D04FAB07}"/>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2AB2696F-1C25-4360-8059-376764574B1C}"/>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a:t>
            </a:r>
          </a:p>
        </p:txBody>
      </p:sp>
      <p:sp>
        <p:nvSpPr>
          <p:cNvPr id="3" name="cover-title">
            <a:extLst xmlns:a="http://schemas.openxmlformats.org/drawingml/2006/main">
              <a:ext uri="{FF2B5EF4-FFF2-40B4-BE49-F238E27FC236}">
                <a16:creationId xmlns:a16="http://schemas.microsoft.com/office/drawing/2014/main" id="{C08CB2DB-7813-4741-A92A-9FBFF2F5E7E0}"/>
              </a:ext>
            </a:extLst>
          </p:cNvPr>
          <p:cNvSpPr>
            <a:spLocks xmlns:a="http://schemas.openxmlformats.org/drawingml/2006/main" noGrp="1"/>
          </p:cNvSpPr>
          <p:nvPr/>
        </p:nvSpPr>
        <p:spPr>
          <a:xfrm xmlns:a="http://schemas.openxmlformats.org/drawingml/2006/main">
            <a:off x="742950" y="1466850"/>
            <a:ext cx="76581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Physics-Informed Neural Network</a:t>
            </a:r>
          </a:p>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Research Update</a:t>
            </a:r>
          </a:p>
        </p:txBody>
      </p:sp>
      <p:sp>
        <p:nvSpPr>
          <p:cNvPr id="4" name="divider">
            <a:extLst xmlns:a="http://schemas.openxmlformats.org/drawingml/2006/main">
              <a:ext uri="{FF2B5EF4-FFF2-40B4-BE49-F238E27FC236}">
                <a16:creationId xmlns:a16="http://schemas.microsoft.com/office/drawing/2014/main" id="{D13A50AD-2800-497D-9BA9-0900901660CA}"/>
              </a:ext>
            </a:extLst>
          </p:cNvPr>
          <p:cNvSpPr>
            <a:spLocks xmlns:a="http://schemas.openxmlformats.org/drawingml/2006/main" noGrp="1"/>
          </p:cNvSpPr>
          <p:nvPr/>
        </p:nvSpPr>
        <p:spPr>
          <a:xfrm xmlns:a="http://schemas.openxmlformats.org/drawingml/2006/main">
            <a:off x="1952625" y="2781300"/>
            <a:ext cx="5238750" cy="0"/>
          </a:xfrm>
          <a:prstGeom xmlns:a="http://schemas.openxmlformats.org/drawingml/2006/main" prst="line">
            <a:avLst/>
          </a:prstGeom>
          <a:noFill xmlns:a="http://schemas.openxmlformats.org/drawingml/2006/main"/>
          <a:ln xmlns:a="http://schemas.openxmlformats.org/drawingml/2006/main" w="19050">
            <a:solidFill>
              <a:srgbClr val="948151"/>
            </a:solidFill>
            <a:prstDash val="solid"/>
          </a:ln>
        </p:spPr>
      </p:sp>
      <p:sp>
        <p:nvSpPr>
          <p:cNvPr id="5" name="cover-subtitle">
            <a:extLst xmlns:a="http://schemas.openxmlformats.org/drawingml/2006/main">
              <a:ext uri="{FF2B5EF4-FFF2-40B4-BE49-F238E27FC236}">
                <a16:creationId xmlns:a16="http://schemas.microsoft.com/office/drawing/2014/main" id="{2C4043E8-42DB-4F46-AF5F-EFE50C826990}"/>
              </a:ext>
            </a:extLst>
          </p:cNvPr>
          <p:cNvSpPr>
            <a:spLocks xmlns:a="http://schemas.openxmlformats.org/drawingml/2006/main" noGrp="1"/>
          </p:cNvSpPr>
          <p:nvPr/>
        </p:nvSpPr>
        <p:spPr>
          <a:xfrm xmlns:a="http://schemas.openxmlformats.org/drawingml/2006/main">
            <a:off x="1390650" y="3009900"/>
            <a:ext cx="6362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650" b="0" i="0">
                <a:solidFill>
                  <a:srgbClr val="002B5E"/>
                </a:solidFill>
                <a:latin typeface="Arial"/>
                <a:ea typeface="Arial"/>
                <a:cs typeface="Arial"/>
              </a:defRPr>
            </a:pPr>
            <a:r>
              <a:rPr sz="1650" b="0" i="0">
                <a:solidFill>
                  <a:srgbClr val="002B5E"/>
                </a:solidFill>
                <a:latin typeface="Arial"/>
                <a:ea typeface="Arial"/>
                <a:cs typeface="Arial"/>
              </a:rPr>
              <a:t>Implementation, initial testing, and next experiments</a:t>
            </a:r>
          </a:p>
        </p:txBody>
      </p:sp>
      <p:sp>
        <p:nvSpPr>
          <p:cNvPr id="6" name="Rectangle 5">
            <a:extLst xmlns:a="http://schemas.openxmlformats.org/drawingml/2006/main">
              <a:ext uri="{FF2B5EF4-FFF2-40B4-BE49-F238E27FC236}">
                <a16:creationId xmlns:a16="http://schemas.microsoft.com/office/drawing/2014/main" id="{D9309C42-2D64-4EE5-8746-FF314421DF2C}"/>
              </a:ext>
            </a:extLst>
          </p:cNvPr>
          <p:cNvSpPr>
            <a:spLocks xmlns:a="http://schemas.openxmlformats.org/drawingml/2006/main" noGrp="1"/>
          </p:cNvSpPr>
          <p:nvPr/>
        </p:nvSpPr>
        <p:spPr>
          <a:xfrm xmlns:a="http://schemas.openxmlformats.org/drawingml/2006/main">
            <a:off x="1666875" y="39814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003E7E"/>
                </a:solidFill>
                <a:latin typeface="Arial"/>
                <a:ea typeface="Arial"/>
                <a:cs typeface="Arial"/>
              </a:defRPr>
            </a:pPr>
            <a:r>
              <a:rPr sz="1425" b="1" i="0">
                <a:solidFill>
                  <a:srgbClr val="003E7E"/>
                </a:solidFill>
                <a:latin typeface="Arial"/>
                <a:ea typeface="Arial"/>
                <a:cs typeface="Arial"/>
              </a:rPr>
              <a:t>Bonded thickness prediction in PDMS dip coating</a:t>
            </a:r>
          </a:p>
        </p:txBody>
      </p:sp>
      <p:sp>
        <p:nvSpPr>
          <p:cNvPr id="7" name="Rectangle 6">
            <a:extLst xmlns:a="http://schemas.openxmlformats.org/drawingml/2006/main">
              <a:ext uri="{FF2B5EF4-FFF2-40B4-BE49-F238E27FC236}">
                <a16:creationId xmlns:a16="http://schemas.microsoft.com/office/drawing/2014/main" id="{95E88F13-7A93-4507-8850-AD7E7B56FDC3}"/>
              </a:ext>
            </a:extLst>
          </p:cNvPr>
          <p:cNvSpPr>
            <a:spLocks xmlns:a="http://schemas.openxmlformats.org/drawingml/2006/main" noGrp="1"/>
          </p:cNvSpPr>
          <p:nvPr/>
        </p:nvSpPr>
        <p:spPr>
          <a:xfrm xmlns:a="http://schemas.openxmlformats.org/drawingml/2006/main">
            <a:off x="3333750" y="4838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Alexander Adams</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Li Lab</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October 14, 2026</a:t>
            </a:r>
          </a:p>
        </p:txBody>
      </p:sp>
    </p:spTree>
    <p:extLst>
      <p:ext uri="{BB962C8B-B14F-4D97-AF65-F5344CB8AC3E}">
        <p14:creationId xmlns:p14="http://schemas.microsoft.com/office/powerpoint/2010/main" val="13828018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Introduction to physics-informed neural networks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B0EE1ADC-A6F4-4A77-AE13-6C52B1A5E243}"/>
              </a:ext>
            </a:extLst>
          </p:cNvPr>
          <p:cNvSpPr>
            <a:spLocks xmlns:a="http://schemas.openxmlformats.org/drawingml/2006/main" noGrp="1"/>
          </p:cNvSpPr>
          <p:nvPr/>
        </p:nvSpPr>
        <p:spPr>
          <a:xfrm xmlns:a="http://schemas.openxmlformats.org/drawingml/2006/main">
            <a:off x="714375" y="1666875"/>
            <a:ext cx="776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5"/>
                </a:solidFill>
                <a:latin typeface="Arial"/>
                <a:ea typeface="Arial"/>
                <a:cs typeface="Arial"/>
              </a:defRPr>
            </a:defPPr>
          </a:lstStyle>
          <a:p xmlns:a="http://schemas.openxmlformats.org/drawingml/2006/main">
            <a:pPr algn="l">
              <a:defRPr sz="1725" b="0">
                <a:solidFill>
                  <a:srgbClr val="263645"/>
                </a:solidFill>
                <a:latin typeface="Arial"/>
                <a:ea typeface="Arial"/>
                <a:cs typeface="Arial"/>
              </a:defRPr>
            </a:pPr>
            <a:r>
              <a:rPr sz="1725" b="0">
                <a:solidFill>
                  <a:srgbClr val="263645"/>
                </a:solidFill>
                <a:latin typeface="Arial"/>
                <a:ea typeface="Arial"/>
                <a:cs typeface="Arial"/>
              </a:rPr>
              <a:t>A neural network learns a relationship between inputs and an output from examples. A PINN also uses physical rules to guide that relationship.</a:t>
            </a:r>
          </a:p>
        </p:txBody>
      </p:sp>
      <p:pic>
        <p:nvPicPr>
          <p:cNvPr id="14" name="">
            <a:extLst xmlns:a="http://schemas.openxmlformats.org/drawingml/2006/main">
              <a:ext uri="{FF2B5EF4-FFF2-40B4-BE49-F238E27FC236}">
                <a16:creationId xmlns:a16="http://schemas.microsoft.com/office/drawing/2014/main" id="{591D9B28-16B5-4335-9544-84ADA1F4D86E}"/>
              </a:ext>
            </a:extLst>
          </p:cNvPr>
          <p:cNvPicPr>
            <a:picLocks xmlns:a="http://schemas.openxmlformats.org/drawingml/2006/main" noChangeAspect="1"/>
          </p:cNvPicPr>
          <p:nvPr/>
        </p:nvPicPr>
        <p:blipFill>
          <a:blip xmlns:r="http://schemas.openxmlformats.org/officeDocument/2006/relationships" xmlns:a="http://schemas.openxmlformats.org/drawingml/2006/main" r:embed="R54f4ca52cd0e46b1"/>
          <a:stretch xmlns:a="http://schemas.openxmlformats.org/drawingml/2006/main"/>
        </p:blipFill>
        <p:spPr>
          <a:xfrm xmlns:a="http://schemas.openxmlformats.org/drawingml/2006/main">
            <a:off x="820585" y="2524125"/>
            <a:ext cx="7502829" cy="3000375"/>
          </a:xfrm>
          <a:prstGeom xmlns:a="http://schemas.openxmlformats.org/drawingml/2006/main" prst="rect">
            <a:avLst/>
          </a:prstGeom>
        </p:spPr>
      </p:pic>
      <p:sp>
        <p:nvSpPr>
          <p:cNvPr id="15" name="content-5">
            <a:extLst xmlns:a="http://schemas.openxmlformats.org/drawingml/2006/main">
              <a:ext uri="{FF2B5EF4-FFF2-40B4-BE49-F238E27FC236}">
                <a16:creationId xmlns:a16="http://schemas.microsoft.com/office/drawing/2014/main" id="{87F87555-5164-4661-BB60-4FA947E73BA3}"/>
              </a:ext>
            </a:extLst>
          </p:cNvPr>
          <p:cNvSpPr>
            <a:spLocks xmlns:a="http://schemas.openxmlformats.org/drawingml/2006/main" noGrp="1"/>
          </p:cNvSpPr>
          <p:nvPr/>
        </p:nvSpPr>
        <p:spPr>
          <a:xfrm xmlns:a="http://schemas.openxmlformats.org/drawingml/2006/main">
            <a:off x="714375" y="5657850"/>
            <a:ext cx="776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002B5E"/>
                </a:solidFill>
                <a:latin typeface="Arial"/>
                <a:ea typeface="Arial"/>
                <a:cs typeface="Arial"/>
              </a:defRPr>
            </a:defPPr>
          </a:lstStyle>
          <a:p xmlns:a="http://schemas.openxmlformats.org/drawingml/2006/main">
            <a:pPr algn="ctr">
              <a:defRPr sz="1575" b="1">
                <a:solidFill>
                  <a:srgbClr val="002B5E"/>
                </a:solidFill>
                <a:latin typeface="Arial"/>
                <a:ea typeface="Arial"/>
                <a:cs typeface="Arial"/>
              </a:defRPr>
            </a:pPr>
            <a:r>
              <a:rPr sz="1575" b="1">
                <a:solidFill>
                  <a:srgbClr val="002B5E"/>
                </a:solidFill>
                <a:latin typeface="Arial"/>
                <a:ea typeface="Arial"/>
                <a:cs typeface="Arial"/>
              </a:rPr>
              <a:t>In this project: predict bonded thickness, enforce its physical bound, and test smoothness or mechanistic penalties where justified.</a:t>
            </a:r>
          </a:p>
        </p:txBody>
      </p:sp>
    </p:spTree>
    <p:extLst>
      <p:ext uri="{BB962C8B-B14F-4D97-AF65-F5344CB8AC3E}">
        <p14:creationId xmlns:p14="http://schemas.microsoft.com/office/powerpoint/2010/main" val="138280187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PINN implementation and initial findings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2C75F3CB-ACDF-42A9-8A79-219B5A9CCF53}"/>
              </a:ext>
            </a:extLst>
          </p:cNvPr>
          <p:cNvSpPr>
            <a:spLocks xmlns:a="http://schemas.openxmlformats.org/drawingml/2006/main" noGrp="1"/>
          </p:cNvSpPr>
          <p:nvPr/>
        </p:nvSpPr>
        <p:spPr>
          <a:xfrm xmlns:a="http://schemas.openxmlformats.org/drawingml/2006/main">
            <a:off x="704850" y="16859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IMPLEMENTED</a:t>
            </a:r>
          </a:p>
        </p:txBody>
      </p:sp>
      <p:sp>
        <p:nvSpPr>
          <p:cNvPr id="14" name="content-5">
            <a:extLst xmlns:a="http://schemas.openxmlformats.org/drawingml/2006/main">
              <a:ext uri="{FF2B5EF4-FFF2-40B4-BE49-F238E27FC236}">
                <a16:creationId xmlns:a16="http://schemas.microsoft.com/office/drawing/2014/main" id="{17A96631-71EB-48A8-BA54-977D5A9FB368}"/>
              </a:ext>
            </a:extLst>
          </p:cNvPr>
          <p:cNvSpPr>
            <a:spLocks xmlns:a="http://schemas.openxmlformats.org/drawingml/2006/main" noGrp="1"/>
          </p:cNvSpPr>
          <p:nvPr/>
        </p:nvSpPr>
        <p:spPr>
          <a:xfrm xmlns:a="http://schemas.openxmlformats.org/drawingml/2006/main">
            <a:off x="704850" y="202882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Compact PyTorch model predicts bonded thickness with an explicit physical bound.</a:t>
            </a:r>
          </a:p>
        </p:txBody>
      </p:sp>
      <p:sp>
        <p:nvSpPr>
          <p:cNvPr id="15" name="content-6">
            <a:extLst xmlns:a="http://schemas.openxmlformats.org/drawingml/2006/main">
              <a:ext uri="{FF2B5EF4-FFF2-40B4-BE49-F238E27FC236}">
                <a16:creationId xmlns:a16="http://schemas.microsoft.com/office/drawing/2014/main" id="{475E5AA1-F65E-4585-92DA-D4793D4D7273}"/>
              </a:ext>
            </a:extLst>
          </p:cNvPr>
          <p:cNvSpPr>
            <a:spLocks xmlns:a="http://schemas.openxmlformats.org/drawingml/2006/main" noGrp="1"/>
          </p:cNvSpPr>
          <p:nvPr/>
        </p:nvSpPr>
        <p:spPr>
          <a:xfrm xmlns:a="http://schemas.openxmlformats.org/drawingml/2006/main">
            <a:off x="704850" y="2876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Five models share each split, including two neural ablations and tree baselines.</a:t>
            </a:r>
          </a:p>
        </p:txBody>
      </p:sp>
      <p:sp>
        <p:nvSpPr>
          <p:cNvPr id="16" name="content-7">
            <a:extLst xmlns:a="http://schemas.openxmlformats.org/drawingml/2006/main">
              <a:ext uri="{FF2B5EF4-FFF2-40B4-BE49-F238E27FC236}">
                <a16:creationId xmlns:a16="http://schemas.microsoft.com/office/drawing/2014/main" id="{A1E3BEEC-3199-48A0-AB07-497F08B3E147}"/>
              </a:ext>
            </a:extLst>
          </p:cNvPr>
          <p:cNvSpPr>
            <a:spLocks xmlns:a="http://schemas.openxmlformats.org/drawingml/2006/main" noGrp="1"/>
          </p:cNvSpPr>
          <p:nvPr/>
        </p:nvSpPr>
        <p:spPr>
          <a:xfrm xmlns:a="http://schemas.openxmlformats.org/drawingml/2006/main">
            <a:off x="704850" y="3724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Versioned runs preserve source, data identity, checkpoints, and per-model results.</a:t>
            </a:r>
          </a:p>
        </p:txBody>
      </p:sp>
      <p:sp>
        <p:nvSpPr>
          <p:cNvPr id="17" name="content-8">
            <a:extLst xmlns:a="http://schemas.openxmlformats.org/drawingml/2006/main">
              <a:ext uri="{FF2B5EF4-FFF2-40B4-BE49-F238E27FC236}">
                <a16:creationId xmlns:a16="http://schemas.microsoft.com/office/drawing/2014/main" id="{C9DE9F41-7443-40EE-AD85-86E65A8A9F6E}"/>
              </a:ext>
            </a:extLst>
          </p:cNvPr>
          <p:cNvSpPr>
            <a:spLocks xmlns:a="http://schemas.openxmlformats.org/drawingml/2006/main" noGrp="1"/>
          </p:cNvSpPr>
          <p:nvPr/>
        </p:nvSpPr>
        <p:spPr>
          <a:xfrm xmlns:a="http://schemas.openxmlformats.org/drawingml/2006/main">
            <a:off x="5048250" y="16859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INITIAL FINDINGS</a:t>
            </a:r>
          </a:p>
        </p:txBody>
      </p:sp>
      <p:sp>
        <p:nvSpPr>
          <p:cNvPr id="18" name="content-9">
            <a:extLst xmlns:a="http://schemas.openxmlformats.org/drawingml/2006/main">
              <a:ext uri="{FF2B5EF4-FFF2-40B4-BE49-F238E27FC236}">
                <a16:creationId xmlns:a16="http://schemas.microsoft.com/office/drawing/2014/main" id="{593D6B91-42FC-4CC4-903B-88A6E386B275}"/>
              </a:ext>
            </a:extLst>
          </p:cNvPr>
          <p:cNvSpPr>
            <a:spLocks xmlns:a="http://schemas.openxmlformats.org/drawingml/2006/main" noGrp="1"/>
          </p:cNvSpPr>
          <p:nvPr/>
        </p:nvSpPr>
        <p:spPr>
          <a:xfrm xmlns:a="http://schemas.openxmlformats.org/drawingml/2006/main">
            <a:off x="5048250" y="202882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Measured holdout: PINN RMSE 0.1223 nm. Gradient boosting performs best at 0.0649 nm.</a:t>
            </a:r>
          </a:p>
        </p:txBody>
      </p:sp>
      <p:sp>
        <p:nvSpPr>
          <p:cNvPr id="19" name="content-10">
            <a:extLst xmlns:a="http://schemas.openxmlformats.org/drawingml/2006/main">
              <a:ext uri="{FF2B5EF4-FFF2-40B4-BE49-F238E27FC236}">
                <a16:creationId xmlns:a16="http://schemas.microsoft.com/office/drawing/2014/main" id="{1DA40BE7-EDEB-460A-80B9-71130F39C83F}"/>
              </a:ext>
            </a:extLst>
          </p:cNvPr>
          <p:cNvSpPr>
            <a:spLocks xmlns:a="http://schemas.openxmlformats.org/drawingml/2006/main" noGrp="1"/>
          </p:cNvSpPr>
          <p:nvPr/>
        </p:nvSpPr>
        <p:spPr>
          <a:xfrm xmlns:a="http://schemas.openxmlformats.org/drawingml/2006/main">
            <a:off x="5048250" y="2876550"/>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holdout: PINN RMSE 0.0557 nm and R² 0.905. Random forest remains stronger.</a:t>
            </a:r>
          </a:p>
        </p:txBody>
      </p:sp>
      <p:sp>
        <p:nvSpPr>
          <p:cNvPr id="20" name="content-11">
            <a:extLst xmlns:a="http://schemas.openxmlformats.org/drawingml/2006/main">
              <a:ext uri="{FF2B5EF4-FFF2-40B4-BE49-F238E27FC236}">
                <a16:creationId xmlns:a16="http://schemas.microsoft.com/office/drawing/2014/main" id="{AAE1034D-57B6-4517-A174-D7C25BAEA49D}"/>
              </a:ext>
            </a:extLst>
          </p:cNvPr>
          <p:cNvSpPr>
            <a:spLocks xmlns:a="http://schemas.openxmlformats.org/drawingml/2006/main" noGrp="1"/>
          </p:cNvSpPr>
          <p:nvPr/>
        </p:nvSpPr>
        <p:spPr>
          <a:xfrm xmlns:a="http://schemas.openxmlformats.org/drawingml/2006/main">
            <a:off x="5048250" y="372427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 guarantees physical plausibility. Initial tests have not established an accuracy benefit.</a:t>
            </a:r>
          </a:p>
        </p:txBody>
      </p:sp>
      <p:sp>
        <p:nvSpPr>
          <p:cNvPr id="21" name="content-12">
            <a:extLst xmlns:a="http://schemas.openxmlformats.org/drawingml/2006/main">
              <a:ext uri="{FF2B5EF4-FFF2-40B4-BE49-F238E27FC236}">
                <a16:creationId xmlns:a16="http://schemas.microsoft.com/office/drawing/2014/main" id="{7EA3DF9A-F772-439F-852E-A4A85752F39F}"/>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Current scope: constrained inference from measured film state</a:t>
            </a:r>
          </a:p>
        </p:txBody>
      </p:sp>
    </p:spTree>
    <p:extLst>
      <p:ext uri="{BB962C8B-B14F-4D97-AF65-F5344CB8AC3E}">
        <p14:creationId xmlns:p14="http://schemas.microsoft.com/office/powerpoint/2010/main" val="13828018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Implementation changes from v0.1 to v0.2</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1DBF534-0996-4798-9D5C-C47C165F34E5}"/>
              </a:ext>
            </a:extLst>
          </p:cNvPr>
          <p:cNvGraphicFramePr/>
          <p:nvPr/>
        </p:nvGraphicFramePr>
        <p:xfrm>
          <a:off xmlns:a="http://schemas.openxmlformats.org/drawingml/2006/main" x="571500" y="1676400"/>
          <a:ext xmlns:a="http://schemas.openxmlformats.org/drawingml/2006/main" cx="8001000" cy="3705225"/>
        </p:xfrm>
        <a:graphic xmlns:a="http://schemas.openxmlformats.org/drawingml/2006/main">
          <a:graphicData uri="http://schemas.openxmlformats.org/drawingml/2006/table">
            <a:tbl>
              <a:tblPr/>
              <a:tblGrid>
                <a:gridCol w="1428750"/>
                <a:gridCol w="4057650"/>
                <a:gridCol w="2514600"/>
              </a:tblGrid>
              <a:tr h="617538">
                <a:tc>
                  <a:txBody>
                    <a:bodyPr>
                      <a:noAutofit/>
                    </a:bodyPr>
                    <a:lstStyle/>
                    <a:p>
                      <a:pPr algn="l"/>
                      <a:r>
                        <a:rPr sz="1275" b="1">
                          <a:solidFill>
                            <a:srgbClr val="FFFFFF"/>
                          </a:solidFill>
                          <a:latin typeface="Arial"/>
                          <a:ea typeface="Arial"/>
                          <a:cs typeface="Arial"/>
                        </a:rPr>
                        <a:t>Stage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Reason</a:t>
                      </a:r>
                    </a:p>
                  </a:txBody>
                  <a:tcPr marL="85725" marR="85725" marT="76200" marB="76200" anchor="ctr">
                    <a:solidFill>
                      <a:srgbClr val="002B5E"/>
                    </a:solidFill>
                  </a:tcPr>
                </a:tc>
              </a:tr>
              <a:tr h="617538">
                <a:tc>
                  <a:txBody>
                    <a:bodyPr>
                      <a:noAutofit/>
                    </a:bodyPr>
                    <a:lstStyle/>
                    <a:p>
                      <a:pPr algn="l"/>
                      <a:r>
                        <a:rPr sz="1275" b="1">
                          <a:solidFill>
                            <a:srgbClr val="263645"/>
                          </a:solidFill>
                          <a:latin typeface="Arial"/>
                          <a:ea typeface="Arial"/>
                          <a:cs typeface="Arial"/>
                        </a:rPr>
                        <a:t>v0.1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58 measured rows, three inputs</a:t>
                      </a:r>
                    </a:p>
                    <a:p>
                      <a:pPr algn="ctr"/>
                      <a:r>
                        <a:rPr sz="1275" b="0">
                          <a:solidFill>
                            <a:srgbClr val="263645"/>
                          </a:solidFill>
                          <a:latin typeface="Arial"/>
                          <a:ea typeface="Arial"/>
                          <a:cs typeface="Arial"/>
                        </a:rPr>
                        <a:t>Bounded tanh network and curvature prior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Establish a transparent</a:t>
                      </a:r>
                    </a:p>
                    <a:p>
                      <a:pPr algn="ctr"/>
                      <a:r>
                        <a:rPr sz="1275" b="0">
                          <a:solidFill>
                            <a:srgbClr val="263645"/>
                          </a:solidFill>
                          <a:latin typeface="Arial"/>
                          <a:ea typeface="Arial"/>
                          <a:cs typeface="Arial"/>
                        </a:rPr>
                        <a:t>experimental baseline</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v0.1 evaluation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Grouped holdout and high-concentration test</a:t>
                      </a:r>
                    </a:p>
                    <a:p>
                      <a:pPr algn="ctr"/>
                      <a:r>
                        <a:rPr sz="1275" b="0">
                          <a:solidFill>
                            <a:srgbClr val="263645"/>
                          </a:solidFill>
                          <a:latin typeface="Arial"/>
                          <a:ea typeface="Arial"/>
                          <a:cs typeface="Arial"/>
                        </a:rPr>
                        <a:t>Bounded NN, standard NN, RF, and GB</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Separate accuracy, bounds,</a:t>
                      </a:r>
                    </a:p>
                    <a:p>
                      <a:pPr algn="ctr"/>
                      <a:r>
                        <a:rPr sz="1275" b="0">
                          <a:solidFill>
                            <a:srgbClr val="263645"/>
                          </a:solidFill>
                          <a:latin typeface="Arial"/>
                          <a:ea typeface="Arial"/>
                          <a:cs typeface="Arial"/>
                        </a:rPr>
                        <a:t>and extrapolation behavior</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synthetic study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Seven inputs and audited 3k source</a:t>
                      </a:r>
                    </a:p>
                    <a:p>
                      <a:pPr algn="ctr"/>
                      <a:r>
                        <a:rPr sz="1275" b="0">
                          <a:solidFill>
                            <a:srgbClr val="263645"/>
                          </a:solidFill>
                          <a:latin typeface="Arial"/>
                          <a:ea typeface="Arial"/>
                          <a:cs typeface="Arial"/>
                        </a:rPr>
                        <a:t>Concentration-monotonicity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optimization at larger scale</a:t>
                      </a:r>
                    </a:p>
                    <a:p>
                      <a:pPr algn="ctr"/>
                      <a:r>
                        <a:rPr sz="1275" b="0">
                          <a:solidFill>
                            <a:srgbClr val="263645"/>
                          </a:solidFill>
                          <a:latin typeface="Arial"/>
                          <a:ea typeface="Arial"/>
                          <a:cs typeface="Arial"/>
                        </a:rPr>
                        <a:t>without claiming new experiments</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v0.2 physics support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Measured-velocity curvature</a:t>
                      </a:r>
                    </a:p>
                    <a:p>
                      <a:pPr algn="ctr"/>
                      <a:r>
                        <a:rPr sz="1275" b="0">
                          <a:solidFill>
                            <a:srgbClr val="263645"/>
                          </a:solidFill>
                          <a:latin typeface="Arial"/>
                          <a:ea typeface="Arial"/>
                          <a:cs typeface="Arial"/>
                        </a:rPr>
                        <a:t>Gated LLD mobile-layer residual</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Prepare all four slide constraints</a:t>
                      </a:r>
                    </a:p>
                    <a:p>
                      <a:pPr algn="ctr"/>
                      <a:r>
                        <a:rPr sz="1275" b="0">
                          <a:solidFill>
                            <a:srgbClr val="263645"/>
                          </a:solidFill>
                          <a:latin typeface="Arial"/>
                          <a:ea typeface="Arial"/>
                          <a:cs typeface="Arial"/>
                        </a:rPr>
                        <a:t>with explicit activation requirements</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provenance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Dated run register and source snapshots</a:t>
                      </a:r>
                    </a:p>
                    <a:p>
                      <a:pPr algn="ctr"/>
                      <a:r>
                        <a:rPr sz="1275" b="0">
                          <a:solidFill>
                            <a:srgbClr val="263645"/>
                          </a:solidFill>
                          <a:latin typeface="Arial"/>
                          <a:ea typeface="Arial"/>
                          <a:cs typeface="Arial"/>
                        </a:rPr>
                        <a:t>Published code, data, results, and checkpoints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Make each experiment</a:t>
                      </a:r>
                    </a:p>
                    <a:p>
                      <a:pPr algn="ctr"/>
                      <a:r>
                        <a:rPr sz="1275" b="0">
                          <a:solidFill>
                            <a:srgbClr val="263645"/>
                          </a:solidFill>
                          <a:latin typeface="Arial"/>
                          <a:ea typeface="Arial"/>
                          <a:cs typeface="Arial"/>
                        </a:rPr>
                        <a:t>reviewable and reproducible</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FA7E9218-EEA4-4735-87D2-BB4EF5E2576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Five archived runs cover the measured baseline, extrapolation, and synthetic ablation</a:t>
            </a:r>
          </a:p>
        </p:txBody>
      </p:sp>
    </p:spTree>
    <p:extLst>
      <p:ext uri="{BB962C8B-B14F-4D97-AF65-F5344CB8AC3E}">
        <p14:creationId xmlns:p14="http://schemas.microsoft.com/office/powerpoint/2010/main" val="13828018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and synthetic data audits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9C5B47BE-4710-419E-A1EE-A3D400A3F487}"/>
              </a:ext>
            </a:extLst>
          </p:cNvPr>
          <p:cNvSpPr>
            <a:spLocks xmlns:a="http://schemas.openxmlformats.org/drawingml/2006/main" noGrp="1"/>
          </p:cNvSpPr>
          <p:nvPr/>
        </p:nvSpPr>
        <p:spPr>
          <a:xfrm xmlns:a="http://schemas.openxmlformats.org/drawingml/2006/main">
            <a:off x="704850"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BASELINE</a:t>
            </a:r>
          </a:p>
        </p:txBody>
      </p:sp>
      <p:sp>
        <p:nvSpPr>
          <p:cNvPr id="14" name="content-5">
            <a:extLst xmlns:a="http://schemas.openxmlformats.org/drawingml/2006/main">
              <a:ext uri="{FF2B5EF4-FFF2-40B4-BE49-F238E27FC236}">
                <a16:creationId xmlns:a16="http://schemas.microsoft.com/office/drawing/2014/main" id="{216E1B0D-5668-4A0F-89D8-2D0F9B3BF34D}"/>
              </a:ext>
            </a:extLst>
          </p:cNvPr>
          <p:cNvSpPr>
            <a:spLocks xmlns:a="http://schemas.openxmlformats.org/drawingml/2006/main" noGrp="1"/>
          </p:cNvSpPr>
          <p:nvPr/>
        </p:nvSpPr>
        <p:spPr>
          <a:xfrm xmlns:a="http://schemas.openxmlformats.org/drawingml/2006/main">
            <a:off x="704850" y="2028825"/>
            <a:ext cx="2571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48151"/>
                </a:solidFill>
                <a:latin typeface="Arial"/>
                <a:ea typeface="Arial"/>
                <a:cs typeface="Arial"/>
              </a:defRPr>
            </a:defPPr>
          </a:lstStyle>
          <a:p xmlns:a="http://schemas.openxmlformats.org/drawingml/2006/main">
            <a:pPr algn="l">
              <a:defRPr sz="3150" b="1">
                <a:solidFill>
                  <a:srgbClr val="948151"/>
                </a:solidFill>
                <a:latin typeface="Arial"/>
                <a:ea typeface="Arial"/>
                <a:cs typeface="Arial"/>
              </a:defRPr>
            </a:pPr>
            <a:r>
              <a:rPr sz="3150" b="1">
                <a:solidFill>
                  <a:srgbClr val="948151"/>
                </a:solidFill>
                <a:latin typeface="Arial"/>
                <a:ea typeface="Arial"/>
                <a:cs typeface="Arial"/>
              </a:rPr>
              <a:t>58</a:t>
            </a:r>
          </a:p>
        </p:txBody>
      </p:sp>
      <p:sp>
        <p:nvSpPr>
          <p:cNvPr id="15" name="content-6">
            <a:extLst xmlns:a="http://schemas.openxmlformats.org/drawingml/2006/main">
              <a:ext uri="{FF2B5EF4-FFF2-40B4-BE49-F238E27FC236}">
                <a16:creationId xmlns:a16="http://schemas.microsoft.com/office/drawing/2014/main" id="{D2FB1E77-2FC0-425B-AF97-5D85548E8962}"/>
              </a:ext>
            </a:extLst>
          </p:cNvPr>
          <p:cNvSpPr>
            <a:spLocks xmlns:a="http://schemas.openxmlformats.org/drawingml/2006/main" noGrp="1"/>
          </p:cNvSpPr>
          <p:nvPr/>
        </p:nvSpPr>
        <p:spPr>
          <a:xfrm xmlns:a="http://schemas.openxmlformats.org/drawingml/2006/main">
            <a:off x="704850" y="27241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645"/>
                </a:solidFill>
                <a:latin typeface="Arial"/>
                <a:ea typeface="Arial"/>
                <a:cs typeface="Arial"/>
              </a:defRPr>
            </a:defPPr>
          </a:lstStyle>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Hexane observations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16 concentration levels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Three predictors and one target</a:t>
            </a:r>
          </a:p>
        </p:txBody>
      </p:sp>
      <p:sp>
        <p:nvSpPr>
          <p:cNvPr id="16" name="content-7">
            <a:extLst xmlns:a="http://schemas.openxmlformats.org/drawingml/2006/main">
              <a:ext uri="{FF2B5EF4-FFF2-40B4-BE49-F238E27FC236}">
                <a16:creationId xmlns:a16="http://schemas.microsoft.com/office/drawing/2014/main" id="{B394234B-2F30-44AF-BCF4-1D035598C65E}"/>
              </a:ext>
            </a:extLst>
          </p:cNvPr>
          <p:cNvSpPr>
            <a:spLocks xmlns:a="http://schemas.openxmlformats.org/drawingml/2006/main" noGrp="1"/>
          </p:cNvSpPr>
          <p:nvPr/>
        </p:nvSpPr>
        <p:spPr>
          <a:xfrm xmlns:a="http://schemas.openxmlformats.org/drawingml/2006/main">
            <a:off x="704850" y="4095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All 58 rows pass the numerical</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thickness-bound checks.</a:t>
            </a:r>
          </a:p>
        </p:txBody>
      </p:sp>
      <p:sp>
        <p:nvSpPr>
          <p:cNvPr id="17" name="content-8">
            <a:extLst xmlns:a="http://schemas.openxmlformats.org/drawingml/2006/main">
              <a:ext uri="{FF2B5EF4-FFF2-40B4-BE49-F238E27FC236}">
                <a16:creationId xmlns:a16="http://schemas.microsoft.com/office/drawing/2014/main" id="{5C1DEAC3-108E-4A41-B290-51429A7C35A4}"/>
              </a:ext>
            </a:extLst>
          </p:cNvPr>
          <p:cNvSpPr>
            <a:spLocks xmlns:a="http://schemas.openxmlformats.org/drawingml/2006/main" noGrp="1"/>
          </p:cNvSpPr>
          <p:nvPr/>
        </p:nvSpPr>
        <p:spPr>
          <a:xfrm xmlns:a="http://schemas.openxmlformats.org/drawingml/2006/main">
            <a:off x="4733925"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SOURCE</a:t>
            </a:r>
          </a:p>
        </p:txBody>
      </p:sp>
      <p:graphicFrame>
        <p:nvGraphicFramePr>
          <p:cNvPr id="18" name="">
            <a:extLst xmlns:a="http://schemas.openxmlformats.org/drawingml/2006/main">
              <a:ext uri="{FF2B5EF4-FFF2-40B4-BE49-F238E27FC236}">
                <a16:creationId xmlns:a16="http://schemas.microsoft.com/office/drawing/2014/main" id="{5C12F15A-F03B-42D1-8101-0466C4053497}"/>
              </a:ext>
            </a:extLst>
          </p:cNvPr>
          <p:cNvGraphicFramePr/>
          <p:nvPr/>
        </p:nvGraphicFramePr>
        <p:xfrm>
          <a:off xmlns:a="http://schemas.openxmlformats.org/drawingml/2006/main" x="4733925" y="2038350"/>
          <a:ext xmlns:a="http://schemas.openxmlformats.org/drawingml/2006/main" cx="3705225" cy="3143250"/>
        </p:xfrm>
        <a:graphic xmlns:a="http://schemas.openxmlformats.org/drawingml/2006/main">
          <a:graphicData uri="http://schemas.openxmlformats.org/drawingml/2006/table">
            <a:tbl>
              <a:tblPr/>
              <a:tblGrid>
                <a:gridCol w="2647950"/>
                <a:gridCol w="1057275"/>
              </a:tblGrid>
              <a:tr h="449036">
                <a:tc>
                  <a:txBody>
                    <a:bodyPr>
                      <a:noAutofit/>
                    </a:bodyPr>
                    <a:lstStyle/>
                    <a:p>
                      <a:pPr algn="l"/>
                      <a:r>
                        <a:rPr sz="1350" b="1">
                          <a:solidFill>
                            <a:srgbClr val="FFFFFF"/>
                          </a:solidFill>
                          <a:latin typeface="Arial"/>
                          <a:ea typeface="Arial"/>
                          <a:cs typeface="Arial"/>
                        </a:rPr>
                        <a:t>Audit check</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Rows</a:t>
                      </a:r>
                    </a:p>
                  </a:txBody>
                  <a:tcPr marL="85725" marR="85725" marT="76200" marB="76200" anchor="ctr">
                    <a:solidFill>
                      <a:srgbClr val="002B5E"/>
                    </a:solidFill>
                  </a:tcPr>
                </a:tc>
              </a:tr>
              <a:tr h="449036">
                <a:tc>
                  <a:txBody>
                    <a:bodyPr>
                      <a:noAutofit/>
                    </a:bodyPr>
                    <a:lstStyle/>
                    <a:p>
                      <a:pPr algn="l"/>
                      <a:r>
                        <a:rPr sz="1350" b="1">
                          <a:solidFill>
                            <a:srgbClr val="263645"/>
                          </a:solidFill>
                          <a:latin typeface="Arial"/>
                          <a:ea typeface="Arial"/>
                          <a:cs typeface="Arial"/>
                        </a:rPr>
                        <a:t>Raw combined source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3,000</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Nonpositive concentration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182</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Nonpositive 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6</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Bonded greater than total</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113</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Unique excluded rows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192</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Retained rows</a:t>
                      </a:r>
                    </a:p>
                  </a:txBody>
                  <a:tcPr marL="85725" marR="85725" marT="76200" marB="76200" anchor="ctr">
                    <a:solidFill>
                      <a:srgbClr val="F3ECD6"/>
                    </a:solidFill>
                  </a:tcPr>
                </a:tc>
                <a:tc>
                  <a:txBody>
                    <a:bodyPr>
                      <a:noAutofit/>
                    </a:bodyPr>
                    <a:lstStyle/>
                    <a:p>
                      <a:pPr algn="ctr"/>
                      <a:r>
                        <a:rPr sz="1350" b="1">
                          <a:solidFill>
                            <a:srgbClr val="263645"/>
                          </a:solidFill>
                          <a:latin typeface="Arial"/>
                          <a:ea typeface="Arial"/>
                          <a:cs typeface="Arial"/>
                        </a:rPr>
                        <a:t>2,808</a:t>
                      </a:r>
                    </a:p>
                  </a:txBody>
                  <a:tcPr marL="85725" marR="85725" marT="76200" marB="76200" anchor="ctr">
                    <a:solidFill>
                      <a:srgbClr val="F3ECD6"/>
                    </a:solidFill>
                  </a:tcPr>
                </a:tc>
              </a:tr>
            </a:tbl>
          </a:graphicData>
        </a:graphic>
      </p:graphicFrame>
      <p:sp>
        <p:nvSpPr>
          <p:cNvPr id="19" name="content-9">
            <a:extLst xmlns:a="http://schemas.openxmlformats.org/drawingml/2006/main">
              <a:ext uri="{FF2B5EF4-FFF2-40B4-BE49-F238E27FC236}">
                <a16:creationId xmlns:a16="http://schemas.microsoft.com/office/drawing/2014/main" id="{B55E4942-DCFC-4665-A3D2-4243F4652491}"/>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Exclusion reasons overlap. Preserve the raw source and original row IDs</a:t>
            </a:r>
          </a:p>
        </p:txBody>
      </p:sp>
    </p:spTree>
    <p:extLst>
      <p:ext uri="{BB962C8B-B14F-4D97-AF65-F5344CB8AC3E}">
        <p14:creationId xmlns:p14="http://schemas.microsoft.com/office/powerpoint/2010/main" val="13828018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Feature choices and preprocessing</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7E4D4BA3-4324-4829-AC18-5F0B3A91BE3B}"/>
              </a:ext>
            </a:extLst>
          </p:cNvPr>
          <p:cNvGraphicFramePr/>
          <p:nvPr/>
        </p:nvGraphicFramePr>
        <p:xfrm>
          <a:off xmlns:a="http://schemas.openxmlformats.org/drawingml/2006/main" x="571500" y="1685925"/>
          <a:ext xmlns:a="http://schemas.openxmlformats.org/drawingml/2006/main" cx="8001000" cy="3286125"/>
        </p:xfrm>
        <a:graphic xmlns:a="http://schemas.openxmlformats.org/drawingml/2006/main">
          <a:graphicData uri="http://schemas.openxmlformats.org/drawingml/2006/table">
            <a:tbl>
              <a:tblPr/>
              <a:tblGrid>
                <a:gridCol w="2038350"/>
                <a:gridCol w="2762250"/>
                <a:gridCol w="3200400"/>
              </a:tblGrid>
              <a:tr h="547688">
                <a:tc>
                  <a:txBody>
                    <a:bodyPr>
                      <a:noAutofit/>
                    </a:bodyPr>
                    <a:lstStyle/>
                    <a:p>
                      <a:pPr algn="l"/>
                      <a:r>
                        <a:rPr sz="1350" b="1">
                          <a:solidFill>
                            <a:srgbClr val="FFFFFF"/>
                          </a:solidFill>
                          <a:latin typeface="Arial"/>
                          <a:ea typeface="Arial"/>
                          <a:cs typeface="Arial"/>
                        </a:rPr>
                        <a:t>Feature group</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Measured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Synthetic run</a:t>
                      </a:r>
                    </a:p>
                  </a:txBody>
                  <a:tcPr marL="85725" marR="85725" marT="76200" marB="76200" anchor="ctr">
                    <a:solidFill>
                      <a:srgbClr val="002B5E"/>
                    </a:solidFill>
                  </a:tcPr>
                </a:tc>
              </a:tr>
              <a:tr h="547688">
                <a:tc>
                  <a:txBody>
                    <a:bodyPr>
                      <a:noAutofit/>
                    </a:bodyPr>
                    <a:lstStyle/>
                    <a:p>
                      <a:pPr algn="l"/>
                      <a:r>
                        <a:rPr sz="1350" b="1">
                          <a:solidFill>
                            <a:srgbClr val="263645"/>
                          </a:solidFill>
                          <a:latin typeface="Arial"/>
                          <a:ea typeface="Arial"/>
                          <a:cs typeface="Arial"/>
                        </a:rPr>
                        <a:t>Film and process state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Concentration</a:t>
                      </a:r>
                    </a:p>
                    <a:p>
                      <a:pPr algn="ctr"/>
                      <a:r>
                        <a:rPr sz="1350" b="0">
                          <a:solidFill>
                            <a:srgbClr val="263645"/>
                          </a:solidFill>
                          <a:latin typeface="Arial"/>
                          <a:ea typeface="Arial"/>
                          <a:cs typeface="Arial"/>
                        </a:rPr>
                        <a:t>Uncoated layer</a:t>
                      </a:r>
                    </a:p>
                    <a:p>
                      <a:pPr algn="ctr"/>
                      <a:r>
                        <a:rPr sz="1350" b="0">
                          <a:solidFill>
                            <a:srgbClr val="263645"/>
                          </a:solidFill>
                          <a:latin typeface="Arial"/>
                          <a:ea typeface="Arial"/>
                          <a:cs typeface="Arial"/>
                        </a:rPr>
                        <a:t>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Same three measured-state inputs</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Solvent descriptors</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Unavailable in the</a:t>
                      </a:r>
                    </a:p>
                    <a:p>
                      <a:pPr algn="ctr"/>
                      <a:r>
                        <a:rPr sz="1350" b="0">
                          <a:solidFill>
                            <a:srgbClr val="263645"/>
                          </a:solidFill>
                          <a:latin typeface="Arial"/>
                          <a:ea typeface="Arial"/>
                          <a:cs typeface="Arial"/>
                        </a:rPr>
                        <a:t>four-column workbook</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Polarity, viscosity</a:t>
                      </a:r>
                    </a:p>
                    <a:p>
                      <a:pPr algn="ctr"/>
                      <a:r>
                        <a:rPr sz="1350" b="0">
                          <a:solidFill>
                            <a:srgbClr val="263645"/>
                          </a:solidFill>
                          <a:latin typeface="Arial"/>
                          <a:ea typeface="Arial"/>
                          <a:cs typeface="Arial"/>
                        </a:rPr>
                        <a:t>Boiling point, surface tension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Concentration transform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Input scaling</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Output</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DCE2CA20-26A0-43CE-9723-581A574081CC}"/>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Confirm concentration units and measurement timing before mechanistic interpretation</a:t>
            </a:r>
          </a:p>
        </p:txBody>
      </p:sp>
    </p:spTree>
    <p:extLst>
      <p:ext uri="{BB962C8B-B14F-4D97-AF65-F5344CB8AC3E}">
        <p14:creationId xmlns:p14="http://schemas.microsoft.com/office/powerpoint/2010/main" val="13828018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footer-date">
            <a:extLst xmlns:a="http://schemas.openxmlformats.org/drawingml/2006/main">
              <a:ext uri="{FF2B5EF4-FFF2-40B4-BE49-F238E27FC236}">
                <a16:creationId xmlns:a16="http://schemas.microsoft.com/office/drawing/2014/main" id="{CF76D794-37A7-4946-ACF3-71D6C474783E}"/>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8217F89D-A0F8-482A-A1A3-133A94B36F0D}"/>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7</a:t>
            </a:r>
          </a:p>
        </p:txBody>
      </p:sp>
      <p:sp>
        <p:nvSpPr>
          <p:cNvPr id="3" name="slide-title">
            <a:extLst xmlns:a="http://schemas.openxmlformats.org/drawingml/2006/main">
              <a:ext uri="{FF2B5EF4-FFF2-40B4-BE49-F238E27FC236}">
                <a16:creationId xmlns:a16="http://schemas.microsoft.com/office/drawing/2014/main" id="{24018924-7AE9-47BE-9E63-143943C8EEE3}"/>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Compact network and bounded bonded thickness</a:t>
            </a:r>
          </a:p>
        </p:txBody>
      </p:sp>
      <p:sp>
        <p:nvSpPr>
          <p:cNvPr id="4" name="divider">
            <a:extLst xmlns:a="http://schemas.openxmlformats.org/drawingml/2006/main">
              <a:ext uri="{FF2B5EF4-FFF2-40B4-BE49-F238E27FC236}">
                <a16:creationId xmlns:a16="http://schemas.microsoft.com/office/drawing/2014/main" id="{0A96379B-B546-488F-AC98-A8EF29E31FBD}"/>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5" name="Rectangle 4">
            <a:extLst xmlns:a="http://schemas.openxmlformats.org/drawingml/2006/main">
              <a:ext uri="{FF2B5EF4-FFF2-40B4-BE49-F238E27FC236}">
                <a16:creationId xmlns:a16="http://schemas.microsoft.com/office/drawing/2014/main" id="{FB5EAE18-3C6E-4F72-BBA4-42AEC603C65C}"/>
              </a:ext>
            </a:extLst>
          </p:cNvPr>
          <p:cNvSpPr>
            <a:spLocks xmlns:a="http://schemas.openxmlformats.org/drawingml/2006/main" noGrp="1"/>
          </p:cNvSpPr>
          <p:nvPr/>
        </p:nvSpPr>
        <p:spPr>
          <a:xfrm xmlns:a="http://schemas.openxmlformats.org/drawingml/2006/main">
            <a:off x="666750" y="16573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875" b="1" i="0">
                <a:solidFill>
                  <a:srgbClr val="948151"/>
                </a:solidFill>
                <a:latin typeface="Arial"/>
                <a:ea typeface="Arial"/>
                <a:cs typeface="Arial"/>
              </a:defRPr>
            </a:pPr>
            <a:r>
              <a:rPr sz="1875" b="1" i="0">
                <a:solidFill>
                  <a:srgbClr val="948151"/>
                </a:solidFill>
                <a:latin typeface="Arial"/>
                <a:ea typeface="Arial"/>
                <a:cs typeface="Arial"/>
              </a:rPr>
              <a:t/>
            </a:r>
          </a:p>
        </p:txBody>
      </p:sp>
      <p:sp>
        <p:nvSpPr>
          <p:cNvPr id="6" name="Rectangle 5">
            <a:extLst xmlns:a="http://schemas.openxmlformats.org/drawingml/2006/main">
              <a:ext uri="{FF2B5EF4-FFF2-40B4-BE49-F238E27FC236}">
                <a16:creationId xmlns:a16="http://schemas.microsoft.com/office/drawing/2014/main" id="{826C97BC-B332-4768-9D0A-0482813AD0B8}"/>
              </a:ext>
            </a:extLst>
          </p:cNvPr>
          <p:cNvSpPr>
            <a:spLocks xmlns:a="http://schemas.openxmlformats.org/drawingml/2006/main" noGrp="1"/>
          </p:cNvSpPr>
          <p:nvPr/>
        </p:nvSpPr>
        <p:spPr>
          <a:xfrm xmlns:a="http://schemas.openxmlformats.org/drawingml/2006/main">
            <a:off x="876300" y="2857500"/>
            <a:ext cx="1219200" cy="685800"/>
          </a:xfrm>
          <a:prstGeom xmlns:a="http://schemas.openxmlformats.org/drawingml/2006/main" prst="rect">
            <a:avLst/>
          </a:prstGeom>
          <a:solidFill xmlns:a="http://schemas.openxmlformats.org/drawingml/2006/main">
            <a:srgbClr val="E7EEF4"/>
          </a:solidFill>
          <a:ln xmlns:a="http://schemas.openxmlformats.org/drawingml/2006/main" w="13335">
            <a:solidFill>
              <a:srgbClr val="6F8FAE"/>
            </a:solidFill>
            <a:prstDash val="solid"/>
          </a:ln>
        </p:spPr>
      </p:sp>
      <p:sp>
        <p:nvSpPr>
          <p:cNvPr id="7" name="Rectangle 6">
            <a:extLst xmlns:a="http://schemas.openxmlformats.org/drawingml/2006/main">
              <a:ext uri="{FF2B5EF4-FFF2-40B4-BE49-F238E27FC236}">
                <a16:creationId xmlns:a16="http://schemas.microsoft.com/office/drawing/2014/main" id="{3E40A558-39C2-4641-8C45-B6205D3A62AC}"/>
              </a:ext>
            </a:extLst>
          </p:cNvPr>
          <p:cNvSpPr>
            <a:spLocks xmlns:a="http://schemas.openxmlformats.org/drawingml/2006/main" noGrp="1"/>
          </p:cNvSpPr>
          <p:nvPr/>
        </p:nvSpPr>
        <p:spPr>
          <a:xfrm xmlns:a="http://schemas.openxmlformats.org/drawingml/2006/main">
            <a:off x="1000125" y="300990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3 or 7</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inputs</a:t>
            </a:r>
          </a:p>
        </p:txBody>
      </p:sp>
      <p:sp>
        <p:nvSpPr>
          <p:cNvPr id="8" name="Rectangle 7">
            <a:extLst xmlns:a="http://schemas.openxmlformats.org/drawingml/2006/main">
              <a:ext uri="{FF2B5EF4-FFF2-40B4-BE49-F238E27FC236}">
                <a16:creationId xmlns:a16="http://schemas.microsoft.com/office/drawing/2014/main" id="{1600DCEA-29A9-4388-8B18-84EE0EA04870}"/>
              </a:ext>
            </a:extLst>
          </p:cNvPr>
          <p:cNvSpPr>
            <a:spLocks xmlns:a="http://schemas.openxmlformats.org/drawingml/2006/main" noGrp="1"/>
          </p:cNvSpPr>
          <p:nvPr/>
        </p:nvSpPr>
        <p:spPr>
          <a:xfrm xmlns:a="http://schemas.openxmlformats.org/drawingml/2006/main">
            <a:off x="2724150" y="2857500"/>
            <a:ext cx="1428750" cy="685800"/>
          </a:xfrm>
          <a:prstGeom xmlns:a="http://schemas.openxmlformats.org/drawingml/2006/main" prst="rect">
            <a:avLst/>
          </a:prstGeom>
          <a:solidFill xmlns:a="http://schemas.openxmlformats.org/drawingml/2006/main">
            <a:srgbClr val="F3ECD6"/>
          </a:solidFill>
          <a:ln xmlns:a="http://schemas.openxmlformats.org/drawingml/2006/main" w="13335">
            <a:solidFill>
              <a:srgbClr val="B49A45"/>
            </a:solidFill>
            <a:prstDash val="solid"/>
          </a:ln>
        </p:spPr>
      </p:sp>
      <p:sp>
        <p:nvSpPr>
          <p:cNvPr id="9" name="Rectangle 8">
            <a:extLst xmlns:a="http://schemas.openxmlformats.org/drawingml/2006/main">
              <a:ext uri="{FF2B5EF4-FFF2-40B4-BE49-F238E27FC236}">
                <a16:creationId xmlns:a16="http://schemas.microsoft.com/office/drawing/2014/main" id="{87704CB8-997F-42DF-A5EB-0233641C95DB}"/>
              </a:ext>
            </a:extLst>
          </p:cNvPr>
          <p:cNvSpPr>
            <a:spLocks xmlns:a="http://schemas.openxmlformats.org/drawingml/2006/main" noGrp="1"/>
          </p:cNvSpPr>
          <p:nvPr/>
        </p:nvSpPr>
        <p:spPr>
          <a:xfrm xmlns:a="http://schemas.openxmlformats.org/drawingml/2006/main">
            <a:off x="2857500" y="300990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16 + 16</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tanh</a:t>
            </a:r>
          </a:p>
        </p:txBody>
      </p:sp>
      <p:sp>
        <p:nvSpPr>
          <p:cNvPr id="10" name="Rectangle 9">
            <a:extLst xmlns:a="http://schemas.openxmlformats.org/drawingml/2006/main">
              <a:ext uri="{FF2B5EF4-FFF2-40B4-BE49-F238E27FC236}">
                <a16:creationId xmlns:a16="http://schemas.microsoft.com/office/drawing/2014/main" id="{8734C580-2DB8-4F31-895D-5F3D2071568A}"/>
              </a:ext>
            </a:extLst>
          </p:cNvPr>
          <p:cNvSpPr>
            <a:spLocks xmlns:a="http://schemas.openxmlformats.org/drawingml/2006/main" noGrp="1"/>
          </p:cNvSpPr>
          <p:nvPr/>
        </p:nvSpPr>
        <p:spPr>
          <a:xfrm xmlns:a="http://schemas.openxmlformats.org/drawingml/2006/main">
            <a:off x="2724150" y="4362450"/>
            <a:ext cx="142875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002B5E"/>
            </a:solidFill>
            <a:prstDash val="solid"/>
          </a:ln>
        </p:spPr>
      </p:sp>
      <p:sp>
        <p:nvSpPr>
          <p:cNvPr id="11" name="Rectangle 10">
            <a:extLst xmlns:a="http://schemas.openxmlformats.org/drawingml/2006/main">
              <a:ext uri="{FF2B5EF4-FFF2-40B4-BE49-F238E27FC236}">
                <a16:creationId xmlns:a16="http://schemas.microsoft.com/office/drawing/2014/main" id="{3CD824CD-9C99-4200-B998-BC23930371B4}"/>
              </a:ext>
            </a:extLst>
          </p:cNvPr>
          <p:cNvSpPr>
            <a:spLocks xmlns:a="http://schemas.openxmlformats.org/drawingml/2006/main" noGrp="1"/>
          </p:cNvSpPr>
          <p:nvPr/>
        </p:nvSpPr>
        <p:spPr>
          <a:xfrm xmlns:a="http://schemas.openxmlformats.org/drawingml/2006/main">
            <a:off x="2857500" y="451485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Bounded</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bonded hB</a:t>
            </a:r>
          </a:p>
        </p:txBody>
      </p:sp>
      <p:sp>
        <p:nvSpPr>
          <p:cNvPr id="12" name="Rectangle 11">
            <a:extLst xmlns:a="http://schemas.openxmlformats.org/drawingml/2006/main">
              <a:ext uri="{FF2B5EF4-FFF2-40B4-BE49-F238E27FC236}">
                <a16:creationId xmlns:a16="http://schemas.microsoft.com/office/drawing/2014/main" id="{4E5EB609-2D49-47D1-BC60-9ACADBD1E3B5}"/>
              </a:ext>
            </a:extLst>
          </p:cNvPr>
          <p:cNvSpPr>
            <a:spLocks xmlns:a="http://schemas.openxmlformats.org/drawingml/2006/main" noGrp="1"/>
          </p:cNvSpPr>
          <p:nvPr/>
        </p:nvSpPr>
        <p:spPr>
          <a:xfrm xmlns:a="http://schemas.openxmlformats.org/drawingml/2006/main">
            <a:off x="876300" y="4362450"/>
            <a:ext cx="121920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B49A45"/>
            </a:solidFill>
            <a:prstDash val="dash"/>
          </a:ln>
        </p:spPr>
      </p:sp>
      <p:sp>
        <p:nvSpPr>
          <p:cNvPr id="13" name="Rectangle 12">
            <a:extLst xmlns:a="http://schemas.openxmlformats.org/drawingml/2006/main">
              <a:ext uri="{FF2B5EF4-FFF2-40B4-BE49-F238E27FC236}">
                <a16:creationId xmlns:a16="http://schemas.microsoft.com/office/drawing/2014/main" id="{6DA9103C-6092-45CE-B330-24A2725E06E7}"/>
              </a:ext>
            </a:extLst>
          </p:cNvPr>
          <p:cNvSpPr>
            <a:spLocks xmlns:a="http://schemas.openxmlformats.org/drawingml/2006/main" noGrp="1"/>
          </p:cNvSpPr>
          <p:nvPr/>
        </p:nvSpPr>
        <p:spPr>
          <a:xfrm xmlns:a="http://schemas.openxmlformats.org/drawingml/2006/main">
            <a:off x="1000125" y="451485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Derivative</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penalties</a:t>
            </a:r>
          </a:p>
        </p:txBody>
      </p:sp>
      <p:cxnSp>
        <p:nvCxnSpPr>
          <p:cNvPr id="34" name="Straight Arrow Connector 33">
            <a:extLst xmlns:a="http://schemas.openxmlformats.org/drawingml/2006/main">
              <a:ext uri="{FF2B5EF4-FFF2-40B4-BE49-F238E27FC236}">
                <a16:creationId xmlns:a16="http://schemas.microsoft.com/office/drawing/2014/main" id="{B7A29F50-A318-4744-9719-1FA45161360B}"/>
              </a:ext>
            </a:extLst>
          </p:cNvPr>
          <p:cNvCxnSpPr>
            <a:stCxn xmlns:a="http://schemas.openxmlformats.org/drawingml/2006/main" id="6" idx="3"/>
            <a:endCxn xmlns:a="http://schemas.openxmlformats.org/drawingml/2006/main" id="8" idx="1"/>
          </p:cNvCxnSpPr>
          <p:nvPr/>
        </p:nvCxnSpPr>
        <p:spPr>
          <a:xfrm xmlns:a="http://schemas.openxmlformats.org/drawingml/2006/main">
            <a:off x="2095500" y="3200400"/>
            <a:ext cx="628650" cy="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5" name="Straight Arrow Connector 34">
            <a:extLst xmlns:a="http://schemas.openxmlformats.org/drawingml/2006/main">
              <a:ext uri="{FF2B5EF4-FFF2-40B4-BE49-F238E27FC236}">
                <a16:creationId xmlns:a16="http://schemas.microsoft.com/office/drawing/2014/main" id="{356F0EB1-5210-429A-99AF-35DF3A2519D1}"/>
              </a:ext>
            </a:extLst>
          </p:cNvPr>
          <p:cNvCxnSpPr>
            <a:stCxn xmlns:a="http://schemas.openxmlformats.org/drawingml/2006/main" id="8" idx="2"/>
            <a:endCxn xmlns:a="http://schemas.openxmlformats.org/drawingml/2006/main" id="10" idx="0"/>
          </p:cNvCxnSpPr>
          <p:nvPr/>
        </p:nvCxnSpPr>
        <p:spPr>
          <a:xfrm xmlns:a="http://schemas.openxmlformats.org/drawingml/2006/main">
            <a:off x="3438525" y="3543300"/>
            <a:ext cx="0" cy="81915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6" name="Connector: Elbow 35">
            <a:extLst xmlns:a="http://schemas.openxmlformats.org/drawingml/2006/main">
              <a:ext uri="{FF2B5EF4-FFF2-40B4-BE49-F238E27FC236}">
                <a16:creationId xmlns:a16="http://schemas.microsoft.com/office/drawing/2014/main" id="{8897DB39-9F99-4D9D-84FD-379A519A55E5}"/>
              </a:ext>
            </a:extLst>
          </p:cNvPr>
          <p:cNvCxnSpPr>
            <a:stCxn xmlns:a="http://schemas.openxmlformats.org/drawingml/2006/main" id="12" idx="3"/>
            <a:endCxn xmlns:a="http://schemas.openxmlformats.org/drawingml/2006/main" id="8" idx="1"/>
          </p:cNvCxnSpPr>
          <p:nvPr/>
        </p:nvCxnSpPr>
        <p:spPr>
          <a:xfrm xmlns:a="http://schemas.openxmlformats.org/drawingml/2006/main" flipV="1">
            <a:off x="2095500" y="3200400"/>
            <a:ext cx="628650" cy="1504950"/>
          </a:xfrm>
          <a:prstGeom xmlns:a="http://schemas.openxmlformats.org/drawingml/2006/main" prst="bentConnector3">
            <a:avLst>
              <a:gd name="adj1" fmla="val 50000"/>
            </a:avLst>
          </a:prstGeom>
          <a:ln xmlns:a="http://schemas.openxmlformats.org/drawingml/2006/main" w="19050">
            <a:solidFill>
              <a:srgbClr val="B49A45"/>
            </a:solidFill>
            <a:prstDash val="dash"/>
            <a:tailEnd type="triangle" w="sm" len="sm"/>
          </a:ln>
        </p:spPr>
      </p:cxnSp>
      <p:sp>
        <p:nvSpPr>
          <p:cNvPr id="17" name="Rectangle 16">
            <a:extLst xmlns:a="http://schemas.openxmlformats.org/drawingml/2006/main">
              <a:ext uri="{FF2B5EF4-FFF2-40B4-BE49-F238E27FC236}">
                <a16:creationId xmlns:a16="http://schemas.microsoft.com/office/drawing/2014/main" id="{4708052E-8B54-4960-93F8-494E8EFA8AF3}"/>
              </a:ext>
            </a:extLst>
          </p:cNvPr>
          <p:cNvSpPr>
            <a:spLocks xmlns:a="http://schemas.openxmlformats.org/drawingml/2006/main" noGrp="1"/>
          </p:cNvSpPr>
          <p:nvPr/>
        </p:nvSpPr>
        <p:spPr>
          <a:xfrm xmlns:a="http://schemas.openxmlformats.org/drawingml/2006/main">
            <a:off x="5334000" y="23241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NETWORK DETAILS</a:t>
            </a:r>
          </a:p>
        </p:txBody>
      </p:sp>
      <p:sp>
        <p:nvSpPr>
          <p:cNvPr id="18" name="Rectangle 17">
            <a:extLst xmlns:a="http://schemas.openxmlformats.org/drawingml/2006/main">
              <a:ext uri="{FF2B5EF4-FFF2-40B4-BE49-F238E27FC236}">
                <a16:creationId xmlns:a16="http://schemas.microsoft.com/office/drawing/2014/main" id="{96D72E43-7F64-4535-9365-A9B8FAC0747F}"/>
              </a:ext>
            </a:extLst>
          </p:cNvPr>
          <p:cNvSpPr>
            <a:spLocks xmlns:a="http://schemas.openxmlformats.org/drawingml/2006/main" noGrp="1"/>
          </p:cNvSpPr>
          <p:nvPr/>
        </p:nvSpPr>
        <p:spPr>
          <a:xfrm xmlns:a="http://schemas.openxmlformats.org/drawingml/2006/main">
            <a:off x="5295900" y="2686050"/>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Two hidden layers, 16 units each</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One output logit</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353 parameters with three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417 parameters with seven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Tanh supports second derivatives</a:t>
            </a:r>
          </a:p>
        </p:txBody>
      </p:sp>
      <p:sp>
        <p:nvSpPr>
          <p:cNvPr id="19" name="Rectangle 18">
            <a:extLst xmlns:a="http://schemas.openxmlformats.org/drawingml/2006/main">
              <a:ext uri="{FF2B5EF4-FFF2-40B4-BE49-F238E27FC236}">
                <a16:creationId xmlns:a16="http://schemas.microsoft.com/office/drawing/2014/main" id="{8E844AF4-0B56-4FDD-B1FD-5D723EC590B8}"/>
              </a:ext>
            </a:extLst>
          </p:cNvPr>
          <p:cNvSpPr>
            <a:spLocks xmlns:a="http://schemas.openxmlformats.org/drawingml/2006/main" noGrp="1"/>
          </p:cNvSpPr>
          <p:nvPr/>
        </p:nvSpPr>
        <p:spPr>
          <a:xfrm xmlns:a="http://schemas.openxmlformats.org/drawingml/2006/main">
            <a:off x="5334000" y="5219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PHYSICAL OUTPUT</a:t>
            </a:r>
          </a:p>
        </p:txBody>
      </p:sp>
      <p:sp>
        <p:nvSpPr>
          <p:cNvPr id="20" name="Rectangle 19">
            <a:extLst xmlns:a="http://schemas.openxmlformats.org/drawingml/2006/main">
              <a:ext uri="{FF2B5EF4-FFF2-40B4-BE49-F238E27FC236}">
                <a16:creationId xmlns:a16="http://schemas.microsoft.com/office/drawing/2014/main" id="{951FF5F5-8727-4E13-902F-1923331131FD}"/>
              </a:ext>
            </a:extLst>
          </p:cNvPr>
          <p:cNvSpPr>
            <a:spLocks xmlns:a="http://schemas.openxmlformats.org/drawingml/2006/main" noGrp="1"/>
          </p:cNvSpPr>
          <p:nvPr/>
        </p:nvSpPr>
        <p:spPr>
          <a:xfrm xmlns:a="http://schemas.openxmlformats.org/drawingml/2006/main">
            <a:off x="5314950" y="552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350" b="0" i="0">
                <a:solidFill>
                  <a:srgbClr val="263645"/>
                </a:solidFill>
                <a:latin typeface="Arial"/>
                <a:ea typeface="Arial"/>
                <a:cs typeface="Arial"/>
              </a:defRPr>
            </a:pPr>
            <a:r>
              <a:rPr sz="1350" b="0" i="0">
                <a:solidFill>
                  <a:srgbClr val="263645"/>
                </a:solidFill>
                <a:latin typeface="Arial"/>
                <a:ea typeface="Arial"/>
                <a:cs typeface="Arial"/>
              </a:rPr>
              <a:t/>
            </a:r>
          </a:p>
        </p:txBody>
      </p:sp>
      <p:pic>
        <p:nvPicPr>
          <p:cNvPr id="37" name="">
            <a:extLst xmlns:a="http://schemas.openxmlformats.org/drawingml/2006/main">
              <a:ext uri="{FF2B5EF4-FFF2-40B4-BE49-F238E27FC236}">
                <a16:creationId xmlns:a16="http://schemas.microsoft.com/office/drawing/2014/main" id="{06F47AC8-3865-4FDD-A53E-33B140717158}"/>
              </a:ext>
            </a:extLst>
          </p:cNvPr>
          <p:cNvPicPr>
            <a:picLocks xmlns:a="http://schemas.openxmlformats.org/drawingml/2006/main" noChangeAspect="1"/>
          </p:cNvPicPr>
          <p:nvPr/>
        </p:nvPicPr>
        <p:blipFill>
          <a:blip xmlns:r="http://schemas.openxmlformats.org/officeDocument/2006/relationships" xmlns:a="http://schemas.openxmlformats.org/drawingml/2006/main" r:embed="R3180ba6adf5c4dae"/>
          <a:stretch xmlns:a="http://schemas.openxmlformats.org/drawingml/2006/main"/>
        </p:blipFill>
        <p:spPr>
          <a:xfrm xmlns:a="http://schemas.openxmlformats.org/drawingml/2006/main">
            <a:off x="3369469" y="1685925"/>
            <a:ext cx="2366963" cy="466725"/>
          </a:xfrm>
          <a:prstGeom xmlns:a="http://schemas.openxmlformats.org/drawingml/2006/main" prst="rect">
            <a:avLst/>
          </a:prstGeom>
        </p:spPr>
      </p:pic>
      <p:pic>
        <p:nvPicPr>
          <p:cNvPr id="38" name="">
            <a:extLst xmlns:a="http://schemas.openxmlformats.org/drawingml/2006/main">
              <a:ext uri="{FF2B5EF4-FFF2-40B4-BE49-F238E27FC236}">
                <a16:creationId xmlns:a16="http://schemas.microsoft.com/office/drawing/2014/main" id="{50A27745-917B-4050-B597-4C1B7312354F}"/>
              </a:ext>
            </a:extLst>
          </p:cNvPr>
          <p:cNvPicPr>
            <a:picLocks xmlns:a="http://schemas.openxmlformats.org/drawingml/2006/main" noChangeAspect="1"/>
          </p:cNvPicPr>
          <p:nvPr/>
        </p:nvPicPr>
        <p:blipFill>
          <a:blip xmlns:r="http://schemas.openxmlformats.org/officeDocument/2006/relationships" xmlns:a="http://schemas.openxmlformats.org/drawingml/2006/main" r:embed="Rffc691ebe17844c0"/>
          <a:stretch xmlns:a="http://schemas.openxmlformats.org/drawingml/2006/main"/>
        </p:blipFill>
        <p:spPr>
          <a:xfrm xmlns:a="http://schemas.openxmlformats.org/drawingml/2006/main">
            <a:off x="6074229" y="5467350"/>
            <a:ext cx="1396093" cy="361950"/>
          </a:xfrm>
          <a:prstGeom xmlns:a="http://schemas.openxmlformats.org/drawingml/2006/main" prst="rect">
            <a:avLst/>
          </a:prstGeom>
        </p:spPr>
      </p:pic>
      <p:sp>
        <p:nvSpPr>
          <p:cNvPr id="39" name="content-20">
            <a:extLst xmlns:a="http://schemas.openxmlformats.org/drawingml/2006/main">
              <a:ext uri="{FF2B5EF4-FFF2-40B4-BE49-F238E27FC236}">
                <a16:creationId xmlns:a16="http://schemas.microsoft.com/office/drawing/2014/main" id="{F0D41855-2952-463A-9E0E-42B54115B897}"/>
              </a:ext>
            </a:extLst>
          </p:cNvPr>
          <p:cNvSpPr>
            <a:spLocks xmlns:a="http://schemas.openxmlformats.org/drawingml/2006/main" noGrp="1"/>
          </p:cNvSpPr>
          <p:nvPr/>
        </p:nvSpPr>
        <p:spPr>
          <a:xfrm xmlns:a="http://schemas.openxmlformats.org/drawingml/2006/main">
            <a:off x="5324475" y="5857875"/>
            <a:ext cx="314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Raw measured total thickness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defines the output bound</a:t>
            </a:r>
          </a:p>
        </p:txBody>
      </p:sp>
    </p:spTree>
    <p:extLst>
      <p:ext uri="{BB962C8B-B14F-4D97-AF65-F5344CB8AC3E}">
        <p14:creationId xmlns:p14="http://schemas.microsoft.com/office/powerpoint/2010/main" val="13828018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Loss terms and initial coefficients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pic>
        <p:nvPicPr>
          <p:cNvPr id="13" name="">
            <a:extLst xmlns:a="http://schemas.openxmlformats.org/drawingml/2006/main">
              <a:ext uri="{FF2B5EF4-FFF2-40B4-BE49-F238E27FC236}">
                <a16:creationId xmlns:a16="http://schemas.microsoft.com/office/drawing/2014/main" id="{55E89D4B-5361-41F9-81CF-51CC8E014E58}"/>
              </a:ext>
            </a:extLst>
          </p:cNvPr>
          <p:cNvPicPr>
            <a:picLocks xmlns:a="http://schemas.openxmlformats.org/drawingml/2006/main" noChangeAspect="1"/>
          </p:cNvPicPr>
          <p:nvPr/>
        </p:nvPicPr>
        <p:blipFill>
          <a:blip xmlns:r="http://schemas.openxmlformats.org/officeDocument/2006/relationships" xmlns:a="http://schemas.openxmlformats.org/drawingml/2006/main" r:embed="R1b84eeb01e2549d2"/>
          <a:stretch xmlns:a="http://schemas.openxmlformats.org/drawingml/2006/main"/>
        </p:blipFill>
        <p:spPr>
          <a:xfrm xmlns:a="http://schemas.openxmlformats.org/drawingml/2006/main">
            <a:off x="704850" y="1734404"/>
            <a:ext cx="7734300" cy="369767"/>
          </a:xfrm>
          <a:prstGeom xmlns:a="http://schemas.openxmlformats.org/drawingml/2006/main" prst="rect">
            <a:avLst/>
          </a:prstGeom>
        </p:spPr>
      </p:pic>
      <p:graphicFrame>
        <p:nvGraphicFramePr>
          <p:cNvPr id="14" name="">
            <a:extLst xmlns:a="http://schemas.openxmlformats.org/drawingml/2006/main">
              <a:ext uri="{FF2B5EF4-FFF2-40B4-BE49-F238E27FC236}">
                <a16:creationId xmlns:a16="http://schemas.microsoft.com/office/drawing/2014/main" id="{A9FE4BCF-64E3-4B93-BC7F-CBF50064E5CB}"/>
              </a:ext>
            </a:extLst>
          </p:cNvPr>
          <p:cNvGraphicFramePr/>
          <p:nvPr/>
        </p:nvGraphicFramePr>
        <p:xfrm>
          <a:off xmlns:a="http://schemas.openxmlformats.org/drawingml/2006/main" x="571500" y="2324100"/>
          <a:ext xmlns:a="http://schemas.openxmlformats.org/drawingml/2006/main" cx="8001000" cy="3133725"/>
        </p:xfrm>
        <a:graphic xmlns:a="http://schemas.openxmlformats.org/drawingml/2006/main">
          <a:graphicData uri="http://schemas.openxmlformats.org/drawingml/2006/table">
            <a:tbl>
              <a:tblPr/>
              <a:tblGrid>
                <a:gridCol w="1476375"/>
                <a:gridCol w="4810125"/>
                <a:gridCol w="1714500"/>
              </a:tblGrid>
              <a:tr h="522288">
                <a:tc>
                  <a:txBody>
                    <a:bodyPr>
                      <a:noAutofit/>
                    </a:bodyPr>
                    <a:lstStyle/>
                    <a:p>
                      <a:pPr algn="l"/>
                      <a:r>
                        <a:rPr sz="1275" b="1">
                          <a:solidFill>
                            <a:srgbClr val="FFFFFF"/>
                          </a:solidFill>
                          <a:latin typeface="Arial"/>
                          <a:ea typeface="Arial"/>
                          <a:cs typeface="Arial"/>
                        </a:rPr>
                        <a:t>Term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Definition or behavior</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coefficient</a:t>
                      </a:r>
                    </a:p>
                  </a:txBody>
                  <a:tcPr marL="85725" marR="85725" marT="76200" marB="76200" anchor="ctr">
                    <a:solidFill>
                      <a:srgbClr val="002B5E"/>
                    </a:solidFill>
                  </a:tcPr>
                </a:tc>
              </a:tr>
              <a:tr h="522288">
                <a:tc>
                  <a:txBody>
                    <a:bodyPr>
                      <a:noAutofit/>
                    </a:bodyPr>
                    <a:lstStyle/>
                    <a:p>
                      <a:pPr algn="l"/>
                      <a:r>
                        <a:rPr sz="1275" b="1">
                          <a:solidFill>
                            <a:srgbClr val="263645"/>
                          </a:solidFill>
                          <a:latin typeface="Arial"/>
                          <a:ea typeface="Arial"/>
                          <a:cs typeface="Arial"/>
                        </a:rPr>
                        <a:t>Data</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Mean squared error in bonded thickness</a:t>
                      </a:r>
                    </a:p>
                    <a:p>
                      <a:pPr algn="ctr"/>
                      <a:r>
                        <a:rPr sz="1275" b="0">
                          <a:solidFill>
                            <a:srgbClr val="263645"/>
                          </a:solidFill>
                          <a:latin typeface="Arial"/>
                          <a:ea typeface="Arial"/>
                          <a:cs typeface="Arial"/>
                        </a:rPr>
                        <a:t>Normalize by training target standard deviation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Mean squared diagonal second derivative</a:t>
                      </a:r>
                    </a:p>
                    <a:p>
                      <a:pPr algn="ctr"/>
                      <a:r>
                        <a:rPr sz="1275" b="0">
                          <a:solidFill>
                            <a:srgbClr val="263645"/>
                          </a:solidFill>
                          <a:latin typeface="Arial"/>
                          <a:ea typeface="Arial"/>
                          <a:cs typeface="Arial"/>
                        </a:rPr>
                        <a:t>With respect to standardized transformed inputs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Monotonicity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Penalize partial derivatives with the wrong sign</a:t>
                      </a:r>
                    </a:p>
                    <a:p>
                      <a:pPr algn="ctr"/>
                      <a:r>
                        <a:rPr sz="1275" b="0">
                          <a:solidFill>
                            <a:srgbClr val="263645"/>
                          </a:solidFill>
                          <a:latin typeface="Arial"/>
                          <a:ea typeface="Arial"/>
                          <a:cs typeface="Arial"/>
                        </a:rPr>
                        <a:t>Separate positive-concentration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default</a:t>
                      </a:r>
                    </a:p>
                    <a:p>
                      <a:pPr algn="ctr"/>
                      <a:r>
                        <a:rPr sz="1275" b="0">
                          <a:solidFill>
                            <a:srgbClr val="263645"/>
                          </a:solidFill>
                          <a:latin typeface="Arial"/>
                          <a:ea typeface="Arial"/>
                          <a:cs typeface="Arial"/>
                        </a:rPr>
                        <a:t>0.01 ablation</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Second derivative with respect to</a:t>
                      </a:r>
                    </a:p>
                    <a:p>
                      <a:pPr algn="ctr"/>
                      <a:r>
                        <a:rPr sz="1275" b="0">
                          <a:solidFill>
                            <a:srgbClr val="263645"/>
                          </a:solidFill>
                          <a:latin typeface="Arial"/>
                          <a:ea typeface="Arial"/>
                          <a:cs typeface="Arial"/>
                        </a:rPr>
                        <a:t>measured withdrawal velocity input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LLD residual</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Compare predicted dry mobile thickness</a:t>
                      </a:r>
                    </a:p>
                    <a:p>
                      <a:pPr algn="ctr"/>
                      <a:r>
                        <a:rPr sz="1275" b="0">
                          <a:solidFill>
                            <a:srgbClr val="263645"/>
                          </a:solidFill>
                          <a:latin typeface="Arial"/>
                          <a:ea typeface="Arial"/>
                          <a:cs typeface="Arial"/>
                        </a:rPr>
                        <a:t>with the eligible hydrodynamic estimate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57F8E2BB-9B07-47FE-AA02-87794CFE664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Values are available for all loss terms. Remaining datasets need aggregation and preprocessing</a:t>
            </a:r>
          </a:p>
        </p:txBody>
      </p:sp>
    </p:spTree>
    <p:extLst>
      <p:ext uri="{BB962C8B-B14F-4D97-AF65-F5344CB8AC3E}">
        <p14:creationId xmlns:p14="http://schemas.microsoft.com/office/powerpoint/2010/main" val="13828018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Mathematical definitions of the loss terms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5678F0AE-57E0-4640-8C24-574C6576931D}"/>
              </a:ext>
            </a:extLst>
          </p:cNvPr>
          <p:cNvSpPr>
            <a:spLocks xmlns:a="http://schemas.openxmlformats.org/drawingml/2006/main" noGrp="1"/>
          </p:cNvSpPr>
          <p:nvPr/>
        </p:nvSpPr>
        <p:spPr>
          <a:xfrm xmlns:a="http://schemas.openxmlformats.org/drawingml/2006/main">
            <a:off x="714375" y="1609725"/>
            <a:ext cx="7762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63645"/>
                </a:solidFill>
                <a:latin typeface="Arial"/>
                <a:ea typeface="Arial"/>
                <a:cs typeface="Arial"/>
              </a:defRPr>
            </a:defPPr>
          </a:lstStyle>
          <a:p xmlns:a="http://schemas.openxmlformats.org/drawingml/2006/main">
            <a:pPr algn="l">
              <a:defRPr sz="1575" b="0">
                <a:solidFill>
                  <a:srgbClr val="263645"/>
                </a:solidFill>
                <a:latin typeface="Arial"/>
                <a:ea typeface="Arial"/>
                <a:cs typeface="Arial"/>
              </a:defRPr>
            </a:pPr>
            <a:r>
              <a:rPr sz="1575" b="0">
                <a:solidFill>
                  <a:srgbClr val="263645"/>
                </a:solidFill>
                <a:latin typeface="Arial"/>
                <a:ea typeface="Arial"/>
                <a:cs typeface="Arial"/>
              </a:rPr>
              <a:t>Each loss scores a different kind of error. The coefficients set how strongly training responds to each score.</a:t>
            </a:r>
          </a:p>
        </p:txBody>
      </p:sp>
      <p:sp>
        <p:nvSpPr>
          <p:cNvPr id="14" name="content-5">
            <a:extLst xmlns:a="http://schemas.openxmlformats.org/drawingml/2006/main">
              <a:ext uri="{FF2B5EF4-FFF2-40B4-BE49-F238E27FC236}">
                <a16:creationId xmlns:a16="http://schemas.microsoft.com/office/drawing/2014/main" id="{CDD06D40-F3A5-4C41-A94A-4AA810A3EC7C}"/>
              </a:ext>
            </a:extLst>
          </p:cNvPr>
          <p:cNvSpPr>
            <a:spLocks xmlns:a="http://schemas.openxmlformats.org/drawingml/2006/main" noGrp="1"/>
          </p:cNvSpPr>
          <p:nvPr/>
        </p:nvSpPr>
        <p:spPr>
          <a:xfrm xmlns:a="http://schemas.openxmlformats.org/drawingml/2006/main">
            <a:off x="714375" y="227647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DATA FIT</a:t>
            </a:r>
          </a:p>
        </p:txBody>
      </p:sp>
      <p:pic>
        <p:nvPicPr>
          <p:cNvPr id="15" name="">
            <a:extLst xmlns:a="http://schemas.openxmlformats.org/drawingml/2006/main">
              <a:ext uri="{FF2B5EF4-FFF2-40B4-BE49-F238E27FC236}">
                <a16:creationId xmlns:a16="http://schemas.microsoft.com/office/drawing/2014/main" id="{028D602D-C54A-4409-AAF9-F25D4F68C66F}"/>
              </a:ext>
            </a:extLst>
          </p:cNvPr>
          <p:cNvPicPr>
            <a:picLocks xmlns:a="http://schemas.openxmlformats.org/drawingml/2006/main" noChangeAspect="1"/>
          </p:cNvPicPr>
          <p:nvPr/>
        </p:nvPicPr>
        <p:blipFill>
          <a:blip xmlns:r="http://schemas.openxmlformats.org/officeDocument/2006/relationships" xmlns:a="http://schemas.openxmlformats.org/drawingml/2006/main" r:embed="Raf83ad48157b4812"/>
          <a:stretch xmlns:a="http://schemas.openxmlformats.org/drawingml/2006/main"/>
        </p:blipFill>
        <p:spPr>
          <a:xfrm xmlns:a="http://schemas.openxmlformats.org/drawingml/2006/main">
            <a:off x="4578777" y="2200275"/>
            <a:ext cx="2234345" cy="542925"/>
          </a:xfrm>
          <a:prstGeom xmlns:a="http://schemas.openxmlformats.org/drawingml/2006/main" prst="rect">
            <a:avLst/>
          </a:prstGeom>
        </p:spPr>
      </p:pic>
      <p:sp>
        <p:nvSpPr>
          <p:cNvPr id="16" name="content-6">
            <a:extLst xmlns:a="http://schemas.openxmlformats.org/drawingml/2006/main">
              <a:ext uri="{FF2B5EF4-FFF2-40B4-BE49-F238E27FC236}">
                <a16:creationId xmlns:a16="http://schemas.microsoft.com/office/drawing/2014/main" id="{1C14F5F1-5BE0-48ED-8933-938492A5F58C}"/>
              </a:ext>
            </a:extLst>
          </p:cNvPr>
          <p:cNvSpPr>
            <a:spLocks xmlns:a="http://schemas.openxmlformats.org/drawingml/2006/main" noGrp="1"/>
          </p:cNvSpPr>
          <p:nvPr/>
        </p:nvSpPr>
        <p:spPr>
          <a:xfrm xmlns:a="http://schemas.openxmlformats.org/drawingml/2006/main">
            <a:off x="3057525" y="276225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Prediction error relative to measured bonded thickness</a:t>
            </a:r>
          </a:p>
        </p:txBody>
      </p:sp>
      <p:sp>
        <p:nvSpPr>
          <p:cNvPr id="17" name="content-7">
            <a:extLst xmlns:a="http://schemas.openxmlformats.org/drawingml/2006/main">
              <a:ext uri="{FF2B5EF4-FFF2-40B4-BE49-F238E27FC236}">
                <a16:creationId xmlns:a16="http://schemas.microsoft.com/office/drawing/2014/main" id="{D74CCB50-79AF-4DAC-A506-4F4E8BD3FDAF}"/>
              </a:ext>
            </a:extLst>
          </p:cNvPr>
          <p:cNvSpPr>
            <a:spLocks xmlns:a="http://schemas.openxmlformats.org/drawingml/2006/main" noGrp="1"/>
          </p:cNvSpPr>
          <p:nvPr/>
        </p:nvSpPr>
        <p:spPr>
          <a:xfrm xmlns:a="http://schemas.openxmlformats.org/drawingml/2006/main">
            <a:off x="714375" y="3067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INPUT SMOOTHNESS</a:t>
            </a:r>
          </a:p>
        </p:txBody>
      </p:sp>
      <p:pic>
        <p:nvPicPr>
          <p:cNvPr id="18" name="">
            <a:extLst xmlns:a="http://schemas.openxmlformats.org/drawingml/2006/main">
              <a:ext uri="{FF2B5EF4-FFF2-40B4-BE49-F238E27FC236}">
                <a16:creationId xmlns:a16="http://schemas.microsoft.com/office/drawing/2014/main" id="{EFA2D9B0-DE90-4F36-9869-03BA4EA504D9}"/>
              </a:ext>
            </a:extLst>
          </p:cNvPr>
          <p:cNvPicPr>
            <a:picLocks xmlns:a="http://schemas.openxmlformats.org/drawingml/2006/main" noChangeAspect="1"/>
          </p:cNvPicPr>
          <p:nvPr/>
        </p:nvPicPr>
        <p:blipFill>
          <a:blip xmlns:r="http://schemas.openxmlformats.org/officeDocument/2006/relationships" xmlns:a="http://schemas.openxmlformats.org/drawingml/2006/main" r:embed="R6fd31ec2742e48ed"/>
          <a:stretch xmlns:a="http://schemas.openxmlformats.org/drawingml/2006/main"/>
        </p:blipFill>
        <p:spPr>
          <a:xfrm xmlns:a="http://schemas.openxmlformats.org/drawingml/2006/main">
            <a:off x="4610100" y="2990850"/>
            <a:ext cx="2171700" cy="542925"/>
          </a:xfrm>
          <a:prstGeom xmlns:a="http://schemas.openxmlformats.org/drawingml/2006/main" prst="rect">
            <a:avLst/>
          </a:prstGeom>
        </p:spPr>
      </p:pic>
      <p:sp>
        <p:nvSpPr>
          <p:cNvPr id="19" name="content-8">
            <a:extLst xmlns:a="http://schemas.openxmlformats.org/drawingml/2006/main">
              <a:ext uri="{FF2B5EF4-FFF2-40B4-BE49-F238E27FC236}">
                <a16:creationId xmlns:a16="http://schemas.microsoft.com/office/drawing/2014/main" id="{CB306F31-6A14-48D3-B745-1BBCDE3EAEFC}"/>
              </a:ext>
            </a:extLst>
          </p:cNvPr>
          <p:cNvSpPr>
            <a:spLocks xmlns:a="http://schemas.openxmlformats.org/drawingml/2006/main" noGrp="1"/>
          </p:cNvSpPr>
          <p:nvPr/>
        </p:nvSpPr>
        <p:spPr>
          <a:xfrm xmlns:a="http://schemas.openxmlformats.org/drawingml/2006/main">
            <a:off x="3057525" y="35528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curvature in each recorded input</a:t>
            </a:r>
          </a:p>
        </p:txBody>
      </p:sp>
      <p:sp>
        <p:nvSpPr>
          <p:cNvPr id="20" name="content-9">
            <a:extLst xmlns:a="http://schemas.openxmlformats.org/drawingml/2006/main">
              <a:ext uri="{FF2B5EF4-FFF2-40B4-BE49-F238E27FC236}">
                <a16:creationId xmlns:a16="http://schemas.microsoft.com/office/drawing/2014/main" id="{97DEF2ED-6F7A-4C9D-8D5C-22266B09BECA}"/>
              </a:ext>
            </a:extLst>
          </p:cNvPr>
          <p:cNvSpPr>
            <a:spLocks xmlns:a="http://schemas.openxmlformats.org/drawingml/2006/main" noGrp="1"/>
          </p:cNvSpPr>
          <p:nvPr/>
        </p:nvSpPr>
        <p:spPr>
          <a:xfrm xmlns:a="http://schemas.openxmlformats.org/drawingml/2006/main">
            <a:off x="714375" y="385762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MONOTONICITY</a:t>
            </a:r>
          </a:p>
        </p:txBody>
      </p:sp>
      <p:pic>
        <p:nvPicPr>
          <p:cNvPr id="21" name="">
            <a:extLst xmlns:a="http://schemas.openxmlformats.org/drawingml/2006/main">
              <a:ext uri="{FF2B5EF4-FFF2-40B4-BE49-F238E27FC236}">
                <a16:creationId xmlns:a16="http://schemas.microsoft.com/office/drawing/2014/main" id="{1A3EC5F8-AB02-4622-882C-49CC0ADB8898}"/>
              </a:ext>
            </a:extLst>
          </p:cNvPr>
          <p:cNvPicPr>
            <a:picLocks xmlns:a="http://schemas.openxmlformats.org/drawingml/2006/main" noChangeAspect="1"/>
          </p:cNvPicPr>
          <p:nvPr/>
        </p:nvPicPr>
        <p:blipFill>
          <a:blip xmlns:r="http://schemas.openxmlformats.org/officeDocument/2006/relationships" xmlns:a="http://schemas.openxmlformats.org/drawingml/2006/main" r:embed="Rc3e957b92bcb4f32"/>
          <a:stretch xmlns:a="http://schemas.openxmlformats.org/drawingml/2006/main"/>
        </p:blipFill>
        <p:spPr>
          <a:xfrm xmlns:a="http://schemas.openxmlformats.org/drawingml/2006/main">
            <a:off x="4135041" y="3781425"/>
            <a:ext cx="3121819" cy="542925"/>
          </a:xfrm>
          <a:prstGeom xmlns:a="http://schemas.openxmlformats.org/drawingml/2006/main" prst="rect">
            <a:avLst/>
          </a:prstGeom>
        </p:spPr>
      </p:pic>
      <p:sp>
        <p:nvSpPr>
          <p:cNvPr id="22" name="content-10">
            <a:extLst xmlns:a="http://schemas.openxmlformats.org/drawingml/2006/main">
              <a:ext uri="{FF2B5EF4-FFF2-40B4-BE49-F238E27FC236}">
                <a16:creationId xmlns:a16="http://schemas.microsoft.com/office/drawing/2014/main" id="{B2FD518F-4D8F-4819-AAF4-71C4C8A77A62}"/>
              </a:ext>
            </a:extLst>
          </p:cNvPr>
          <p:cNvSpPr>
            <a:spLocks xmlns:a="http://schemas.openxmlformats.org/drawingml/2006/main" noGrp="1"/>
          </p:cNvSpPr>
          <p:nvPr/>
        </p:nvSpPr>
        <p:spPr>
          <a:xfrm xmlns:a="http://schemas.openxmlformats.org/drawingml/2006/main">
            <a:off x="3057525" y="43434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slopes that oppose the selected sign</a:t>
            </a:r>
          </a:p>
        </p:txBody>
      </p:sp>
      <p:sp>
        <p:nvSpPr>
          <p:cNvPr id="23" name="content-11">
            <a:extLst xmlns:a="http://schemas.openxmlformats.org/drawingml/2006/main">
              <a:ext uri="{FF2B5EF4-FFF2-40B4-BE49-F238E27FC236}">
                <a16:creationId xmlns:a16="http://schemas.microsoft.com/office/drawing/2014/main" id="{0E8594AC-E343-469F-BB5C-9204B20CA9BE}"/>
              </a:ext>
            </a:extLst>
          </p:cNvPr>
          <p:cNvSpPr>
            <a:spLocks xmlns:a="http://schemas.openxmlformats.org/drawingml/2006/main" noGrp="1"/>
          </p:cNvSpPr>
          <p:nvPr/>
        </p:nvSpPr>
        <p:spPr>
          <a:xfrm xmlns:a="http://schemas.openxmlformats.org/drawingml/2006/main">
            <a:off x="714375" y="46482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VELOCITY SMOOTHNESS</a:t>
            </a:r>
          </a:p>
        </p:txBody>
      </p:sp>
      <p:pic>
        <p:nvPicPr>
          <p:cNvPr id="24" name="">
            <a:extLst xmlns:a="http://schemas.openxmlformats.org/drawingml/2006/main">
              <a:ext uri="{FF2B5EF4-FFF2-40B4-BE49-F238E27FC236}">
                <a16:creationId xmlns:a16="http://schemas.microsoft.com/office/drawing/2014/main" id="{603BF61A-1C61-4D5D-8274-87EC33556DA4}"/>
              </a:ext>
            </a:extLst>
          </p:cNvPr>
          <p:cNvPicPr>
            <a:picLocks xmlns:a="http://schemas.openxmlformats.org/drawingml/2006/main" noChangeAspect="1"/>
          </p:cNvPicPr>
          <p:nvPr/>
        </p:nvPicPr>
        <p:blipFill>
          <a:blip xmlns:r="http://schemas.openxmlformats.org/officeDocument/2006/relationships" xmlns:a="http://schemas.openxmlformats.org/drawingml/2006/main" r:embed="R5ef2c094f5644528"/>
          <a:stretch xmlns:a="http://schemas.openxmlformats.org/drawingml/2006/main"/>
        </p:blipFill>
        <p:spPr>
          <a:xfrm xmlns:a="http://schemas.openxmlformats.org/drawingml/2006/main">
            <a:off x="4630982" y="4572000"/>
            <a:ext cx="2129937" cy="542925"/>
          </a:xfrm>
          <a:prstGeom xmlns:a="http://schemas.openxmlformats.org/drawingml/2006/main" prst="rect">
            <a:avLst/>
          </a:prstGeom>
        </p:spPr>
      </p:pic>
      <p:sp>
        <p:nvSpPr>
          <p:cNvPr id="25" name="content-12">
            <a:extLst xmlns:a="http://schemas.openxmlformats.org/drawingml/2006/main">
              <a:ext uri="{FF2B5EF4-FFF2-40B4-BE49-F238E27FC236}">
                <a16:creationId xmlns:a16="http://schemas.microsoft.com/office/drawing/2014/main" id="{35CB7E13-D280-4B4C-86E2-B0406E66B985}"/>
              </a:ext>
            </a:extLst>
          </p:cNvPr>
          <p:cNvSpPr>
            <a:spLocks xmlns:a="http://schemas.openxmlformats.org/drawingml/2006/main" noGrp="1"/>
          </p:cNvSpPr>
          <p:nvPr/>
        </p:nvSpPr>
        <p:spPr>
          <a:xfrm xmlns:a="http://schemas.openxmlformats.org/drawingml/2006/main">
            <a:off x="3057525" y="51339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curvature in the standardized velocity input</a:t>
            </a:r>
          </a:p>
        </p:txBody>
      </p:sp>
      <p:pic>
        <p:nvPicPr>
          <p:cNvPr id="26" name="">
            <a:extLst xmlns:a="http://schemas.openxmlformats.org/drawingml/2006/main">
              <a:ext uri="{FF2B5EF4-FFF2-40B4-BE49-F238E27FC236}">
                <a16:creationId xmlns:a16="http://schemas.microsoft.com/office/drawing/2014/main" id="{D6EFAA91-5D11-4116-8713-BC985E753F11}"/>
              </a:ext>
            </a:extLst>
          </p:cNvPr>
          <p:cNvPicPr>
            <a:picLocks xmlns:a="http://schemas.openxmlformats.org/drawingml/2006/main" noChangeAspect="1"/>
          </p:cNvPicPr>
          <p:nvPr/>
        </p:nvPicPr>
        <p:blipFill>
          <a:blip xmlns:r="http://schemas.openxmlformats.org/officeDocument/2006/relationships" xmlns:a="http://schemas.openxmlformats.org/drawingml/2006/main" r:embed="Re56e8a2816be4505"/>
          <a:stretch xmlns:a="http://schemas.openxmlformats.org/drawingml/2006/main"/>
        </p:blipFill>
        <p:spPr>
          <a:xfrm xmlns:a="http://schemas.openxmlformats.org/drawingml/2006/main">
            <a:off x="1183607" y="5629275"/>
            <a:ext cx="547437" cy="371475"/>
          </a:xfrm>
          <a:prstGeom xmlns:a="http://schemas.openxmlformats.org/drawingml/2006/main" prst="rect">
            <a:avLst/>
          </a:prstGeom>
        </p:spPr>
      </p:pic>
      <p:sp>
        <p:nvSpPr>
          <p:cNvPr id="27" name="content-13">
            <a:extLst xmlns:a="http://schemas.openxmlformats.org/drawingml/2006/main">
              <a:ext uri="{FF2B5EF4-FFF2-40B4-BE49-F238E27FC236}">
                <a16:creationId xmlns:a16="http://schemas.microsoft.com/office/drawing/2014/main" id="{ED4137B7-5804-402A-A984-0E7B4CCEE7FE}"/>
              </a:ext>
            </a:extLst>
          </p:cNvPr>
          <p:cNvSpPr>
            <a:spLocks xmlns:a="http://schemas.openxmlformats.org/drawingml/2006/main" noGrp="1"/>
          </p:cNvSpPr>
          <p:nvPr/>
        </p:nvSpPr>
        <p:spPr>
          <a:xfrm xmlns:a="http://schemas.openxmlformats.org/drawingml/2006/main">
            <a:off x="2628900" y="5581650"/>
            <a:ext cx="5819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z: standardized inputs   sy: training target scale</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n: data rows   m: derivative rows   d: input count</a:t>
            </a:r>
          </a:p>
        </p:txBody>
      </p:sp>
    </p:spTree>
    <p:extLst>
      <p:ext uri="{BB962C8B-B14F-4D97-AF65-F5344CB8AC3E}">
        <p14:creationId xmlns:p14="http://schemas.microsoft.com/office/powerpoint/2010/main" val="13828018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Status of the four proposed physics constraints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FC25798A-761C-41B7-8733-749BCBFF0DAA}"/>
              </a:ext>
            </a:extLst>
          </p:cNvPr>
          <p:cNvGraphicFramePr/>
          <p:nvPr/>
        </p:nvGraphicFramePr>
        <p:xfrm>
          <a:off xmlns:a="http://schemas.openxmlformats.org/drawingml/2006/main" x="571500" y="1714500"/>
          <a:ext xmlns:a="http://schemas.openxmlformats.org/drawingml/2006/main" cx="8001000" cy="3295650"/>
        </p:xfrm>
        <a:graphic xmlns:a="http://schemas.openxmlformats.org/drawingml/2006/main">
          <a:graphicData uri="http://schemas.openxmlformats.org/drawingml/2006/table">
            <a:tbl>
              <a:tblPr/>
              <a:tblGrid>
                <a:gridCol w="1952625"/>
                <a:gridCol w="2952750"/>
                <a:gridCol w="3095625"/>
              </a:tblGrid>
              <a:tr h="659130">
                <a:tc>
                  <a:txBody>
                    <a:bodyPr>
                      <a:noAutofit/>
                    </a:bodyPr>
                    <a:lstStyle/>
                    <a:p>
                      <a:pPr algn="l"/>
                      <a:r>
                        <a:rPr sz="1275" b="1">
                          <a:solidFill>
                            <a:srgbClr val="FFFFFF"/>
                          </a:solidFill>
                          <a:latin typeface="Arial"/>
                          <a:ea typeface="Arial"/>
                          <a:cs typeface="Arial"/>
                        </a:rPr>
                        <a:t>Constraint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Current status</a:t>
                      </a:r>
                    </a:p>
                  </a:txBody>
                  <a:tcPr marL="85725" marR="85725" marT="76200" marB="76200" anchor="ctr">
                    <a:solidFill>
                      <a:srgbClr val="002B5E"/>
                    </a:solidFill>
                  </a:tcPr>
                </a:tc>
              </a:tr>
              <a:tr h="659130">
                <a:tc>
                  <a:txBody>
                    <a:bodyPr>
                      <a:noAutofit/>
                    </a:bodyPr>
                    <a:lstStyle/>
                    <a:p>
                      <a:pPr algn="l"/>
                      <a:r>
                        <a:rPr sz="1275" b="1">
                          <a:solidFill>
                            <a:srgbClr val="263645"/>
                          </a:solidFill>
                          <a:latin typeface="Arial"/>
                          <a:ea typeface="Arial"/>
                          <a:cs typeface="Arial"/>
                        </a:rPr>
                        <a:t>Thickness bound</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Sigmoid output multiplied</a:t>
                      </a:r>
                    </a:p>
                    <a:p>
                      <a:pPr algn="ctr"/>
                      <a:r>
                        <a:rPr sz="1275" b="0">
                          <a:solidFill>
                            <a:srgbClr val="263645"/>
                          </a:solidFill>
                          <a:latin typeface="Arial"/>
                          <a:ea typeface="Arial"/>
                          <a:cs typeface="Arial"/>
                        </a:rPr>
                        <a:t>by measured total thickness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ACTIVE</a:t>
                      </a:r>
                    </a:p>
                    <a:p>
                      <a:pPr algn="ctr"/>
                      <a:r>
                        <a:rPr sz="1275" b="0">
                          <a:solidFill>
                            <a:srgbClr val="263645"/>
                          </a:solidFill>
                          <a:latin typeface="Arial"/>
                          <a:ea typeface="Arial"/>
                          <a:cs typeface="Arial"/>
                        </a:rPr>
                        <a:t>Hard guarantee</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Velocity smoothness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Penalty on 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VALUES AVAILABLE</a:t>
                      </a:r>
                    </a:p>
                    <a:p>
                      <a:pPr algn="ctr"/>
                      <a:r>
                        <a:rPr sz="1275" b="0">
                          <a:solidFill>
                            <a:srgbClr val="263645"/>
                          </a:solidFill>
                          <a:latin typeface="Arial"/>
                          <a:ea typeface="Arial"/>
                          <a:cs typeface="Arial"/>
                        </a:rPr>
                        <a:t>Aggregation / preprocessing pending</a:t>
                      </a:r>
                    </a:p>
                  </a:txBody>
                  <a:tcPr marL="85725" marR="85725" marT="76200" marB="76200" anchor="ctr">
                    <a:solidFill>
                      <a:srgbClr val="F7F5EF"/>
                    </a:solidFill>
                  </a:tcPr>
                </a:tc>
              </a:tr>
              <a:tr h="659130">
                <a:tc>
                  <a:txBody>
                    <a:bodyPr>
                      <a:noAutofit/>
                    </a:bodyPr>
                    <a:lstStyle/>
                    <a:p>
                      <a:pPr algn="l"/>
                      <a:r>
                        <a:rPr sz="1275" b="1">
                          <a:solidFill>
                            <a:srgbClr val="263645"/>
                          </a:solidFill>
                          <a:latin typeface="Arial"/>
                          <a:ea typeface="Arial"/>
                          <a:cs typeface="Arial"/>
                        </a:rPr>
                        <a:t>Monotonic trends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Configurable derivative-sign loss</a:t>
                      </a:r>
                    </a:p>
                    <a:p>
                      <a:pPr algn="ctr"/>
                      <a:r>
                        <a:rPr sz="1275" b="0">
                          <a:solidFill>
                            <a:srgbClr val="263645"/>
                          </a:solidFill>
                          <a:latin typeface="Arial"/>
                          <a:ea typeface="Arial"/>
                          <a:cs typeface="Arial"/>
                        </a:rPr>
                        <a:t>Training-only trend diagnostics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CONCENTRATION TESTED</a:t>
                      </a:r>
                    </a:p>
                    <a:p>
                      <a:pPr algn="ctr"/>
                      <a:r>
                        <a:rPr sz="1275" b="0">
                          <a:solidFill>
                            <a:srgbClr val="263645"/>
                          </a:solidFill>
                          <a:latin typeface="Arial"/>
                          <a:ea typeface="Arial"/>
                          <a:cs typeface="Arial"/>
                        </a:rPr>
                        <a:t>Other terms await data preparation</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Hydrodynamic scaling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LLD residual on the dry mobile layer</a:t>
                      </a:r>
                    </a:p>
                    <a:p>
                      <a:pPr algn="ctr"/>
                      <a:r>
                        <a:rPr sz="1275" b="0">
                          <a:solidFill>
                            <a:srgbClr val="263645"/>
                          </a:solidFill>
                          <a:latin typeface="Arial"/>
                          <a:ea typeface="Arial"/>
                          <a:cs typeface="Arial"/>
                        </a:rPr>
                        <a:t>Explicit regime and conversion checks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VALUES AVAILABLE</a:t>
                      </a:r>
                    </a:p>
                    <a:p>
                      <a:pPr algn="ctr"/>
                      <a:r>
                        <a:rPr sz="1275" b="0">
                          <a:solidFill>
                            <a:srgbClr val="263645"/>
                          </a:solidFill>
                          <a:latin typeface="Arial"/>
                          <a:ea typeface="Arial"/>
                          <a:cs typeface="Arial"/>
                        </a:rPr>
                        <a:t>Aggregation / preprocessing pending</a:t>
                      </a:r>
                    </a:p>
                  </a:txBody>
                  <a:tcPr marL="85725" marR="85725" marT="76200" marB="76200" anchor="ctr">
                    <a:solidFill>
                      <a:srgbClr val="F7F5EF"/>
                    </a:solidFill>
                  </a:tcPr>
                </a:tc>
              </a:tr>
            </a:tbl>
          </a:graphicData>
        </a:graphic>
      </p:graphicFrame>
      <p:sp>
        <p:nvSpPr>
          <p:cNvPr id="14" name="content-4">
            <a:extLst xmlns:a="http://schemas.openxmlformats.org/drawingml/2006/main">
              <a:ext uri="{FF2B5EF4-FFF2-40B4-BE49-F238E27FC236}">
                <a16:creationId xmlns:a16="http://schemas.microsoft.com/office/drawing/2014/main" id="{381E4EE8-026C-48FD-98C0-4D2BFCB29BB1}"/>
              </a:ext>
            </a:extLst>
          </p:cNvPr>
          <p:cNvSpPr>
            <a:spLocks xmlns:a="http://schemas.openxmlformats.org/drawingml/2006/main" noGrp="1"/>
          </p:cNvSpPr>
          <p:nvPr/>
        </p:nvSpPr>
        <p:spPr>
          <a:xfrm xmlns:a="http://schemas.openxmlformats.org/drawingml/2006/main">
            <a:off x="742950" y="5219700"/>
            <a:ext cx="766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Required values are available for every loss term. The remaining datasets still need aggregation and preprocessing before use in training.</a:t>
            </a:r>
          </a:p>
        </p:txBody>
      </p:sp>
      <p:sp>
        <p:nvSpPr>
          <p:cNvPr id="15" name="content-5">
            <a:extLst xmlns:a="http://schemas.openxmlformats.org/drawingml/2006/main">
              <a:ext uri="{FF2B5EF4-FFF2-40B4-BE49-F238E27FC236}">
                <a16:creationId xmlns:a16="http://schemas.microsoft.com/office/drawing/2014/main" id="{7668E9C7-3B61-4C84-98A9-01F9419EE01D}"/>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Reported runs use data fit and curvature, with a separate concentration ablation</a:t>
            </a:r>
          </a:p>
        </p:txBody>
      </p:sp>
    </p:spTree>
    <p:extLst>
      <p:ext uri="{BB962C8B-B14F-4D97-AF65-F5344CB8AC3E}">
        <p14:creationId xmlns:p14="http://schemas.microsoft.com/office/powerpoint/2010/main" val="13828018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Hydrodynamic residual and activation requirements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pic>
        <p:nvPicPr>
          <p:cNvPr id="13" name="">
            <a:extLst xmlns:a="http://schemas.openxmlformats.org/drawingml/2006/main">
              <a:ext uri="{FF2B5EF4-FFF2-40B4-BE49-F238E27FC236}">
                <a16:creationId xmlns:a16="http://schemas.microsoft.com/office/drawing/2014/main" id="{5CB4809D-B8E1-494A-BDCD-38529C75FCA8}"/>
              </a:ext>
            </a:extLst>
          </p:cNvPr>
          <p:cNvPicPr>
            <a:picLocks xmlns:a="http://schemas.openxmlformats.org/drawingml/2006/main" noChangeAspect="1"/>
          </p:cNvPicPr>
          <p:nvPr/>
        </p:nvPicPr>
        <p:blipFill>
          <a:blip xmlns:r="http://schemas.openxmlformats.org/officeDocument/2006/relationships" xmlns:a="http://schemas.openxmlformats.org/drawingml/2006/main" r:embed="R376e7321ebd44035"/>
          <a:stretch xmlns:a="http://schemas.openxmlformats.org/drawingml/2006/main"/>
        </p:blipFill>
        <p:spPr>
          <a:xfrm xmlns:a="http://schemas.openxmlformats.org/drawingml/2006/main">
            <a:off x="1196816" y="1695450"/>
            <a:ext cx="1292543" cy="561975"/>
          </a:xfrm>
          <a:prstGeom xmlns:a="http://schemas.openxmlformats.org/drawingml/2006/main" prst="rect">
            <a:avLst/>
          </a:prstGeom>
        </p:spPr>
      </p:pic>
      <p:sp>
        <p:nvSpPr>
          <p:cNvPr id="14" name="content-4">
            <a:extLst xmlns:a="http://schemas.openxmlformats.org/drawingml/2006/main">
              <a:ext uri="{FF2B5EF4-FFF2-40B4-BE49-F238E27FC236}">
                <a16:creationId xmlns:a16="http://schemas.microsoft.com/office/drawing/2014/main" id="{FF6C70F6-F454-4A68-A0A7-DB1EF3232B74}"/>
              </a:ext>
            </a:extLst>
          </p:cNvPr>
          <p:cNvSpPr>
            <a:spLocks xmlns:a="http://schemas.openxmlformats.org/drawingml/2006/main" noGrp="1"/>
          </p:cNvSpPr>
          <p:nvPr/>
        </p:nvSpPr>
        <p:spPr>
          <a:xfrm xmlns:a="http://schemas.openxmlformats.org/drawingml/2006/main">
            <a:off x="3333750" y="1714500"/>
            <a:ext cx="5086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η: viscosity   U: withdrawal velocity</a:t>
            </a:r>
          </a:p>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γ: surface tension   ρ: density</a:t>
            </a:r>
          </a:p>
        </p:txBody>
      </p:sp>
      <p:pic>
        <p:nvPicPr>
          <p:cNvPr id="15" name="">
            <a:extLst xmlns:a="http://schemas.openxmlformats.org/drawingml/2006/main">
              <a:ext uri="{FF2B5EF4-FFF2-40B4-BE49-F238E27FC236}">
                <a16:creationId xmlns:a16="http://schemas.microsoft.com/office/drawing/2014/main" id="{CAD88BDF-1E4D-4FE4-B48F-59AEAB8BBE45}"/>
              </a:ext>
            </a:extLst>
          </p:cNvPr>
          <p:cNvPicPr>
            <a:picLocks xmlns:a="http://schemas.openxmlformats.org/drawingml/2006/main" noChangeAspect="1"/>
          </p:cNvPicPr>
          <p:nvPr/>
        </p:nvPicPr>
        <p:blipFill>
          <a:blip xmlns:r="http://schemas.openxmlformats.org/officeDocument/2006/relationships" xmlns:a="http://schemas.openxmlformats.org/drawingml/2006/main" r:embed="Rc6da5eadd18d4842"/>
          <a:stretch xmlns:a="http://schemas.openxmlformats.org/drawingml/2006/main"/>
        </p:blipFill>
        <p:spPr>
          <a:xfrm xmlns:a="http://schemas.openxmlformats.org/drawingml/2006/main">
            <a:off x="2856497" y="2371725"/>
            <a:ext cx="3431005" cy="56197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12DBCEDB-5E6D-49BD-A35A-C6770F356716}"/>
              </a:ext>
            </a:extLst>
          </p:cNvPr>
          <p:cNvPicPr>
            <a:picLocks xmlns:a="http://schemas.openxmlformats.org/drawingml/2006/main" noChangeAspect="1"/>
          </p:cNvPicPr>
          <p:nvPr/>
        </p:nvPicPr>
        <p:blipFill>
          <a:blip xmlns:r="http://schemas.openxmlformats.org/officeDocument/2006/relationships" xmlns:a="http://schemas.openxmlformats.org/drawingml/2006/main" r:embed="Raeffa8e194ec41f7"/>
          <a:stretch xmlns:a="http://schemas.openxmlformats.org/drawingml/2006/main"/>
        </p:blipFill>
        <p:spPr>
          <a:xfrm xmlns:a="http://schemas.openxmlformats.org/drawingml/2006/main">
            <a:off x="2840546" y="3057525"/>
            <a:ext cx="3462909" cy="581025"/>
          </a:xfrm>
          <a:prstGeom xmlns:a="http://schemas.openxmlformats.org/drawingml/2006/main" prst="rect">
            <a:avLst/>
          </a:prstGeom>
        </p:spPr>
      </p:pic>
      <p:sp>
        <p:nvSpPr>
          <p:cNvPr id="17" name="content-5">
            <a:extLst xmlns:a="http://schemas.openxmlformats.org/drawingml/2006/main">
              <a:ext uri="{FF2B5EF4-FFF2-40B4-BE49-F238E27FC236}">
                <a16:creationId xmlns:a16="http://schemas.microsoft.com/office/drawing/2014/main" id="{2B16D7C2-9A56-466A-BE5C-822873AD26D2}"/>
              </a:ext>
            </a:extLst>
          </p:cNvPr>
          <p:cNvSpPr>
            <a:spLocks xmlns:a="http://schemas.openxmlformats.org/drawingml/2006/main" noGrp="1"/>
          </p:cNvSpPr>
          <p:nvPr/>
        </p:nvSpPr>
        <p:spPr>
          <a:xfrm xmlns:a="http://schemas.openxmlformats.org/drawingml/2006/main">
            <a:off x="723900" y="36957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AVAILABLE VALUES</a:t>
            </a:r>
          </a:p>
        </p:txBody>
      </p:sp>
      <p:sp>
        <p:nvSpPr>
          <p:cNvPr id="18" name="content-6">
            <a:extLst xmlns:a="http://schemas.openxmlformats.org/drawingml/2006/main">
              <a:ext uri="{FF2B5EF4-FFF2-40B4-BE49-F238E27FC236}">
                <a16:creationId xmlns:a16="http://schemas.microsoft.com/office/drawing/2014/main" id="{0387A2EA-22D9-4B54-BA6D-D4D7237D8C7A}"/>
              </a:ext>
            </a:extLst>
          </p:cNvPr>
          <p:cNvSpPr>
            <a:spLocks xmlns:a="http://schemas.openxmlformats.org/drawingml/2006/main" noGrp="1"/>
          </p:cNvSpPr>
          <p:nvPr/>
        </p:nvSpPr>
        <p:spPr>
          <a:xfrm xmlns:a="http://schemas.openxmlformats.org/drawingml/2006/main">
            <a:off x="723900" y="4067175"/>
            <a:ext cx="38385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Velocity, solution viscosity, surface tension,</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solution density</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Independent wet-to-dry conversion factor</a:t>
            </a:r>
          </a:p>
        </p:txBody>
      </p:sp>
      <p:sp>
        <p:nvSpPr>
          <p:cNvPr id="19" name="content-7">
            <a:extLst xmlns:a="http://schemas.openxmlformats.org/drawingml/2006/main">
              <a:ext uri="{FF2B5EF4-FFF2-40B4-BE49-F238E27FC236}">
                <a16:creationId xmlns:a16="http://schemas.microsoft.com/office/drawing/2014/main" id="{50EB7E3F-66EE-4987-8AF6-E78598C87150}"/>
              </a:ext>
            </a:extLst>
          </p:cNvPr>
          <p:cNvSpPr>
            <a:spLocks xmlns:a="http://schemas.openxmlformats.org/drawingml/2006/main" noGrp="1"/>
          </p:cNvSpPr>
          <p:nvPr/>
        </p:nvSpPr>
        <p:spPr>
          <a:xfrm xmlns:a="http://schemas.openxmlformats.org/drawingml/2006/main">
            <a:off x="5048250" y="36957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VALIDITY CHECKS</a:t>
            </a:r>
          </a:p>
        </p:txBody>
      </p:sp>
      <p:sp>
        <p:nvSpPr>
          <p:cNvPr id="20" name="content-8">
            <a:extLst xmlns:a="http://schemas.openxmlformats.org/drawingml/2006/main">
              <a:ext uri="{FF2B5EF4-FFF2-40B4-BE49-F238E27FC236}">
                <a16:creationId xmlns:a16="http://schemas.microsoft.com/office/drawing/2014/main" id="{4CAE31BB-F6BC-465C-A1DE-6C8FCB91C91D}"/>
              </a:ext>
            </a:extLst>
          </p:cNvPr>
          <p:cNvSpPr>
            <a:spLocks xmlns:a="http://schemas.openxmlformats.org/drawingml/2006/main" noGrp="1"/>
          </p:cNvSpPr>
          <p:nvPr/>
        </p:nvSpPr>
        <p:spPr>
          <a:xfrm xmlns:a="http://schemas.openxmlformats.org/drawingml/2006/main">
            <a:off x="5048250" y="4067175"/>
            <a:ext cx="3419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Flat-plate, Newtonian, eligible regime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Explicit per-row applicability flag</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Capillary number below 0.01</a:t>
            </a:r>
          </a:p>
        </p:txBody>
      </p:sp>
      <p:sp>
        <p:nvSpPr>
          <p:cNvPr id="21" name="content-9">
            <a:extLst xmlns:a="http://schemas.openxmlformats.org/drawingml/2006/main">
              <a:ext uri="{FF2B5EF4-FFF2-40B4-BE49-F238E27FC236}">
                <a16:creationId xmlns:a16="http://schemas.microsoft.com/office/drawing/2014/main" id="{42FBBE91-6894-4A08-8692-FAF80DBBC9AB}"/>
              </a:ext>
            </a:extLst>
          </p:cNvPr>
          <p:cNvSpPr>
            <a:spLocks xmlns:a="http://schemas.openxmlformats.org/drawingml/2006/main" noGrp="1"/>
          </p:cNvSpPr>
          <p:nvPr/>
        </p:nvSpPr>
        <p:spPr>
          <a:xfrm xmlns:a="http://schemas.openxmlformats.org/drawingml/2006/main">
            <a:off x="723900" y="5286375"/>
            <a:ext cx="771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5717B"/>
                </a:solidFill>
                <a:latin typeface="Arial"/>
                <a:ea typeface="Arial"/>
                <a:cs typeface="Arial"/>
              </a:defRPr>
            </a:defPPr>
          </a:lstStyle>
          <a:p xmlns:a="http://schemas.openxmlformats.org/drawingml/2006/main">
            <a:pPr algn="l">
              <a:defRPr sz="1200" b="0">
                <a:solidFill>
                  <a:srgbClr val="65717B"/>
                </a:solidFill>
                <a:latin typeface="Arial"/>
                <a:ea typeface="Arial"/>
                <a:cs typeface="Arial"/>
              </a:defRPr>
            </a:pPr>
            <a:r>
              <a:rPr sz="1200" b="0">
                <a:solidFill>
                  <a:srgbClr val="65717B"/>
                </a:solidFill>
                <a:latin typeface="Arial"/>
                <a:ea typeface="Arial"/>
                <a:cs typeface="Arial"/>
              </a:rPr>
              <a:t>A: eligible rows   fdry: independent dry conversion   sy: training target scale</a:t>
            </a:r>
          </a:p>
        </p:txBody>
      </p:sp>
      <p:sp>
        <p:nvSpPr>
          <p:cNvPr id="22" name="content-10">
            <a:extLst xmlns:a="http://schemas.openxmlformats.org/drawingml/2006/main">
              <a:ext uri="{FF2B5EF4-FFF2-40B4-BE49-F238E27FC236}">
                <a16:creationId xmlns:a16="http://schemas.microsoft.com/office/drawing/2014/main" id="{A1D40A71-598F-48B3-89B1-2A67E7B16A23}"/>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Values are available. Aggregate and preprocess the datasets before enabling this loss</a:t>
            </a:r>
          </a:p>
        </p:txBody>
      </p:sp>
    </p:spTree>
    <p:extLst>
      <p:ext uri="{BB962C8B-B14F-4D97-AF65-F5344CB8AC3E}">
        <p14:creationId xmlns:p14="http://schemas.microsoft.com/office/powerpoint/2010/main" val="138280187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configuration and matched baselines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544834BA-3818-4FB8-8F05-27BA491CDA52}"/>
              </a:ext>
            </a:extLst>
          </p:cNvPr>
          <p:cNvGraphicFramePr/>
          <p:nvPr/>
        </p:nvGraphicFramePr>
        <p:xfrm>
          <a:off xmlns:a="http://schemas.openxmlformats.org/drawingml/2006/main" x="571500" y="1695450"/>
          <a:ext xmlns:a="http://schemas.openxmlformats.org/drawingml/2006/main" cx="4152900" cy="3743325"/>
        </p:xfrm>
        <a:graphic xmlns:a="http://schemas.openxmlformats.org/drawingml/2006/main">
          <a:graphicData uri="http://schemas.openxmlformats.org/drawingml/2006/table">
            <a:tbl>
              <a:tblPr/>
              <a:tblGrid>
                <a:gridCol w="2152650"/>
                <a:gridCol w="2000250"/>
              </a:tblGrid>
              <a:tr h="374333">
                <a:tc>
                  <a:txBody>
                    <a:bodyPr>
                      <a:noAutofit/>
                    </a:bodyPr>
                    <a:lstStyle/>
                    <a:p>
                      <a:pPr algn="l"/>
                      <a:r>
                        <a:rPr sz="1275" b="1">
                          <a:solidFill>
                            <a:srgbClr val="FFFFFF"/>
                          </a:solidFill>
                          <a:latin typeface="Arial"/>
                          <a:ea typeface="Arial"/>
                          <a:cs typeface="Arial"/>
                        </a:rPr>
                        <a:t>Setting</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choice</a:t>
                      </a:r>
                    </a:p>
                  </a:txBody>
                  <a:tcPr marL="85725" marR="85725" marT="76200" marB="76200" anchor="ctr">
                    <a:solidFill>
                      <a:srgbClr val="002B5E"/>
                    </a:solidFill>
                  </a:tcPr>
                </a:tc>
              </a:tr>
              <a:tr h="374333">
                <a:tc>
                  <a:txBody>
                    <a:bodyPr>
                      <a:noAutofit/>
                    </a:bodyPr>
                    <a:lstStyle/>
                    <a:p>
                      <a:pPr algn="l"/>
                      <a:r>
                        <a:rPr sz="1275" b="1">
                          <a:solidFill>
                            <a:srgbClr val="263645"/>
                          </a:solidFill>
                          <a:latin typeface="Arial"/>
                          <a:ea typeface="Arial"/>
                          <a:cs typeface="Arial"/>
                        </a:rPr>
                        <a:t>Optimizer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Adam</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Learning rate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Weight decay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0.0001</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Maximum epochs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1,500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Validation patience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150 epochs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Gradient clipping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Norm = 10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Derivative sample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Up to 256 training rows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Initialization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Xavier / zero biases</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Reproducibility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Seed 42, CPU</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7302F0A1-A545-4E46-B95C-7803C09593D3}"/>
              </a:ext>
            </a:extLst>
          </p:cNvPr>
          <p:cNvSpPr>
            <a:spLocks xmlns:a="http://schemas.openxmlformats.org/drawingml/2006/main" noGrp="1"/>
          </p:cNvSpPr>
          <p:nvPr/>
        </p:nvSpPr>
        <p:spPr>
          <a:xfrm xmlns:a="http://schemas.openxmlformats.org/drawingml/2006/main">
            <a:off x="5124450" y="170497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NEURAL COMPARISONS</a:t>
            </a:r>
          </a:p>
        </p:txBody>
      </p:sp>
      <p:sp>
        <p:nvSpPr>
          <p:cNvPr id="15" name="content-5">
            <a:extLst xmlns:a="http://schemas.openxmlformats.org/drawingml/2006/main">
              <a:ext uri="{FF2B5EF4-FFF2-40B4-BE49-F238E27FC236}">
                <a16:creationId xmlns:a16="http://schemas.microsoft.com/office/drawing/2014/main" id="{C5C82962-0A23-49A9-B3F3-CBBE24CCE5FB}"/>
              </a:ext>
            </a:extLst>
          </p:cNvPr>
          <p:cNvSpPr>
            <a:spLocks xmlns:a="http://schemas.openxmlformats.org/drawingml/2006/main" noGrp="1"/>
          </p:cNvSpPr>
          <p:nvPr/>
        </p:nvSpPr>
        <p:spPr>
          <a:xfrm xmlns:a="http://schemas.openxmlformats.org/drawingml/2006/main">
            <a:off x="5124450" y="2057400"/>
            <a:ext cx="3295650" cy="501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PINN: hard bound plus curvature regularization.</a:t>
            </a:r>
          </a:p>
        </p:txBody>
      </p:sp>
      <p:sp>
        <p:nvSpPr>
          <p:cNvPr id="16" name="content-6">
            <a:extLst xmlns:a="http://schemas.openxmlformats.org/drawingml/2006/main">
              <a:ext uri="{FF2B5EF4-FFF2-40B4-BE49-F238E27FC236}">
                <a16:creationId xmlns:a16="http://schemas.microsoft.com/office/drawing/2014/main" id="{614BA07F-E9A2-4EFD-9952-6019C07BB17F}"/>
              </a:ext>
            </a:extLst>
          </p:cNvPr>
          <p:cNvSpPr>
            <a:spLocks xmlns:a="http://schemas.openxmlformats.org/drawingml/2006/main" noGrp="1"/>
          </p:cNvSpPr>
          <p:nvPr/>
        </p:nvSpPr>
        <p:spPr>
          <a:xfrm xmlns:a="http://schemas.openxmlformats.org/drawingml/2006/main">
            <a:off x="5124450" y="260604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Bounded NN: same output bound, with physics penalties off.</a:t>
            </a:r>
          </a:p>
        </p:txBody>
      </p:sp>
      <p:sp>
        <p:nvSpPr>
          <p:cNvPr id="17" name="content-7">
            <a:extLst xmlns:a="http://schemas.openxmlformats.org/drawingml/2006/main">
              <a:ext uri="{FF2B5EF4-FFF2-40B4-BE49-F238E27FC236}">
                <a16:creationId xmlns:a16="http://schemas.microsoft.com/office/drawing/2014/main" id="{F522EEB9-973D-45C7-85DA-196B68FBB57F}"/>
              </a:ext>
            </a:extLst>
          </p:cNvPr>
          <p:cNvSpPr>
            <a:spLocks xmlns:a="http://schemas.openxmlformats.org/drawingml/2006/main" noGrp="1"/>
          </p:cNvSpPr>
          <p:nvPr/>
        </p:nvSpPr>
        <p:spPr>
          <a:xfrm xmlns:a="http://schemas.openxmlformats.org/drawingml/2006/main">
            <a:off x="5124450" y="337185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Standard NN: same hidden layers and optimizer, with a linear output.</a:t>
            </a:r>
          </a:p>
        </p:txBody>
      </p:sp>
      <p:sp>
        <p:nvSpPr>
          <p:cNvPr id="18" name="content-8">
            <a:extLst xmlns:a="http://schemas.openxmlformats.org/drawingml/2006/main">
              <a:ext uri="{FF2B5EF4-FFF2-40B4-BE49-F238E27FC236}">
                <a16:creationId xmlns:a16="http://schemas.microsoft.com/office/drawing/2014/main" id="{54DF4445-3498-4675-BE0C-FE364008D874}"/>
              </a:ext>
            </a:extLst>
          </p:cNvPr>
          <p:cNvSpPr>
            <a:spLocks xmlns:a="http://schemas.openxmlformats.org/drawingml/2006/main" noGrp="1"/>
          </p:cNvSpPr>
          <p:nvPr/>
        </p:nvSpPr>
        <p:spPr>
          <a:xfrm xmlns:a="http://schemas.openxmlformats.org/drawingml/2006/main">
            <a:off x="5124450" y="454342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TREE BASELINES</a:t>
            </a:r>
          </a:p>
        </p:txBody>
      </p:sp>
      <p:sp>
        <p:nvSpPr>
          <p:cNvPr id="19" name="content-9">
            <a:extLst xmlns:a="http://schemas.openxmlformats.org/drawingml/2006/main">
              <a:ext uri="{FF2B5EF4-FFF2-40B4-BE49-F238E27FC236}">
                <a16:creationId xmlns:a16="http://schemas.microsoft.com/office/drawing/2014/main" id="{171CA137-0E7A-4DF5-9349-678E0CBD6BFB}"/>
              </a:ext>
            </a:extLst>
          </p:cNvPr>
          <p:cNvSpPr>
            <a:spLocks xmlns:a="http://schemas.openxmlformats.org/drawingml/2006/main" noGrp="1"/>
          </p:cNvSpPr>
          <p:nvPr/>
        </p:nvSpPr>
        <p:spPr>
          <a:xfrm xmlns:a="http://schemas.openxmlformats.org/drawingml/2006/main">
            <a:off x="5124450" y="4905375"/>
            <a:ext cx="3295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RF: 300 trees, minimum leaf size 2</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GB: 100 trees, depth 2, learning rate 0.05</a:t>
            </a:r>
          </a:p>
        </p:txBody>
      </p:sp>
      <p:sp>
        <p:nvSpPr>
          <p:cNvPr id="20" name="content-10">
            <a:extLst xmlns:a="http://schemas.openxmlformats.org/drawingml/2006/main">
              <a:ext uri="{FF2B5EF4-FFF2-40B4-BE49-F238E27FC236}">
                <a16:creationId xmlns:a16="http://schemas.microsoft.com/office/drawing/2014/main" id="{F1180A1E-2A60-45F4-9725-930273F507A2}"/>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Validation chooses neural checkpoints. Fixed tree settings receive no test-driven tuning</a:t>
            </a:r>
          </a:p>
        </p:txBody>
      </p:sp>
    </p:spTree>
    <p:extLst>
      <p:ext uri="{BB962C8B-B14F-4D97-AF65-F5344CB8AC3E}">
        <p14:creationId xmlns:p14="http://schemas.microsoft.com/office/powerpoint/2010/main" val="138280187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Evaluation splits and interpretation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56EC66CF-2A5E-4986-B643-5CDA9FD3EB98}"/>
              </a:ext>
            </a:extLst>
          </p:cNvPr>
          <p:cNvGraphicFramePr/>
          <p:nvPr/>
        </p:nvGraphicFramePr>
        <p:xfrm>
          <a:off xmlns:a="http://schemas.openxmlformats.org/drawingml/2006/main" x="571500" y="1724025"/>
          <a:ext xmlns:a="http://schemas.openxmlformats.org/drawingml/2006/main" cx="8001000" cy="2047875"/>
        </p:xfrm>
        <a:graphic xmlns:a="http://schemas.openxmlformats.org/drawingml/2006/main">
          <a:graphicData uri="http://schemas.openxmlformats.org/drawingml/2006/table">
            <a:tbl>
              <a:tblPr/>
              <a:tblGrid>
                <a:gridCol w="4343400"/>
                <a:gridCol w="1219200"/>
                <a:gridCol w="1219200"/>
                <a:gridCol w="1219200"/>
              </a:tblGrid>
              <a:tr h="511969">
                <a:tc>
                  <a:txBody>
                    <a:bodyPr>
                      <a:noAutofit/>
                    </a:bodyPr>
                    <a:lstStyle/>
                    <a:p>
                      <a:pPr algn="l"/>
                      <a:r>
                        <a:rPr sz="1500"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Training</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Validation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Test</a:t>
                      </a:r>
                    </a:p>
                  </a:txBody>
                  <a:tcPr marL="85725" marR="85725" marT="76200" marB="76200" anchor="ctr">
                    <a:solidFill>
                      <a:srgbClr val="002B5E"/>
                    </a:solidFill>
                  </a:tcPr>
                </a:tc>
              </a:tr>
              <a:tr h="511969">
                <a:tc>
                  <a:txBody>
                    <a:bodyPr>
                      <a:noAutofit/>
                    </a:bodyPr>
                    <a:lstStyle/>
                    <a:p>
                      <a:pPr algn="l"/>
                      <a:r>
                        <a:rPr sz="1500" b="1">
                          <a:solidFill>
                            <a:srgbClr val="263645"/>
                          </a:solidFill>
                          <a:latin typeface="Arial"/>
                          <a:ea typeface="Arial"/>
                          <a:cs typeface="Arial"/>
                        </a:rPr>
                        <a:t>Measured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28</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18</a:t>
                      </a:r>
                    </a:p>
                  </a:txBody>
                  <a:tcPr marL="85725" marR="85725" marT="76200" marB="76200" anchor="ctr">
                    <a:solidFill>
                      <a:srgbClr val="FFFFFF"/>
                    </a:solidFill>
                  </a:tcPr>
                </a:tc>
              </a:tr>
              <a:tr h="511969">
                <a:tc>
                  <a:txBody>
                    <a:bodyPr>
                      <a:noAutofit/>
                    </a:bodyPr>
                    <a:lstStyle/>
                    <a:p>
                      <a:pPr algn="l"/>
                      <a:r>
                        <a:rPr sz="1500" b="1">
                          <a:solidFill>
                            <a:srgbClr val="263645"/>
                          </a:solidFill>
                          <a:latin typeface="Arial"/>
                          <a:ea typeface="Arial"/>
                          <a:cs typeface="Arial"/>
                        </a:rPr>
                        <a:t>Measured high-concentration holdout</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36</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10</a:t>
                      </a:r>
                    </a:p>
                  </a:txBody>
                  <a:tcPr marL="85725" marR="85725" marT="76200" marB="76200" anchor="ctr">
                    <a:solidFill>
                      <a:srgbClr val="F7F5EF"/>
                    </a:solidFill>
                  </a:tcPr>
                </a:tc>
              </a:tr>
              <a:tr h="511969">
                <a:tc>
                  <a:txBody>
                    <a:bodyPr>
                      <a:noAutofit/>
                    </a:bodyPr>
                    <a:lstStyle/>
                    <a:p>
                      <a:pPr algn="l"/>
                      <a:r>
                        <a:rPr sz="1500" b="1">
                          <a:solidFill>
                            <a:srgbClr val="263645"/>
                          </a:solidFill>
                          <a:latin typeface="Arial"/>
                          <a:ea typeface="Arial"/>
                          <a:cs typeface="Arial"/>
                        </a:rPr>
                        <a:t>Synthetic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1,959</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407</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442</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2E5A9088-54AB-4939-85AE-5188D738C8D0}"/>
              </a:ext>
            </a:extLst>
          </p:cNvPr>
          <p:cNvSpPr>
            <a:spLocks xmlns:a="http://schemas.openxmlformats.org/drawingml/2006/main" noGrp="1"/>
          </p:cNvSpPr>
          <p:nvPr/>
        </p:nvSpPr>
        <p:spPr>
          <a:xfrm xmlns:a="http://schemas.openxmlformats.org/drawingml/2006/main">
            <a:off x="714375" y="4048125"/>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GENERALIZATION</a:t>
            </a:r>
          </a:p>
        </p:txBody>
      </p:sp>
      <p:sp>
        <p:nvSpPr>
          <p:cNvPr id="15" name="content-5">
            <a:extLst xmlns:a="http://schemas.openxmlformats.org/drawingml/2006/main">
              <a:ext uri="{FF2B5EF4-FFF2-40B4-BE49-F238E27FC236}">
                <a16:creationId xmlns:a16="http://schemas.microsoft.com/office/drawing/2014/main" id="{84C66FC4-6EB7-4923-A6E1-9837AD70B59C}"/>
              </a:ext>
            </a:extLst>
          </p:cNvPr>
          <p:cNvSpPr>
            <a:spLocks xmlns:a="http://schemas.openxmlformats.org/drawingml/2006/main" noGrp="1"/>
          </p:cNvSpPr>
          <p:nvPr/>
        </p:nvSpPr>
        <p:spPr>
          <a:xfrm xmlns:a="http://schemas.openxmlformats.org/drawingml/2006/main">
            <a:off x="714375" y="4391025"/>
            <a:ext cx="3762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Hold out entire concentration levels.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extrapolation test reserves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3, 5, 7, and 10 in recorded units.</a:t>
            </a:r>
          </a:p>
        </p:txBody>
      </p:sp>
      <p:sp>
        <p:nvSpPr>
          <p:cNvPr id="16" name="content-6">
            <a:extLst xmlns:a="http://schemas.openxmlformats.org/drawingml/2006/main">
              <a:ext uri="{FF2B5EF4-FFF2-40B4-BE49-F238E27FC236}">
                <a16:creationId xmlns:a16="http://schemas.microsoft.com/office/drawing/2014/main" id="{205A6B87-B551-45AC-985B-33EC4010EF1D}"/>
              </a:ext>
            </a:extLst>
          </p:cNvPr>
          <p:cNvSpPr>
            <a:spLocks xmlns:a="http://schemas.openxmlformats.org/drawingml/2006/main" noGrp="1"/>
          </p:cNvSpPr>
          <p:nvPr/>
        </p:nvSpPr>
        <p:spPr>
          <a:xfrm xmlns:a="http://schemas.openxmlformats.org/drawingml/2006/main">
            <a:off x="5029200" y="4048125"/>
            <a:ext cx="344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GENERALIZATION</a:t>
            </a:r>
          </a:p>
        </p:txBody>
      </p:sp>
      <p:sp>
        <p:nvSpPr>
          <p:cNvPr id="17" name="content-7">
            <a:extLst xmlns:a="http://schemas.openxmlformats.org/drawingml/2006/main">
              <a:ext uri="{FF2B5EF4-FFF2-40B4-BE49-F238E27FC236}">
                <a16:creationId xmlns:a16="http://schemas.microsoft.com/office/drawing/2014/main" id="{75AEA34A-8364-42F1-BC9B-0EE4B46141BA}"/>
              </a:ext>
            </a:extLst>
          </p:cNvPr>
          <p:cNvSpPr>
            <a:spLocks xmlns:a="http://schemas.openxmlformats.org/drawingml/2006/main" noGrp="1"/>
          </p:cNvSpPr>
          <p:nvPr/>
        </p:nvSpPr>
        <p:spPr>
          <a:xfrm xmlns:a="http://schemas.openxmlformats.org/drawingml/2006/main">
            <a:off x="5029200" y="4391025"/>
            <a:ext cx="3419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IDs are unavailable.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Exact concentration grouping cannot</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prove independent source experiments.</a:t>
            </a:r>
          </a:p>
        </p:txBody>
      </p:sp>
      <p:sp>
        <p:nvSpPr>
          <p:cNvPr id="18" name="content-8">
            <a:extLst xmlns:a="http://schemas.openxmlformats.org/drawingml/2006/main">
              <a:ext uri="{FF2B5EF4-FFF2-40B4-BE49-F238E27FC236}">
                <a16:creationId xmlns:a16="http://schemas.microsoft.com/office/drawing/2014/main" id="{008657EB-D146-4112-845E-83927D89627C}"/>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Compare models within each shared split. Do not compare scores across protocols</a:t>
            </a:r>
          </a:p>
        </p:txBody>
      </p:sp>
    </p:spTree>
    <p:extLst>
      <p:ext uri="{BB962C8B-B14F-4D97-AF65-F5344CB8AC3E}">
        <p14:creationId xmlns:p14="http://schemas.microsoft.com/office/powerpoint/2010/main" val="13828018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Initial measured-data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275D8542-3554-4EEB-BE81-98F6DED10154}"/>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58 observations, three inputs, 18 held-out rows</a:t>
            </a:r>
          </a:p>
        </p:txBody>
      </p:sp>
      <p:graphicFrame>
        <p:nvGraphicFramePr>
          <p:cNvPr id="14" name="Chart">
            <a:extLst xmlns:a="http://schemas.openxmlformats.org/drawingml/2006/main">
              <a:ext uri="{FF2B5EF4-FFF2-40B4-BE49-F238E27FC236}">
                <a16:creationId xmlns:a16="http://schemas.microsoft.com/office/drawing/2014/main" id="{D6A1B618-9CC8-468F-AF8E-C4E5A48EFD77}"/>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fb8fe7e2ae5e4459"/>
          </a:graphicData>
        </a:graphic>
      </p:graphicFrame>
      <p:graphicFrame>
        <p:nvGraphicFramePr>
          <p:cNvPr id="15" name="">
            <a:extLst xmlns:a="http://schemas.openxmlformats.org/drawingml/2006/main">
              <a:ext uri="{FF2B5EF4-FFF2-40B4-BE49-F238E27FC236}">
                <a16:creationId xmlns:a16="http://schemas.microsoft.com/office/drawing/2014/main" id="{1C58B50C-5258-4D7E-A67A-D83537C7E404}"/>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0.1223</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-0.392</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0.1224</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-0.395</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0.2119</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-3.183</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0.0670</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0.582</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0.0649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0.607</a:t>
                      </a:r>
                    </a:p>
                  </a:txBody>
                  <a:tcPr marL="85725" marR="85725" marT="76200" marB="76200" anchor="ctr">
                    <a:solidFill>
                      <a:srgbClr val="F3ECD6"/>
                    </a:solidFill>
                  </a:tcPr>
                </a:tc>
              </a:tr>
            </a:tbl>
          </a:graphicData>
        </a:graphic>
      </p:graphicFrame>
      <p:sp>
        <p:nvSpPr>
          <p:cNvPr id="16" name="content-5">
            <a:extLst xmlns:a="http://schemas.openxmlformats.org/drawingml/2006/main">
              <a:ext uri="{FF2B5EF4-FFF2-40B4-BE49-F238E27FC236}">
                <a16:creationId xmlns:a16="http://schemas.microsoft.com/office/drawing/2014/main" id="{EB88DFDF-453C-4A86-B232-0C4F7086C39C}"/>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0.1117 nm. All models: 0% observed bound violations.</a:t>
            </a:r>
          </a:p>
        </p:txBody>
      </p:sp>
      <p:sp>
        <p:nvSpPr>
          <p:cNvPr id="17" name="content-6">
            <a:extLst xmlns:a="http://schemas.openxmlformats.org/drawingml/2006/main">
              <a:ext uri="{FF2B5EF4-FFF2-40B4-BE49-F238E27FC236}">
                <a16:creationId xmlns:a16="http://schemas.microsoft.com/office/drawing/2014/main" id="{242332FB-4F1B-4223-82F6-62EF6893722A}"/>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Gradient boosting and random forest outperform the initial neural models</a:t>
            </a:r>
          </a:p>
        </p:txBody>
      </p:sp>
    </p:spTree>
    <p:extLst>
      <p:ext uri="{BB962C8B-B14F-4D97-AF65-F5344CB8AC3E}">
        <p14:creationId xmlns:p14="http://schemas.microsoft.com/office/powerpoint/2010/main" val="13828018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high-concentration extrapolation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EF5E8340-E013-4368-907C-33B906856897}"/>
              </a:ext>
            </a:extLst>
          </p:cNvPr>
          <p:cNvGraphicFramePr/>
          <p:nvPr/>
        </p:nvGraphicFramePr>
        <p:xfrm>
          <a:off xmlns:a="http://schemas.openxmlformats.org/drawingml/2006/main" x="523875" y="2028825"/>
          <a:ext xmlns:a="http://schemas.openxmlformats.org/drawingml/2006/main" cx="4743450" cy="3276600"/>
        </p:xfrm>
        <a:graphic xmlns:a="http://schemas.openxmlformats.org/drawingml/2006/main">
          <a:graphicData uri="http://schemas.openxmlformats.org/drawingml/2006/chart">
            <c:chart xmlns:r="http://schemas.openxmlformats.org/officeDocument/2006/relationships" xmlns:c="http://schemas.openxmlformats.org/drawingml/2006/chart" r:id="R593a85414e484dff"/>
          </a:graphicData>
        </a:graphic>
      </p:graphicFrame>
      <p:graphicFrame>
        <p:nvGraphicFramePr>
          <p:cNvPr id="14" name="">
            <a:extLst xmlns:a="http://schemas.openxmlformats.org/drawingml/2006/main">
              <a:ext uri="{FF2B5EF4-FFF2-40B4-BE49-F238E27FC236}">
                <a16:creationId xmlns:a16="http://schemas.microsoft.com/office/drawing/2014/main" id="{E71A9D92-7D4E-41DD-98E2-2E20E926A581}"/>
              </a:ext>
            </a:extLst>
          </p:cNvPr>
          <p:cNvGraphicFramePr/>
          <p:nvPr/>
        </p:nvGraphicFramePr>
        <p:xfrm>
          <a:off xmlns:a="http://schemas.openxmlformats.org/drawingml/2006/main" x="5476875" y="2143125"/>
          <a:ext xmlns:a="http://schemas.openxmlformats.org/drawingml/2006/main" cx="3095625" cy="2724150"/>
        </p:xfrm>
        <a:graphic xmlns:a="http://schemas.openxmlformats.org/drawingml/2006/main">
          <a:graphicData uri="http://schemas.openxmlformats.org/drawingml/2006/table">
            <a:tbl>
              <a:tblPr/>
              <a:tblGrid>
                <a:gridCol w="2028825"/>
                <a:gridCol w="1066800"/>
              </a:tblGrid>
              <a:tr h="454025">
                <a:tc>
                  <a:txBody>
                    <a:bodyPr>
                      <a:noAutofit/>
                    </a:bodyPr>
                    <a:lstStyle/>
                    <a:p>
                      <a:pPr algn="l"/>
                      <a:r>
                        <a:rPr sz="1275"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RMSE (nm)</a:t>
                      </a:r>
                    </a:p>
                  </a:txBody>
                  <a:tcPr marL="85725" marR="85725" marT="76200" marB="76200" anchor="ctr">
                    <a:solidFill>
                      <a:srgbClr val="002B5E"/>
                    </a:solidFill>
                  </a:tcPr>
                </a:tc>
              </a:tr>
              <a:tr h="454025">
                <a:tc>
                  <a:txBody>
                    <a:bodyPr>
                      <a:noAutofit/>
                    </a:bodyPr>
                    <a:lstStyle/>
                    <a:p>
                      <a:pPr algn="l"/>
                      <a:r>
                        <a:rPr sz="1275"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0.6168</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0.6115</a:t>
                      </a:r>
                    </a:p>
                  </a:txBody>
                  <a:tcPr marL="85725" marR="85725" marT="76200" marB="76200" anchor="ctr">
                    <a:solidFill>
                      <a:srgbClr val="F7F5EF"/>
                    </a:solidFill>
                  </a:tcPr>
                </a:tc>
              </a:tr>
              <a:tr h="454025">
                <a:tc>
                  <a:txBody>
                    <a:bodyPr>
                      <a:noAutofit/>
                    </a:bodyPr>
                    <a:lstStyle/>
                    <a:p>
                      <a:pPr algn="l"/>
                      <a:r>
                        <a:rPr sz="1275"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0.1042</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75" b="1">
                          <a:solidFill>
                            <a:srgbClr val="263645"/>
                          </a:solidFill>
                          <a:latin typeface="Arial"/>
                          <a:ea typeface="Arial"/>
                          <a:cs typeface="Arial"/>
                        </a:rPr>
                        <a:t>0.0294</a:t>
                      </a:r>
                    </a:p>
                  </a:txBody>
                  <a:tcPr marL="85725" marR="85725" marT="76200" marB="76200" anchor="ctr">
                    <a:solidFill>
                      <a:srgbClr val="F3ECD6"/>
                    </a:solidFill>
                  </a:tcPr>
                </a:tc>
              </a:tr>
              <a:tr h="454025">
                <a:tc>
                  <a:txBody>
                    <a:bodyPr>
                      <a:noAutofit/>
                    </a:bodyPr>
                    <a:lstStyle/>
                    <a:p>
                      <a:pPr algn="l"/>
                      <a:r>
                        <a:rPr sz="1275"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0.0296</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D042646C-B0FE-469A-8F1C-A89C8C108EC6}"/>
              </a:ext>
            </a:extLst>
          </p:cNvPr>
          <p:cNvSpPr>
            <a:spLocks xmlns:a="http://schemas.openxmlformats.org/drawingml/2006/main" noGrp="1"/>
          </p:cNvSpPr>
          <p:nvPr/>
        </p:nvSpPr>
        <p:spPr>
          <a:xfrm xmlns:a="http://schemas.openxmlformats.org/drawingml/2006/main">
            <a:off x="5505450" y="4981575"/>
            <a:ext cx="3067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263645"/>
                </a:solidFill>
                <a:latin typeface="Arial"/>
                <a:ea typeface="Arial"/>
                <a:cs typeface="Arial"/>
              </a:defRPr>
            </a:defPPr>
          </a:lstStyle>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10 measured test rows</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All models have negative R²</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PINN R²: −759.817</a:t>
            </a:r>
          </a:p>
        </p:txBody>
      </p:sp>
      <p:sp>
        <p:nvSpPr>
          <p:cNvPr id="16" name="content-5">
            <a:extLst xmlns:a="http://schemas.openxmlformats.org/drawingml/2006/main">
              <a:ext uri="{FF2B5EF4-FFF2-40B4-BE49-F238E27FC236}">
                <a16:creationId xmlns:a16="http://schemas.microsoft.com/office/drawing/2014/main" id="{297E7B52-8DD6-4B8F-8992-9999FA3AF532}"/>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PINN satisfies the bound while its error grows at unseen high concentrations</a:t>
            </a:r>
          </a:p>
        </p:txBody>
      </p:sp>
    </p:spTree>
    <p:extLst>
      <p:ext uri="{BB962C8B-B14F-4D97-AF65-F5344CB8AC3E}">
        <p14:creationId xmlns:p14="http://schemas.microsoft.com/office/powerpoint/2010/main" val="1382801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Seven-input synthetic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C64A88F2-EFE1-4885-824E-70CF252C7748}"/>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2,808 retained rows, seven inputs, 442 held-out rows</a:t>
            </a:r>
          </a:p>
        </p:txBody>
      </p:sp>
      <p:graphicFrame>
        <p:nvGraphicFramePr>
          <p:cNvPr id="14" name="Chart">
            <a:extLst xmlns:a="http://schemas.openxmlformats.org/drawingml/2006/main">
              <a:ext uri="{FF2B5EF4-FFF2-40B4-BE49-F238E27FC236}">
                <a16:creationId xmlns:a16="http://schemas.microsoft.com/office/drawing/2014/main" id="{845A28C1-C056-4B0B-AC94-2998353BF5E0}"/>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6b11ed4ac3c54433"/>
          </a:graphicData>
        </a:graphic>
      </p:graphicFrame>
      <p:graphicFrame>
        <p:nvGraphicFramePr>
          <p:cNvPr id="15" name="">
            <a:extLst xmlns:a="http://schemas.openxmlformats.org/drawingml/2006/main">
              <a:ext uri="{FF2B5EF4-FFF2-40B4-BE49-F238E27FC236}">
                <a16:creationId xmlns:a16="http://schemas.microsoft.com/office/drawing/2014/main" id="{75412985-E828-4FE6-8C00-AEDA20C330D8}"/>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0.0557</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0.905</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0.0551</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0.907</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0.0541</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0.911</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0.0359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0.961</a:t>
                      </a:r>
                    </a:p>
                  </a:txBody>
                  <a:tcPr marL="85725" marR="85725" marT="76200" marB="76200" anchor="ctr">
                    <a:solidFill>
                      <a:srgbClr val="F3ECD6"/>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0.0748</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0.829</a:t>
                      </a:r>
                    </a:p>
                  </a:txBody>
                  <a:tcPr marL="85725" marR="85725" marT="76200" marB="76200" anchor="ctr">
                    <a:solidFill>
                      <a:srgbClr val="FFFFFF"/>
                    </a:solidFill>
                  </a:tcPr>
                </a:tc>
              </a:tr>
            </a:tbl>
          </a:graphicData>
        </a:graphic>
      </p:graphicFrame>
      <p:sp>
        <p:nvSpPr>
          <p:cNvPr id="16" name="content-5">
            <a:extLst xmlns:a="http://schemas.openxmlformats.org/drawingml/2006/main">
              <a:ext uri="{FF2B5EF4-FFF2-40B4-BE49-F238E27FC236}">
                <a16:creationId xmlns:a16="http://schemas.microsoft.com/office/drawing/2014/main" id="{8808B2C6-19D6-428E-B65D-8F1191984205}"/>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0.0436 nm. All models: 0% observed bound violations.</a:t>
            </a:r>
          </a:p>
        </p:txBody>
      </p:sp>
      <p:sp>
        <p:nvSpPr>
          <p:cNvPr id="17" name="content-6">
            <a:extLst xmlns:a="http://schemas.openxmlformats.org/drawingml/2006/main">
              <a:ext uri="{FF2B5EF4-FFF2-40B4-BE49-F238E27FC236}">
                <a16:creationId xmlns:a16="http://schemas.microsoft.com/office/drawing/2014/main" id="{99EE086A-6ED1-4556-B75C-41E4BD5C4846}"/>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Synthetic PINN R² reaches 0.905. Random forest still gives the lowest error</a:t>
            </a:r>
          </a:p>
        </p:txBody>
      </p:sp>
    </p:spTree>
    <p:extLst>
      <p:ext uri="{BB962C8B-B14F-4D97-AF65-F5344CB8AC3E}">
        <p14:creationId xmlns:p14="http://schemas.microsoft.com/office/powerpoint/2010/main" val="138280187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17</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Synthetic holdout parity: PINN and random forest</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5FF906A5-E0FC-485B-8E46-92E3720B01DA}"/>
              </a:ext>
            </a:extLst>
          </p:cNvPr>
          <p:cNvGraphicFramePr/>
          <p:nvPr/>
        </p:nvGraphicFramePr>
        <p:xfrm>
          <a:off xmlns:a="http://schemas.openxmlformats.org/drawingml/2006/main" x="4381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6a0633eaf1774564"/>
          </a:graphicData>
        </a:graphic>
      </p:graphicFrame>
      <p:graphicFrame>
        <p:nvGraphicFramePr>
          <p:cNvPr id="14" name="Chart">
            <a:extLst xmlns:a="http://schemas.openxmlformats.org/drawingml/2006/main">
              <a:ext uri="{FF2B5EF4-FFF2-40B4-BE49-F238E27FC236}">
                <a16:creationId xmlns:a16="http://schemas.microsoft.com/office/drawing/2014/main" id="{78EC483E-F166-40CF-8D97-B11D155D26B9}"/>
              </a:ext>
            </a:extLst>
          </p:cNvPr>
          <p:cNvGraphicFramePr/>
          <p:nvPr/>
        </p:nvGraphicFramePr>
        <p:xfrm>
          <a:off xmlns:a="http://schemas.openxmlformats.org/drawingml/2006/main" x="47053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84236ab761b64fa3"/>
          </a:graphicData>
        </a:graphic>
      </p:graphicFrame>
      <p:pic>
        <p:nvPicPr>
          <p:cNvPr id="15" name="">
            <a:extLst xmlns:a="http://schemas.openxmlformats.org/drawingml/2006/main">
              <a:ext uri="{FF2B5EF4-FFF2-40B4-BE49-F238E27FC236}">
                <a16:creationId xmlns:a16="http://schemas.microsoft.com/office/drawing/2014/main" id="{61EA63CB-F57E-410E-B39F-3189F38CE892}"/>
              </a:ext>
            </a:extLst>
          </p:cNvPr>
          <p:cNvPicPr>
            <a:picLocks xmlns:a="http://schemas.openxmlformats.org/drawingml/2006/main" noChangeAspect="1"/>
          </p:cNvPicPr>
          <p:nvPr/>
        </p:nvPicPr>
        <p:blipFill>
          <a:blip xmlns:r="http://schemas.openxmlformats.org/officeDocument/2006/relationships" xmlns:a="http://schemas.openxmlformats.org/drawingml/2006/main" r:embed="Rd26832fca0df4bc7"/>
          <a:stretch xmlns:a="http://schemas.openxmlformats.org/drawingml/2006/main"/>
        </p:blipFill>
        <p:spPr>
          <a:xfrm xmlns:a="http://schemas.openxmlformats.org/drawingml/2006/main">
            <a:off x="733425" y="5274044"/>
            <a:ext cx="3476625" cy="310413"/>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515C7370-E1F3-4E5F-97BC-8105D7C142E7}"/>
              </a:ext>
            </a:extLst>
          </p:cNvPr>
          <p:cNvPicPr>
            <a:picLocks xmlns:a="http://schemas.openxmlformats.org/drawingml/2006/main" noChangeAspect="1"/>
          </p:cNvPicPr>
          <p:nvPr/>
        </p:nvPicPr>
        <p:blipFill>
          <a:blip xmlns:r="http://schemas.openxmlformats.org/officeDocument/2006/relationships" xmlns:a="http://schemas.openxmlformats.org/drawingml/2006/main" r:embed="R0c21a2744f5c4d8a"/>
          <a:stretch xmlns:a="http://schemas.openxmlformats.org/drawingml/2006/main"/>
        </p:blipFill>
        <p:spPr>
          <a:xfrm xmlns:a="http://schemas.openxmlformats.org/drawingml/2006/main">
            <a:off x="5000625" y="5262105"/>
            <a:ext cx="3476625" cy="334291"/>
          </a:xfrm>
          <a:prstGeom xmlns:a="http://schemas.openxmlformats.org/drawingml/2006/main" prst="rect">
            <a:avLst/>
          </a:prstGeom>
        </p:spPr>
      </p:pic>
      <p:sp>
        <p:nvSpPr>
          <p:cNvPr id="17" name="content-4">
            <a:extLst xmlns:a="http://schemas.openxmlformats.org/drawingml/2006/main">
              <a:ext uri="{FF2B5EF4-FFF2-40B4-BE49-F238E27FC236}">
                <a16:creationId xmlns:a16="http://schemas.microsoft.com/office/drawing/2014/main" id="{7230708F-3E9C-43C1-9BBB-154F3B321988}"/>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Both plots use all 442 identical test rows and matching axes</a:t>
            </a:r>
          </a:p>
        </p:txBody>
      </p:sp>
    </p:spTree>
    <p:extLst>
      <p:ext uri="{BB962C8B-B14F-4D97-AF65-F5344CB8AC3E}">
        <p14:creationId xmlns:p14="http://schemas.microsoft.com/office/powerpoint/2010/main" val="138280187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Concentration-monotonicity ablation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0A661C00-B177-4816-B196-B8CFD1E7962F}"/>
              </a:ext>
            </a:extLst>
          </p:cNvPr>
          <p:cNvGraphicFramePr/>
          <p:nvPr/>
        </p:nvGraphicFramePr>
        <p:xfrm>
          <a:off xmlns:a="http://schemas.openxmlformats.org/drawingml/2006/main" x="571500" y="1762125"/>
          <a:ext xmlns:a="http://schemas.openxmlformats.org/drawingml/2006/main" cx="8001000" cy="1485900"/>
        </p:xfrm>
        <a:graphic xmlns:a="http://schemas.openxmlformats.org/drawingml/2006/main">
          <a:graphicData uri="http://schemas.openxmlformats.org/drawingml/2006/table">
            <a:tbl>
              <a:tblPr/>
              <a:tblGrid>
                <a:gridCol w="2962275"/>
                <a:gridCol w="1362075"/>
                <a:gridCol w="1362075"/>
                <a:gridCol w="2314575"/>
              </a:tblGrid>
              <a:tr h="495300">
                <a:tc>
                  <a:txBody>
                    <a:bodyPr>
                      <a:noAutofit/>
                    </a:bodyPr>
                    <a:lstStyle/>
                    <a:p>
                      <a:pPr algn="l"/>
                      <a:r>
                        <a:rPr sz="1350" b="1">
                          <a:solidFill>
                            <a:srgbClr val="FFFFFF"/>
                          </a:solidFill>
                          <a:latin typeface="Arial"/>
                          <a:ea typeface="Arial"/>
                          <a:cs typeface="Arial"/>
                        </a:rPr>
                        <a:t>PINN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R²</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Negative local</a:t>
                      </a:r>
                    </a:p>
                    <a:p>
                      <a:pPr algn="ctr"/>
                      <a:r>
                        <a:rPr sz="1350" b="1">
                          <a:solidFill>
                            <a:srgbClr val="FFFFFF"/>
                          </a:solidFill>
                          <a:latin typeface="Arial"/>
                          <a:ea typeface="Arial"/>
                          <a:cs typeface="Arial"/>
                        </a:rPr>
                        <a:t>concentration slope</a:t>
                      </a:r>
                    </a:p>
                  </a:txBody>
                  <a:tcPr marL="85725" marR="85725" marT="76200" marB="76200" anchor="ctr">
                    <a:solidFill>
                      <a:srgbClr val="002B5E"/>
                    </a:solidFill>
                  </a:tcPr>
                </a:tc>
              </a:tr>
              <a:tr h="495300">
                <a:tc>
                  <a:txBody>
                    <a:bodyPr>
                      <a:noAutofit/>
                    </a:bodyPr>
                    <a:lstStyle/>
                    <a:p>
                      <a:pPr algn="l"/>
                      <a:r>
                        <a:rPr sz="1350" b="1">
                          <a:solidFill>
                            <a:srgbClr val="263645"/>
                          </a:solidFill>
                          <a:latin typeface="Arial"/>
                          <a:ea typeface="Arial"/>
                          <a:cs typeface="Arial"/>
                        </a:rPr>
                        <a:t>Default curvature prior</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0.055718</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0.905199</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43.44%</a:t>
                      </a:r>
                    </a:p>
                  </a:txBody>
                  <a:tcPr marL="85725" marR="85725" marT="76200" marB="76200" anchor="ctr">
                    <a:solidFill>
                      <a:srgbClr val="FFFFFF"/>
                    </a:solidFill>
                  </a:tcPr>
                </a:tc>
              </a:tr>
              <a:tr h="495300">
                <a:tc>
                  <a:txBody>
                    <a:bodyPr>
                      <a:noAutofit/>
                    </a:bodyPr>
                    <a:lstStyle/>
                    <a:p>
                      <a:pPr algn="l"/>
                      <a:r>
                        <a:rPr sz="1350" b="1">
                          <a:solidFill>
                            <a:srgbClr val="263645"/>
                          </a:solidFill>
                          <a:latin typeface="Arial"/>
                          <a:ea typeface="Arial"/>
                          <a:cs typeface="Arial"/>
                        </a:rPr>
                        <a:t>Positive concentration penalty</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0.056009</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0.904208</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40.99%</a:t>
                      </a:r>
                    </a:p>
                  </a:txBody>
                  <a:tcPr marL="85725" marR="85725" marT="76200" marB="76200" anchor="ctr">
                    <a:solidFill>
                      <a:srgbClr val="F7F5EF"/>
                    </a:solidFill>
                  </a:tcPr>
                </a:tc>
              </a:tr>
            </a:tbl>
          </a:graphicData>
        </a:graphic>
      </p:graphicFrame>
      <p:graphicFrame>
        <p:nvGraphicFramePr>
          <p:cNvPr id="14" name="Chart">
            <a:extLst xmlns:a="http://schemas.openxmlformats.org/drawingml/2006/main">
              <a:ext uri="{FF2B5EF4-FFF2-40B4-BE49-F238E27FC236}">
                <a16:creationId xmlns:a16="http://schemas.microsoft.com/office/drawing/2014/main" id="{55265CA2-EE32-4900-8713-82F7CDF005FC}"/>
              </a:ext>
            </a:extLst>
          </p:cNvPr>
          <p:cNvGraphicFramePr/>
          <p:nvPr/>
        </p:nvGraphicFramePr>
        <p:xfrm>
          <a:off xmlns:a="http://schemas.openxmlformats.org/drawingml/2006/main" x="771525" y="3524250"/>
          <a:ext xmlns:a="http://schemas.openxmlformats.org/drawingml/2006/main" cx="7543800" cy="1924050"/>
        </p:xfrm>
        <a:graphic xmlns:a="http://schemas.openxmlformats.org/drawingml/2006/main">
          <a:graphicData uri="http://schemas.openxmlformats.org/drawingml/2006/chart">
            <c:chart xmlns:r="http://schemas.openxmlformats.org/officeDocument/2006/relationships" xmlns:c="http://schemas.openxmlformats.org/drawingml/2006/chart" r:id="R574d2a569bf94a0c"/>
          </a:graphicData>
        </a:graphic>
      </p:graphicFrame>
      <p:sp>
        <p:nvSpPr>
          <p:cNvPr id="15" name="content-4">
            <a:extLst xmlns:a="http://schemas.openxmlformats.org/drawingml/2006/main">
              <a:ext uri="{FF2B5EF4-FFF2-40B4-BE49-F238E27FC236}">
                <a16:creationId xmlns:a16="http://schemas.microsoft.com/office/drawing/2014/main" id="{2D439530-187B-46FB-9A09-18CD522B69E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penalty reduces some negative slopes but slightly worsens held-out error</a:t>
            </a:r>
          </a:p>
        </p:txBody>
      </p:sp>
    </p:spTree>
    <p:extLst>
      <p:ext uri="{BB962C8B-B14F-4D97-AF65-F5344CB8AC3E}">
        <p14:creationId xmlns:p14="http://schemas.microsoft.com/office/powerpoint/2010/main" val="138280187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histories and selected checkpoints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2AF45BD6-E83F-4D90-9C93-163B0404B536}"/>
              </a:ext>
            </a:extLst>
          </p:cNvPr>
          <p:cNvGraphicFramePr/>
          <p:nvPr/>
        </p:nvGraphicFramePr>
        <p:xfrm>
          <a:off xmlns:a="http://schemas.openxmlformats.org/drawingml/2006/main" x="457200"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db2b54e7b03a4c6b"/>
          </a:graphicData>
        </a:graphic>
      </p:graphicFrame>
      <p:graphicFrame>
        <p:nvGraphicFramePr>
          <p:cNvPr id="14" name="Chart">
            <a:extLst xmlns:a="http://schemas.openxmlformats.org/drawingml/2006/main">
              <a:ext uri="{FF2B5EF4-FFF2-40B4-BE49-F238E27FC236}">
                <a16:creationId xmlns:a16="http://schemas.microsoft.com/office/drawing/2014/main" id="{ACED3CD3-0F0E-4B58-B8F6-5D202D9FC9B7}"/>
              </a:ext>
            </a:extLst>
          </p:cNvPr>
          <p:cNvGraphicFramePr/>
          <p:nvPr/>
        </p:nvGraphicFramePr>
        <p:xfrm>
          <a:off xmlns:a="http://schemas.openxmlformats.org/drawingml/2006/main" x="4733925"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3d6d3ae266664653"/>
          </a:graphicData>
        </a:graphic>
      </p:graphicFrame>
      <p:sp>
        <p:nvSpPr>
          <p:cNvPr id="15" name="content-4">
            <a:extLst xmlns:a="http://schemas.openxmlformats.org/drawingml/2006/main">
              <a:ext uri="{FF2B5EF4-FFF2-40B4-BE49-F238E27FC236}">
                <a16:creationId xmlns:a16="http://schemas.microsoft.com/office/drawing/2014/main" id="{643DEB77-CA8F-4B95-A54D-ED43454A7B14}"/>
              </a:ext>
            </a:extLst>
          </p:cNvPr>
          <p:cNvSpPr>
            <a:spLocks xmlns:a="http://schemas.openxmlformats.org/drawingml/2006/main" noGrp="1"/>
          </p:cNvSpPr>
          <p:nvPr/>
        </p:nvSpPr>
        <p:spPr>
          <a:xfrm xmlns:a="http://schemas.openxmlformats.org/drawingml/2006/main">
            <a:off x="790575"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76</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stopped at epoch 226</a:t>
            </a:r>
          </a:p>
        </p:txBody>
      </p:sp>
      <p:sp>
        <p:nvSpPr>
          <p:cNvPr id="16" name="content-5">
            <a:extLst xmlns:a="http://schemas.openxmlformats.org/drawingml/2006/main">
              <a:ext uri="{FF2B5EF4-FFF2-40B4-BE49-F238E27FC236}">
                <a16:creationId xmlns:a16="http://schemas.microsoft.com/office/drawing/2014/main" id="{B91280D2-23A1-4B9C-BB7C-885E7D850218}"/>
              </a:ext>
            </a:extLst>
          </p:cNvPr>
          <p:cNvSpPr>
            <a:spLocks xmlns:a="http://schemas.openxmlformats.org/drawingml/2006/main" noGrp="1"/>
          </p:cNvSpPr>
          <p:nvPr/>
        </p:nvSpPr>
        <p:spPr>
          <a:xfrm xmlns:a="http://schemas.openxmlformats.org/drawingml/2006/main">
            <a:off x="5067300"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1,500</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reached the configured limit</a:t>
            </a:r>
          </a:p>
        </p:txBody>
      </p:sp>
      <p:sp>
        <p:nvSpPr>
          <p:cNvPr id="17" name="content-6">
            <a:extLst xmlns:a="http://schemas.openxmlformats.org/drawingml/2006/main">
              <a:ext uri="{FF2B5EF4-FFF2-40B4-BE49-F238E27FC236}">
                <a16:creationId xmlns:a16="http://schemas.microsoft.com/office/drawing/2014/main" id="{82A0DC53-3906-4D9B-A94B-966AB12A1E93}"/>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A validation-based optimization-budget study remains a next step</a:t>
            </a:r>
          </a:p>
        </p:txBody>
      </p:sp>
    </p:spTree>
    <p:extLst>
      <p:ext uri="{BB962C8B-B14F-4D97-AF65-F5344CB8AC3E}">
        <p14:creationId xmlns:p14="http://schemas.microsoft.com/office/powerpoint/2010/main" val="138280187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Architecture choices from the literature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BE72F68E-18AF-42A4-A816-C33FF641AA4E}"/>
              </a:ext>
            </a:extLst>
          </p:cNvPr>
          <p:cNvGraphicFramePr/>
          <p:nvPr/>
        </p:nvGraphicFramePr>
        <p:xfrm>
          <a:off xmlns:a="http://schemas.openxmlformats.org/drawingml/2006/main" x="571500" y="1752600"/>
          <a:ext xmlns:a="http://schemas.openxmlformats.org/drawingml/2006/main" cx="8001000" cy="3543300"/>
        </p:xfrm>
        <a:graphic xmlns:a="http://schemas.openxmlformats.org/drawingml/2006/main">
          <a:graphicData uri="http://schemas.openxmlformats.org/drawingml/2006/table">
            <a:tbl>
              <a:tblPr/>
              <a:tblGrid>
                <a:gridCol w="2209800"/>
                <a:gridCol w="2219325"/>
                <a:gridCol w="3571875"/>
              </a:tblGrid>
              <a:tr h="590550">
                <a:tc>
                  <a:txBody>
                    <a:bodyPr>
                      <a:noAutofit/>
                    </a:bodyPr>
                    <a:lstStyle/>
                    <a:p>
                      <a:pPr algn="l"/>
                      <a:r>
                        <a:rPr sz="1275" b="1">
                          <a:solidFill>
                            <a:srgbClr val="FFFFFF"/>
                          </a:solidFill>
                          <a:latin typeface="Arial"/>
                          <a:ea typeface="Arial"/>
                          <a:cs typeface="Arial"/>
                        </a:rPr>
                        <a:t>Architecture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Relevant work</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Decision for this project</a:t>
                      </a:r>
                    </a:p>
                  </a:txBody>
                  <a:tcPr marL="85725" marR="85725" marT="76200" marB="76200" anchor="ctr">
                    <a:solidFill>
                      <a:srgbClr val="002B5E"/>
                    </a:solidFill>
                  </a:tcPr>
                </a:tc>
              </a:tr>
              <a:tr h="590550">
                <a:tc>
                  <a:txBody>
                    <a:bodyPr>
                      <a:noAutofit/>
                    </a:bodyPr>
                    <a:lstStyle/>
                    <a:p>
                      <a:pPr algn="l"/>
                      <a:r>
                        <a:rPr sz="1275" b="1">
                          <a:solidFill>
                            <a:srgbClr val="263645"/>
                          </a:solidFill>
                          <a:latin typeface="Arial"/>
                          <a:ea typeface="Arial"/>
                          <a:cs typeface="Arial"/>
                        </a:rPr>
                        <a:t>Compact tanh MLP</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Raissi et al., 2019</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Initial backbone for differentiable</a:t>
                      </a:r>
                    </a:p>
                    <a:p>
                      <a:pPr algn="ctr"/>
                      <a:r>
                        <a:rPr sz="1275" b="0">
                          <a:solidFill>
                            <a:srgbClr val="263645"/>
                          </a:solidFill>
                          <a:latin typeface="Arial"/>
                          <a:ea typeface="Arial"/>
                          <a:cs typeface="Arial"/>
                        </a:rPr>
                        <a:t>small-data constrained regression</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Modified or gated MLP</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Gradient pathologies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Next candidate if diagnostics show</a:t>
                      </a:r>
                    </a:p>
                    <a:p>
                      <a:pPr algn="ctr"/>
                      <a:r>
                        <a:rPr sz="1275" b="0">
                          <a:solidFill>
                            <a:srgbClr val="263645"/>
                          </a:solidFill>
                          <a:latin typeface="Arial"/>
                          <a:ea typeface="Arial"/>
                          <a:cs typeface="Arial"/>
                        </a:rPr>
                        <a:t>conflicting loss gradients</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Fourier-feature 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Eigenvector bias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only with evidence of multiscale</a:t>
                      </a:r>
                    </a:p>
                    <a:p>
                      <a:pPr algn="ctr"/>
                      <a:r>
                        <a:rPr sz="1275" b="0">
                          <a:solidFill>
                            <a:srgbClr val="263645"/>
                          </a:solidFill>
                          <a:latin typeface="Arial"/>
                          <a:ea typeface="Arial"/>
                          <a:cs typeface="Arial"/>
                        </a:rPr>
                        <a:t>response rather than measurement noise</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Bayesian PINN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Yang et al., 2021</a:t>
                      </a:r>
                    </a:p>
                    <a:p>
                      <a:pPr algn="ctr"/>
                      <a:r>
                        <a:rPr sz="1275" b="0">
                          <a:solidFill>
                            <a:srgbClr val="263645"/>
                          </a:solidFill>
                          <a:latin typeface="Arial"/>
                          <a:ea typeface="Arial"/>
                          <a:cs typeface="Arial"/>
                        </a:rPr>
                        <a:t>B-PINNs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Consider after auditing replicate noise</a:t>
                      </a:r>
                    </a:p>
                    <a:p>
                      <a:pPr algn="ctr"/>
                      <a:r>
                        <a:rPr sz="1275" b="0">
                          <a:solidFill>
                            <a:srgbClr val="263645"/>
                          </a:solidFill>
                          <a:latin typeface="Arial"/>
                          <a:ea typeface="Arial"/>
                          <a:cs typeface="Arial"/>
                        </a:rPr>
                        <a:t>and checking uncertainty calibration</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DeepONet / FNO</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Lu et al., 2021</a:t>
                      </a:r>
                    </a:p>
                    <a:p>
                      <a:pPr algn="ctr"/>
                      <a:r>
                        <a:rPr sz="1275" b="0">
                          <a:solidFill>
                            <a:srgbClr val="263645"/>
                          </a:solidFill>
                          <a:latin typeface="Arial"/>
                          <a:ea typeface="Arial"/>
                          <a:cs typeface="Arial"/>
                        </a:rPr>
                        <a:t>Li et al., ICLR 2021</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Defer until trajectories, profiles,</a:t>
                      </a:r>
                    </a:p>
                    <a:p>
                      <a:pPr algn="ctr"/>
                      <a:r>
                        <a:rPr sz="1275" b="0">
                          <a:solidFill>
                            <a:srgbClr val="263645"/>
                          </a:solidFill>
                          <a:latin typeface="Arial"/>
                          <a:ea typeface="Arial"/>
                          <a:cs typeface="Arial"/>
                        </a:rPr>
                        <a:t>or families of field solutions exist</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CD8169D9-CF1F-49CE-B8CC-F2F6CBC5A162}"/>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current scalar table supports a compact network before operator-learning models</a:t>
            </a:r>
          </a:p>
        </p:txBody>
      </p:sp>
    </p:spTree>
    <p:extLst>
      <p:ext uri="{BB962C8B-B14F-4D97-AF65-F5344CB8AC3E}">
        <p14:creationId xmlns:p14="http://schemas.microsoft.com/office/powerpoint/2010/main" val="138280187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Recorded experiments and reproducibility</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30AC3A25-ADAB-47DB-B735-C5EB95ADAA18}"/>
              </a:ext>
            </a:extLst>
          </p:cNvPr>
          <p:cNvGraphicFramePr/>
          <p:nvPr/>
        </p:nvGraphicFramePr>
        <p:xfrm>
          <a:off xmlns:a="http://schemas.openxmlformats.org/drawingml/2006/main" x="571500" y="1771650"/>
          <a:ext xmlns:a="http://schemas.openxmlformats.org/drawingml/2006/main" cx="8001000" cy="2847975"/>
        </p:xfrm>
        <a:graphic xmlns:a="http://schemas.openxmlformats.org/drawingml/2006/main">
          <a:graphicData uri="http://schemas.openxmlformats.org/drawingml/2006/table">
            <a:tbl>
              <a:tblPr/>
              <a:tblGrid>
                <a:gridCol w="3257550"/>
                <a:gridCol w="952500"/>
                <a:gridCol w="2257425"/>
                <a:gridCol w="1533525"/>
              </a:tblGrid>
              <a:tr h="474663">
                <a:tc>
                  <a:txBody>
                    <a:bodyPr>
                      <a:noAutofit/>
                    </a:bodyPr>
                    <a:lstStyle/>
                    <a:p>
                      <a:pPr algn="l"/>
                      <a:r>
                        <a:rPr sz="1275"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Version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Start, Oct 11 (EDT)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PINN RMSE</a:t>
                      </a:r>
                    </a:p>
                  </a:txBody>
                  <a:tcPr marL="85725" marR="85725" marT="76200" marB="76200" anchor="ctr">
                    <a:solidFill>
                      <a:srgbClr val="002B5E"/>
                    </a:solidFill>
                  </a:tcPr>
                </a:tc>
              </a:tr>
              <a:tr h="474663">
                <a:tc>
                  <a:txBody>
                    <a:bodyPr>
                      <a:noAutofit/>
                    </a:bodyPr>
                    <a:lstStyle/>
                    <a:p>
                      <a:pPr algn="l"/>
                      <a:r>
                        <a:rPr sz="1275" b="1">
                          <a:solidFill>
                            <a:srgbClr val="263645"/>
                          </a:solidFill>
                          <a:latin typeface="Arial"/>
                          <a:ea typeface="Arial"/>
                          <a:cs typeface="Arial"/>
                        </a:rPr>
                        <a:t>Measured grouped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extrapolation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0.616773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grouped benchmark</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11:42:34</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0.055718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grouped rerun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11:44:41</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11:45:28</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0.056009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A69392D3-D813-4B15-B7E0-C63A72D098B2}"/>
              </a:ext>
            </a:extLst>
          </p:cNvPr>
          <p:cNvSpPr>
            <a:spLocks xmlns:a="http://schemas.openxmlformats.org/drawingml/2006/main" noGrp="1"/>
          </p:cNvSpPr>
          <p:nvPr/>
        </p:nvSpPr>
        <p:spPr>
          <a:xfrm xmlns:a="http://schemas.openxmlformats.org/drawingml/2006/main">
            <a:off x="733425" y="4962525"/>
            <a:ext cx="7677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Each new run stores execution times, per-model settings and results, exact source/configuration, data and artifact hashes, split IDs, and saved checkpoints.</a:t>
            </a:r>
          </a:p>
        </p:txBody>
      </p:sp>
      <p:sp>
        <p:nvSpPr>
          <p:cNvPr id="15" name="content-5">
            <a:extLst xmlns:a="http://schemas.openxmlformats.org/drawingml/2006/main">
              <a:ext uri="{FF2B5EF4-FFF2-40B4-BE49-F238E27FC236}">
                <a16:creationId xmlns:a16="http://schemas.microsoft.com/office/drawing/2014/main" id="{48D4B9B6-21C8-40EC-8BDB-310245F4868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Ten integrity tests passed. All 111 archived artifacts match their published Git bytes</a:t>
            </a:r>
          </a:p>
        </p:txBody>
      </p:sp>
    </p:spTree>
    <p:extLst>
      <p:ext uri="{BB962C8B-B14F-4D97-AF65-F5344CB8AC3E}">
        <p14:creationId xmlns:p14="http://schemas.microsoft.com/office/powerpoint/2010/main" val="138280187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What initial testing establishes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53E2AA6C-63C2-4FB8-B88A-A7792C358704}"/>
              </a:ext>
            </a:extLst>
          </p:cNvPr>
          <p:cNvSpPr>
            <a:spLocks xmlns:a="http://schemas.openxmlformats.org/drawingml/2006/main" noGrp="1"/>
          </p:cNvSpPr>
          <p:nvPr/>
        </p:nvSpPr>
        <p:spPr>
          <a:xfrm xmlns:a="http://schemas.openxmlformats.org/drawingml/2006/main">
            <a:off x="723900" y="17145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SUPPORTED FINDINGS</a:t>
            </a:r>
          </a:p>
        </p:txBody>
      </p:sp>
      <p:sp>
        <p:nvSpPr>
          <p:cNvPr id="14" name="content-5">
            <a:extLst xmlns:a="http://schemas.openxmlformats.org/drawingml/2006/main">
              <a:ext uri="{FF2B5EF4-FFF2-40B4-BE49-F238E27FC236}">
                <a16:creationId xmlns:a16="http://schemas.microsoft.com/office/drawing/2014/main" id="{EF8AA088-867A-4447-A9D9-670B01DC812E}"/>
              </a:ext>
            </a:extLst>
          </p:cNvPr>
          <p:cNvSpPr>
            <a:spLocks xmlns:a="http://schemas.openxmlformats.org/drawingml/2006/main" noGrp="1"/>
          </p:cNvSpPr>
          <p:nvPr/>
        </p:nvSpPr>
        <p:spPr>
          <a:xfrm xmlns:a="http://schemas.openxmlformats.org/drawingml/2006/main">
            <a:off x="723900" y="2114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bounded architecture guarantees physically valid thickness predictions for valid totals.</a:t>
            </a:r>
          </a:p>
        </p:txBody>
      </p:sp>
      <p:sp>
        <p:nvSpPr>
          <p:cNvPr id="15" name="content-6">
            <a:extLst xmlns:a="http://schemas.openxmlformats.org/drawingml/2006/main">
              <a:ext uri="{FF2B5EF4-FFF2-40B4-BE49-F238E27FC236}">
                <a16:creationId xmlns:a16="http://schemas.microsoft.com/office/drawing/2014/main" id="{586923D5-DDD6-4AC0-B2DE-264420F719F9}"/>
              </a:ext>
            </a:extLst>
          </p:cNvPr>
          <p:cNvSpPr>
            <a:spLocks xmlns:a="http://schemas.openxmlformats.org/drawingml/2006/main" noGrp="1"/>
          </p:cNvSpPr>
          <p:nvPr/>
        </p:nvSpPr>
        <p:spPr>
          <a:xfrm xmlns:a="http://schemas.openxmlformats.org/drawingml/2006/main">
            <a:off x="723900" y="2962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measured PINN trails tree models on the initial concentration-group holdout.</a:t>
            </a:r>
          </a:p>
        </p:txBody>
      </p:sp>
      <p:sp>
        <p:nvSpPr>
          <p:cNvPr id="16" name="content-7">
            <a:extLst xmlns:a="http://schemas.openxmlformats.org/drawingml/2006/main">
              <a:ext uri="{FF2B5EF4-FFF2-40B4-BE49-F238E27FC236}">
                <a16:creationId xmlns:a16="http://schemas.microsoft.com/office/drawing/2014/main" id="{59EC23CB-1B30-45A7-B199-9390FBD5FB78}"/>
              </a:ext>
            </a:extLst>
          </p:cNvPr>
          <p:cNvSpPr>
            <a:spLocks xmlns:a="http://schemas.openxmlformats.org/drawingml/2006/main" noGrp="1"/>
          </p:cNvSpPr>
          <p:nvPr/>
        </p:nvSpPr>
        <p:spPr>
          <a:xfrm xmlns:a="http://schemas.openxmlformats.org/drawingml/2006/main">
            <a:off x="723900" y="381000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synthetic PINN fits the represented distribution, while random forest remains stronger.</a:t>
            </a:r>
          </a:p>
        </p:txBody>
      </p:sp>
      <p:sp>
        <p:nvSpPr>
          <p:cNvPr id="17" name="content-8">
            <a:extLst xmlns:a="http://schemas.openxmlformats.org/drawingml/2006/main">
              <a:ext uri="{FF2B5EF4-FFF2-40B4-BE49-F238E27FC236}">
                <a16:creationId xmlns:a16="http://schemas.microsoft.com/office/drawing/2014/main" id="{EEC27D25-43FF-4067-B0A4-071AC15221C8}"/>
              </a:ext>
            </a:extLst>
          </p:cNvPr>
          <p:cNvSpPr>
            <a:spLocks xmlns:a="http://schemas.openxmlformats.org/drawingml/2006/main" noGrp="1"/>
          </p:cNvSpPr>
          <p:nvPr/>
        </p:nvSpPr>
        <p:spPr>
          <a:xfrm xmlns:a="http://schemas.openxmlformats.org/drawingml/2006/main">
            <a:off x="5048250" y="17145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LIMITS ON INTERPRETATION</a:t>
            </a:r>
          </a:p>
        </p:txBody>
      </p:sp>
      <p:sp>
        <p:nvSpPr>
          <p:cNvPr id="18" name="content-9">
            <a:extLst xmlns:a="http://schemas.openxmlformats.org/drawingml/2006/main">
              <a:ext uri="{FF2B5EF4-FFF2-40B4-BE49-F238E27FC236}">
                <a16:creationId xmlns:a16="http://schemas.microsoft.com/office/drawing/2014/main" id="{9A348D95-0600-4263-BCBF-E36BE56F50DE}"/>
              </a:ext>
            </a:extLst>
          </p:cNvPr>
          <p:cNvSpPr>
            <a:spLocks xmlns:a="http://schemas.openxmlformats.org/drawingml/2006/main" noGrp="1"/>
          </p:cNvSpPr>
          <p:nvPr/>
        </p:nvSpPr>
        <p:spPr>
          <a:xfrm xmlns:a="http://schemas.openxmlformats.org/drawingml/2006/main">
            <a:off x="5048250" y="211455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Total thickness is a measured input. Recipe-only prediction needs a separate model design.</a:t>
            </a:r>
          </a:p>
        </p:txBody>
      </p:sp>
      <p:sp>
        <p:nvSpPr>
          <p:cNvPr id="19" name="content-10">
            <a:extLst xmlns:a="http://schemas.openxmlformats.org/drawingml/2006/main">
              <a:ext uri="{FF2B5EF4-FFF2-40B4-BE49-F238E27FC236}">
                <a16:creationId xmlns:a16="http://schemas.microsoft.com/office/drawing/2014/main" id="{040D65AF-C810-4B7F-9A34-A1CD92A13FE0}"/>
              </a:ext>
            </a:extLst>
          </p:cNvPr>
          <p:cNvSpPr>
            <a:spLocks xmlns:a="http://schemas.openxmlformats.org/drawingml/2006/main" noGrp="1"/>
          </p:cNvSpPr>
          <p:nvPr/>
        </p:nvSpPr>
        <p:spPr>
          <a:xfrm xmlns:a="http://schemas.openxmlformats.org/drawingml/2006/main">
            <a:off x="5048250" y="2962275"/>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provenance and independent experimental batches remain unresolved.</a:t>
            </a:r>
          </a:p>
        </p:txBody>
      </p:sp>
      <p:sp>
        <p:nvSpPr>
          <p:cNvPr id="20" name="content-11">
            <a:extLst xmlns:a="http://schemas.openxmlformats.org/drawingml/2006/main">
              <a:ext uri="{FF2B5EF4-FFF2-40B4-BE49-F238E27FC236}">
                <a16:creationId xmlns:a16="http://schemas.microsoft.com/office/drawing/2014/main" id="{A58A9104-D444-40E1-AE5A-4A80337B0BF2}"/>
              </a:ext>
            </a:extLst>
          </p:cNvPr>
          <p:cNvSpPr>
            <a:spLocks xmlns:a="http://schemas.openxmlformats.org/drawingml/2006/main" noGrp="1"/>
          </p:cNvSpPr>
          <p:nvPr/>
        </p:nvSpPr>
        <p:spPr>
          <a:xfrm xmlns:a="http://schemas.openxmlformats.org/drawingml/2006/main">
            <a:off x="5048250" y="381000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No calibrated uncertainty, governing PDE, or identified adsorption mechanism is established.</a:t>
            </a:r>
          </a:p>
        </p:txBody>
      </p:sp>
      <p:sp>
        <p:nvSpPr>
          <p:cNvPr id="21" name="content-12">
            <a:extLst xmlns:a="http://schemas.openxmlformats.org/drawingml/2006/main">
              <a:ext uri="{FF2B5EF4-FFF2-40B4-BE49-F238E27FC236}">
                <a16:creationId xmlns:a16="http://schemas.microsoft.com/office/drawing/2014/main" id="{9FA5EF67-D9AC-48B5-8619-E10904D146D0}"/>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Physics plausibility and predictive accuracy require separate evidence</a:t>
            </a:r>
          </a:p>
        </p:txBody>
      </p:sp>
    </p:spTree>
    <p:extLst>
      <p:ext uri="{BB962C8B-B14F-4D97-AF65-F5344CB8AC3E}">
        <p14:creationId xmlns:p14="http://schemas.microsoft.com/office/powerpoint/2010/main" val="138280187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Next experiments and decision criteria</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CC1F0E02-5D65-4FB7-8CB5-2EC0A12B8387}"/>
              </a:ext>
            </a:extLst>
          </p:cNvPr>
          <p:cNvGraphicFramePr/>
          <p:nvPr/>
        </p:nvGraphicFramePr>
        <p:xfrm>
          <a:off xmlns:a="http://schemas.openxmlformats.org/drawingml/2006/main" x="571500" y="1733550"/>
          <a:ext xmlns:a="http://schemas.openxmlformats.org/drawingml/2006/main" cx="8001000" cy="3390900"/>
        </p:xfrm>
        <a:graphic xmlns:a="http://schemas.openxmlformats.org/drawingml/2006/main">
          <a:graphicData uri="http://schemas.openxmlformats.org/drawingml/2006/table">
            <a:tbl>
              <a:tblPr/>
              <a:tblGrid>
                <a:gridCol w="1666875"/>
                <a:gridCol w="4105275"/>
                <a:gridCol w="2228850"/>
              </a:tblGrid>
              <a:tr h="565150">
                <a:tc>
                  <a:txBody>
                    <a:bodyPr>
                      <a:noAutofit/>
                    </a:bodyPr>
                    <a:lstStyle/>
                    <a:p>
                      <a:pPr algn="l"/>
                      <a:r>
                        <a:rPr sz="1275" b="1">
                          <a:solidFill>
                            <a:srgbClr val="FFFFFF"/>
                          </a:solidFill>
                          <a:latin typeface="Arial"/>
                          <a:ea typeface="Arial"/>
                          <a:cs typeface="Arial"/>
                        </a:rPr>
                        <a:t>Workstream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Next action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Evidence to proceed</a:t>
                      </a:r>
                    </a:p>
                  </a:txBody>
                  <a:tcPr marL="85725" marR="85725" marT="76200" marB="76200" anchor="ctr">
                    <a:solidFill>
                      <a:srgbClr val="002B5E"/>
                    </a:solidFill>
                  </a:tcPr>
                </a:tc>
              </a:tr>
              <a:tr h="565150">
                <a:tc>
                  <a:txBody>
                    <a:bodyPr>
                      <a:noAutofit/>
                    </a:bodyPr>
                    <a:lstStyle/>
                    <a:p>
                      <a:pPr algn="l"/>
                      <a:r>
                        <a:rPr sz="1275" b="1">
                          <a:solidFill>
                            <a:srgbClr val="263645"/>
                          </a:solidFill>
                          <a:latin typeface="Arial"/>
                          <a:ea typeface="Arial"/>
                          <a:cs typeface="Arial"/>
                        </a:rPr>
                        <a:t>Data preparation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Aggregate the available datasets</a:t>
                      </a:r>
                    </a:p>
                    <a:p>
                      <a:pPr algn="ctr"/>
                      <a:r>
                        <a:rPr sz="1275" b="0">
                          <a:solidFill>
                            <a:srgbClr val="263645"/>
                          </a:solidFill>
                          <a:latin typeface="Arial"/>
                          <a:ea typeface="Arial"/>
                          <a:cs typeface="Arial"/>
                        </a:rPr>
                        <a:t>Align sample IDs, units and feature fields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Prepared tables with</a:t>
                      </a:r>
                    </a:p>
                    <a:p>
                      <a:pPr algn="ctr"/>
                      <a:r>
                        <a:rPr sz="1275" b="0">
                          <a:solidFill>
                            <a:srgbClr val="263645"/>
                          </a:solidFill>
                          <a:latin typeface="Arial"/>
                          <a:ea typeface="Arial"/>
                          <a:cs typeface="Arial"/>
                        </a:rPr>
                        <a:t>traceable sample matches</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Remaining losses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Preprocess available physics values</a:t>
                      </a:r>
                    </a:p>
                    <a:p>
                      <a:pPr algn="ctr"/>
                      <a:r>
                        <a:rPr sz="1275" b="0">
                          <a:solidFill>
                            <a:srgbClr val="263645"/>
                          </a:solidFill>
                          <a:latin typeface="Arial"/>
                          <a:ea typeface="Arial"/>
                          <a:cs typeface="Arial"/>
                        </a:rPr>
                        <a:t>Check regime and dry conversion, then enable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Validated inputs and</a:t>
                      </a:r>
                    </a:p>
                    <a:p>
                      <a:pPr algn="ctr"/>
                      <a:r>
                        <a:rPr sz="1275" b="0">
                          <a:solidFill>
                            <a:srgbClr val="263645"/>
                          </a:solidFill>
                          <a:latin typeface="Arial"/>
                          <a:ea typeface="Arial"/>
                          <a:cs typeface="Arial"/>
                        </a:rPr>
                        <a:t>loss-by-loss ablations</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Validation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Repeat seeds and grouped experimental CV</a:t>
                      </a:r>
                    </a:p>
                    <a:p>
                      <a:pPr algn="ctr"/>
                      <a:r>
                        <a:rPr sz="1275" b="0">
                          <a:solidFill>
                            <a:srgbClr val="263645"/>
                          </a:solidFill>
                          <a:latin typeface="Arial"/>
                          <a:ea typeface="Arial"/>
                          <a:cs typeface="Arial"/>
                        </a:rPr>
                        <a:t>Reserve new independent test experiments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Stable error on an</a:t>
                      </a:r>
                    </a:p>
                    <a:p>
                      <a:pPr algn="ctr"/>
                      <a:r>
                        <a:rPr sz="1275" b="0">
                          <a:solidFill>
                            <a:srgbClr val="263645"/>
                          </a:solidFill>
                          <a:latin typeface="Arial"/>
                          <a:ea typeface="Arial"/>
                          <a:cs typeface="Arial"/>
                        </a:rPr>
                        <a:t>untouched measured test</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Architecture and losses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Test compact adsorption or saturation priors</a:t>
                      </a:r>
                    </a:p>
                    <a:p>
                      <a:pPr algn="ctr"/>
                      <a:r>
                        <a:rPr sz="1275" b="0">
                          <a:solidFill>
                            <a:srgbClr val="263645"/>
                          </a:solidFill>
                          <a:latin typeface="Arial"/>
                          <a:ea typeface="Arial"/>
                          <a:cs typeface="Arial"/>
                        </a:rPr>
                        <a:t>Tune only on training/validation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Gain over bounded NN</a:t>
                      </a:r>
                    </a:p>
                    <a:p>
                      <a:pPr algn="ctr"/>
                      <a:r>
                        <a:rPr sz="1275" b="0">
                          <a:solidFill>
                            <a:srgbClr val="263645"/>
                          </a:solidFill>
                          <a:latin typeface="Arial"/>
                          <a:ea typeface="Arial"/>
                          <a:cs typeface="Arial"/>
                        </a:rPr>
                        <a:t>with a frozen test</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Data efficiency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Augment after splitting measured parents</a:t>
                      </a:r>
                    </a:p>
                    <a:p>
                      <a:pPr algn="ctr"/>
                      <a:r>
                        <a:rPr sz="1275" b="0">
                          <a:solidFill>
                            <a:srgbClr val="263645"/>
                          </a:solidFill>
                          <a:latin typeface="Arial"/>
                          <a:ea typeface="Arial"/>
                          <a:cs typeface="Arial"/>
                        </a:rPr>
                        <a:t>Use fixed measured-test learning curves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Gain on measured tests</a:t>
                      </a:r>
                    </a:p>
                    <a:p>
                      <a:pPr algn="ctr"/>
                      <a:r>
                        <a:rPr sz="1275" b="0">
                          <a:solidFill>
                            <a:srgbClr val="263645"/>
                          </a:solidFill>
                          <a:latin typeface="Arial"/>
                          <a:ea typeface="Arial"/>
                          <a:cs typeface="Arial"/>
                        </a:rPr>
                        <a:t>with known training parents</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02FD0BA1-DB9F-4B3E-B819-D5219B899ED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Immediate priority: aggregate and preprocess the available data for the remaining losses</a:t>
            </a:r>
          </a:p>
        </p:txBody>
      </p:sp>
    </p:spTree>
    <p:extLst>
      <p:ext uri="{BB962C8B-B14F-4D97-AF65-F5344CB8AC3E}">
        <p14:creationId xmlns:p14="http://schemas.microsoft.com/office/powerpoint/2010/main" val="138280187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References and archived evidence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0011BD65-4D29-46F2-82C0-3BC1B1882FDE}"/>
              </a:ext>
            </a:extLst>
          </p:cNvPr>
          <p:cNvSpPr>
            <a:spLocks xmlns:a="http://schemas.openxmlformats.org/drawingml/2006/main" noGrp="1"/>
          </p:cNvSpPr>
          <p:nvPr/>
        </p:nvSpPr>
        <p:spPr>
          <a:xfrm xmlns:a="http://schemas.openxmlformats.org/drawingml/2006/main">
            <a:off x="714375" y="1695450"/>
            <a:ext cx="766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PHYSICS-INFORMED ARCHITECTURES</a:t>
            </a:r>
          </a:p>
        </p:txBody>
      </p:sp>
      <p:sp>
        <p:nvSpPr>
          <p:cNvPr id="14" name="content-5">
            <a:extLst xmlns:a="http://schemas.openxmlformats.org/drawingml/2006/main">
              <a:ext uri="{FF2B5EF4-FFF2-40B4-BE49-F238E27FC236}">
                <a16:creationId xmlns:a16="http://schemas.microsoft.com/office/drawing/2014/main" id="{3671CA67-6C11-4A67-A1CE-17D6F447A860}"/>
              </a:ext>
            </a:extLst>
          </p:cNvPr>
          <p:cNvSpPr>
            <a:spLocks xmlns:a="http://schemas.openxmlformats.org/drawingml/2006/main" noGrp="1"/>
          </p:cNvSpPr>
          <p:nvPr/>
        </p:nvSpPr>
        <p:spPr>
          <a:xfrm xmlns:a="http://schemas.openxmlformats.org/drawingml/2006/main">
            <a:off x="714375" y="20669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51d4308b4de6474c"/>
              </a:rPr>
              <a:t>Raissi, Perdikaris &amp; Karniadakis (2019)</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Physics-informed neural networks, JCP</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10.1016/j.jcp.2018.10.045</a:t>
            </a:r>
          </a:p>
        </p:txBody>
      </p:sp>
      <p:sp>
        <p:nvSpPr>
          <p:cNvPr id="15" name="content-6">
            <a:extLst xmlns:a="http://schemas.openxmlformats.org/drawingml/2006/main">
              <a:ext uri="{FF2B5EF4-FFF2-40B4-BE49-F238E27FC236}">
                <a16:creationId xmlns:a16="http://schemas.microsoft.com/office/drawing/2014/main" id="{C57B28A9-09F8-421C-949F-159258EC10FB}"/>
              </a:ext>
            </a:extLst>
          </p:cNvPr>
          <p:cNvSpPr>
            <a:spLocks xmlns:a="http://schemas.openxmlformats.org/drawingml/2006/main" noGrp="1"/>
          </p:cNvSpPr>
          <p:nvPr/>
        </p:nvSpPr>
        <p:spPr>
          <a:xfrm xmlns:a="http://schemas.openxmlformats.org/drawingml/2006/main">
            <a:off x="714375" y="28479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14d3ac644595494d"/>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Hard constraints for inverse design</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2102.04626</a:t>
            </a:r>
          </a:p>
        </p:txBody>
      </p:sp>
      <p:sp>
        <p:nvSpPr>
          <p:cNvPr id="16" name="content-7">
            <a:extLst xmlns:a="http://schemas.openxmlformats.org/drawingml/2006/main">
              <a:ext uri="{FF2B5EF4-FFF2-40B4-BE49-F238E27FC236}">
                <a16:creationId xmlns:a16="http://schemas.microsoft.com/office/drawing/2014/main" id="{05800DCA-71B1-477C-9366-DE8A5F6B0F75}"/>
              </a:ext>
            </a:extLst>
          </p:cNvPr>
          <p:cNvSpPr>
            <a:spLocks xmlns:a="http://schemas.openxmlformats.org/drawingml/2006/main" noGrp="1"/>
          </p:cNvSpPr>
          <p:nvPr/>
        </p:nvSpPr>
        <p:spPr>
          <a:xfrm xmlns:a="http://schemas.openxmlformats.org/drawingml/2006/main">
            <a:off x="714375" y="36290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81773eb6f9954541"/>
              </a:rPr>
              <a:t>Wang, Teng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Gradient flow pathologies in PINNs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10.1137/20M1318043</a:t>
            </a:r>
          </a:p>
        </p:txBody>
      </p:sp>
      <p:sp>
        <p:nvSpPr>
          <p:cNvPr id="17" name="content-8">
            <a:extLst xmlns:a="http://schemas.openxmlformats.org/drawingml/2006/main">
              <a:ext uri="{FF2B5EF4-FFF2-40B4-BE49-F238E27FC236}">
                <a16:creationId xmlns:a16="http://schemas.microsoft.com/office/drawing/2014/main" id="{9B7D4507-EC87-47BC-BCBF-44326173346B}"/>
              </a:ext>
            </a:extLst>
          </p:cNvPr>
          <p:cNvSpPr>
            <a:spLocks xmlns:a="http://schemas.openxmlformats.org/drawingml/2006/main" noGrp="1"/>
          </p:cNvSpPr>
          <p:nvPr/>
        </p:nvSpPr>
        <p:spPr>
          <a:xfrm xmlns:a="http://schemas.openxmlformats.org/drawingml/2006/main">
            <a:off x="714375" y="44100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a21737e211794df5"/>
              </a:rPr>
              <a:t>Wang, Wang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Fourier-feature eigenvector bias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10.1016/j.cma.2021.113938</a:t>
            </a:r>
          </a:p>
        </p:txBody>
      </p:sp>
      <p:sp>
        <p:nvSpPr>
          <p:cNvPr id="18" name="content-9">
            <a:extLst xmlns:a="http://schemas.openxmlformats.org/drawingml/2006/main">
              <a:ext uri="{FF2B5EF4-FFF2-40B4-BE49-F238E27FC236}">
                <a16:creationId xmlns:a16="http://schemas.microsoft.com/office/drawing/2014/main" id="{D2DA795C-52D9-41DB-B802-8EF709DF3431}"/>
              </a:ext>
            </a:extLst>
          </p:cNvPr>
          <p:cNvSpPr>
            <a:spLocks xmlns:a="http://schemas.openxmlformats.org/drawingml/2006/main" noGrp="1"/>
          </p:cNvSpPr>
          <p:nvPr/>
        </p:nvSpPr>
        <p:spPr>
          <a:xfrm xmlns:a="http://schemas.openxmlformats.org/drawingml/2006/main">
            <a:off x="5010150" y="20669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2073fc25d7834ede"/>
              </a:rPr>
              <a:t>Yang, Meng &amp; Karniadakis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B-PINNs for noisy forward/inverse problems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10.1016/j.jcp.2020.109913</a:t>
            </a:r>
          </a:p>
        </p:txBody>
      </p:sp>
      <p:sp>
        <p:nvSpPr>
          <p:cNvPr id="19" name="content-10">
            <a:extLst xmlns:a="http://schemas.openxmlformats.org/drawingml/2006/main">
              <a:ext uri="{FF2B5EF4-FFF2-40B4-BE49-F238E27FC236}">
                <a16:creationId xmlns:a16="http://schemas.microsoft.com/office/drawing/2014/main" id="{3D6507B2-2C79-40E2-9585-91174AA91588}"/>
              </a:ext>
            </a:extLst>
          </p:cNvPr>
          <p:cNvSpPr>
            <a:spLocks xmlns:a="http://schemas.openxmlformats.org/drawingml/2006/main" noGrp="1"/>
          </p:cNvSpPr>
          <p:nvPr/>
        </p:nvSpPr>
        <p:spPr>
          <a:xfrm xmlns:a="http://schemas.openxmlformats.org/drawingml/2006/main">
            <a:off x="5010150" y="284797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ee54ded954a74bac"/>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DeepONet, Nature Machine Intelligence</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10.1038/s42256-021-00302-5</a:t>
            </a:r>
          </a:p>
        </p:txBody>
      </p:sp>
      <p:sp>
        <p:nvSpPr>
          <p:cNvPr id="20" name="content-11">
            <a:extLst xmlns:a="http://schemas.openxmlformats.org/drawingml/2006/main">
              <a:ext uri="{FF2B5EF4-FFF2-40B4-BE49-F238E27FC236}">
                <a16:creationId xmlns:a16="http://schemas.microsoft.com/office/drawing/2014/main" id="{4C053224-9D95-42F2-84C8-4D8CABA513CB}"/>
              </a:ext>
            </a:extLst>
          </p:cNvPr>
          <p:cNvSpPr>
            <a:spLocks xmlns:a="http://schemas.openxmlformats.org/drawingml/2006/main" noGrp="1"/>
          </p:cNvSpPr>
          <p:nvPr/>
        </p:nvSpPr>
        <p:spPr>
          <a:xfrm xmlns:a="http://schemas.openxmlformats.org/drawingml/2006/main">
            <a:off x="5010150" y="36290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942b70496e8a4d2e"/>
              </a:rPr>
              <a:t>Li et al. (ICLR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 Neural Operator</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2010.08895</a:t>
            </a:r>
          </a:p>
        </p:txBody>
      </p:sp>
      <p:sp>
        <p:nvSpPr>
          <p:cNvPr id="21" name="content-12">
            <a:extLst xmlns:a="http://schemas.openxmlformats.org/drawingml/2006/main">
              <a:ext uri="{FF2B5EF4-FFF2-40B4-BE49-F238E27FC236}">
                <a16:creationId xmlns:a16="http://schemas.microsoft.com/office/drawing/2014/main" id="{7506F28C-D8F1-47B0-9134-DB0B64AB444F}"/>
              </a:ext>
            </a:extLst>
          </p:cNvPr>
          <p:cNvSpPr>
            <a:spLocks xmlns:a="http://schemas.openxmlformats.org/drawingml/2006/main" noGrp="1"/>
          </p:cNvSpPr>
          <p:nvPr/>
        </p:nvSpPr>
        <p:spPr>
          <a:xfrm xmlns:a="http://schemas.openxmlformats.org/drawingml/2006/main">
            <a:off x="5010150" y="4514850"/>
            <a:ext cx="3514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CODE AND RESULTS</a:t>
            </a:r>
          </a:p>
        </p:txBody>
      </p:sp>
      <p:sp>
        <p:nvSpPr>
          <p:cNvPr id="22" name="content-13">
            <a:extLst xmlns:a="http://schemas.openxmlformats.org/drawingml/2006/main">
              <a:ext uri="{FF2B5EF4-FFF2-40B4-BE49-F238E27FC236}">
                <a16:creationId xmlns:a16="http://schemas.microsoft.com/office/drawing/2014/main" id="{88DB637D-C167-4963-8596-3F34EB87DE8C}"/>
              </a:ext>
            </a:extLst>
          </p:cNvPr>
          <p:cNvSpPr>
            <a:spLocks xmlns:a="http://schemas.openxmlformats.org/drawingml/2006/main" noGrp="1"/>
          </p:cNvSpPr>
          <p:nvPr/>
        </p:nvSpPr>
        <p:spPr>
          <a:xfrm xmlns:a="http://schemas.openxmlformats.org/drawingml/2006/main">
            <a:off x="5010150" y="4838700"/>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2B5E"/>
                </a:solidFill>
                <a:latin typeface="Arial"/>
                <a:ea typeface="Arial"/>
                <a:cs typeface="Arial"/>
              </a:defRPr>
            </a:defPPr>
          </a:lstStyle>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GitHub: aadams2006 / Pitt-ML-MSE-Project</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PINN folder and experiment register</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hlinkClick xmlns:r="http://schemas.openxmlformats.org/officeDocument/2006/relationships" r:id="R8807c6f0d3674f89"/>
              </a:rPr>
              <a:t>Draft pull request #6</a:t>
            </a:r>
          </a:p>
        </p:txBody>
      </p:sp>
      <p:sp>
        <p:nvSpPr>
          <p:cNvPr id="23" name="content-14">
            <a:extLst xmlns:a="http://schemas.openxmlformats.org/drawingml/2006/main">
              <a:ext uri="{FF2B5EF4-FFF2-40B4-BE49-F238E27FC236}">
                <a16:creationId xmlns:a16="http://schemas.microsoft.com/office/drawing/2014/main" id="{C692A26D-3D9D-411D-A23F-69DD6AF74BAA}"/>
              </a:ext>
            </a:extLst>
          </p:cNvPr>
          <p:cNvSpPr>
            <a:spLocks xmlns:a="http://schemas.openxmlformats.org/drawingml/2006/main" noGrp="1"/>
          </p:cNvSpPr>
          <p:nvPr/>
        </p:nvSpPr>
        <p:spPr>
          <a:xfrm xmlns:a="http://schemas.openxmlformats.org/drawingml/2006/main">
            <a:off x="714375" y="5895975"/>
            <a:ext cx="7705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5717B"/>
                </a:solidFill>
                <a:latin typeface="Arial"/>
                <a:ea typeface="Arial"/>
                <a:cs typeface="Arial"/>
              </a:defRPr>
            </a:defPPr>
          </a:lstStyle>
          <a:p xmlns:a="http://schemas.openxmlformats.org/drawingml/2006/main">
            <a:pPr algn="ctr">
              <a:defRPr sz="1275" b="0">
                <a:solidFill>
                  <a:srgbClr val="65717B"/>
                </a:solidFill>
                <a:latin typeface="Arial"/>
                <a:ea typeface="Arial"/>
                <a:cs typeface="Arial"/>
              </a:defRPr>
            </a:pPr>
            <a:r>
              <a:rPr sz="1275" b="0">
                <a:solidFill>
                  <a:srgbClr val="65717B"/>
                </a:solidFill>
                <a:latin typeface="Arial"/>
                <a:ea typeface="Arial"/>
                <a:cs typeface="Arial"/>
              </a:rPr>
              <a:t>Results through October 11, 2026. Full sources and numerical details are in speaker notes.</a:t>
            </a:r>
          </a:p>
        </p:txBody>
      </p:sp>
    </p:spTree>
    <p:extLst>
      <p:ext uri="{BB962C8B-B14F-4D97-AF65-F5344CB8AC3E}">
        <p14:creationId xmlns:p14="http://schemas.microsoft.com/office/powerpoint/2010/main" val="1382801872"/>
      </p:ext>
    </p:extLst>
  </p:cSld>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2026-10-14T16:11:48.2410000Z</dcterms:created>
  <dcterms:modified xsi:type="dcterms:W3CDTF">2026-10-14T16:11:48.2410000Z</dcterms:modified>
</coreProperties>
</file>