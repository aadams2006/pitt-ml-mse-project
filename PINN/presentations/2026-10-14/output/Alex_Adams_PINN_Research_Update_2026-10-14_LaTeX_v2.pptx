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e66b364960a470c" /><Relationship Type="http://schemas.openxmlformats.org/officeDocument/2006/relationships/extended-properties" Target="/docProps/app.xml" Id="Rac7844150e0a44f3" /><Relationship Type="http://schemas.openxmlformats.org/officeDocument/2006/relationships/officeDocument" Target="/ppt/presentation.xml" Id="R9b99b622da8843c1" /></Relationships>
</file>

<file path=ppt/presentation.xml><?xml version="1.0" encoding="utf-8"?>
<p:presentation xmlns:p="http://schemas.openxmlformats.org/presentationml/2006/main">
  <p:sldMasterIdLst>
    <p:sldMasterId xmlns:r="http://schemas.openxmlformats.org/officeDocument/2006/relationships" id="2147483648" r:id="Rf6fc5900cbcf4696"/>
  </p:sldMasterIdLst>
  <p:notesMasterIdLst>
    <p:notesMasterId xmlns:r="http://schemas.openxmlformats.org/officeDocument/2006/relationships" r:id="R0f23dd1cf2614a00"/>
  </p:notesMasterIdLst>
  <p:sldIdLst>
    <p:sldId xmlns:r="http://schemas.openxmlformats.org/officeDocument/2006/relationships" id="256" r:id="Re18d34be6ee84cb3"/>
    <p:sldId xmlns:r="http://schemas.openxmlformats.org/officeDocument/2006/relationships" id="257" r:id="R2bb6a2448da04605"/>
    <p:sldId xmlns:r="http://schemas.openxmlformats.org/officeDocument/2006/relationships" id="258" r:id="R5e247ae940444017"/>
    <p:sldId xmlns:r="http://schemas.openxmlformats.org/officeDocument/2006/relationships" id="259" r:id="Re57e4fe951eb485c"/>
    <p:sldId xmlns:r="http://schemas.openxmlformats.org/officeDocument/2006/relationships" id="260" r:id="R6c4cfbd920d548d4"/>
    <p:sldId xmlns:r="http://schemas.openxmlformats.org/officeDocument/2006/relationships" id="261" r:id="R6bb9e856b28f4dc3"/>
    <p:sldId xmlns:r="http://schemas.openxmlformats.org/officeDocument/2006/relationships" id="262" r:id="R3de659dfdc52410d"/>
    <p:sldId xmlns:r="http://schemas.openxmlformats.org/officeDocument/2006/relationships" id="263" r:id="Rcbdff99d616040ba"/>
    <p:sldId xmlns:r="http://schemas.openxmlformats.org/officeDocument/2006/relationships" id="264" r:id="Rd674ddefdf0e44b6"/>
    <p:sldId xmlns:r="http://schemas.openxmlformats.org/officeDocument/2006/relationships" id="265" r:id="R4065ef5ee4f74499"/>
    <p:sldId xmlns:r="http://schemas.openxmlformats.org/officeDocument/2006/relationships" id="266" r:id="Ra474765dbed54230"/>
    <p:sldId xmlns:r="http://schemas.openxmlformats.org/officeDocument/2006/relationships" id="267" r:id="Raa393f0bac4f4137"/>
    <p:sldId xmlns:r="http://schemas.openxmlformats.org/officeDocument/2006/relationships" id="268" r:id="Rf745a199b1f244fd"/>
    <p:sldId xmlns:r="http://schemas.openxmlformats.org/officeDocument/2006/relationships" id="269" r:id="R718b2400ab554cdc"/>
    <p:sldId xmlns:r="http://schemas.openxmlformats.org/officeDocument/2006/relationships" id="270" r:id="R6bff24cc82ac42d0"/>
    <p:sldId xmlns:r="http://schemas.openxmlformats.org/officeDocument/2006/relationships" id="271" r:id="R0ee1d0beacb044a2"/>
    <p:sldId xmlns:r="http://schemas.openxmlformats.org/officeDocument/2006/relationships" id="272" r:id="R6ba74b32aa39460f"/>
    <p:sldId xmlns:r="http://schemas.openxmlformats.org/officeDocument/2006/relationships" id="273" r:id="Ra20a1fcd831540c7"/>
    <p:sldId xmlns:r="http://schemas.openxmlformats.org/officeDocument/2006/relationships" id="274" r:id="R198680c562624b21"/>
    <p:sldId xmlns:r="http://schemas.openxmlformats.org/officeDocument/2006/relationships" id="275" r:id="R17019af68454433c"/>
    <p:sldId xmlns:r="http://schemas.openxmlformats.org/officeDocument/2006/relationships" id="276" r:id="Rc3abc18db84e4ade"/>
    <p:sldId xmlns:r="http://schemas.openxmlformats.org/officeDocument/2006/relationships" id="277" r:id="R7dda869a45b14401"/>
    <p:sldId xmlns:r="http://schemas.openxmlformats.org/officeDocument/2006/relationships" id="278" r:id="Rf61078724ae14849"/>
    <p:sldId xmlns:r="http://schemas.openxmlformats.org/officeDocument/2006/relationships" id="279" r:id="Ra6b977eee2d5494f"/>
  </p:sldIdLst>
  <p:sldSz cx="9144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c30b42112324834" /><Relationship Type="http://schemas.openxmlformats.org/officeDocument/2006/relationships/slideMaster" Target="/ppt/slideMasters/slideMaster1.xml" Id="Rf6fc5900cbcf4696" /><Relationship Type="http://schemas.openxmlformats.org/officeDocument/2006/relationships/notesMaster" Target="/ppt/notesMasters/notesMaster1.xml" Id="R0f23dd1cf2614a00" /><Relationship Type="http://schemas.openxmlformats.org/officeDocument/2006/relationships/presProps" Target="/ppt/presProps.xml" Id="R39227c63c0a54ab7" /><Relationship Type="http://schemas.openxmlformats.org/officeDocument/2006/relationships/viewProps" Target="/ppt/viewProps.xml" Id="R23b77e7b03e04836" /><Relationship Type="http://schemas.openxmlformats.org/officeDocument/2006/relationships/tableStyles" Target="/ppt/tableStyles.xml" Id="Rf62655eec360429e" /><Relationship Type="http://schemas.openxmlformats.org/officeDocument/2006/relationships/slide" Target="/ppt/slides/slide1.xml" Id="Re18d34be6ee84cb3" /><Relationship Type="http://schemas.openxmlformats.org/officeDocument/2006/relationships/slide" Target="/ppt/slides/slide2.xml" Id="R2bb6a2448da04605" /><Relationship Type="http://schemas.openxmlformats.org/officeDocument/2006/relationships/slide" Target="/ppt/slides/slide3.xml" Id="R5e247ae940444017" /><Relationship Type="http://schemas.openxmlformats.org/officeDocument/2006/relationships/slide" Target="/ppt/slides/slide4.xml" Id="Re57e4fe951eb485c" /><Relationship Type="http://schemas.openxmlformats.org/officeDocument/2006/relationships/slide" Target="/ppt/slides/slide5.xml" Id="R6c4cfbd920d548d4" /><Relationship Type="http://schemas.openxmlformats.org/officeDocument/2006/relationships/slide" Target="/ppt/slides/slide6.xml" Id="R6bb9e856b28f4dc3" /><Relationship Type="http://schemas.openxmlformats.org/officeDocument/2006/relationships/slide" Target="/ppt/slides/slide7.xml" Id="R3de659dfdc52410d" /><Relationship Type="http://schemas.openxmlformats.org/officeDocument/2006/relationships/slide" Target="/ppt/slides/slide8.xml" Id="Rcbdff99d616040ba" /><Relationship Type="http://schemas.openxmlformats.org/officeDocument/2006/relationships/slide" Target="/ppt/slides/slide9.xml" Id="Rd674ddefdf0e44b6" /><Relationship Type="http://schemas.openxmlformats.org/officeDocument/2006/relationships/slide" Target="/ppt/slides/slide10.xml" Id="R4065ef5ee4f74499" /><Relationship Type="http://schemas.openxmlformats.org/officeDocument/2006/relationships/slide" Target="/ppt/slides/slide11.xml" Id="Ra474765dbed54230" /><Relationship Type="http://schemas.openxmlformats.org/officeDocument/2006/relationships/slide" Target="/ppt/slides/slide12.xml" Id="Raa393f0bac4f4137" /><Relationship Type="http://schemas.openxmlformats.org/officeDocument/2006/relationships/slide" Target="/ppt/slides/slide13.xml" Id="Rf745a199b1f244fd" /><Relationship Type="http://schemas.openxmlformats.org/officeDocument/2006/relationships/slide" Target="/ppt/slides/slide14.xml" Id="R718b2400ab554cdc" /><Relationship Type="http://schemas.openxmlformats.org/officeDocument/2006/relationships/slide" Target="/ppt/slides/slide15.xml" Id="R6bff24cc82ac42d0" /><Relationship Type="http://schemas.openxmlformats.org/officeDocument/2006/relationships/slide" Target="/ppt/slides/slide16.xml" Id="R0ee1d0beacb044a2" /><Relationship Type="http://schemas.openxmlformats.org/officeDocument/2006/relationships/slide" Target="/ppt/slides/slide17.xml" Id="R6ba74b32aa39460f" /><Relationship Type="http://schemas.openxmlformats.org/officeDocument/2006/relationships/slide" Target="/ppt/slides/slide18.xml" Id="Ra20a1fcd831540c7" /><Relationship Type="http://schemas.openxmlformats.org/officeDocument/2006/relationships/slide" Target="/ppt/slides/slide19.xml" Id="R198680c562624b21" /><Relationship Type="http://schemas.openxmlformats.org/officeDocument/2006/relationships/slide" Target="/ppt/slides/slide20.xml" Id="R17019af68454433c" /><Relationship Type="http://schemas.openxmlformats.org/officeDocument/2006/relationships/slide" Target="/ppt/slides/slide21.xml" Id="Rc3abc18db84e4ade" /><Relationship Type="http://schemas.openxmlformats.org/officeDocument/2006/relationships/slide" Target="/ppt/slides/slide22.xml" Id="R7dda869a45b14401" /><Relationship Type="http://schemas.openxmlformats.org/officeDocument/2006/relationships/slide" Target="/ppt/slides/slide23.xml" Id="Rf61078724ae14849" /><Relationship Type="http://schemas.openxmlformats.org/officeDocument/2006/relationships/slide" Target="/ppt/slides/slide24.xml" Id="Ra6b977eee2d549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e456a7d97041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ce1ee99a804eae" /><Relationship Type="http://schemas.openxmlformats.org/officeDocument/2006/relationships/notesMaster" Target="/ppt/notesMasters/notesMaster1.xml" Id="R23ae64e694884b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328e104a9b4ab6" /><Relationship Type="http://schemas.openxmlformats.org/officeDocument/2006/relationships/notesMaster" Target="/ppt/notesMasters/notesMaster1.xml" Id="R406ac42f87f245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deffb56a5640d5" /><Relationship Type="http://schemas.openxmlformats.org/officeDocument/2006/relationships/notesMaster" Target="/ppt/notesMasters/notesMaster1.xml" Id="R90fb569bbd764b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0d4c5922da43ca" /><Relationship Type="http://schemas.openxmlformats.org/officeDocument/2006/relationships/notesMaster" Target="/ppt/notesMasters/notesMaster1.xml" Id="R191c34add3d742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89301813564e8b" /><Relationship Type="http://schemas.openxmlformats.org/officeDocument/2006/relationships/notesMaster" Target="/ppt/notesMasters/notesMaster1.xml" Id="Re0848a1ebd0544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8615d38d8b4290" /><Relationship Type="http://schemas.openxmlformats.org/officeDocument/2006/relationships/notesMaster" Target="/ppt/notesMasters/notesMaster1.xml" Id="R8fac833e52704b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477759242a44e9" /><Relationship Type="http://schemas.openxmlformats.org/officeDocument/2006/relationships/notesMaster" Target="/ppt/notesMasters/notesMaster1.xml" Id="R832d66b73eb64b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1cb735e0254ad0" /><Relationship Type="http://schemas.openxmlformats.org/officeDocument/2006/relationships/notesMaster" Target="/ppt/notesMasters/notesMaster1.xml" Id="R067c9a3ccdf148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cba3a91e01423f" /><Relationship Type="http://schemas.openxmlformats.org/officeDocument/2006/relationships/notesMaster" Target="/ppt/notesMasters/notesMaster1.xml" Id="R8360f1bf4dd147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167bf4f3b347fb" /><Relationship Type="http://schemas.openxmlformats.org/officeDocument/2006/relationships/notesMaster" Target="/ppt/notesMasters/notesMaster1.xml" Id="R8d3fd76e641842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6222e85fca4e09" /><Relationship Type="http://schemas.openxmlformats.org/officeDocument/2006/relationships/notesMaster" Target="/ppt/notesMasters/notesMaster1.xml" Id="R343024fd532843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5d42013e6641b0" /><Relationship Type="http://schemas.openxmlformats.org/officeDocument/2006/relationships/notesMaster" Target="/ppt/notesMasters/notesMaster1.xml" Id="R18a147a2379440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dce620292a4d5e" /><Relationship Type="http://schemas.openxmlformats.org/officeDocument/2006/relationships/notesMaster" Target="/ppt/notesMasters/notesMaster1.xml" Id="Rdada7071158c4d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80d4c2274d4a8b" /><Relationship Type="http://schemas.openxmlformats.org/officeDocument/2006/relationships/notesMaster" Target="/ppt/notesMasters/notesMaster1.xml" Id="Ra5a21fcb9d9e41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8489d28e154f68" /><Relationship Type="http://schemas.openxmlformats.org/officeDocument/2006/relationships/notesMaster" Target="/ppt/notesMasters/notesMaster1.xml" Id="Rd05d729970d842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b39ba8eec04301" /><Relationship Type="http://schemas.openxmlformats.org/officeDocument/2006/relationships/notesMaster" Target="/ppt/notesMasters/notesMaster1.xml" Id="R036ac2613c2748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863ee3e5ec44f4" /><Relationship Type="http://schemas.openxmlformats.org/officeDocument/2006/relationships/notesMaster" Target="/ppt/notesMasters/notesMaster1.xml" Id="R60faf6b3573348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753ee76a084a7a" /><Relationship Type="http://schemas.openxmlformats.org/officeDocument/2006/relationships/notesMaster" Target="/ppt/notesMasters/notesMaster1.xml" Id="R811ba2d2edfb40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f04a80ea7484487" /><Relationship Type="http://schemas.openxmlformats.org/officeDocument/2006/relationships/notesMaster" Target="/ppt/notesMasters/notesMaster1.xml" Id="R7f2c7ae745a74a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f0824e5359419f" /><Relationship Type="http://schemas.openxmlformats.org/officeDocument/2006/relationships/notesMaster" Target="/ppt/notesMasters/notesMaster1.xml" Id="R0ce6bbf1f9184c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f780131d174dab" /><Relationship Type="http://schemas.openxmlformats.org/officeDocument/2006/relationships/notesMaster" Target="/ppt/notesMasters/notesMaster1.xml" Id="Ra295dd9d13e245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4edde202c348ec" /><Relationship Type="http://schemas.openxmlformats.org/officeDocument/2006/relationships/notesMaster" Target="/ppt/notesMasters/notesMaster1.xml" Id="Re4877626242240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06551cf9ad48b9" /><Relationship Type="http://schemas.openxmlformats.org/officeDocument/2006/relationships/notesMaster" Target="/ppt/notesMasters/notesMaster1.xml" Id="Rdf0bab0eeb24423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b8f52bf6cb431d" /><Relationship Type="http://schemas.openxmlformats.org/officeDocument/2006/relationships/notesMaster" Target="/ppt/notesMasters/notesMaster1.xml" Id="R794c07011b774e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update for October 14, 2026. Results available through October 11, 2026. All numbers in this deck come from archived PINN runs. The supplied September deck provides the theme and layout reference. No new training runs were executed for this presentation.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PINN means physics-informed neural network. The network is an adjustable mathematical function, and training repeatedly changes its parameters to reduce prediction errors and selected physical residuals. A loss is the numerical score used for this adjustment. Classical PINNs commonly use governing differential equations. Our present implementation is physics-constrained tabular regression: the output transform enforces the thickness bound and the default loss adds a curvature prior. No governing adsorption PDE is solved. The illustrative training loop depicts optional physics penalties conceptually, rather than asserting that all four candidate constraints are active. Generated conceptual diagram using the built-in image-generation tool; node count is schematic and is not the implemented architecture. See the later architecture slide for the exact two 16-unit layers.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https://maziarraissi.github.io/PINNs/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PINN is physics-constrained tabular regression. It does not yet solve a governing PDE or identify an adsorption mechanism. Its inputs include measured total thickness, so recipe-only process forecasting remains a separate objective.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completed October 11, 2026. v0.1 runs predate prospective execution timestamps. v0.2 adds timestamped lifecycle records and seven-input synthetic benchmarks. The measured rerun reproduces v0.1 results. The code and artifacts are published on codex/pinn-physics-and-run-tracking with draft PR #6.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https://github.com/aadams2006/Pitt-ML-MSE-Project/tree/c771a486fe82b1ea13e7a70e156f64f01db03128/PINN/CHANGELOG.md</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overlap: 182+6+113 is not the number excluded. The union of invalid checks is 192, leaving 2808. The default physical checks also reject negative bonded values, negative layer inputs, missing/nonfinite values and invalid log inputs. There were no additional excluded rows under these checks for this benchmark. The combined synthetic source remains byte-identical to its original snapshot. Parent-row provenance is unavailable.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https://github.com/aadams2006/Pitt-ML-MSE-Project/tree/c771a486fe82b1ea13e7a70e156f64f01db03128/PINN/datasets/provenance.json</a:t>
            </a:r>
            <a:endParaRPr>
              <a:latin typeface="Arial"/>
              <a:ea typeface="Arial"/>
              <a:cs typeface="Arial"/>
            </a:endParaRPr>
          </a:p>
          <a:p xmlns:a="http://schemas.openxmlformats.org/drawingml/2006/main">
            <a:r>
              <a:t>https://github.com/aadams2006/Pitt-ML-MSE-Project/tree/c771a486fe82b1ea13e7a70e156f64f01db03128/PINN/runs/v020_synthetic_grouped/data_audit.json</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concentration spans 0.02 to 10 in the measured CSV, a 500-fold range. A natural log reduces scale imbalance. The source labels say g/mL, but high values and differences between workbooks and derived tables require lab confirmation. StandardScaler fits the training rows only. Bonded thickness never enters the input set. Total thickness is also the raw output envelope and is required at inference. Solvent descriptors have only three solvent-associated combinations in the synthetic data.</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https://github.com/aadams2006/Pitt-ML-MSE-Project/tree/c771a486fe82b1ea13e7a70e156f64f01db03128/PINN/config_synthetic.json</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 inputs, Linear(d,16), tanh, Linear(16,16), tanh, Linear(16,1), then sigmoid multiplied by raw measured total thickness. Parameter count is 16d+16+272+17, giving 353 for d=3 and 417 for d=7. Xavier-uniform weights and zero biases initialize the network. A positive measured total is required in data loading. Finite logits approach the endpoints asymptotically. The standard-NN ablation retains the same hidden layers but uses a linear unbounded output. Diagram structure is reused from slide 15 of the provided reference.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Ldata = mean(((hB_hat-hB)/sy)^2), with sy the population standard deviation of training targets floored at 1e-6. Lsmooth is a diagonal-Hessian curvature prior of hB_hat/sy in standardized/log-transformed coordinates, not a full Hessian norm. Differentiate the total-thickness envelope too. v0.2 evaluates derivative terms on up to 256 deterministic training-row samples per epoch. No arbitrary Cartesian collocation is added. Monotonic penalties are local soft penalties on normalized gradients. Weight decay is an optimizer parameter, separate from the displayed loss.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symbols reproduce the implementation exactly. q is predicted bonded thickness divided by s_y, the population standard deviation of training targets with floor 1e-6 nm. n is the count of training data rows, m is the count selected for derivatives (up to 256 per epoch), and d is the number of inputs. z contains standardized transformed predictors, including log concentration. J is the configured set of monotonic features and s_j is their selected direction, positive or negative. z_U is the standardized withdrawal-velocity coordinate; this is not an unscaled SI-velocity derivative. All derivatives include the total-thickness output envelope. Curvature is a diagonal Hessian penalty, not the full Hessian norm. Monotonicity is a soft local penalty. No derivative penalty is evaluated on the held-out test. LaTeX sources for all equations are retained in assets/equations.tex.</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provided overview slide 15 lists these four candidate constraints. The concentration ablation sets a positive sign as an exploratory hypothesis, not a validated law. Three solvent-associated viscosity values cannot isolate a viscosity mechanism. Velocity smoothness and the hydrodynamic residual fail explicitly when enabled without necessary data. The nonnegative mobile layer follows from the bound, so it is not counted as an independent constraint.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0.9458 classical plate coefficient is supported by the JFM two-liquid dip-coating paper. U in mm/s converts by 1e-3 to m/s, viscosity cP by 1e-3 to Pa*s, surface tension mN/m by 1e-3 to N/m, and wet thickness m to nm by 1e9. rho is kg/m3 and g=9.81 m/s2. The conversion factor must be independent of the bonded target, positive and &lt;=1. The Ca threshold is a conservative starting gate, not a universal regime guarantee. Geometry, wetting, evaporation and interface validity are supplied by the lab flag. Current runs leave this loss off.</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https://github.com/aadams2006/Pitt-ML-MSE-Project/tree/c771a486fe82b1ea13e7a70e156f64f01db03128/PINN/physics.py</a:t>
            </a:r>
            <a:endParaRPr>
              <a:latin typeface="Arial"/>
              <a:ea typeface="Arial"/>
              <a:cs typeface="Arial"/>
            </a:endParaRPr>
          </a:p>
          <a:p xmlns:a="http://schemas.openxmlformats.org/drawingml/2006/main">
            <a:r>
              <a:t>https://github.com/aadams2006/Pitt-ML-MSE-Project/tree/c771a486fe82b1ea13e7a70e156f64f01db03128/PINN/config_measured_physics.example.json</a:t>
            </a:r>
            <a:endParaRPr>
              <a:latin typeface="Arial"/>
              <a:ea typeface="Arial"/>
              <a:cs typeface="Arial"/>
            </a:endParaRPr>
          </a:p>
          <a:p xmlns:a="http://schemas.openxmlformats.org/drawingml/2006/main">
            <a:r>
              <a:t>https://www.cambridge.org/core/journals/journal-of-fluid-mechanics/article/dipcoating-flow-in-the-presence-of-two-immiscible-liquids/CB484EB73B1903B5933AB087847C642E</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neural models use full-batch supervised training, training-only preprocessing and normalized data loss. Adam uses coupled weight decay as implemented by torch.optim.Adam. Torch uses float32 tensors, one CPU thread and deterministic operations. Early stopping counts epochs without validation improvement &gt;1e-7 and restores the selected state. v0.2 experimental PINN selects epoch 76 and stops after epoch 226. Synthetic PINNs select epoch 1500. RF and GB settings are fixed untuned baselines.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https://github.com/aadams2006/Pitt-ML-MSE-Project/tree/c771a486fe82b1ea13e7a70e156f64f01db03128/PINN/config.json</a:t>
            </a:r>
            <a:endParaRPr>
              <a:latin typeface="Arial"/>
              <a:ea typeface="Arial"/>
              <a:cs typeface="Arial"/>
            </a:endParaRPr>
          </a:p>
          <a:p xmlns:a="http://schemas.openxmlformats.org/drawingml/2006/main">
            <a:r>
              <a:t>https://github.com/aadams2006/Pitt-ML-MSE-Project/tree/c771a486fe82b1ea13e7a70e156f64f01db03128/PINN/core.py</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https://github.com/aadams2006/Pitt-ML-MSE-Project/tree/c771a486fe82b1ea13e7a70e156f64f01db03128/PINN/runs/v020_experimental_grouped/run_record.json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Grouped split reserves 20% of concentration groups for test and then 20% of remaining groups for validation, so row proportions vary. Extrapolation reserves the largest four of sixteen measured concentration levels. The v0.2 synthetic default and monotonicity runs use identical retained rows and partitions. Existing historical stratified-CV RF scores in the September deck use other protocols and are not direct competitors for these single-split results. True independent batches/specimens should replace concentration as the grouping unit when available.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https://github.com/aadams2006/Pitt-ML-MSE-Project/tree/c771a486fe82b1ea13e7a70e156f64f01db03128/PINN/train.py</a:t>
            </a:r>
            <a:endParaRPr>
              <a:latin typeface="Arial"/>
              <a:ea typeface="Arial"/>
              <a:cs typeface="Arial"/>
            </a:endParaRPr>
          </a:p>
          <a:p xmlns:a="http://schemas.openxmlformats.org/drawingml/2006/main">
            <a:r>
              <a:t>https://github.com/aadams2006/Pitt-ML-MSE-Project/tree/c771a486fe82b1ea13e7a70e156f64f01db03128/PINN/runs/legacy_initial_extrapolation/splits.csv</a:t>
            </a:r>
            <a:endParaRPr>
              <a:latin typeface="Arial"/>
              <a:ea typeface="Arial"/>
              <a:cs typeface="Arial"/>
            </a:endParaRPr>
          </a:p>
          <a:p xmlns:a="http://schemas.openxmlformats.org/drawingml/2006/main">
            <a:r>
              <a:t>https://github.com/aadams2006/Pitt-ML-MSE-Project/tree/c771a486fe82b1ea13e7a70e156f64f01db03128/PINN/runs/v020_synthetic_grouped/splits.csv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v0.2 experimental grouped run reproduces the original measured grouped results. Metrics refer only to 18 test observations on held-out concentration levels. PINN MAE 0.111693 nm, RMSE 0.122251 nm, R2 -0.391624. GB MAE 0.055622 nm, RMSE 0.064933 nm, R2 0.607406. All five observed violation fractions are zero, but only bounded outputs guarantee the inequality. Negative R2 means worse than a constant test-set-mean predictor on this small split. This is not evidence that neural models cannot work after a separate validation-based study.</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https://github.com/aadams2006/Pitt-ML-MSE-Project/tree/c771a486fe82b1ea13e7a70e156f64f01db03128/PINN/runs/v020_experimental_grouped/metrics.csv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v0.1 extrapolation uses 36 training, 12 validation and 10 test rows. RF RMSE is 0.029366 and R2 -0.724719, GB RMSE 0.029637 and R2 -0.756752. Test bonded values range only 0.50 to 0.57 nm, so R2 is highly sensitive to small error. At recorded concentration 10 the PINN predicts about 1.839 nm for observed 0.51 nm, still below measured total 13.18 nm. Multiplication by increasing total may contribute to error when the learned fraction extrapolates poorly. This is a plausible explanation, not a proven mechanism. No subsequent tuning used this test.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https://github.com/aadams2006/Pitt-ML-MSE-Project/tree/c771a486fe82b1ea13e7a70e156f64f01db03128/PINN/runs/legacy_initial_extrapolation/metrics.csv</a:t>
            </a:r>
            <a:endParaRPr>
              <a:latin typeface="Arial"/>
              <a:ea typeface="Arial"/>
              <a:cs typeface="Arial"/>
            </a:endParaRPr>
          </a:p>
          <a:p xmlns:a="http://schemas.openxmlformats.org/drawingml/2006/main">
            <a:r>
              <a:t>https://github.com/aadams2006/Pitt-ML-MSE-Project/tree/c771a486fe82b1ea13e7a70e156f64f01db03128/PINN/runs/legacy_initial_extrapolation/predictions.csv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PINN MAE 0.043595 nm, RMSE 0.055718 nm, R2 0.905199. RF MAE 0.020570 nm, RMSE 0.035903 nm, R2 0.960637. This is one synthetic-distribution holdout with seed 42. It cannot be compared as an accuracy improvement over the 58-row measured study because data, feature count, regime composition and test distribution differ. Synthetic siblings and generator statistics may leak without parent provenance. All test violation fractions are zero.</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https://github.com/aadams2006/Pitt-ML-MSE-Project/tree/c771a486fe82b1ea13e7a70e156f64f01db03128/PINN/runs/v020_synthetic_grouped/metrics.csv</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point is one archived held-out synthetic row. Axes are equal in both panels, from 0.15 to 1.15 nm, and the gray diagonal marks predicted=observed. Repeated or overlapping points are not jittered. The raw dataset contains synthetic replicates, so apparent point density does not indicate independent experimental replication. Random forest predictions lie closer to the diagonal on this run.</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https://github.com/aadams2006/Pitt-ML-MSE-Project/tree/c771a486fe82b1ea13e7a70e156f64f01db03128/PINN/runs/v020_synthetic_grouped/predictions.csv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Ablation sets monotonic_weight=.01 and sign +1 on concentration only. Architecture, seed, preprocessing, split and other weights match the default run. Fractions come from training-only gradients, not test data. Default pooled negative fraction .434405, ablation .409903. Cohorts are solvent-associated viscosities .377, .423 and .68 cP. In the .377 cohort the training Spearman association is only .100041. A soft local penalty does not guarantee global monotonicity, and synthetic correlation is not evidence of causal chemistry. Keep this hypothesis separate from the default.</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https://github.com/aadams2006/Pitt-ML-MSE-Project/tree/c771a486fe82b1ea13e7a70e156f64f01db03128/PINN/runs/v020_synthetic_grouped/training_trend_diagnostics.csv</a:t>
            </a:r>
            <a:endParaRPr>
              <a:latin typeface="Arial"/>
              <a:ea typeface="Arial"/>
              <a:cs typeface="Arial"/>
            </a:endParaRPr>
          </a:p>
          <a:p xmlns:a="http://schemas.openxmlformats.org/drawingml/2006/main">
            <a:r>
              <a:t>https://github.com/aadams2006/Pitt-ML-MSE-Project/tree/c771a486fe82b1ea13e7a70e156f64f01db03128/PINN/runs/v020_synthetic_concentration_monotonic/training_trend_diagnostics.csv</a:t>
            </a:r>
            <a:endParaRPr>
              <a:latin typeface="Arial"/>
              <a:ea typeface="Arial"/>
              <a:cs typeface="Arial"/>
            </a:endParaRPr>
          </a:p>
          <a:p xmlns:a="http://schemas.openxmlformats.org/drawingml/2006/main">
            <a:r>
              <a:t>https://github.com/aadams2006/Pitt-ML-MSE-Project/tree/c771a486fe82b1ea13e7a70e156f64f01db03128/PINN/config_synthetic_monotonic.json</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Charts use log10 of archived normalized data-loss and validation-loss histories. Log display retains the full initial and final loss ranges without clipping. A value of -1 means normalized MSE=0.1, 0 means 1, and 3 means 1000. The normalization uses each run training target standard deviation, so charts describe within-run optimization rather than comparing absolute nm errors across datasets. Figure samples every fifth measured epoch and every 25th synthetic epoch plus endpoints. All three synthetic neural models selected epoch 1500. Test results never select epochs.</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https://github.com/aadams2006/Pitt-ML-MSE-Project/tree/c771a486fe82b1ea13e7a70e156f64f01db03128/PINN/runs/v020_experimental_grouped/pinn_history.csv</a:t>
            </a:r>
            <a:endParaRPr>
              <a:latin typeface="Arial"/>
              <a:ea typeface="Arial"/>
              <a:cs typeface="Arial"/>
            </a:endParaRPr>
          </a:p>
          <a:p xmlns:a="http://schemas.openxmlformats.org/drawingml/2006/main">
            <a:r>
              <a:t>https://github.com/aadams2006/Pitt-ML-MSE-Project/tree/c771a486fe82b1ea13e7a70e156f64f01db03128/PINN/runs/v020_synthetic_grouped/pinn_history.csv</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is methodological background rather than evidence of a PDMS adsorption law. The sigmoid envelope is our algebraic project parameterization, not a reproduction of Lu et al. hPINN augmented-Lagrangian optimization. Operator architectures need function-valued input/output structure absent from three/seven scalar predictors. Full verified source links appear on the reference slide and in the repository literature review.</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https://arxiv.org/abs/2001.04536</a:t>
            </a:r>
            <a:endParaRPr>
              <a:latin typeface="Arial"/>
              <a:ea typeface="Arial"/>
              <a:cs typeface="Arial"/>
            </a:endParaRPr>
          </a:p>
          <a:p xmlns:a="http://schemas.openxmlformats.org/drawingml/2006/main">
            <a:r>
              <a:t>https://arxiv.org/abs/2012.10047</a:t>
            </a:r>
            <a:endParaRPr>
              <a:latin typeface="Arial"/>
              <a:ea typeface="Arial"/>
              <a:cs typeface="Arial"/>
            </a:endParaRPr>
          </a:p>
          <a:p xmlns:a="http://schemas.openxmlformats.org/drawingml/2006/main">
            <a:r>
              <a:t>https://arxiv.org/abs/2003.06097</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start/end execution times were never recorded. Their file modification times are approximate archival evidence and are not presented as execution timestamps. Three v0.2 runs capture UTC and America/New_York times prospectively. Code version plus exact source hash and source snapshot is authoritative when the worktree differed from its Git base. The v0.2 Git-status path-scope bug was corrected and annotated without changing scientific results. Byte-preserving attributes and a later Git renormalization repair preserve archive hashes. Source, models, raw/processed identity, predictions and runs are published on branch codex/pinn-physics-and-run-tracking, draft PR #6. Future runs record automatically but require a commit/push to publish.</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a:p xmlns:a="http://schemas.openxmlformats.org/drawingml/2006/main">
            <a:r>
              <a:t>https://github.com/aadams2006/Pitt-ML-MSE-Project/tree/c771a486fe82b1ea13e7a70e156f64f01db03128/PINN/run_tracking.py</a:t>
            </a:r>
            <a:endParaRPr>
              <a:latin typeface="Arial"/>
              <a:ea typeface="Arial"/>
              <a:cs typeface="Arial"/>
            </a:endParaRPr>
          </a:p>
          <a:p xmlns:a="http://schemas.openxmlformats.org/drawingml/2006/main">
            <a:r>
              <a:t>https://github.com/aadams2006/Pitt-ML-MSE-Project/tree/c771a486fe82b1ea13e7a70e156f64f01db03128/PINN/verify_runs.py</a:t>
            </a:r>
            <a:endParaRPr>
              <a:latin typeface="Arial"/>
              <a:ea typeface="Arial"/>
              <a:cs typeface="Arial"/>
            </a:endParaRPr>
          </a:p>
          <a:p xmlns:a="http://schemas.openxmlformats.org/drawingml/2006/main">
            <a:r>
              <a:t>https://github.com/aadams2006/Pitt-ML-MSE-Project/pull/6</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single-seed, single-split exploratory tests. Test-set concentration ranges, solvent combinations, independent replicate count, source-unit ambiguity and target algebraic coupling limit causal and deployment claims. The high-concentration test demonstrates that staying within a bound does not ensure accurate extrapolation. No accuracy benefit from default curvature or the tested positive monotonicity penalty is established here.</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https://github.com/aadams2006/Pitt-ML-MSE-Project/tree/c771a486fe82b1ea13e7a70e156f64f01db03128/PINN/INITIAL_RESULTS.md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new numerical result is promised by these next steps. Proposed saturation or adsorption parameterizations need independent physical evidence and identifiability checks. Velocity/LLD terms activate only after their measurement contract is met. A defensible augmentation study splits measured experiments before generating synthetic training rows. Test remains frozen, including when considering loss balancing, Bayesian uncertainty or Fourier features. Questions for the lab: what are the true concentration units, what measurements exist for velocity/density, what identifies independent samples, and when are total/uncoated thickness measured?</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https://github.com/aadams2006/Pitt-ML-MSE-Project/tree/c771a486fe82b1ea13e7a70e156f64f01db03128/PINN/DESIGN_DECISIONS.md</a:t>
            </a:r>
            <a:endParaRPr>
              <a:latin typeface="Arial"/>
              <a:ea typeface="Arial"/>
              <a:cs typeface="Arial"/>
            </a:endParaRPr>
          </a:p>
          <a:p xmlns:a="http://schemas.openxmlformats.org/drawingml/2006/main">
            <a:r>
              <a:t>https://github.com/aadams2006/Pitt-ML-MSE-Project/tree/c771a486fe82b1ea13e7a70e156f64f01db03128/PINN/PHYSICS_CONSTRAINTS.md</a:t>
            </a:r>
            <a:endParaRPr>
              <a:latin typeface="Arial"/>
              <a:ea typeface="Arial"/>
              <a:cs typeface="Arial"/>
            </a:endParaRPr>
          </a:p>
          <a:p xmlns:a="http://schemas.openxmlformats.org/drawingml/2006/main">
            <a:r>
              <a:t>https://github.com/aadams2006/Pitt-ML-MSE-Project/tree/c771a486fe82b1ea13e7a70e156f64f01db03128/PINN/SYNTHETIC_BENCHMARK.md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citations are the reviewed papers, not newly generated research claims. The deck uses the five archived PINN runs and the requested reference theme. The classical LLD coefficient and applicability discussion are sourced on slide 9. Data, code, run manifests and predictions identify all quantitative figures. Meeting date: October 14, 2026. Result cutoff: October 11, 2026.</a:t>
            </a:r>
            <a:endParaRPr>
              <a:latin typeface="Arial"/>
              <a:ea typeface="Arial"/>
              <a:cs typeface="Arial"/>
            </a:endParaRPr>
          </a:p>
          <a:p xmlns:a="http://schemas.openxmlformats.org/drawingml/2006/main">
            <a:r>
              <a:t/>
            </a:r>
            <a:endParaRPr>
              <a:latin typeface="Arial"/>
              <a:ea typeface="Arial"/>
              <a:cs typeface="Arial"/>
            </a:endParaRPr>
          </a:p>
          <a:p xmlns:a="http://schemas.openxmlformats.org/drawingml/2006/main">
            <a:r>
              <a:t>Sources:</a:t>
            </a:r>
            <a:endParaRPr>
              <a:latin typeface="Arial"/>
              <a:ea typeface="Arial"/>
              <a:cs typeface="Arial"/>
            </a:endParaRPr>
          </a:p>
          <a:p xmlns:a="http://schemas.openxmlformats.org/drawingml/2006/main">
            <a:r>
              <a:t>https://doi.org/10.1016/j.jcp.2018.10.045</a:t>
            </a:r>
            <a:endParaRPr>
              <a:latin typeface="Arial"/>
              <a:ea typeface="Arial"/>
              <a:cs typeface="Arial"/>
            </a:endParaRPr>
          </a:p>
          <a:p xmlns:a="http://schemas.openxmlformats.org/drawingml/2006/main">
            <a:r>
              <a:t>https://arxiv.org/abs/2102.04626</a:t>
            </a:r>
            <a:endParaRPr>
              <a:latin typeface="Arial"/>
              <a:ea typeface="Arial"/>
              <a:cs typeface="Arial"/>
            </a:endParaRPr>
          </a:p>
          <a:p xmlns:a="http://schemas.openxmlformats.org/drawingml/2006/main">
            <a:r>
              <a:t>https://doi.org/10.1137/20M1318043</a:t>
            </a:r>
            <a:endParaRPr>
              <a:latin typeface="Arial"/>
              <a:ea typeface="Arial"/>
              <a:cs typeface="Arial"/>
            </a:endParaRPr>
          </a:p>
          <a:p xmlns:a="http://schemas.openxmlformats.org/drawingml/2006/main">
            <a:r>
              <a:t>https://doi.org/10.1016/j.cma.2021.113938</a:t>
            </a:r>
            <a:endParaRPr>
              <a:latin typeface="Arial"/>
              <a:ea typeface="Arial"/>
              <a:cs typeface="Arial"/>
            </a:endParaRPr>
          </a:p>
          <a:p xmlns:a="http://schemas.openxmlformats.org/drawingml/2006/main">
            <a:r>
              <a:t>https://doi.org/10.1016/j.jcp.2020.109913</a:t>
            </a:r>
            <a:endParaRPr>
              <a:latin typeface="Arial"/>
              <a:ea typeface="Arial"/>
              <a:cs typeface="Arial"/>
            </a:endParaRPr>
          </a:p>
          <a:p xmlns:a="http://schemas.openxmlformats.org/drawingml/2006/main">
            <a:r>
              <a:t>https://www.nature.com/articles/s42256-021-00302-5</a:t>
            </a:r>
            <a:endParaRPr>
              <a:latin typeface="Arial"/>
              <a:ea typeface="Arial"/>
              <a:cs typeface="Arial"/>
            </a:endParaRPr>
          </a:p>
          <a:p xmlns:a="http://schemas.openxmlformats.org/drawingml/2006/main">
            <a:r>
              <a:t>https://arxiv.org/abs/2010.08895</a:t>
            </a:r>
            <a:endParaRPr>
              <a:latin typeface="Arial"/>
              <a:ea typeface="Arial"/>
              <a:cs typeface="Arial"/>
            </a:endParaRPr>
          </a:p>
          <a:p xmlns:a="http://schemas.openxmlformats.org/drawingml/2006/main">
            <a:r>
              <a:t>https://github.com/aadams2006/Pitt-ML-MSE-Project/tree/c771a486fe82b1ea13e7a70e156f64f01db03128/PINN/LITERATURE_REVIEW.md</a:t>
            </a:r>
            <a:endParaRPr>
              <a:latin typeface="Arial"/>
              <a:ea typeface="Arial"/>
              <a:cs typeface="Arial"/>
            </a:endParaRPr>
          </a:p>
          <a:p xmlns:a="http://schemas.openxmlformats.org/drawingml/2006/main">
            <a:r>
              <a:t>https://github.com/aadams2006/Pitt-ML-MSE-Project/tree/c771a486fe82b1ea13e7a70e156f64f01db03128/PINN/RUN_LOG.md</a:t>
            </a:r>
            <a:endParaRPr>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04922f3aaa4c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74687ec33541b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d197f34fec49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511b071d704c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15c133a5cf4d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b6981b03b948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60b943731846f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ac12c42be54d2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5af23c495fc45f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33be58a9aa2493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6f20a4ff80442a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3519B7-3883-4256-AD28-2878A12C7BA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D07BAA1-1016-4990-9F55-6B68C839CE8C}"/>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xmlns:a="http://schemas.openxmlformats.org/drawingml/2006/main">
            <a:r>
              <a:t>Click to edit Master subtitle style</a:t>
            </a:r>
          </a:p>
        </p:txBody>
      </p:sp>
      <p:sp>
        <p:nvSpPr>
          <p:cNvPr id="4" name="Rectangle 4">
            <a:extLst xmlns:a="http://schemas.openxmlformats.org/drawingml/2006/main">
              <a:ext uri="{FF2B5EF4-FFF2-40B4-BE49-F238E27FC236}">
                <a16:creationId xmlns:a16="http://schemas.microsoft.com/office/drawing/2014/main" id="{4C46B55D-4FDD-4E0F-8C26-D4FEF5357B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4171307C-C51C-4D07-8C44-B366E36D28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6033F4C-8C69-4D83-8635-F61BB998D06C}"/>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23B762C-B6A6-9E40-924F-04B5C1CFB6FD}"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2F2015-DA44-409A-A285-B9ED1F413FC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AC756D-D57A-4FB4-BF24-B3682E651C2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F97C5E9C-4F89-4A68-B472-7598DCED97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84A45B6C-98C5-49CE-9B67-B01747CC1A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04FEB70-EAE0-4863-9111-6A448959FFD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5606D3B2-4460-404C-9951-68348479498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E1B15A-26BB-4F39-B958-57310BB58E0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DE0B06A-D76A-4F15-ADC7-E6D263699A30}"/>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xmlns:a="http://schemas.openxmlformats.org/drawingml/2006/main">
            <a:pPr lvl="0">
              <a:buNone/>
            </a:pPr>
            <a:r>
              <a:t>Click to edit Master text styles</a:t>
            </a:r>
          </a:p>
        </p:txBody>
      </p:sp>
      <p:sp>
        <p:nvSpPr>
          <p:cNvPr id="4" name="Rectangle 4">
            <a:extLst xmlns:a="http://schemas.openxmlformats.org/drawingml/2006/main">
              <a:ext uri="{FF2B5EF4-FFF2-40B4-BE49-F238E27FC236}">
                <a16:creationId xmlns:a16="http://schemas.microsoft.com/office/drawing/2014/main" id="{C49CD982-2EC1-4153-83DF-1EC5C4FB97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BAC010E5-17DF-4078-8678-D8F52B88737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C011E2C1-E625-4D78-8DF3-4756262D095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579F2DB-BBB3-4E41-85F8-28240E55DF5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FCD10-A365-474E-A2CE-EF049E29A8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187F19F-9917-43F9-BE88-FA32787A79A0}"/>
              </a:ext>
            </a:extLst>
          </p:cNvPr>
          <p:cNvSpPr>
            <a:spLocks xmlns:a="http://schemas.openxmlformats.org/drawingml/2006/main" noGrp="1"/>
          </p:cNvSpPr>
          <p:nvPr>
            <p:ph idx="1"/>
          </p:nvPr>
        </p:nvSpPr>
        <p:spPr>
          <a:xfrm xmlns:a="http://schemas.openxmlformats.org/drawingml/2006/main">
            <a:off x="3810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784F32A-F152-491C-AF34-FB3B93BBE379}"/>
              </a:ext>
            </a:extLst>
          </p:cNvPr>
          <p:cNvSpPr>
            <a:spLocks xmlns:a="http://schemas.openxmlformats.org/drawingml/2006/main" noGrp="1"/>
          </p:cNvSpPr>
          <p:nvPr>
            <p:ph idx="2"/>
          </p:nvPr>
        </p:nvSpPr>
        <p:spPr>
          <a:xfrm xmlns:a="http://schemas.openxmlformats.org/drawingml/2006/main">
            <a:off x="4648200" y="1981200"/>
            <a:ext cx="4114800" cy="3886200"/>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Rectangle 4">
            <a:extLst xmlns:a="http://schemas.openxmlformats.org/drawingml/2006/main">
              <a:ext uri="{FF2B5EF4-FFF2-40B4-BE49-F238E27FC236}">
                <a16:creationId xmlns:a16="http://schemas.microsoft.com/office/drawing/2014/main" id="{6D830AB6-8A28-4ACC-8429-157D2F6580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170EE714-C7B4-4E8A-8EC7-B70C9A4302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14145AC3-D24C-43A8-9CD0-227F95DAA0B1}"/>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D6B05E2-D1E0-A14A-974D-C4645B5C109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8D08E5-C0C1-4E4C-883F-D8F5EB435C53}"/>
              </a:ext>
            </a:extLst>
          </p:cNvPr>
          <p:cNvSpPr>
            <a:spLocks xmlns:a="http://schemas.openxmlformats.org/drawingml/2006/main" noGrp="1"/>
          </p:cNvSpPr>
          <p:nvPr>
            <p:ph type="title" idx="0"/>
          </p:nvPr>
        </p:nvSpPr>
        <p:spPr>
          <a:xfrm xmlns:a="http://schemas.openxmlformats.org/drawingml/2006/main">
            <a:off x="540754" y="834475"/>
            <a:ext cx="8229600" cy="1143000"/>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1B6794-5E42-4FEA-81F6-CB62BBEE64CC}"/>
              </a:ext>
            </a:extLst>
          </p:cNvPr>
          <p:cNvSpPr>
            <a:spLocks xmlns:a="http://schemas.openxmlformats.org/drawingml/2006/main" noGrp="1"/>
          </p:cNvSpPr>
          <p:nvPr>
            <p:ph type="body" idx="1"/>
          </p:nvPr>
        </p:nvSpPr>
        <p:spPr>
          <a:xfrm xmlns:a="http://schemas.openxmlformats.org/drawingml/2006/main">
            <a:off x="540754" y="2094950"/>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F7B07DE-5DB1-4AF3-96F3-90329F6491A6}"/>
              </a:ext>
            </a:extLst>
          </p:cNvPr>
          <p:cNvSpPr>
            <a:spLocks xmlns:a="http://schemas.openxmlformats.org/drawingml/2006/main" noGrp="1"/>
          </p:cNvSpPr>
          <p:nvPr>
            <p:ph idx="2"/>
          </p:nvPr>
        </p:nvSpPr>
        <p:spPr>
          <a:xfrm xmlns:a="http://schemas.openxmlformats.org/drawingml/2006/main">
            <a:off x="540754" y="2734712"/>
            <a:ext cx="4040188"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AB9E131-AC7F-4C56-BE7A-70EF8C5DB2F2}"/>
              </a:ext>
            </a:extLst>
          </p:cNvPr>
          <p:cNvSpPr>
            <a:spLocks xmlns:a="http://schemas.openxmlformats.org/drawingml/2006/main" noGrp="1"/>
          </p:cNvSpPr>
          <p:nvPr>
            <p:ph type="body" idx="3"/>
          </p:nvPr>
        </p:nvSpPr>
        <p:spPr>
          <a:xfrm xmlns:a="http://schemas.openxmlformats.org/drawingml/2006/main">
            <a:off x="4728579" y="2094950"/>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98AC5A4-C9C5-4EC9-9E34-A68FD2C4F174}"/>
              </a:ext>
            </a:extLst>
          </p:cNvPr>
          <p:cNvSpPr>
            <a:spLocks xmlns:a="http://schemas.openxmlformats.org/drawingml/2006/main" noGrp="1"/>
          </p:cNvSpPr>
          <p:nvPr>
            <p:ph idx="4"/>
          </p:nvPr>
        </p:nvSpPr>
        <p:spPr>
          <a:xfrm xmlns:a="http://schemas.openxmlformats.org/drawingml/2006/main">
            <a:off x="4728579" y="2734712"/>
            <a:ext cx="4041775" cy="3490339"/>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4">
            <a:extLst xmlns:a="http://schemas.openxmlformats.org/drawingml/2006/main">
              <a:ext uri="{FF2B5EF4-FFF2-40B4-BE49-F238E27FC236}">
                <a16:creationId xmlns:a16="http://schemas.microsoft.com/office/drawing/2014/main" id="{C3A97FCB-5709-4D17-8C7B-32AA10DBF5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8" name="Rectangle 5">
            <a:extLst xmlns:a="http://schemas.openxmlformats.org/drawingml/2006/main">
              <a:ext uri="{FF2B5EF4-FFF2-40B4-BE49-F238E27FC236}">
                <a16:creationId xmlns:a16="http://schemas.microsoft.com/office/drawing/2014/main" id="{DE036080-EA59-429E-A65A-25077B590C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9" name="Rectangle 6">
            <a:extLst xmlns:a="http://schemas.openxmlformats.org/drawingml/2006/main">
              <a:ext uri="{FF2B5EF4-FFF2-40B4-BE49-F238E27FC236}">
                <a16:creationId xmlns:a16="http://schemas.microsoft.com/office/drawing/2014/main" id="{F5765F59-955D-4ED0-B021-62C71CD64702}"/>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25E9514-10CB-424A-997B-3133D5EBEFB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47BCF5-0D5D-4B29-A09C-277BE6AD51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Rectangle 4">
            <a:extLst xmlns:a="http://schemas.openxmlformats.org/drawingml/2006/main">
              <a:ext uri="{FF2B5EF4-FFF2-40B4-BE49-F238E27FC236}">
                <a16:creationId xmlns:a16="http://schemas.microsoft.com/office/drawing/2014/main" id="{0FFBEC28-19E7-4F28-B227-EFB472615B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4" name="Rectangle 5">
            <a:extLst xmlns:a="http://schemas.openxmlformats.org/drawingml/2006/main">
              <a:ext uri="{FF2B5EF4-FFF2-40B4-BE49-F238E27FC236}">
                <a16:creationId xmlns:a16="http://schemas.microsoft.com/office/drawing/2014/main" id="{C43FF6E4-0AE1-41AF-B400-D57963AC6D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5" name="Rectangle 6">
            <a:extLst xmlns:a="http://schemas.openxmlformats.org/drawingml/2006/main">
              <a:ext uri="{FF2B5EF4-FFF2-40B4-BE49-F238E27FC236}">
                <a16:creationId xmlns:a16="http://schemas.microsoft.com/office/drawing/2014/main" id="{56EB2B7B-44E3-4D6D-B411-0369C07F6A6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715F44A3-DF41-BC45-8D50-3E3E7CD7A537}"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Rectangle 4">
            <a:extLst xmlns:a="http://schemas.openxmlformats.org/drawingml/2006/main">
              <a:ext uri="{FF2B5EF4-FFF2-40B4-BE49-F238E27FC236}">
                <a16:creationId xmlns:a16="http://schemas.microsoft.com/office/drawing/2014/main" id="{7FAAB3D9-7E87-4C91-A156-1DEB485DCD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3" name="Rectangle 5">
            <a:extLst xmlns:a="http://schemas.openxmlformats.org/drawingml/2006/main">
              <a:ext uri="{FF2B5EF4-FFF2-40B4-BE49-F238E27FC236}">
                <a16:creationId xmlns:a16="http://schemas.microsoft.com/office/drawing/2014/main" id="{5ED68A7A-B7FF-4BE3-865F-3362EE2BC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4" name="Rectangle 6">
            <a:extLst xmlns:a="http://schemas.openxmlformats.org/drawingml/2006/main">
              <a:ext uri="{FF2B5EF4-FFF2-40B4-BE49-F238E27FC236}">
                <a16:creationId xmlns:a16="http://schemas.microsoft.com/office/drawing/2014/main" id="{837E636F-8210-4FFF-9FD6-5278800F7C20}"/>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BA675F84-6783-734C-BED8-10126B3C36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807FF3-2152-4B46-9B59-D603E7A4A16A}"/>
              </a:ext>
            </a:extLst>
          </p:cNvPr>
          <p:cNvSpPr>
            <a:spLocks xmlns:a="http://schemas.openxmlformats.org/drawingml/2006/main" noGrp="1"/>
          </p:cNvSpPr>
          <p:nvPr>
            <p:ph type="title" idx="0"/>
          </p:nvPr>
        </p:nvSpPr>
        <p:spPr>
          <a:xfrm xmlns:a="http://schemas.openxmlformats.org/drawingml/2006/main">
            <a:off x="448844" y="916445"/>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6599BF-B4BB-4C88-BC35-C50376F53928}"/>
              </a:ext>
            </a:extLst>
          </p:cNvPr>
          <p:cNvSpPr>
            <a:spLocks xmlns:a="http://schemas.openxmlformats.org/drawingml/2006/main" noGrp="1"/>
          </p:cNvSpPr>
          <p:nvPr>
            <p:ph idx="1"/>
          </p:nvPr>
        </p:nvSpPr>
        <p:spPr>
          <a:xfrm xmlns:a="http://schemas.openxmlformats.org/drawingml/2006/main">
            <a:off x="3566694" y="916446"/>
            <a:ext cx="5111750" cy="5048616"/>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0E2ACA88-1AD3-4D56-AB89-90EFA79E7371}"/>
              </a:ext>
            </a:extLst>
          </p:cNvPr>
          <p:cNvSpPr>
            <a:spLocks xmlns:a="http://schemas.openxmlformats.org/drawingml/2006/main" noGrp="1"/>
          </p:cNvSpPr>
          <p:nvPr>
            <p:ph type="body" idx="2"/>
          </p:nvPr>
        </p:nvSpPr>
        <p:spPr>
          <a:xfrm xmlns:a="http://schemas.openxmlformats.org/drawingml/2006/main">
            <a:off x="448844" y="2078495"/>
            <a:ext cx="3008313" cy="4046287"/>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81D0D7AB-C1F3-4E5B-AEB4-16336F84D2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B869F3D8-6EB4-4F71-97C9-78AC85827B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4DDB736-9068-4F95-9E19-119E5764DB2F}"/>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DF637E51-C70B-C94A-BECF-99D78F235191}"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CBE6F9-4A4F-471C-994D-BEFF4C81C62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02905F-DCF6-4053-A355-E593CE2ABD4A}"/>
              </a:ext>
            </a:extLst>
          </p:cNvPr>
          <p:cNvSpPr>
            <a:spLocks xmlns:a="http://schemas.openxmlformats.org/drawingml/2006/main" noGrp="1"/>
          </p:cNvSpPr>
          <p:nvPr>
            <p:ph type="pic" idx="1"/>
          </p:nvPr>
        </p:nvSpPr>
        <p:spPr>
          <a:xfrm xmlns:a="http://schemas.openxmlformats.org/drawingml/2006/main">
            <a:off x="1792288" y="935845"/>
            <a:ext cx="5486400" cy="3791729"/>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F14D4BF0-41DA-413F-AD56-49A767EF0E5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Rectangle 4">
            <a:extLst xmlns:a="http://schemas.openxmlformats.org/drawingml/2006/main">
              <a:ext uri="{FF2B5EF4-FFF2-40B4-BE49-F238E27FC236}">
                <a16:creationId xmlns:a16="http://schemas.microsoft.com/office/drawing/2014/main" id="{E65E0FB1-75E4-4D27-A8F1-1178F88CB2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6" name="Rectangle 5">
            <a:extLst xmlns:a="http://schemas.openxmlformats.org/drawingml/2006/main">
              <a:ext uri="{FF2B5EF4-FFF2-40B4-BE49-F238E27FC236}">
                <a16:creationId xmlns:a16="http://schemas.microsoft.com/office/drawing/2014/main" id="{67F16A1E-7223-4ADA-8D23-E0F5C5CE09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9830EF26-2064-4AA6-B3B8-8026D49585B9}"/>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E4E131D9-E14C-C841-B84A-081687F5DAF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BEC508-6207-4976-86F8-8EADA13A83D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54F6FA4-222C-4F6C-8831-2086676AE0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0975C10-8CBE-422F-BC7F-B59B680AB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D56E3FA0-F11C-4131-BBFA-428D8760D1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4AFE3DD3-B11C-46FB-BE83-6079337C786D}"/>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13C8000B-9E22-1C46-AF2F-E6F8349AF53E}"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2AA0F27-CF13-4641-9317-275F79B88F49}"/>
              </a:ext>
            </a:extLst>
          </p:cNvPr>
          <p:cNvSpPr>
            <a:spLocks xmlns:a="http://schemas.openxmlformats.org/drawingml/2006/main" noGrp="1"/>
          </p:cNvSpPr>
          <p:nvPr>
            <p:ph type="title" idx="0"/>
          </p:nvPr>
        </p:nvSpPr>
        <p:spPr>
          <a:xfrm xmlns:a="http://schemas.openxmlformats.org/drawingml/2006/main">
            <a:off x="6667500" y="914400"/>
            <a:ext cx="2095500" cy="4953000"/>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913FB93-3690-4EEA-B261-6C0AE8454F1B}"/>
              </a:ext>
            </a:extLst>
          </p:cNvPr>
          <p:cNvSpPr>
            <a:spLocks xmlns:a="http://schemas.openxmlformats.org/drawingml/2006/main" noGrp="1"/>
          </p:cNvSpPr>
          <p:nvPr>
            <p:ph type="body" idx="1"/>
          </p:nvPr>
        </p:nvSpPr>
        <p:spPr>
          <a:xfrm xmlns:a="http://schemas.openxmlformats.org/drawingml/2006/main">
            <a:off x="381000" y="914400"/>
            <a:ext cx="6134100" cy="495300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Rectangle 4">
            <a:extLst xmlns:a="http://schemas.openxmlformats.org/drawingml/2006/main">
              <a:ext uri="{FF2B5EF4-FFF2-40B4-BE49-F238E27FC236}">
                <a16:creationId xmlns:a16="http://schemas.microsoft.com/office/drawing/2014/main" id="{5E811AFD-8B52-4258-8190-3D8D9D4675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r>
              <a:t>19 Oct 2009</a:t>
            </a:r>
          </a:p>
        </p:txBody>
      </p:sp>
      <p:sp>
        <p:nvSpPr>
          <p:cNvPr id="5" name="Rectangle 5">
            <a:extLst xmlns:a="http://schemas.openxmlformats.org/drawingml/2006/main">
              <a:ext uri="{FF2B5EF4-FFF2-40B4-BE49-F238E27FC236}">
                <a16:creationId xmlns:a16="http://schemas.microsoft.com/office/drawing/2014/main" id="{277F300E-5893-4DAE-87E3-500C3A6E06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
        <p:nvSpPr>
          <p:cNvPr id="6" name="Rectangle 6">
            <a:extLst xmlns:a="http://schemas.openxmlformats.org/drawingml/2006/main">
              <a:ext uri="{FF2B5EF4-FFF2-40B4-BE49-F238E27FC236}">
                <a16:creationId xmlns:a16="http://schemas.microsoft.com/office/drawing/2014/main" id="{B4378CC4-0F99-430F-AAEA-A8A2A248F347}"/>
              </a:ext>
            </a:extLst>
          </p:cNvPr>
          <p:cNvSpPr>
            <a:spLocks xmlns:a="http://schemas.openxmlformats.org/drawingml/2006/main" noGrp="1"/>
          </p:cNvSpPr>
          <p:nvPr>
            <p:ph type="sldNum" idx="12"/>
          </p:nvPr>
        </p:nvSpPr>
        <p:spPr>
          <a:xfrm xmlns:a="http://schemas.openxmlformats.org/drawingml/2006/main">
            <a:off x="7924800" y="6299200"/>
            <a:ext cx="838200" cy="457200"/>
          </a:xfrm>
          <a:prstGeom xmlns:a="http://schemas.openxmlformats.org/drawingml/2006/main" prst="rect">
            <a:avLst/>
          </a:prstGeom>
        </p:spPr>
        <p:txBody>
          <a:bodyPr xmlns:a="http://schemas.openxmlformats.org/drawingml/2006/main" vert="horz" wrap="square" lIns="91440" tIns="45720" rIns="91440" bIns="45720" anchor="t"/>
          <a:lstStyle xmlns:a="http://schemas.openxmlformats.org/drawingml/2006/main">
            <a:lvl1pPr>
              <a:buNone/>
              <a:defRPr/>
            </a:lvl1pPr>
          </a:lstStyle>
          <a:p xmlns:a="http://schemas.openxmlformats.org/drawingml/2006/main">
            <a:pPr>
              <a:buNone/>
            </a:pPr>
            <a:fld id="{3EC5F0B9-3D97-7A42-AEDD-5885432A0FF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89abe48aad3045aa" /><Relationship Type="http://schemas.openxmlformats.org/officeDocument/2006/relationships/theme" Target="/ppt/slideMasters/theme/theme2.xml" Id="R9320963dc2504f81" /><Relationship Type="http://schemas.openxmlformats.org/officeDocument/2006/relationships/slideLayout" Target="/ppt/slideLayouts/slideLayout1.xml" Id="Re1bf819028804227" /><Relationship Type="http://schemas.openxmlformats.org/officeDocument/2006/relationships/slideLayout" Target="/ppt/slideLayouts/slideLayout2.xml" Id="R118158e601be4220" /><Relationship Type="http://schemas.openxmlformats.org/officeDocument/2006/relationships/slideLayout" Target="/ppt/slideLayouts/slideLayout3.xml" Id="R188b78a7e855412f" /><Relationship Type="http://schemas.openxmlformats.org/officeDocument/2006/relationships/slideLayout" Target="/ppt/slideLayouts/slideLayout4.xml" Id="R9228f983c9394863" /><Relationship Type="http://schemas.openxmlformats.org/officeDocument/2006/relationships/slideLayout" Target="/ppt/slideLayouts/slideLayout5.xml" Id="Rf35374b0ae7c46ac" /><Relationship Type="http://schemas.openxmlformats.org/officeDocument/2006/relationships/slideLayout" Target="/ppt/slideLayouts/slideLayout6.xml" Id="R026c4780a8e74ae1" /><Relationship Type="http://schemas.openxmlformats.org/officeDocument/2006/relationships/slideLayout" Target="/ppt/slideLayouts/slideLayout7.xml" Id="Ref1e5c0bb89f4e4d" /><Relationship Type="http://schemas.openxmlformats.org/officeDocument/2006/relationships/slideLayout" Target="/ppt/slideLayouts/slideLayout8.xml" Id="R337aa3102be74ac1" /><Relationship Type="http://schemas.openxmlformats.org/officeDocument/2006/relationships/slideLayout" Target="/ppt/slideLayouts/slideLayout9.xml" Id="Rd542b38e16c94b2e" /><Relationship Type="http://schemas.openxmlformats.org/officeDocument/2006/relationships/slideLayout" Target="/ppt/slideLayouts/slideLayout10.xml" Id="Red8a15b2827647e6" /><Relationship Type="http://schemas.openxmlformats.org/officeDocument/2006/relationships/slideLayout" Target="/ppt/slideLayouts/slideLayout11.xml" Id="Re12d4e0caf6c4c0a"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33" name="Picture 7">
            <a:extLst xmlns:a="http://schemas.openxmlformats.org/drawingml/2006/main">
              <a:ext uri="{FF2B5EF4-FFF2-40B4-BE49-F238E27FC236}">
                <a16:creationId xmlns:a16="http://schemas.microsoft.com/office/drawing/2014/main" id="{E1DDF298-76C7-4AAB-9218-221D360FF4EF}"/>
              </a:ext>
            </a:extLst>
          </p:cNvPr>
          <p:cNvPicPr>
            <a:picLocks xmlns:a="http://schemas.openxmlformats.org/drawingml/2006/main" noChangeAspect="1"/>
          </p:cNvPicPr>
          <p:nvPr/>
        </p:nvPicPr>
        <p:blipFill>
          <a:blip xmlns:r="http://schemas.openxmlformats.org/officeDocument/2006/relationships" xmlns:a="http://schemas.openxmlformats.org/drawingml/2006/main" r:embed="R89abe48aad3045aa"/>
          <a:srcRect xmlns:a="http://schemas.openxmlformats.org/drawingml/2006/main" l="0" t="0" r="0" b="0"/>
          <a:stretch xmlns:a="http://schemas.openxmlformats.org/drawingml/2006/main">
            <a:fillRect l="0" t="0" r="0" b="0"/>
          </a:stretch>
        </p:blipFill>
        <p:spPr>
          <a:xfrm xmlns:a="http://schemas.openxmlformats.org/drawingml/2006/main">
            <a:off x="3175" y="0"/>
            <a:ext cx="9137650" cy="6858000"/>
          </a:xfrm>
          <a:prstGeom xmlns:a="http://schemas.openxmlformats.org/drawingml/2006/main" prst="rect">
            <a:avLst/>
          </a:prstGeom>
          <a:ln xmlns:a="http://schemas.openxmlformats.org/drawingml/2006/main">
            <a:noFill/>
          </a:ln>
        </p:spPr>
      </p:pic>
      <p:sp>
        <p:nvSpPr>
          <p:cNvPr id="1027" name="Rectangle 2">
            <a:extLst xmlns:a="http://schemas.openxmlformats.org/drawingml/2006/main">
              <a:ext uri="{FF2B5EF4-FFF2-40B4-BE49-F238E27FC236}">
                <a16:creationId xmlns:a16="http://schemas.microsoft.com/office/drawing/2014/main" id="{B7443329-56D9-4084-9702-0DEF1C2E7570}"/>
              </a:ext>
            </a:extLst>
          </p:cNvPr>
          <p:cNvSpPr>
            <a:spLocks xmlns:a="http://schemas.openxmlformats.org/drawingml/2006/main" noGrp="1"/>
          </p:cNvSpPr>
          <p:nvPr>
            <p:ph type="title" idx="0"/>
          </p:nvPr>
        </p:nvSpPr>
        <p:spPr>
          <a:xfrm xmlns:a="http://schemas.openxmlformats.org/drawingml/2006/main">
            <a:off x="749300" y="914400"/>
            <a:ext cx="7924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8" name="Rectangle 3">
            <a:extLst xmlns:a="http://schemas.openxmlformats.org/drawingml/2006/main">
              <a:ext uri="{FF2B5EF4-FFF2-40B4-BE49-F238E27FC236}">
                <a16:creationId xmlns:a16="http://schemas.microsoft.com/office/drawing/2014/main" id="{0DECAE6B-0022-4053-94AB-68D543CC2135}"/>
              </a:ext>
            </a:extLst>
          </p:cNvPr>
          <p:cNvSpPr>
            <a:spLocks xmlns:a="http://schemas.openxmlformats.org/drawingml/2006/main" noGrp="1"/>
          </p:cNvSpPr>
          <p:nvPr>
            <p:ph type="body" idx="1"/>
          </p:nvPr>
        </p:nvSpPr>
        <p:spPr>
          <a:xfrm xmlns:a="http://schemas.openxmlformats.org/drawingml/2006/main">
            <a:off x="749300" y="1981200"/>
            <a:ext cx="7924800" cy="388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on text regions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Rectangle 4">
            <a:extLst xmlns:a="http://schemas.openxmlformats.org/drawingml/2006/main">
              <a:ext uri="{FF2B5EF4-FFF2-40B4-BE49-F238E27FC236}">
                <a16:creationId xmlns:a16="http://schemas.microsoft.com/office/drawing/2014/main" id="{090FC530-1439-4B61-B68C-0B87E8621B4D}"/>
              </a:ext>
            </a:extLst>
          </p:cNvPr>
          <p:cNvSpPr>
            <a:spLocks xmlns:a="http://schemas.openxmlformats.org/drawingml/2006/main" noGrp="1"/>
          </p:cNvSpPr>
          <p:nvPr>
            <p:ph type="dt" idx="2"/>
          </p:nvPr>
        </p:nvSpPr>
        <p:spPr>
          <a:xfrm xmlns:a="http://schemas.openxmlformats.org/drawingml/2006/main">
            <a:off x="7315200" y="6299200"/>
            <a:ext cx="1447800" cy="4572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lgn="r">
              <a:buNone/>
              <a:defRPr sz="900">
                <a:solidFill>
                  <a:srgbClr val="002B5E"/>
                </a:solidFill>
                <a:latin typeface="Georgia"/>
                <a:ea typeface="Georgia"/>
                <a:cs typeface="Georgia"/>
              </a:defRPr>
            </a:lvl1pPr>
          </a:lstStyle>
          <a:p xmlns:a="http://schemas.openxmlformats.org/drawingml/2006/main">
            <a:pPr>
              <a:buNone/>
            </a:pPr>
            <a:r>
              <a:t>19 Oct 2009</a:t>
            </a:r>
          </a:p>
        </p:txBody>
      </p:sp>
      <p:sp>
        <p:nvSpPr>
          <p:cNvPr id="1029" name="Rectangle 5">
            <a:extLst xmlns:a="http://schemas.openxmlformats.org/drawingml/2006/main">
              <a:ext uri="{FF2B5EF4-FFF2-40B4-BE49-F238E27FC236}">
                <a16:creationId xmlns:a16="http://schemas.microsoft.com/office/drawing/2014/main" id="{47F820D9-E544-4A69-A89B-E5DD861588E7}"/>
              </a:ext>
            </a:extLst>
          </p:cNvPr>
          <p:cNvSpPr>
            <a:spLocks xmlns:a="http://schemas.openxmlformats.org/drawingml/2006/main" noGrp="1"/>
          </p:cNvSpPr>
          <p:nvPr>
            <p:ph type="ftr" idx="3"/>
          </p:nvPr>
        </p:nvSpPr>
        <p:spPr>
          <a:xfrm xmlns:a="http://schemas.openxmlformats.org/drawingml/2006/main">
            <a:off x="749300" y="6299200"/>
            <a:ext cx="6223000" cy="5588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lvl1pPr>
              <a:buNone/>
              <a:defRPr sz="900">
                <a:solidFill>
                  <a:srgbClr val="002B5E"/>
                </a:solidFill>
                <a:latin typeface="Georgia"/>
                <a:ea typeface="Georgia"/>
                <a:cs typeface="Georgia"/>
              </a:defRPr>
            </a:lvl1pPr>
          </a:lstStyle>
          <a:p xmlns:a="http://schemas.openxmlformats.org/drawingml/2006/main">
            <a:pPr>
              <a:buNone/>
            </a:pPr>
            <a:endParaRPr/>
          </a:p>
        </p:txBody>
      </p:sp>
      <p:sp>
        <p:nvSpPr>
          <p:cNvPr id="1031" name="TextBox 8">
            <a:extLst xmlns:a="http://schemas.openxmlformats.org/drawingml/2006/main">
              <a:ext uri="{FF2B5EF4-FFF2-40B4-BE49-F238E27FC236}">
                <a16:creationId xmlns:a16="http://schemas.microsoft.com/office/drawing/2014/main" id="{136F2A4D-48D6-4760-A99B-D836B4A7783E}"/>
              </a:ext>
            </a:extLst>
          </p:cNvPr>
          <p:cNvSpPr>
            <a:spLocks xmlns:a="http://schemas.openxmlformats.org/drawingml/2006/main" noGrp="1"/>
          </p:cNvSpPr>
          <p:nvPr/>
        </p:nvSpPr>
        <p:spPr>
          <a:xfrm xmlns:a="http://schemas.openxmlformats.org/drawingml/2006/main">
            <a:off x="3835400" y="254000"/>
            <a:ext cx="4927600" cy="307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spAutoFit/>
          </a:bodyPr>
          <a:lstStyle xmlns:a="http://schemas.openxmlformats.org/drawingml/2006/main">
            <a:lvl1pPr>
              <a:buNone/>
              <a:defRPr sz="2400">
                <a:solidFill>
                  <a:schemeClr val="tx1"/>
                </a:solidFill>
                <a:latin typeface="Arial"/>
                <a:ea typeface="Arial"/>
                <a:cs typeface="Arial"/>
              </a:defRPr>
            </a:lvl1pPr>
            <a:lvl2pPr marL="742950" indent="-285750">
              <a:buNone/>
              <a:defRPr sz="2400">
                <a:solidFill>
                  <a:schemeClr val="tx1"/>
                </a:solidFill>
                <a:latin typeface="Arial"/>
                <a:ea typeface="Arial"/>
                <a:cs typeface="Arial"/>
              </a:defRPr>
            </a:lvl2pPr>
            <a:lvl3pPr marL="1143000" indent="-228600">
              <a:buNone/>
              <a:defRPr sz="2400">
                <a:solidFill>
                  <a:schemeClr val="tx1"/>
                </a:solidFill>
                <a:latin typeface="Arial"/>
                <a:ea typeface="Arial"/>
                <a:cs typeface="Arial"/>
              </a:defRPr>
            </a:lvl3pPr>
            <a:lvl4pPr marL="1600200" indent="-228600">
              <a:buNone/>
              <a:defRPr sz="2400">
                <a:solidFill>
                  <a:schemeClr val="tx1"/>
                </a:solidFill>
                <a:latin typeface="Arial"/>
                <a:ea typeface="Arial"/>
                <a:cs typeface="Arial"/>
              </a:defRPr>
            </a:lvl4pPr>
            <a:lvl5pPr marL="2057400" indent="-228600">
              <a:buNone/>
              <a:defRPr sz="2400">
                <a:solidFill>
                  <a:schemeClr val="tx1"/>
                </a:solidFill>
                <a:latin typeface="Arial"/>
                <a:ea typeface="Arial"/>
                <a:cs typeface="Arial"/>
              </a:defRPr>
            </a:lvl5pPr>
            <a:lvl6pPr marL="2514600" indent="-228600">
              <a:spcBef>
                <a:spcPct val="0"/>
              </a:spcBef>
              <a:spcAft>
                <a:spcPct val="0"/>
              </a:spcAft>
              <a:buNone/>
              <a:defRPr sz="2400">
                <a:solidFill>
                  <a:schemeClr val="tx1"/>
                </a:solidFill>
                <a:latin typeface="Arial"/>
                <a:ea typeface="Arial"/>
                <a:cs typeface="Arial"/>
              </a:defRPr>
            </a:lvl6pPr>
            <a:lvl7pPr marL="2971800" indent="-228600">
              <a:spcBef>
                <a:spcPct val="0"/>
              </a:spcBef>
              <a:spcAft>
                <a:spcPct val="0"/>
              </a:spcAft>
              <a:buNone/>
              <a:defRPr sz="2400">
                <a:solidFill>
                  <a:schemeClr val="tx1"/>
                </a:solidFill>
                <a:latin typeface="Arial"/>
                <a:ea typeface="Arial"/>
                <a:cs typeface="Arial"/>
              </a:defRPr>
            </a:lvl7pPr>
            <a:lvl8pPr marL="3429000" indent="-228600">
              <a:spcBef>
                <a:spcPct val="0"/>
              </a:spcBef>
              <a:spcAft>
                <a:spcPct val="0"/>
              </a:spcAft>
              <a:buNone/>
              <a:defRPr sz="2400">
                <a:solidFill>
                  <a:schemeClr val="tx1"/>
                </a:solidFill>
                <a:latin typeface="Arial"/>
                <a:ea typeface="Arial"/>
                <a:cs typeface="Arial"/>
              </a:defRPr>
            </a:lvl8pPr>
            <a:lvl9pPr marL="3886200" indent="-228600">
              <a:spcBef>
                <a:spcPct val="0"/>
              </a:spcBef>
              <a:spcAft>
                <a:spcPct val="0"/>
              </a:spcAft>
              <a:buNone/>
              <a:defRPr sz="2400">
                <a:solidFill>
                  <a:schemeClr val="tx1"/>
                </a:solidFill>
                <a:latin typeface="Arial"/>
                <a:ea typeface="Arial"/>
                <a:cs typeface="Arial"/>
              </a:defRPr>
            </a:lvl9pPr>
          </a:lstStyle>
          <a:p xmlns:a="http://schemas.openxmlformats.org/drawingml/2006/main">
            <a:pPr algn="r">
              <a:buNone/>
            </a:pPr>
            <a:r>
              <a:rPr sz="1400" b="1">
                <a:solidFill>
                  <a:srgbClr val="002B5E"/>
                </a:solidFill>
                <a:latin typeface="Georgia"/>
                <a:ea typeface="Georgia"/>
                <a:cs typeface="Georgia"/>
              </a:rPr>
              <a:t>Chemical and Petroleum Engineering Department</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bf819028804227"/>
    <p:sldLayoutId xmlns:r="http://schemas.openxmlformats.org/officeDocument/2006/relationships" id="2147483650" r:id="R118158e601be4220"/>
    <p:sldLayoutId xmlns:r="http://schemas.openxmlformats.org/officeDocument/2006/relationships" id="2147483651" r:id="R188b78a7e855412f"/>
    <p:sldLayoutId xmlns:r="http://schemas.openxmlformats.org/officeDocument/2006/relationships" id="2147483652" r:id="R9228f983c9394863"/>
    <p:sldLayoutId xmlns:r="http://schemas.openxmlformats.org/officeDocument/2006/relationships" id="2147483653" r:id="Rf35374b0ae7c46ac"/>
    <p:sldLayoutId xmlns:r="http://schemas.openxmlformats.org/officeDocument/2006/relationships" id="2147483654" r:id="R026c4780a8e74ae1"/>
    <p:sldLayoutId xmlns:r="http://schemas.openxmlformats.org/officeDocument/2006/relationships" id="2147483655" r:id="Ref1e5c0bb89f4e4d"/>
    <p:sldLayoutId xmlns:r="http://schemas.openxmlformats.org/officeDocument/2006/relationships" id="2147483656" r:id="R337aa3102be74ac1"/>
    <p:sldLayoutId xmlns:r="http://schemas.openxmlformats.org/officeDocument/2006/relationships" id="2147483657" r:id="Rd542b38e16c94b2e"/>
    <p:sldLayoutId xmlns:r="http://schemas.openxmlformats.org/officeDocument/2006/relationships" id="2147483658" r:id="Red8a15b2827647e6"/>
    <p:sldLayoutId xmlns:r="http://schemas.openxmlformats.org/officeDocument/2006/relationships" id="2147483659" r:id="Re12d4e0caf6c4c0a"/>
  </p:sldLayoutIdLst>
  <p:hf sldNum="0" hdr="0"/>
  <p:txStyles>
    <p:titleStyle>
      <a:lvl1pPr xmlns:a="http://schemas.openxmlformats.org/drawingml/2006/main" algn="l">
        <a:spcBef>
          <a:spcPct val="0"/>
        </a:spcBef>
        <a:spcAft>
          <a:spcPct val="0"/>
        </a:spcAft>
        <a:buNone/>
        <a:defRPr sz="3600" b="1">
          <a:solidFill>
            <a:srgbClr val="948151"/>
          </a:solidFill>
          <a:latin typeface="+mj-lt"/>
          <a:ea typeface="+mj-lt"/>
          <a:cs typeface="+mj-lt"/>
        </a:defRPr>
      </a:lvl1pPr>
      <a:lvl2pPr xmlns:a="http://schemas.openxmlformats.org/drawingml/2006/main" algn="l">
        <a:spcBef>
          <a:spcPct val="0"/>
        </a:spcBef>
        <a:spcAft>
          <a:spcPct val="0"/>
        </a:spcAft>
        <a:buNone/>
        <a:defRPr sz="3600" b="1">
          <a:solidFill>
            <a:srgbClr val="948151"/>
          </a:solidFill>
          <a:latin typeface="Georgia"/>
          <a:ea typeface="Georgia"/>
          <a:cs typeface="Georgia"/>
        </a:defRPr>
      </a:lvl2pPr>
      <a:lvl3pPr xmlns:a="http://schemas.openxmlformats.org/drawingml/2006/main" algn="l">
        <a:spcBef>
          <a:spcPct val="0"/>
        </a:spcBef>
        <a:spcAft>
          <a:spcPct val="0"/>
        </a:spcAft>
        <a:buNone/>
        <a:defRPr sz="3600" b="1">
          <a:solidFill>
            <a:srgbClr val="948151"/>
          </a:solidFill>
          <a:latin typeface="Georgia"/>
          <a:ea typeface="Georgia"/>
          <a:cs typeface="Georgia"/>
        </a:defRPr>
      </a:lvl3pPr>
      <a:lvl4pPr xmlns:a="http://schemas.openxmlformats.org/drawingml/2006/main" algn="l">
        <a:spcBef>
          <a:spcPct val="0"/>
        </a:spcBef>
        <a:spcAft>
          <a:spcPct val="0"/>
        </a:spcAft>
        <a:buNone/>
        <a:defRPr sz="3600" b="1">
          <a:solidFill>
            <a:srgbClr val="948151"/>
          </a:solidFill>
          <a:latin typeface="Georgia"/>
          <a:ea typeface="Georgia"/>
          <a:cs typeface="Georgia"/>
        </a:defRPr>
      </a:lvl4pPr>
      <a:lvl5pPr xmlns:a="http://schemas.openxmlformats.org/drawingml/2006/main" algn="l">
        <a:spcBef>
          <a:spcPct val="0"/>
        </a:spcBef>
        <a:spcAft>
          <a:spcPct val="0"/>
        </a:spcAft>
        <a:buNone/>
        <a:defRPr sz="3600" b="1">
          <a:solidFill>
            <a:srgbClr val="948151"/>
          </a:solidFill>
          <a:latin typeface="Georgia"/>
          <a:ea typeface="Georgia"/>
          <a:cs typeface="Georgia"/>
        </a:defRPr>
      </a:lvl5pPr>
      <a:lvl6pPr xmlns:a="http://schemas.openxmlformats.org/drawingml/2006/main" marL="457200" algn="l">
        <a:spcBef>
          <a:spcPct val="0"/>
        </a:spcBef>
        <a:spcAft>
          <a:spcPct val="0"/>
        </a:spcAft>
        <a:buNone/>
        <a:defRPr sz="4400">
          <a:solidFill>
            <a:srgbClr val="003E7E"/>
          </a:solidFill>
          <a:latin typeface="Georgia"/>
          <a:ea typeface="Georgia"/>
          <a:cs typeface="Georgia"/>
        </a:defRPr>
      </a:lvl6pPr>
      <a:lvl7pPr xmlns:a="http://schemas.openxmlformats.org/drawingml/2006/main" marL="914400" algn="l">
        <a:spcBef>
          <a:spcPct val="0"/>
        </a:spcBef>
        <a:spcAft>
          <a:spcPct val="0"/>
        </a:spcAft>
        <a:buNone/>
        <a:defRPr sz="4400">
          <a:solidFill>
            <a:srgbClr val="003E7E"/>
          </a:solidFill>
          <a:latin typeface="Georgia"/>
          <a:ea typeface="Georgia"/>
          <a:cs typeface="Georgia"/>
        </a:defRPr>
      </a:lvl7pPr>
      <a:lvl8pPr xmlns:a="http://schemas.openxmlformats.org/drawingml/2006/main" marL="1371600" algn="l">
        <a:spcBef>
          <a:spcPct val="0"/>
        </a:spcBef>
        <a:spcAft>
          <a:spcPct val="0"/>
        </a:spcAft>
        <a:buNone/>
        <a:defRPr sz="4400">
          <a:solidFill>
            <a:srgbClr val="003E7E"/>
          </a:solidFill>
          <a:latin typeface="Georgia"/>
          <a:ea typeface="Georgia"/>
          <a:cs typeface="Georgia"/>
        </a:defRPr>
      </a:lvl8pPr>
      <a:lvl9pPr xmlns:a="http://schemas.openxmlformats.org/drawingml/2006/main" marL="1828800" algn="l">
        <a:spcBef>
          <a:spcPct val="0"/>
        </a:spcBef>
        <a:spcAft>
          <a:spcPct val="0"/>
        </a:spcAft>
        <a:buNone/>
        <a:defRPr sz="4400">
          <a:solidFill>
            <a:srgbClr val="003E7E"/>
          </a:solidFill>
          <a:latin typeface="Georgia"/>
          <a:ea typeface="Georgia"/>
          <a:cs typeface="Georgia"/>
        </a:defRPr>
      </a:lvl9pPr>
    </p:titleStyle>
    <p:bodyStyle>
      <a:lvl1pPr xmlns:a="http://schemas.openxmlformats.org/drawingml/2006/main" marL="342900" indent="-342900" algn="l">
        <a:spcBef>
          <a:spcPct val="20000"/>
        </a:spcBef>
        <a:spcAft>
          <a:spcPts val="600"/>
        </a:spcAft>
        <a:buClr>
          <a:srgbClr val="000000"/>
        </a:buClr>
        <a:buChar char="•"/>
        <a:defRPr sz="3200">
          <a:solidFill>
            <a:srgbClr val="002B5E"/>
          </a:solidFill>
          <a:latin typeface="+mn-lt"/>
          <a:ea typeface="+mn-lt"/>
          <a:cs typeface="+mn-lt"/>
        </a:defRPr>
      </a:lvl1pPr>
      <a:lvl2pPr xmlns:a="http://schemas.openxmlformats.org/drawingml/2006/main" marL="742950" indent="-285750" algn="l">
        <a:spcBef>
          <a:spcPct val="20000"/>
        </a:spcBef>
        <a:spcAft>
          <a:spcPts val="1200"/>
        </a:spcAft>
        <a:buClr>
          <a:srgbClr val="000000"/>
        </a:buClr>
        <a:buChar char="–"/>
        <a:defRPr sz="2800">
          <a:solidFill>
            <a:srgbClr val="002B5E"/>
          </a:solidFill>
          <a:latin typeface="+mn-lt"/>
          <a:ea typeface="+mn-lt"/>
          <a:cs typeface="+mn-lt"/>
        </a:defRPr>
      </a:lvl2pPr>
      <a:lvl3pPr xmlns:a="http://schemas.openxmlformats.org/drawingml/2006/main" marL="1143000" indent="-228600" algn="l">
        <a:spcBef>
          <a:spcPct val="20000"/>
        </a:spcBef>
        <a:spcAft>
          <a:spcPts val="1200"/>
        </a:spcAft>
        <a:buClr>
          <a:srgbClr val="000000"/>
        </a:buClr>
        <a:buChar char="•"/>
        <a:defRPr sz="2400">
          <a:solidFill>
            <a:srgbClr val="002B5E"/>
          </a:solidFill>
          <a:latin typeface="+mn-lt"/>
          <a:ea typeface="+mn-lt"/>
          <a:cs typeface="+mn-lt"/>
        </a:defRPr>
      </a:lvl3pPr>
      <a:lvl4pPr xmlns:a="http://schemas.openxmlformats.org/drawingml/2006/main" marL="1600200" indent="-228600" algn="l">
        <a:spcBef>
          <a:spcPct val="20000"/>
        </a:spcBef>
        <a:spcAft>
          <a:spcPts val="1200"/>
        </a:spcAft>
        <a:buClr>
          <a:srgbClr val="000000"/>
        </a:buClr>
        <a:buChar char="–"/>
        <a:defRPr sz="2000">
          <a:solidFill>
            <a:srgbClr val="002B5E"/>
          </a:solidFill>
          <a:latin typeface="+mn-lt"/>
          <a:ea typeface="+mn-lt"/>
          <a:cs typeface="+mn-lt"/>
        </a:defRPr>
      </a:lvl4pPr>
      <a:lvl5pPr xmlns:a="http://schemas.openxmlformats.org/drawingml/2006/main" marL="2057400" indent="-228600" algn="l">
        <a:spcBef>
          <a:spcPct val="20000"/>
        </a:spcBef>
        <a:spcAft>
          <a:spcPts val="1200"/>
        </a:spcAft>
        <a:buClr>
          <a:srgbClr val="000000"/>
        </a:buClr>
        <a:buChar char="»"/>
        <a:defRPr sz="2000">
          <a:solidFill>
            <a:srgbClr val="002B5E"/>
          </a:solidFill>
          <a:latin typeface="+mn-lt"/>
          <a:ea typeface="+mn-lt"/>
          <a:cs typeface="+mn-lt"/>
        </a:defRPr>
      </a:lvl5pPr>
      <a:lvl6pPr xmlns:a="http://schemas.openxmlformats.org/drawingml/2006/main" marL="2514600" indent="-228600" algn="l">
        <a:spcBef>
          <a:spcPct val="20000"/>
        </a:spcBef>
        <a:spcAft>
          <a:spcPct val="0"/>
        </a:spcAft>
        <a:buChar char="»"/>
        <a:defRPr sz="2000">
          <a:solidFill>
            <a:srgbClr val="003E7E"/>
          </a:solidFill>
          <a:latin typeface="+mn-lt"/>
          <a:ea typeface="+mn-lt"/>
          <a:cs typeface="+mn-lt"/>
        </a:defRPr>
      </a:lvl6pPr>
      <a:lvl7pPr xmlns:a="http://schemas.openxmlformats.org/drawingml/2006/main" marL="2971800" indent="-228600" algn="l">
        <a:spcBef>
          <a:spcPct val="20000"/>
        </a:spcBef>
        <a:spcAft>
          <a:spcPct val="0"/>
        </a:spcAft>
        <a:buChar char="»"/>
        <a:defRPr sz="2000">
          <a:solidFill>
            <a:srgbClr val="003E7E"/>
          </a:solidFill>
          <a:latin typeface="+mn-lt"/>
          <a:ea typeface="+mn-lt"/>
          <a:cs typeface="+mn-lt"/>
        </a:defRPr>
      </a:lvl7pPr>
      <a:lvl8pPr xmlns:a="http://schemas.openxmlformats.org/drawingml/2006/main" marL="3429000" indent="-228600" algn="l">
        <a:spcBef>
          <a:spcPct val="20000"/>
        </a:spcBef>
        <a:spcAft>
          <a:spcPct val="0"/>
        </a:spcAft>
        <a:buChar char="»"/>
        <a:defRPr sz="2000">
          <a:solidFill>
            <a:srgbClr val="003E7E"/>
          </a:solidFill>
          <a:latin typeface="+mn-lt"/>
          <a:ea typeface="+mn-lt"/>
          <a:cs typeface="+mn-lt"/>
        </a:defRPr>
      </a:lvl8pPr>
      <a:lvl9pPr xmlns:a="http://schemas.openxmlformats.org/drawingml/2006/main" marL="3886200" indent="-228600" algn="l">
        <a:spcBef>
          <a:spcPct val="20000"/>
        </a:spcBef>
        <a:spcAft>
          <a:spcPct val="0"/>
        </a:spcAft>
        <a:buChar char="»"/>
        <a:defRPr sz="2000">
          <a:solidFill>
            <a:srgbClr val="003E7E"/>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594a5620c90459a" /><Relationship Type="http://schemas.openxmlformats.org/officeDocument/2006/relationships/notesSlide" Target="/ppt/notesSlides/notesSlide1.xml" Id="R535e0f0b8c514a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b33d6627299f4cad" /><Relationship Type="http://schemas.openxmlformats.org/officeDocument/2006/relationships/image" Target="/ppt/media/image.png" Id="R3c6edbbed7354f5b" /><Relationship Type="http://schemas.openxmlformats.org/officeDocument/2006/relationships/notesSlide" Target="/ppt/notesSlides/notesSlide2.xml" Id="R8f4a433e39ce46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66f4fef769744ea" /><Relationship Type="http://schemas.openxmlformats.org/officeDocument/2006/relationships/notesSlide" Target="/ppt/notesSlides/notesSlide3.xml" Id="Rb9e721d68f3e4a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ef9a8ff0319441c" /><Relationship Type="http://schemas.openxmlformats.org/officeDocument/2006/relationships/notesSlide" Target="/ppt/notesSlides/notesSlide4.xml" Id="Rcbe6baefa05944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5cb79432735451a" /><Relationship Type="http://schemas.openxmlformats.org/officeDocument/2006/relationships/notesSlide" Target="/ppt/notesSlides/notesSlide5.xml" Id="R0b930d36653c4a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f77eaad43944413" /><Relationship Type="http://schemas.openxmlformats.org/officeDocument/2006/relationships/notesSlide" Target="/ppt/notesSlides/notesSlide6.xml" Id="R690ec75ac35844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c5e6c50f4b4473a" /><Relationship Type="http://schemas.openxmlformats.org/officeDocument/2006/relationships/image" Target="/ppt/media/image2.png" Id="Rb3fbb8a05b0a4f6f" /><Relationship Type="http://schemas.openxmlformats.org/officeDocument/2006/relationships/image" Target="/ppt/media/image3.png" Id="R04af5d6cef9844a2" /><Relationship Type="http://schemas.openxmlformats.org/officeDocument/2006/relationships/notesSlide" Target="/ppt/notesSlides/notesSlide7.xml" Id="R1d29bbd13c1442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83b9ce1ad3e4db0" /><Relationship Type="http://schemas.openxmlformats.org/officeDocument/2006/relationships/image" Target="/ppt/media/image4.png" Id="R9ce5393e136c4c53" /><Relationship Type="http://schemas.openxmlformats.org/officeDocument/2006/relationships/notesSlide" Target="/ppt/notesSlides/notesSlide8.xml" Id="Radb2e1f21b3c4f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81104de025b4eb3" /><Relationship Type="http://schemas.openxmlformats.org/officeDocument/2006/relationships/image" Target="/ppt/media/image5.png" Id="R7c3a7ba074844486" /><Relationship Type="http://schemas.openxmlformats.org/officeDocument/2006/relationships/image" Target="/ppt/media/image6.png" Id="Rdb9d50ec53d24a1c" /><Relationship Type="http://schemas.openxmlformats.org/officeDocument/2006/relationships/image" Target="/ppt/media/image7.png" Id="Rc5b6f96bc0fa49f8" /><Relationship Type="http://schemas.openxmlformats.org/officeDocument/2006/relationships/image" Target="/ppt/media/image8.png" Id="R66ab88f68cbb4a9a" /><Relationship Type="http://schemas.openxmlformats.org/officeDocument/2006/relationships/image" Target="/ppt/media/image9.png" Id="R53f706ec3ebf40d6" /><Relationship Type="http://schemas.openxmlformats.org/officeDocument/2006/relationships/notesSlide" Target="/ppt/notesSlides/notesSlide9.xml" Id="Ra9dac4f1108443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a269e042dfd9406e" /><Relationship Type="http://schemas.openxmlformats.org/officeDocument/2006/relationships/notesSlide" Target="/ppt/notesSlides/notesSlide10.xml" Id="Rae9d2583f3d143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2bac8f908994d7a" /><Relationship Type="http://schemas.openxmlformats.org/officeDocument/2006/relationships/image" Target="/ppt/media/image10.png" Id="Ra272aa54e747454b" /><Relationship Type="http://schemas.openxmlformats.org/officeDocument/2006/relationships/image" Target="/ppt/media/image11.png" Id="R65ae266d43f04879" /><Relationship Type="http://schemas.openxmlformats.org/officeDocument/2006/relationships/image" Target="/ppt/media/image12.png" Id="R910c2635df4e43cc" /><Relationship Type="http://schemas.openxmlformats.org/officeDocument/2006/relationships/notesSlide" Target="/ppt/notesSlides/notesSlide11.xml" Id="R493f2ca0b83d41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888e155ed8f4fd1" /><Relationship Type="http://schemas.openxmlformats.org/officeDocument/2006/relationships/notesSlide" Target="/ppt/notesSlides/notesSlide12.xml" Id="R54fae9ad63f94d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610c56e84e44e5c" /><Relationship Type="http://schemas.openxmlformats.org/officeDocument/2006/relationships/notesSlide" Target="/ppt/notesSlides/notesSlide13.xml" Id="R8c46d5b3252f44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d96788f8d16c4169" /><Relationship Type="http://schemas.openxmlformats.org/officeDocument/2006/relationships/chart" Target="/ppt/slides/charts/chart1.xml" Id="R50b9fb99eb7044e9" /><Relationship Type="http://schemas.openxmlformats.org/officeDocument/2006/relationships/notesSlide" Target="/ppt/notesSlides/notesSlide14.xml" Id="Ra2c32453435640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68c52f4e33b4be9" /><Relationship Type="http://schemas.openxmlformats.org/officeDocument/2006/relationships/chart" Target="/ppt/slides/charts/chart2.xml" Id="R72df5d8d3d12415a" /><Relationship Type="http://schemas.openxmlformats.org/officeDocument/2006/relationships/notesSlide" Target="/ppt/notesSlides/notesSlide15.xml" Id="R6298a94d88fc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0992321ae33047a5" /><Relationship Type="http://schemas.openxmlformats.org/officeDocument/2006/relationships/chart" Target="/ppt/slides/charts/chart3.xml" Id="R0a20b8cfe49c47a9" /><Relationship Type="http://schemas.openxmlformats.org/officeDocument/2006/relationships/notesSlide" Target="/ppt/notesSlides/notesSlide16.xml" Id="Rc693c41654b74b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b7dd71e63214dc2" /><Relationship Type="http://schemas.openxmlformats.org/officeDocument/2006/relationships/chart" Target="/ppt/slides/charts/chart4.xml" Id="Rfa44749d86134a2b" /><Relationship Type="http://schemas.openxmlformats.org/officeDocument/2006/relationships/chart" Target="/ppt/slides/charts/chart5.xml" Id="Rc197663a8c4e4dd2" /><Relationship Type="http://schemas.openxmlformats.org/officeDocument/2006/relationships/image" Target="/ppt/media/image13.png" Id="R0036fbf9fdbe44c2" /><Relationship Type="http://schemas.openxmlformats.org/officeDocument/2006/relationships/image" Target="/ppt/media/image14.png" Id="R96209c0e85784def" /><Relationship Type="http://schemas.openxmlformats.org/officeDocument/2006/relationships/notesSlide" Target="/ppt/notesSlides/notesSlide17.xml" Id="Re554d72a454c4c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bf03b4156bae4589" /><Relationship Type="http://schemas.openxmlformats.org/officeDocument/2006/relationships/chart" Target="/ppt/slides/charts/chart6.xml" Id="R0a0c7681a54c489c" /><Relationship Type="http://schemas.openxmlformats.org/officeDocument/2006/relationships/notesSlide" Target="/ppt/notesSlides/notesSlide18.xml" Id="Rfc5a9b604256496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5c323d761d684c51" /><Relationship Type="http://schemas.openxmlformats.org/officeDocument/2006/relationships/chart" Target="/ppt/slides/charts/chart7.xml" Id="R00478ff6b6244160" /><Relationship Type="http://schemas.openxmlformats.org/officeDocument/2006/relationships/chart" Target="/ppt/slides/charts/chart8.xml" Id="Ra486e570e2c94af4" /><Relationship Type="http://schemas.openxmlformats.org/officeDocument/2006/relationships/notesSlide" Target="/ppt/notesSlides/notesSlide19.xml" Id="Red07895eb951417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72462ebfb2474062" /><Relationship Type="http://schemas.openxmlformats.org/officeDocument/2006/relationships/notesSlide" Target="/ppt/notesSlides/notesSlide20.xml" Id="Rc27a8b6bfa8f4d1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e1a045ea68704584" /><Relationship Type="http://schemas.openxmlformats.org/officeDocument/2006/relationships/notesSlide" Target="/ppt/notesSlides/notesSlide21.xml" Id="R1830f3f4ddc648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40176bbf9464682" /><Relationship Type="http://schemas.openxmlformats.org/officeDocument/2006/relationships/notesSlide" Target="/ppt/notesSlides/notesSlide22.xml" Id="R6ffd4833f47a42b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6a35acd75c8249d9" /><Relationship Type="http://schemas.openxmlformats.org/officeDocument/2006/relationships/notesSlide" Target="/ppt/notesSlides/notesSlide23.xml" Id="R08b6d786fa4244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df13a74fa7bc4519" /><Relationship Type="http://schemas.openxmlformats.org/officeDocument/2006/relationships/hyperlink" Target="https://doi.org/10.1016/j.jcp.2018.10.045" TargetMode="External" Id="Rfdb88149d3d14c9f" /><Relationship Type="http://schemas.openxmlformats.org/officeDocument/2006/relationships/hyperlink" Target="https://arxiv.org/abs/2102.04626" TargetMode="External" Id="R1b81b3e0e2fa4b70" /><Relationship Type="http://schemas.openxmlformats.org/officeDocument/2006/relationships/hyperlink" Target="https://doi.org/10.1137/20M1318043" TargetMode="External" Id="R7ea5eb499b74463c" /><Relationship Type="http://schemas.openxmlformats.org/officeDocument/2006/relationships/hyperlink" Target="https://doi.org/10.1016/j.cma.2021.113938" TargetMode="External" Id="Rfd4d08b9e17746c0" /><Relationship Type="http://schemas.openxmlformats.org/officeDocument/2006/relationships/hyperlink" Target="https://doi.org/10.1016/j.jcp.2020.109913" TargetMode="External" Id="Rc8a1ba11700d4f5e" /><Relationship Type="http://schemas.openxmlformats.org/officeDocument/2006/relationships/hyperlink" Target="https://www.nature.com/articles/s42256-021-00302-5" TargetMode="External" Id="Rc001b37e271d434d" /><Relationship Type="http://schemas.openxmlformats.org/officeDocument/2006/relationships/hyperlink" Target="https://arxiv.org/abs/2010.08895" TargetMode="External" Id="Rd48ff0074c724119" /><Relationship Type="http://schemas.openxmlformats.org/officeDocument/2006/relationships/hyperlink" Target="https://github.com/aadams2006/Pitt-ML-MSE-Project/pull/6" TargetMode="External" Id="Rc2a2f3cbe76b4baf" /><Relationship Type="http://schemas.openxmlformats.org/officeDocument/2006/relationships/notesSlide" Target="/ppt/notesSlides/notesSlide24.xml" Id="R6e77ada2e49046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Held-out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0.122251174504</c:v>
                </c:pt>
                <c:pt idx="1">
                  <c:v>0.122413918793</c:v>
                </c:pt>
                <c:pt idx="2">
                  <c:v>0.211947087379</c:v>
                </c:pt>
                <c:pt idx="3">
                  <c:v>0.0669798898392</c:v>
                </c:pt>
                <c:pt idx="4">
                  <c:v>0.0649327549626</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25"/>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Bonded thickness at held-out concentrations</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scatterChart>
        <c:scatterStyle val="marker"/>
        <c:varyColors val="0"/>
        <c:ser>
          <c:idx val="0"/>
          <c:order val="0"/>
          <c:tx>
            <c:v>Observed</c:v>
          </c:tx>
          <c:spPr>
            <a:ln xmlns:a="http://schemas.openxmlformats.org/drawingml/2006/main" w="0">
              <a:noFill/>
            </a:ln>
          </c:spPr>
          <c:marker>
            <c:symbol val="circle"/>
            <c:size val="6"/>
            <c:spPr>
              <a:solidFill xmlns:a="http://schemas.openxmlformats.org/drawingml/2006/main">
                <a:srgbClr val="65717B"/>
              </a:solidFill>
            </c:spPr>
          </c:marker>
          <c:xVal>
            <c:numRef>
              <c:f>'Chart Data'!$A$2:$A$11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Data'!$B$2:$B$11</c:f>
              <c:numCache>
                <c:formatCode>0.0</c:formatCode>
                <c:ptCount val="10"/>
                <c:pt idx="0">
                  <c:v>0.55</c:v>
                </c:pt>
                <c:pt idx="1">
                  <c:v>0.56</c:v>
                </c:pt>
                <c:pt idx="2">
                  <c:v>0.57</c:v>
                </c:pt>
                <c:pt idx="3">
                  <c:v>0.56</c:v>
                </c:pt>
                <c:pt idx="4">
                  <c:v>0.55</c:v>
                </c:pt>
                <c:pt idx="5">
                  <c:v>0.55</c:v>
                </c:pt>
                <c:pt idx="6">
                  <c:v>0.5</c:v>
                </c:pt>
                <c:pt idx="7">
                  <c:v>0.53</c:v>
                </c:pt>
                <c:pt idx="8">
                  <c:v>0.52</c:v>
                </c:pt>
                <c:pt idx="9">
                  <c:v>0.51</c:v>
                </c:pt>
              </c:numCache>
            </c:numRef>
          </c:yVal>
        </c:ser>
        <c:ser>
          <c:idx val="1"/>
          <c:order val="1"/>
          <c:tx>
            <c:v>PINN</c:v>
          </c:tx>
          <c:spPr>
            <a:ln xmlns:a="http://schemas.openxmlformats.org/drawingml/2006/main" w="0">
              <a:noFill/>
            </a:ln>
          </c:spPr>
          <c:marker>
            <c:symbol val="diamond"/>
            <c:size val="6"/>
            <c:spPr>
              <a:solidFill xmlns:a="http://schemas.openxmlformats.org/drawingml/2006/main">
                <a:srgbClr val="B49A45"/>
              </a:solidFill>
            </c:spPr>
          </c:marker>
          <c:xVal>
            <c:numRef>
              <c:f>'Chart Data'!$C$2:$C$11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Data'!$D$2:$D$11</c:f>
              <c:numCache>
                <c:formatCode>0.0</c:formatCode>
                <c:ptCount val="10"/>
                <c:pt idx="0">
                  <c:v>0.56907463</c:v>
                </c:pt>
                <c:pt idx="1">
                  <c:v>0.5641197</c:v>
                </c:pt>
                <c:pt idx="2">
                  <c:v>0.5681376</c:v>
                </c:pt>
                <c:pt idx="3">
                  <c:v>0.72506624</c:v>
                </c:pt>
                <c:pt idx="4">
                  <c:v>0.7303391</c:v>
                </c:pt>
                <c:pt idx="5">
                  <c:v>0.74429506</c:v>
                </c:pt>
                <c:pt idx="6">
                  <c:v>1.3099606</c:v>
                </c:pt>
                <c:pt idx="7">
                  <c:v>1.2968558</c:v>
                </c:pt>
                <c:pt idx="8">
                  <c:v>1.3546778</c:v>
                </c:pt>
                <c:pt idx="9">
                  <c:v>1.8386797</c:v>
                </c:pt>
              </c:numCache>
            </c:numRef>
          </c:yVal>
        </c:ser>
        <c:ser>
          <c:idx val="2"/>
          <c:order val="2"/>
          <c:tx>
            <c:v>RF</c:v>
          </c:tx>
          <c:spPr>
            <a:ln xmlns:a="http://schemas.openxmlformats.org/drawingml/2006/main" w="0">
              <a:noFill/>
            </a:ln>
          </c:spPr>
          <c:marker>
            <c:symbol val="square"/>
            <c:size val="5"/>
            <c:spPr>
              <a:solidFill xmlns:a="http://schemas.openxmlformats.org/drawingml/2006/main">
                <a:srgbClr val="002B5E"/>
              </a:solidFill>
            </c:spPr>
          </c:marker>
          <c:xVal>
            <c:numRef>
              <c:f>'Chart Data'!$E$2:$E$11</c:f>
              <c:numCache>
                <c:formatCode>General</c:formatCode>
                <c:ptCount val="10"/>
                <c:pt idx="0">
                  <c:v>3</c:v>
                </c:pt>
                <c:pt idx="1">
                  <c:v>3</c:v>
                </c:pt>
                <c:pt idx="2">
                  <c:v>3</c:v>
                </c:pt>
                <c:pt idx="3">
                  <c:v>5</c:v>
                </c:pt>
                <c:pt idx="4">
                  <c:v>5</c:v>
                </c:pt>
                <c:pt idx="5">
                  <c:v>5</c:v>
                </c:pt>
                <c:pt idx="6">
                  <c:v>7</c:v>
                </c:pt>
                <c:pt idx="7">
                  <c:v>7</c:v>
                </c:pt>
                <c:pt idx="8">
                  <c:v>7</c:v>
                </c:pt>
                <c:pt idx="9">
                  <c:v>10</c:v>
                </c:pt>
              </c:numCache>
            </c:numRef>
          </c:xVal>
          <c:yVal>
            <c:numRef>
              <c:f>'Chart Data'!$F$2:$F$11</c:f>
              <c:numCache>
                <c:formatCode>0.0</c:formatCode>
                <c:ptCount val="10"/>
                <c:pt idx="0">
                  <c:v>0.579423108466</c:v>
                </c:pt>
                <c:pt idx="1">
                  <c:v>0.580101441799</c:v>
                </c:pt>
                <c:pt idx="2">
                  <c:v>0.579423108466</c:v>
                </c:pt>
                <c:pt idx="3">
                  <c:v>0.579423108466</c:v>
                </c:pt>
                <c:pt idx="4">
                  <c:v>0.580101441799</c:v>
                </c:pt>
                <c:pt idx="5">
                  <c:v>0.580101441799</c:v>
                </c:pt>
                <c:pt idx="6">
                  <c:v>0.499368168591</c:v>
                </c:pt>
                <c:pt idx="7">
                  <c:v>0.499368168591</c:v>
                </c:pt>
                <c:pt idx="8">
                  <c:v>0.499368168591</c:v>
                </c:pt>
                <c:pt idx="9">
                  <c:v>0.570919464887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3"/>
        </c:scaling>
        <c:delete val="0"/>
        <c:axPos val="l"/>
        <c:majorGridlines>
          <c:spPr>
            <a:ln xmlns:a="http://schemas.openxmlformats.org/drawingml/2006/main" w="5715">
              <a:solidFill>
                <a:srgbClr val="E3E8ED"/>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
          <c:min val="2"/>
        </c:scaling>
        <c:delete val="0"/>
        <c:axPos val="b"/>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Recorded concentration</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holdout RMSE (nm)</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barChart>
        <c:barDir val="col"/>
        <c:grouping val="clustered"/>
        <c:varyColors val="0"/>
        <c:ser>
          <c:idx val="0"/>
          <c:order val="0"/>
          <c:tx>
            <c:v>RMSE (nm)</c:v>
          </c:tx>
          <c:spPr>
            <a:solidFill xmlns:a="http://schemas.openxmlformats.org/drawingml/2006/main">
              <a:srgbClr val="6F8FAE"/>
            </a:solidFill>
          </c:spPr>
          <c:invertIfNegative val="0"/>
          <c:dPt>
            <c:idx val="0"/>
            <c:invertIfNegative val="0"/>
            <c:spPr>
              <a:solidFill xmlns:a="http://schemas.openxmlformats.org/drawingml/2006/main">
                <a:srgbClr val="B49A45"/>
              </a:solidFill>
            </c:spPr>
          </c:dPt>
          <c:dPt>
            <c:idx val="3"/>
            <c:invertIfNegative val="0"/>
            <c:spPr>
              <a:solidFill xmlns:a="http://schemas.openxmlformats.org/drawingml/2006/main">
                <a:srgbClr val="002B5E"/>
              </a:solidFill>
            </c:spPr>
          </c:dPt>
          <c:cat>
            <c:strRef>
              <c:f>'Chart Data'!$A$2:$A$6</c:f>
              <c:strCache>
                <c:ptCount val="5"/>
                <c:pt idx="0">
                  <c:v>PINN</c:v>
                </c:pt>
                <c:pt idx="1">
                  <c:v>Bounded</c:v>
                </c:pt>
                <c:pt idx="2">
                  <c:v>Standard</c:v>
                </c:pt>
                <c:pt idx="3">
                  <c:v>RF</c:v>
                </c:pt>
                <c:pt idx="4">
                  <c:v>GB</c:v>
                </c:pt>
              </c:strCache>
            </c:strRef>
          </c:cat>
          <c:val>
            <c:numRef>
              <c:f>'Chart Data'!$B$2:$B$6</c:f>
              <c:numCache>
                <c:formatCode>0.000</c:formatCode>
                <c:ptCount val="5"/>
                <c:pt idx="0">
                  <c:v>0.0557184336452</c:v>
                </c:pt>
                <c:pt idx="1">
                  <c:v>0.0551370011058</c:v>
                </c:pt>
                <c:pt idx="2">
                  <c:v>0.0541327713898</c:v>
                </c:pt>
                <c:pt idx="3">
                  <c:v>0.0359033641316</c:v>
                </c:pt>
                <c:pt idx="4">
                  <c:v>0.0747828628055</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050" b="1">
                  <a:solidFill>
                    <a:srgbClr val="002B5E"/>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9E5"/>
            </a:solidFill>
          </a:ln>
        </c:spPr>
        <c:txPr>
          <a:bodyPr xmlns:a="http://schemas.openxmlformats.org/drawingml/2006/main" anchorCtr="1"/>
          <a:lstStyle xmlns:a="http://schemas.openxmlformats.org/drawingml/2006/main"/>
          <a:p xmlns:a="http://schemas.openxmlformats.org/drawingml/2006/main">
            <a:pPr>
              <a:defRPr sz="1125">
                <a:solidFill>
                  <a:srgbClr val="65717B"/>
                </a:solidFill>
                <a:latin typeface="Arial"/>
                <a:ea typeface="Arial"/>
                <a:cs typeface="Arial"/>
              </a:defRPr>
            </a:pPr>
          </a:p>
        </c:txPr>
        <c:crossAx val="48672768"/>
      </c:catAx>
      <c:valAx>
        <c:axId val="48672768"/>
        <c:scaling>
          <c:orientation val="minMax"/>
          <c:max val="0.09"/>
          <c:min val="0"/>
        </c:scaling>
        <c:delete val="0"/>
        <c:axPos val="l"/>
        <c:majorGridlines>
          <c:spPr>
            <a:ln xmlns:a="http://schemas.openxmlformats.org/drawingml/2006/main" w="5715">
              <a:solidFill>
                <a:srgbClr val="E3E8E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PINN</c:v>
          </c:tx>
          <c:spPr>
            <a:ln xmlns:a="http://schemas.openxmlformats.org/drawingml/2006/main" w="0">
              <a:noFill/>
            </a:ln>
          </c:spPr>
          <c:marker>
            <c:symbol val="circle"/>
            <c:size val="4"/>
            <c:spPr>
              <a:solidFill xmlns:a="http://schemas.openxmlformats.org/drawingml/2006/main">
                <a:srgbClr val="B49A45"/>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0.59696734</c:v>
                </c:pt>
                <c:pt idx="1">
                  <c:v>0.5486745</c:v>
                </c:pt>
                <c:pt idx="2">
                  <c:v>0.34996343</c:v>
                </c:pt>
                <c:pt idx="3">
                  <c:v>0.48975813</c:v>
                </c:pt>
                <c:pt idx="4">
                  <c:v>0.59696734</c:v>
                </c:pt>
                <c:pt idx="5">
                  <c:v>0.49593437</c:v>
                </c:pt>
                <c:pt idx="6">
                  <c:v>0.60311306</c:v>
                </c:pt>
                <c:pt idx="7">
                  <c:v>0.5283603</c:v>
                </c:pt>
                <c:pt idx="8">
                  <c:v>0.60311306</c:v>
                </c:pt>
                <c:pt idx="9">
                  <c:v>0.5024233</c:v>
                </c:pt>
                <c:pt idx="10">
                  <c:v>0.5486745</c:v>
                </c:pt>
                <c:pt idx="11">
                  <c:v>0.49593437</c:v>
                </c:pt>
                <c:pt idx="12">
                  <c:v>0.546766</c:v>
                </c:pt>
                <c:pt idx="13">
                  <c:v>0.5486745</c:v>
                </c:pt>
                <c:pt idx="14">
                  <c:v>0.60311306</c:v>
                </c:pt>
                <c:pt idx="15">
                  <c:v>0.36521357</c:v>
                </c:pt>
                <c:pt idx="16">
                  <c:v>0.59696734</c:v>
                </c:pt>
                <c:pt idx="17">
                  <c:v>0.60311306</c:v>
                </c:pt>
                <c:pt idx="18">
                  <c:v>0.6356003</c:v>
                </c:pt>
                <c:pt idx="19">
                  <c:v>0.5450106</c:v>
                </c:pt>
                <c:pt idx="20">
                  <c:v>0.5370819</c:v>
                </c:pt>
                <c:pt idx="21">
                  <c:v>0.56144875</c:v>
                </c:pt>
                <c:pt idx="22">
                  <c:v>0.50907737</c:v>
                </c:pt>
                <c:pt idx="23">
                  <c:v>0.343968</c:v>
                </c:pt>
                <c:pt idx="24">
                  <c:v>0.50547767</c:v>
                </c:pt>
                <c:pt idx="25">
                  <c:v>0.6098168</c:v>
                </c:pt>
                <c:pt idx="26">
                  <c:v>0.59196347</c:v>
                </c:pt>
                <c:pt idx="27">
                  <c:v>0.52718467</c:v>
                </c:pt>
                <c:pt idx="28">
                  <c:v>0.5582989</c:v>
                </c:pt>
                <c:pt idx="29">
                  <c:v>0.6326119</c:v>
                </c:pt>
                <c:pt idx="30">
                  <c:v>0.5139351</c:v>
                </c:pt>
                <c:pt idx="31">
                  <c:v>0.552439</c:v>
                </c:pt>
                <c:pt idx="32">
                  <c:v>0.56615996</c:v>
                </c:pt>
                <c:pt idx="33">
                  <c:v>0.5166878</c:v>
                </c:pt>
                <c:pt idx="34">
                  <c:v>0.57790685</c:v>
                </c:pt>
                <c:pt idx="35">
                  <c:v>0.53585434</c:v>
                </c:pt>
                <c:pt idx="36">
                  <c:v>0.5123666</c:v>
                </c:pt>
                <c:pt idx="37">
                  <c:v>0.540307</c:v>
                </c:pt>
                <c:pt idx="38">
                  <c:v>0.5067889</c:v>
                </c:pt>
                <c:pt idx="39">
                  <c:v>0.5145946</c:v>
                </c:pt>
                <c:pt idx="40">
                  <c:v>0.56844705</c:v>
                </c:pt>
                <c:pt idx="41">
                  <c:v>0.5704627</c:v>
                </c:pt>
                <c:pt idx="42">
                  <c:v>0.37184486</c:v>
                </c:pt>
                <c:pt idx="43">
                  <c:v>0.595492</c:v>
                </c:pt>
                <c:pt idx="44">
                  <c:v>0.3755845</c:v>
                </c:pt>
                <c:pt idx="45">
                  <c:v>0.55729574</c:v>
                </c:pt>
                <c:pt idx="46">
                  <c:v>0.5595283</c:v>
                </c:pt>
                <c:pt idx="47">
                  <c:v>0.41618788</c:v>
                </c:pt>
                <c:pt idx="48">
                  <c:v>0.603833</c:v>
                </c:pt>
                <c:pt idx="49">
                  <c:v>0.39425188</c:v>
                </c:pt>
                <c:pt idx="50">
                  <c:v>0.5997098</c:v>
                </c:pt>
                <c:pt idx="51">
                  <c:v>0.5571774</c:v>
                </c:pt>
                <c:pt idx="52">
                  <c:v>0.5564956</c:v>
                </c:pt>
                <c:pt idx="53">
                  <c:v>0.51107764</c:v>
                </c:pt>
                <c:pt idx="54">
                  <c:v>0.4143212</c:v>
                </c:pt>
                <c:pt idx="55">
                  <c:v>0.5766692</c:v>
                </c:pt>
                <c:pt idx="56">
                  <c:v>0.56272614</c:v>
                </c:pt>
                <c:pt idx="57">
                  <c:v>0.5460838</c:v>
                </c:pt>
                <c:pt idx="58">
                  <c:v>0.5398583</c:v>
                </c:pt>
                <c:pt idx="59">
                  <c:v>0.5580388</c:v>
                </c:pt>
                <c:pt idx="60">
                  <c:v>0.5481931</c:v>
                </c:pt>
                <c:pt idx="61">
                  <c:v>0.5656163</c:v>
                </c:pt>
                <c:pt idx="62">
                  <c:v>0.5316548</c:v>
                </c:pt>
                <c:pt idx="63">
                  <c:v>0.5165249</c:v>
                </c:pt>
                <c:pt idx="64">
                  <c:v>0.5595182</c:v>
                </c:pt>
                <c:pt idx="65">
                  <c:v>0.36208704</c:v>
                </c:pt>
                <c:pt idx="66">
                  <c:v>0.5524334</c:v>
                </c:pt>
                <c:pt idx="67">
                  <c:v>0.47222742</c:v>
                </c:pt>
                <c:pt idx="68">
                  <c:v>0.5273232</c:v>
                </c:pt>
                <c:pt idx="69">
                  <c:v>0.57198775</c:v>
                </c:pt>
                <c:pt idx="70">
                  <c:v>0.5097155</c:v>
                </c:pt>
                <c:pt idx="71">
                  <c:v>0.4059473</c:v>
                </c:pt>
                <c:pt idx="72">
                  <c:v>0.36165175</c:v>
                </c:pt>
                <c:pt idx="73">
                  <c:v>0.5441243</c:v>
                </c:pt>
                <c:pt idx="74">
                  <c:v>0.6152657</c:v>
                </c:pt>
                <c:pt idx="75">
                  <c:v>0.5703117</c:v>
                </c:pt>
                <c:pt idx="76">
                  <c:v>0.51757437</c:v>
                </c:pt>
                <c:pt idx="77">
                  <c:v>0.5546082</c:v>
                </c:pt>
                <c:pt idx="78">
                  <c:v>0.57271194</c:v>
                </c:pt>
                <c:pt idx="79">
                  <c:v>0.36111122</c:v>
                </c:pt>
                <c:pt idx="80">
                  <c:v>0.5383311</c:v>
                </c:pt>
                <c:pt idx="81">
                  <c:v>0.56072354</c:v>
                </c:pt>
                <c:pt idx="82">
                  <c:v>0.525246</c:v>
                </c:pt>
                <c:pt idx="83">
                  <c:v>0.5754508</c:v>
                </c:pt>
                <c:pt idx="84">
                  <c:v>0.5475229</c:v>
                </c:pt>
                <c:pt idx="85">
                  <c:v>0.53858346</c:v>
                </c:pt>
                <c:pt idx="86">
                  <c:v>0.53884727</c:v>
                </c:pt>
                <c:pt idx="87">
                  <c:v>0.5266072</c:v>
                </c:pt>
                <c:pt idx="88">
                  <c:v>0.50878423</c:v>
                </c:pt>
                <c:pt idx="89">
                  <c:v>0.4466353</c:v>
                </c:pt>
                <c:pt idx="90">
                  <c:v>0.45149878</c:v>
                </c:pt>
                <c:pt idx="91">
                  <c:v>0.34461737</c:v>
                </c:pt>
                <c:pt idx="92">
                  <c:v>0.47793487</c:v>
                </c:pt>
                <c:pt idx="93">
                  <c:v>0.5675328</c:v>
                </c:pt>
                <c:pt idx="94">
                  <c:v>0.5718567</c:v>
                </c:pt>
                <c:pt idx="95">
                  <c:v>0.5542081</c:v>
                </c:pt>
                <c:pt idx="96">
                  <c:v>0.50970703</c:v>
                </c:pt>
                <c:pt idx="97">
                  <c:v>0.501267</c:v>
                </c:pt>
                <c:pt idx="98">
                  <c:v>0.46750587</c:v>
                </c:pt>
                <c:pt idx="99">
                  <c:v>0.40739208</c:v>
                </c:pt>
                <c:pt idx="100">
                  <c:v>0.36329666</c:v>
                </c:pt>
                <c:pt idx="101">
                  <c:v>0.5340791</c:v>
                </c:pt>
                <c:pt idx="102">
                  <c:v>0.63416725</c:v>
                </c:pt>
                <c:pt idx="103">
                  <c:v>0.5491251</c:v>
                </c:pt>
                <c:pt idx="104">
                  <c:v>0.5903047</c:v>
                </c:pt>
                <c:pt idx="105">
                  <c:v>0.433425</c:v>
                </c:pt>
                <c:pt idx="106">
                  <c:v>0.5062768</c:v>
                </c:pt>
                <c:pt idx="107">
                  <c:v>0.52567065</c:v>
                </c:pt>
                <c:pt idx="108">
                  <c:v>0.37356365</c:v>
                </c:pt>
                <c:pt idx="109">
                  <c:v>0.48010248</c:v>
                </c:pt>
                <c:pt idx="110">
                  <c:v>0.55518</c:v>
                </c:pt>
                <c:pt idx="111">
                  <c:v>0.513375</c:v>
                </c:pt>
                <c:pt idx="112">
                  <c:v>0.53191835</c:v>
                </c:pt>
                <c:pt idx="113">
                  <c:v>0.5682764</c:v>
                </c:pt>
                <c:pt idx="114">
                  <c:v>0.36433268</c:v>
                </c:pt>
                <c:pt idx="115">
                  <c:v>0.5343763</c:v>
                </c:pt>
                <c:pt idx="116">
                  <c:v>0.5404621</c:v>
                </c:pt>
                <c:pt idx="117">
                  <c:v>0.5390822</c:v>
                </c:pt>
                <c:pt idx="118">
                  <c:v>0.6064009</c:v>
                </c:pt>
                <c:pt idx="119">
                  <c:v>0.5109565</c:v>
                </c:pt>
                <c:pt idx="120">
                  <c:v>0.630664</c:v>
                </c:pt>
                <c:pt idx="121">
                  <c:v>0.3624343</c:v>
                </c:pt>
                <c:pt idx="122">
                  <c:v>0.5764871</c:v>
                </c:pt>
                <c:pt idx="123">
                  <c:v>0.5563527</c:v>
                </c:pt>
                <c:pt idx="124">
                  <c:v>0.5329247</c:v>
                </c:pt>
                <c:pt idx="125">
                  <c:v>0.5579428</c:v>
                </c:pt>
                <c:pt idx="126">
                  <c:v>0.5121247</c:v>
                </c:pt>
                <c:pt idx="127">
                  <c:v>0.44877568</c:v>
                </c:pt>
                <c:pt idx="128">
                  <c:v>0.37329012</c:v>
                </c:pt>
                <c:pt idx="129">
                  <c:v>0.56026417</c:v>
                </c:pt>
                <c:pt idx="130">
                  <c:v>0.55419606</c:v>
                </c:pt>
                <c:pt idx="131">
                  <c:v>0.5927572</c:v>
                </c:pt>
                <c:pt idx="132">
                  <c:v>0.6110346</c:v>
                </c:pt>
                <c:pt idx="133">
                  <c:v>0.5148594</c:v>
                </c:pt>
                <c:pt idx="134">
                  <c:v>0.47473273</c:v>
                </c:pt>
                <c:pt idx="135">
                  <c:v>0.6277075</c:v>
                </c:pt>
                <c:pt idx="136">
                  <c:v>0.5484341</c:v>
                </c:pt>
                <c:pt idx="137">
                  <c:v>0.5190001</c:v>
                </c:pt>
                <c:pt idx="138">
                  <c:v>0.38325247</c:v>
                </c:pt>
                <c:pt idx="139">
                  <c:v>0.50751513</c:v>
                </c:pt>
                <c:pt idx="140">
                  <c:v>0.5177406</c:v>
                </c:pt>
                <c:pt idx="141">
                  <c:v>0.40173277</c:v>
                </c:pt>
                <c:pt idx="142">
                  <c:v>0.6261041</c:v>
                </c:pt>
                <c:pt idx="143">
                  <c:v>0.6167446</c:v>
                </c:pt>
                <c:pt idx="144">
                  <c:v>0.5315027</c:v>
                </c:pt>
                <c:pt idx="145">
                  <c:v>0.5168186</c:v>
                </c:pt>
                <c:pt idx="146">
                  <c:v>0.501859</c:v>
                </c:pt>
                <c:pt idx="147">
                  <c:v>0.5253377</c:v>
                </c:pt>
                <c:pt idx="148">
                  <c:v>0.62950474</c:v>
                </c:pt>
                <c:pt idx="149">
                  <c:v>0.5478795</c:v>
                </c:pt>
                <c:pt idx="150">
                  <c:v>0.5704499</c:v>
                </c:pt>
                <c:pt idx="151">
                  <c:v>0.56248915</c:v>
                </c:pt>
                <c:pt idx="152">
                  <c:v>0.55152225</c:v>
                </c:pt>
                <c:pt idx="153">
                  <c:v>0.5570139</c:v>
                </c:pt>
                <c:pt idx="154">
                  <c:v>0.56267244</c:v>
                </c:pt>
                <c:pt idx="155">
                  <c:v>0.6154517</c:v>
                </c:pt>
                <c:pt idx="156">
                  <c:v>0.59457624</c:v>
                </c:pt>
                <c:pt idx="157">
                  <c:v>0.7741603</c:v>
                </c:pt>
                <c:pt idx="158">
                  <c:v>0.78898036</c:v>
                </c:pt>
                <c:pt idx="159">
                  <c:v>0.31024674</c:v>
                </c:pt>
                <c:pt idx="160">
                  <c:v>0.3109943</c:v>
                </c:pt>
                <c:pt idx="161">
                  <c:v>0.33040112</c:v>
                </c:pt>
                <c:pt idx="162">
                  <c:v>0.6162786</c:v>
                </c:pt>
                <c:pt idx="163">
                  <c:v>0.75064796</c:v>
                </c:pt>
                <c:pt idx="164">
                  <c:v>0.31977916</c:v>
                </c:pt>
                <c:pt idx="165">
                  <c:v>0.30681708</c:v>
                </c:pt>
                <c:pt idx="166">
                  <c:v>0.64002573</c:v>
                </c:pt>
                <c:pt idx="167">
                  <c:v>0.3188815</c:v>
                </c:pt>
                <c:pt idx="168">
                  <c:v>0.34968445</c:v>
                </c:pt>
                <c:pt idx="169">
                  <c:v>0.3102258</c:v>
                </c:pt>
                <c:pt idx="170">
                  <c:v>0.351761</c:v>
                </c:pt>
                <c:pt idx="171">
                  <c:v>0.98227185</c:v>
                </c:pt>
                <c:pt idx="172">
                  <c:v>0.31111902</c:v>
                </c:pt>
                <c:pt idx="173">
                  <c:v>0.5412023</c:v>
                </c:pt>
                <c:pt idx="174">
                  <c:v>0.320608</c:v>
                </c:pt>
                <c:pt idx="175">
                  <c:v>0.34373486</c:v>
                </c:pt>
                <c:pt idx="176">
                  <c:v>0.9369762</c:v>
                </c:pt>
                <c:pt idx="177">
                  <c:v>0.6574708</c:v>
                </c:pt>
                <c:pt idx="178">
                  <c:v>0.9585298</c:v>
                </c:pt>
                <c:pt idx="179">
                  <c:v>0.30756852</c:v>
                </c:pt>
                <c:pt idx="180">
                  <c:v>0.28737414</c:v>
                </c:pt>
                <c:pt idx="181">
                  <c:v>0.6264132</c:v>
                </c:pt>
                <c:pt idx="182">
                  <c:v>0.31119606</c:v>
                </c:pt>
                <c:pt idx="183">
                  <c:v>0.7657151</c:v>
                </c:pt>
                <c:pt idx="184">
                  <c:v>0.6432699</c:v>
                </c:pt>
                <c:pt idx="185">
                  <c:v>0.33270204</c:v>
                </c:pt>
                <c:pt idx="186">
                  <c:v>0.45352426</c:v>
                </c:pt>
                <c:pt idx="187">
                  <c:v>0.58496237</c:v>
                </c:pt>
                <c:pt idx="188">
                  <c:v>0.5745471</c:v>
                </c:pt>
                <c:pt idx="189">
                  <c:v>0.3837499</c:v>
                </c:pt>
                <c:pt idx="190">
                  <c:v>0.91348404</c:v>
                </c:pt>
                <c:pt idx="191">
                  <c:v>0.31157997</c:v>
                </c:pt>
                <c:pt idx="192">
                  <c:v>1.007314</c:v>
                </c:pt>
                <c:pt idx="193">
                  <c:v>0.3410277</c:v>
                </c:pt>
                <c:pt idx="194">
                  <c:v>0.3231</c:v>
                </c:pt>
                <c:pt idx="195">
                  <c:v>0.6441148</c:v>
                </c:pt>
                <c:pt idx="196">
                  <c:v>0.75160974</c:v>
                </c:pt>
                <c:pt idx="197">
                  <c:v>0.679096</c:v>
                </c:pt>
                <c:pt idx="198">
                  <c:v>0.3170719</c:v>
                </c:pt>
                <c:pt idx="199">
                  <c:v>0.30580547</c:v>
                </c:pt>
                <c:pt idx="200">
                  <c:v>1.0678182</c:v>
                </c:pt>
                <c:pt idx="201">
                  <c:v>1.0109125</c:v>
                </c:pt>
                <c:pt idx="202">
                  <c:v>0.9420595</c:v>
                </c:pt>
                <c:pt idx="203">
                  <c:v>0.32290617</c:v>
                </c:pt>
                <c:pt idx="204">
                  <c:v>0.75941753</c:v>
                </c:pt>
                <c:pt idx="205">
                  <c:v>0.44870865</c:v>
                </c:pt>
                <c:pt idx="206">
                  <c:v>0.66289204</c:v>
                </c:pt>
                <c:pt idx="207">
                  <c:v>0.63752294</c:v>
                </c:pt>
                <c:pt idx="208">
                  <c:v>0.29120874</c:v>
                </c:pt>
                <c:pt idx="209">
                  <c:v>0.3695116</c:v>
                </c:pt>
                <c:pt idx="210">
                  <c:v>0.35971785</c:v>
                </c:pt>
                <c:pt idx="211">
                  <c:v>0.72831947</c:v>
                </c:pt>
                <c:pt idx="212">
                  <c:v>0.3184255</c:v>
                </c:pt>
                <c:pt idx="213">
                  <c:v>0.4530694</c:v>
                </c:pt>
                <c:pt idx="214">
                  <c:v>0.6370243</c:v>
                </c:pt>
                <c:pt idx="215">
                  <c:v>0.77186275</c:v>
                </c:pt>
                <c:pt idx="216">
                  <c:v>0.3430235</c:v>
                </c:pt>
                <c:pt idx="217">
                  <c:v>0.9738897</c:v>
                </c:pt>
                <c:pt idx="218">
                  <c:v>0.291375</c:v>
                </c:pt>
                <c:pt idx="219">
                  <c:v>0.58704054</c:v>
                </c:pt>
                <c:pt idx="220">
                  <c:v>0.77597976</c:v>
                </c:pt>
                <c:pt idx="221">
                  <c:v>0.6383151</c:v>
                </c:pt>
                <c:pt idx="222">
                  <c:v>0.97503173</c:v>
                </c:pt>
                <c:pt idx="223">
                  <c:v>0.3477485</c:v>
                </c:pt>
                <c:pt idx="224">
                  <c:v>0.4793764</c:v>
                </c:pt>
                <c:pt idx="225">
                  <c:v>1.0771691</c:v>
                </c:pt>
                <c:pt idx="226">
                  <c:v>0.59222627</c:v>
                </c:pt>
                <c:pt idx="227">
                  <c:v>0.94769806</c:v>
                </c:pt>
                <c:pt idx="228">
                  <c:v>0.34086427</c:v>
                </c:pt>
                <c:pt idx="229">
                  <c:v>0.35237104</c:v>
                </c:pt>
                <c:pt idx="230">
                  <c:v>0.35577932</c:v>
                </c:pt>
                <c:pt idx="231">
                  <c:v>0.9534315</c:v>
                </c:pt>
                <c:pt idx="232">
                  <c:v>0.46525842</c:v>
                </c:pt>
                <c:pt idx="233">
                  <c:v>0.35236156</c:v>
                </c:pt>
                <c:pt idx="234">
                  <c:v>0.34490296</c:v>
                </c:pt>
                <c:pt idx="235">
                  <c:v>0.34955132</c:v>
                </c:pt>
                <c:pt idx="236">
                  <c:v>0.3583921</c:v>
                </c:pt>
                <c:pt idx="237">
                  <c:v>0.5988566</c:v>
                </c:pt>
                <c:pt idx="238">
                  <c:v>0.46222463</c:v>
                </c:pt>
                <c:pt idx="239">
                  <c:v>0.6217774</c:v>
                </c:pt>
                <c:pt idx="240">
                  <c:v>0.38397256</c:v>
                </c:pt>
                <c:pt idx="241">
                  <c:v>0.76098293</c:v>
                </c:pt>
                <c:pt idx="242">
                  <c:v>1.0141757</c:v>
                </c:pt>
                <c:pt idx="243">
                  <c:v>0.650197</c:v>
                </c:pt>
                <c:pt idx="244">
                  <c:v>0.9551995</c:v>
                </c:pt>
                <c:pt idx="245">
                  <c:v>0.34681362</c:v>
                </c:pt>
                <c:pt idx="246">
                  <c:v>0.38354787</c:v>
                </c:pt>
                <c:pt idx="247">
                  <c:v>0.4808741</c:v>
                </c:pt>
                <c:pt idx="248">
                  <c:v>0.65980554</c:v>
                </c:pt>
                <c:pt idx="249">
                  <c:v>0.31123573</c:v>
                </c:pt>
                <c:pt idx="250">
                  <c:v>0.7033042</c:v>
                </c:pt>
                <c:pt idx="251">
                  <c:v>0.9533628</c:v>
                </c:pt>
                <c:pt idx="252">
                  <c:v>0.3558592</c:v>
                </c:pt>
                <c:pt idx="253">
                  <c:v>0.3496911</c:v>
                </c:pt>
                <c:pt idx="254">
                  <c:v>0.30542633</c:v>
                </c:pt>
                <c:pt idx="255">
                  <c:v>0.3588816</c:v>
                </c:pt>
                <c:pt idx="256">
                  <c:v>0.7471549</c:v>
                </c:pt>
                <c:pt idx="257">
                  <c:v>0.32473254</c:v>
                </c:pt>
                <c:pt idx="258">
                  <c:v>0.33307484</c:v>
                </c:pt>
                <c:pt idx="259">
                  <c:v>0.5835719</c:v>
                </c:pt>
                <c:pt idx="260">
                  <c:v>0.3424254</c:v>
                </c:pt>
                <c:pt idx="261">
                  <c:v>0.9292843</c:v>
                </c:pt>
                <c:pt idx="262">
                  <c:v>1.0724971</c:v>
                </c:pt>
                <c:pt idx="263">
                  <c:v>0.31916717</c:v>
                </c:pt>
                <c:pt idx="264">
                  <c:v>0.9684102</c:v>
                </c:pt>
                <c:pt idx="265">
                  <c:v>0.37723765</c:v>
                </c:pt>
                <c:pt idx="266">
                  <c:v>0.30652437</c:v>
                </c:pt>
                <c:pt idx="267">
                  <c:v>0.33780083</c:v>
                </c:pt>
                <c:pt idx="268">
                  <c:v>0.6459459</c:v>
                </c:pt>
                <c:pt idx="269">
                  <c:v>0.34110057</c:v>
                </c:pt>
                <c:pt idx="270">
                  <c:v>0.34647325</c:v>
                </c:pt>
                <c:pt idx="271">
                  <c:v>0.9465083</c:v>
                </c:pt>
                <c:pt idx="272">
                  <c:v>0.33993295</c:v>
                </c:pt>
                <c:pt idx="273">
                  <c:v>0.32076746</c:v>
                </c:pt>
                <c:pt idx="274">
                  <c:v>0.652499</c:v>
                </c:pt>
                <c:pt idx="275">
                  <c:v>0.78674674</c:v>
                </c:pt>
                <c:pt idx="276">
                  <c:v>0.459445</c:v>
                </c:pt>
                <c:pt idx="277">
                  <c:v>1.007115</c:v>
                </c:pt>
                <c:pt idx="278">
                  <c:v>0.3052634</c:v>
                </c:pt>
                <c:pt idx="279">
                  <c:v>0.9558534</c:v>
                </c:pt>
                <c:pt idx="280">
                  <c:v>0.37651128</c:v>
                </c:pt>
                <c:pt idx="281">
                  <c:v>0.35903123</c:v>
                </c:pt>
                <c:pt idx="282">
                  <c:v>0.33037373</c:v>
                </c:pt>
                <c:pt idx="283">
                  <c:v>0.610466</c:v>
                </c:pt>
                <c:pt idx="284">
                  <c:v>0.3232443</c:v>
                </c:pt>
                <c:pt idx="285">
                  <c:v>0.9446252</c:v>
                </c:pt>
                <c:pt idx="286">
                  <c:v>0.31168887</c:v>
                </c:pt>
                <c:pt idx="287">
                  <c:v>0.9593959</c:v>
                </c:pt>
                <c:pt idx="288">
                  <c:v>0.77599174</c:v>
                </c:pt>
                <c:pt idx="289">
                  <c:v>0.7835766</c:v>
                </c:pt>
                <c:pt idx="290">
                  <c:v>0.98326313</c:v>
                </c:pt>
                <c:pt idx="291">
                  <c:v>0.35219797</c:v>
                </c:pt>
                <c:pt idx="292">
                  <c:v>0.64109665</c:v>
                </c:pt>
                <c:pt idx="293">
                  <c:v>0.6156904</c:v>
                </c:pt>
                <c:pt idx="294">
                  <c:v>0.4540681</c:v>
                </c:pt>
                <c:pt idx="295">
                  <c:v>0.61018616</c:v>
                </c:pt>
                <c:pt idx="296">
                  <c:v>0.29005507</c:v>
                </c:pt>
                <c:pt idx="297">
                  <c:v>0.6186749</c:v>
                </c:pt>
                <c:pt idx="298">
                  <c:v>1.0652497</c:v>
                </c:pt>
                <c:pt idx="299">
                  <c:v>0.31727868</c:v>
                </c:pt>
                <c:pt idx="300">
                  <c:v>1.0096625</c:v>
                </c:pt>
                <c:pt idx="301">
                  <c:v>0.9922262</c:v>
                </c:pt>
                <c:pt idx="302">
                  <c:v>1.0669067</c:v>
                </c:pt>
                <c:pt idx="303">
                  <c:v>0.5878344</c:v>
                </c:pt>
                <c:pt idx="304">
                  <c:v>0.3233569</c:v>
                </c:pt>
                <c:pt idx="305">
                  <c:v>0.64815897</c:v>
                </c:pt>
                <c:pt idx="306">
                  <c:v>0.34889483</c:v>
                </c:pt>
                <c:pt idx="307">
                  <c:v>1.065837</c:v>
                </c:pt>
                <c:pt idx="308">
                  <c:v>0.7337007</c:v>
                </c:pt>
                <c:pt idx="309">
                  <c:v>0.76663357</c:v>
                </c:pt>
                <c:pt idx="310">
                  <c:v>0.76842755</c:v>
                </c:pt>
                <c:pt idx="311">
                  <c:v>0.3236134</c:v>
                </c:pt>
                <c:pt idx="312">
                  <c:v>0.96590346</c:v>
                </c:pt>
                <c:pt idx="313">
                  <c:v>0.5768023</c:v>
                </c:pt>
                <c:pt idx="314">
                  <c:v>0.7715338</c:v>
                </c:pt>
                <c:pt idx="315">
                  <c:v>0.43557128</c:v>
                </c:pt>
                <c:pt idx="316">
                  <c:v>0.31301898</c:v>
                </c:pt>
                <c:pt idx="317">
                  <c:v>0.34000894</c:v>
                </c:pt>
                <c:pt idx="318">
                  <c:v>0.52354103</c:v>
                </c:pt>
                <c:pt idx="319">
                  <c:v>0.3656894</c:v>
                </c:pt>
                <c:pt idx="320">
                  <c:v>0.36236158</c:v>
                </c:pt>
                <c:pt idx="321">
                  <c:v>0.36522284</c:v>
                </c:pt>
                <c:pt idx="322">
                  <c:v>0.33678728</c:v>
                </c:pt>
                <c:pt idx="323">
                  <c:v>0.4194828</c:v>
                </c:pt>
                <c:pt idx="324">
                  <c:v>0.68816143</c:v>
                </c:pt>
                <c:pt idx="325">
                  <c:v>0.38991833</c:v>
                </c:pt>
                <c:pt idx="326">
                  <c:v>0.3347279</c:v>
                </c:pt>
                <c:pt idx="327">
                  <c:v>0.42288673</c:v>
                </c:pt>
                <c:pt idx="328">
                  <c:v>0.3497838</c:v>
                </c:pt>
                <c:pt idx="329">
                  <c:v>0.6827942</c:v>
                </c:pt>
                <c:pt idx="330">
                  <c:v>0.700203</c:v>
                </c:pt>
                <c:pt idx="331">
                  <c:v>0.6470103</c:v>
                </c:pt>
                <c:pt idx="332">
                  <c:v>0.3725699</c:v>
                </c:pt>
                <c:pt idx="333">
                  <c:v>0.3525314</c:v>
                </c:pt>
                <c:pt idx="334">
                  <c:v>0.43070814</c:v>
                </c:pt>
                <c:pt idx="335">
                  <c:v>0.4864721</c:v>
                </c:pt>
                <c:pt idx="336">
                  <c:v>0.511518</c:v>
                </c:pt>
                <c:pt idx="337">
                  <c:v>0.34670308</c:v>
                </c:pt>
                <c:pt idx="338">
                  <c:v>0.36607543</c:v>
                </c:pt>
                <c:pt idx="339">
                  <c:v>0.6994619</c:v>
                </c:pt>
                <c:pt idx="340">
                  <c:v>0.4179744</c:v>
                </c:pt>
                <c:pt idx="341">
                  <c:v>0.44083545</c:v>
                </c:pt>
                <c:pt idx="342">
                  <c:v>0.5244096</c:v>
                </c:pt>
                <c:pt idx="343">
                  <c:v>0.37827122</c:v>
                </c:pt>
                <c:pt idx="344">
                  <c:v>0.59573793</c:v>
                </c:pt>
                <c:pt idx="345">
                  <c:v>0.6950214</c:v>
                </c:pt>
                <c:pt idx="346">
                  <c:v>0.6560379</c:v>
                </c:pt>
                <c:pt idx="347">
                  <c:v>0.59686655</c:v>
                </c:pt>
                <c:pt idx="348">
                  <c:v>0.5130307</c:v>
                </c:pt>
                <c:pt idx="349">
                  <c:v>0.47737253</c:v>
                </c:pt>
                <c:pt idx="350">
                  <c:v>0.41293952</c:v>
                </c:pt>
                <c:pt idx="351">
                  <c:v>0.4723819</c:v>
                </c:pt>
                <c:pt idx="352">
                  <c:v>0.35474285</c:v>
                </c:pt>
                <c:pt idx="353">
                  <c:v>0.57865036</c:v>
                </c:pt>
                <c:pt idx="354">
                  <c:v>0.3137741</c:v>
                </c:pt>
                <c:pt idx="355">
                  <c:v>0.50100124</c:v>
                </c:pt>
                <c:pt idx="356">
                  <c:v>0.488815</c:v>
                </c:pt>
                <c:pt idx="357">
                  <c:v>0.3996847</c:v>
                </c:pt>
                <c:pt idx="358">
                  <c:v>0.31842723</c:v>
                </c:pt>
                <c:pt idx="359">
                  <c:v>0.57578486</c:v>
                </c:pt>
                <c:pt idx="360">
                  <c:v>0.67859983</c:v>
                </c:pt>
                <c:pt idx="361">
                  <c:v>0.3596772</c:v>
                </c:pt>
                <c:pt idx="362">
                  <c:v>0.49663055</c:v>
                </c:pt>
                <c:pt idx="363">
                  <c:v>0.579651</c:v>
                </c:pt>
                <c:pt idx="364">
                  <c:v>0.3642018</c:v>
                </c:pt>
                <c:pt idx="365">
                  <c:v>0.36218116</c:v>
                </c:pt>
                <c:pt idx="366">
                  <c:v>0.4344419</c:v>
                </c:pt>
                <c:pt idx="367">
                  <c:v>0.3679419</c:v>
                </c:pt>
                <c:pt idx="368">
                  <c:v>0.48839122</c:v>
                </c:pt>
                <c:pt idx="369">
                  <c:v>0.411723</c:v>
                </c:pt>
                <c:pt idx="370">
                  <c:v>0.48370638</c:v>
                </c:pt>
                <c:pt idx="371">
                  <c:v>0.447876</c:v>
                </c:pt>
                <c:pt idx="372">
                  <c:v>0.64193434</c:v>
                </c:pt>
                <c:pt idx="373">
                  <c:v>0.5928801</c:v>
                </c:pt>
                <c:pt idx="374">
                  <c:v>0.31532806</c:v>
                </c:pt>
                <c:pt idx="375">
                  <c:v>0.33741632</c:v>
                </c:pt>
                <c:pt idx="376">
                  <c:v>0.6977405</c:v>
                </c:pt>
                <c:pt idx="377">
                  <c:v>0.48406675</c:v>
                </c:pt>
                <c:pt idx="378">
                  <c:v>0.37086657</c:v>
                </c:pt>
                <c:pt idx="379">
                  <c:v>0.35969812</c:v>
                </c:pt>
                <c:pt idx="380">
                  <c:v>0.36877814</c:v>
                </c:pt>
                <c:pt idx="381">
                  <c:v>0.28132913</c:v>
                </c:pt>
                <c:pt idx="382">
                  <c:v>0.6773597</c:v>
                </c:pt>
                <c:pt idx="383">
                  <c:v>0.57918113</c:v>
                </c:pt>
                <c:pt idx="384">
                  <c:v>0.6999698</c:v>
                </c:pt>
                <c:pt idx="385">
                  <c:v>0.5226618</c:v>
                </c:pt>
                <c:pt idx="386">
                  <c:v>0.4836642</c:v>
                </c:pt>
                <c:pt idx="387">
                  <c:v>0.4288426</c:v>
                </c:pt>
                <c:pt idx="388">
                  <c:v>0.40661183</c:v>
                </c:pt>
                <c:pt idx="389">
                  <c:v>0.64879215</c:v>
                </c:pt>
                <c:pt idx="390">
                  <c:v>0.48021147</c:v>
                </c:pt>
                <c:pt idx="391">
                  <c:v>0.36241472</c:v>
                </c:pt>
                <c:pt idx="392">
                  <c:v>0.5779122</c:v>
                </c:pt>
                <c:pt idx="393">
                  <c:v>0.5860346</c:v>
                </c:pt>
                <c:pt idx="394">
                  <c:v>0.396014</c:v>
                </c:pt>
                <c:pt idx="395">
                  <c:v>0.52984065</c:v>
                </c:pt>
                <c:pt idx="396">
                  <c:v>0.37765622</c:v>
                </c:pt>
                <c:pt idx="397">
                  <c:v>0.36290056</c:v>
                </c:pt>
                <c:pt idx="398">
                  <c:v>0.7012997</c:v>
                </c:pt>
                <c:pt idx="399">
                  <c:v>0.40052631</c:v>
                </c:pt>
                <c:pt idx="400">
                  <c:v>0.59317833</c:v>
                </c:pt>
                <c:pt idx="401">
                  <c:v>0.48788726</c:v>
                </c:pt>
                <c:pt idx="402">
                  <c:v>0.701642</c:v>
                </c:pt>
                <c:pt idx="403">
                  <c:v>0.43362615</c:v>
                </c:pt>
                <c:pt idx="404">
                  <c:v>0.69226325</c:v>
                </c:pt>
                <c:pt idx="405">
                  <c:v>0.4195461</c:v>
                </c:pt>
                <c:pt idx="406">
                  <c:v>0.3751683</c:v>
                </c:pt>
                <c:pt idx="407">
                  <c:v>0.28370476</c:v>
                </c:pt>
                <c:pt idx="408">
                  <c:v>0.31667742</c:v>
                </c:pt>
                <c:pt idx="409">
                  <c:v>0.4768279</c:v>
                </c:pt>
                <c:pt idx="410">
                  <c:v>0.41890925</c:v>
                </c:pt>
                <c:pt idx="411">
                  <c:v>0.49107105</c:v>
                </c:pt>
                <c:pt idx="412">
                  <c:v>0.36234123</c:v>
                </c:pt>
                <c:pt idx="413">
                  <c:v>0.42006925</c:v>
                </c:pt>
                <c:pt idx="414">
                  <c:v>0.52180654</c:v>
                </c:pt>
                <c:pt idx="415">
                  <c:v>0.4382403</c:v>
                </c:pt>
                <c:pt idx="416">
                  <c:v>0.6423948</c:v>
                </c:pt>
                <c:pt idx="417">
                  <c:v>0.40586782</c:v>
                </c:pt>
                <c:pt idx="418">
                  <c:v>0.64076847</c:v>
                </c:pt>
                <c:pt idx="419">
                  <c:v>0.69483125</c:v>
                </c:pt>
                <c:pt idx="420">
                  <c:v>0.48336902</c:v>
                </c:pt>
                <c:pt idx="421">
                  <c:v>0.38525006</c:v>
                </c:pt>
                <c:pt idx="422">
                  <c:v>0.52682966</c:v>
                </c:pt>
                <c:pt idx="423">
                  <c:v>0.53079504</c:v>
                </c:pt>
                <c:pt idx="424">
                  <c:v>0.4771477</c:v>
                </c:pt>
                <c:pt idx="425">
                  <c:v>0.4854418</c:v>
                </c:pt>
                <c:pt idx="426">
                  <c:v>0.35822105</c:v>
                </c:pt>
                <c:pt idx="427">
                  <c:v>0.44347787</c:v>
                </c:pt>
                <c:pt idx="428">
                  <c:v>0.6761816</c:v>
                </c:pt>
                <c:pt idx="429">
                  <c:v>0.32096356</c:v>
                </c:pt>
                <c:pt idx="430">
                  <c:v>0.43640015</c:v>
                </c:pt>
                <c:pt idx="431">
                  <c:v>0.4375609</c:v>
                </c:pt>
                <c:pt idx="432">
                  <c:v>0.635301</c:v>
                </c:pt>
                <c:pt idx="433">
                  <c:v>0.49560255</c:v>
                </c:pt>
                <c:pt idx="434">
                  <c:v>0.36516857</c:v>
                </c:pt>
                <c:pt idx="435">
                  <c:v>0.505248</c:v>
                </c:pt>
                <c:pt idx="436">
                  <c:v>0.6824544</c:v>
                </c:pt>
                <c:pt idx="437">
                  <c:v>0.494264</c:v>
                </c:pt>
                <c:pt idx="438">
                  <c:v>0.5264088</c:v>
                </c:pt>
                <c:pt idx="439">
                  <c:v>0.64534205</c:v>
                </c:pt>
                <c:pt idx="440">
                  <c:v>0.6765501</c:v>
                </c:pt>
                <c:pt idx="441">
                  <c:v>0.35764533</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Random forest</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Marker"/>
        <c:varyColors val="0"/>
        <c:ser>
          <c:idx val="0"/>
          <c:order val="0"/>
          <c:tx>
            <c:v>Random forest</c:v>
          </c:tx>
          <c:spPr>
            <a:ln xmlns:a="http://schemas.openxmlformats.org/drawingml/2006/main" w="0">
              <a:noFill/>
            </a:ln>
          </c:spPr>
          <c:marker>
            <c:symbol val="circle"/>
            <c:size val="4"/>
            <c:spPr>
              <a:solidFill xmlns:a="http://schemas.openxmlformats.org/drawingml/2006/main">
                <a:srgbClr val="002B5E"/>
              </a:solidFill>
            </c:spPr>
          </c:marker>
          <c:xVal>
            <c:numRef>
              <c:f>'Chart Data'!$A$2:$A$443</c:f>
              <c:numCache>
                <c:formatCode>General</c:formatCode>
                <c:ptCount val="442"/>
                <c:pt idx="0">
                  <c:v>0.68</c:v>
                </c:pt>
                <c:pt idx="1">
                  <c:v>0.51</c:v>
                </c:pt>
                <c:pt idx="2">
                  <c:v>0.41</c:v>
                </c:pt>
                <c:pt idx="3">
                  <c:v>0.45</c:v>
                </c:pt>
                <c:pt idx="4">
                  <c:v>0.68</c:v>
                </c:pt>
                <c:pt idx="5">
                  <c:v>0.47</c:v>
                </c:pt>
                <c:pt idx="6">
                  <c:v>0.68</c:v>
                </c:pt>
                <c:pt idx="7">
                  <c:v>0.5</c:v>
                </c:pt>
                <c:pt idx="8">
                  <c:v>0.68</c:v>
                </c:pt>
                <c:pt idx="9">
                  <c:v>0.47</c:v>
                </c:pt>
                <c:pt idx="10">
                  <c:v>0.51</c:v>
                </c:pt>
                <c:pt idx="11">
                  <c:v>0.47</c:v>
                </c:pt>
                <c:pt idx="12">
                  <c:v>0.52</c:v>
                </c:pt>
                <c:pt idx="13">
                  <c:v>0.51</c:v>
                </c:pt>
                <c:pt idx="14">
                  <c:v>0.68</c:v>
                </c:pt>
                <c:pt idx="15">
                  <c:v>0.41</c:v>
                </c:pt>
                <c:pt idx="16">
                  <c:v>0.68</c:v>
                </c:pt>
                <c:pt idx="17">
                  <c:v>0.68</c:v>
                </c:pt>
                <c:pt idx="18">
                  <c:v>0.691506252</c:v>
                </c:pt>
                <c:pt idx="19">
                  <c:v>0.508653675</c:v>
                </c:pt>
                <c:pt idx="20">
                  <c:v>0.538661958</c:v>
                </c:pt>
                <c:pt idx="21">
                  <c:v>0.561122144</c:v>
                </c:pt>
                <c:pt idx="22">
                  <c:v>0.532089771</c:v>
                </c:pt>
                <c:pt idx="23">
                  <c:v>0.333528056</c:v>
                </c:pt>
                <c:pt idx="24">
                  <c:v>0.468550292</c:v>
                </c:pt>
                <c:pt idx="25">
                  <c:v>0.632986789</c:v>
                </c:pt>
                <c:pt idx="26">
                  <c:v>0.607052034</c:v>
                </c:pt>
                <c:pt idx="27">
                  <c:v>0.496511145</c:v>
                </c:pt>
                <c:pt idx="28">
                  <c:v>0.567803361</c:v>
                </c:pt>
                <c:pt idx="29">
                  <c:v>0.53999595</c:v>
                </c:pt>
                <c:pt idx="30">
                  <c:v>0.484004435</c:v>
                </c:pt>
                <c:pt idx="31">
                  <c:v>0.611676905</c:v>
                </c:pt>
                <c:pt idx="32">
                  <c:v>0.661953146</c:v>
                </c:pt>
                <c:pt idx="33">
                  <c:v>0.518181668</c:v>
                </c:pt>
                <c:pt idx="34">
                  <c:v>0.669828626</c:v>
                </c:pt>
                <c:pt idx="35">
                  <c:v>0.535607847</c:v>
                </c:pt>
                <c:pt idx="36">
                  <c:v>0.494487942</c:v>
                </c:pt>
                <c:pt idx="37">
                  <c:v>0.601667071</c:v>
                </c:pt>
                <c:pt idx="38">
                  <c:v>0.489128941</c:v>
                </c:pt>
                <c:pt idx="39">
                  <c:v>0.455193067</c:v>
                </c:pt>
                <c:pt idx="40">
                  <c:v>0.581235207</c:v>
                </c:pt>
                <c:pt idx="41">
                  <c:v>0.564702091</c:v>
                </c:pt>
                <c:pt idx="42">
                  <c:v>0.418759873</c:v>
                </c:pt>
                <c:pt idx="43">
                  <c:v>0.653438892</c:v>
                </c:pt>
                <c:pt idx="44">
                  <c:v>0.411271304</c:v>
                </c:pt>
                <c:pt idx="45">
                  <c:v>0.568038915</c:v>
                </c:pt>
                <c:pt idx="46">
                  <c:v>0.566686777</c:v>
                </c:pt>
                <c:pt idx="47">
                  <c:v>0.397108688</c:v>
                </c:pt>
                <c:pt idx="48">
                  <c:v>0.678658853</c:v>
                </c:pt>
                <c:pt idx="49">
                  <c:v>0.373234833</c:v>
                </c:pt>
                <c:pt idx="50">
                  <c:v>0.647702493</c:v>
                </c:pt>
                <c:pt idx="51">
                  <c:v>0.573865943</c:v>
                </c:pt>
                <c:pt idx="52">
                  <c:v>0.564782082</c:v>
                </c:pt>
                <c:pt idx="53">
                  <c:v>0.510164148</c:v>
                </c:pt>
                <c:pt idx="54">
                  <c:v>0.412656931</c:v>
                </c:pt>
                <c:pt idx="55">
                  <c:v>0.648164722</c:v>
                </c:pt>
                <c:pt idx="56">
                  <c:v>0.556351012</c:v>
                </c:pt>
                <c:pt idx="57">
                  <c:v>0.530932386</c:v>
                </c:pt>
                <c:pt idx="58">
                  <c:v>0.592666269</c:v>
                </c:pt>
                <c:pt idx="59">
                  <c:v>0.595088713</c:v>
                </c:pt>
                <c:pt idx="60">
                  <c:v>0.551108411</c:v>
                </c:pt>
                <c:pt idx="61">
                  <c:v>0.561680578</c:v>
                </c:pt>
                <c:pt idx="62">
                  <c:v>0.478610738</c:v>
                </c:pt>
                <c:pt idx="63">
                  <c:v>0.517092504</c:v>
                </c:pt>
                <c:pt idx="64">
                  <c:v>0.566611888</c:v>
                </c:pt>
                <c:pt idx="65">
                  <c:v>0.40668457</c:v>
                </c:pt>
                <c:pt idx="66">
                  <c:v>0.556055325</c:v>
                </c:pt>
                <c:pt idx="67">
                  <c:v>0.464004452</c:v>
                </c:pt>
                <c:pt idx="68">
                  <c:v>0.565084822</c:v>
                </c:pt>
                <c:pt idx="69">
                  <c:v>0.579627985</c:v>
                </c:pt>
                <c:pt idx="70">
                  <c:v>0.529321683</c:v>
                </c:pt>
                <c:pt idx="71">
                  <c:v>0.475213173</c:v>
                </c:pt>
                <c:pt idx="72">
                  <c:v>0.329361523</c:v>
                </c:pt>
                <c:pt idx="73">
                  <c:v>0.518715449</c:v>
                </c:pt>
                <c:pt idx="74">
                  <c:v>0.527426277</c:v>
                </c:pt>
                <c:pt idx="75">
                  <c:v>0.561573781</c:v>
                </c:pt>
                <c:pt idx="76">
                  <c:v>0.555852812</c:v>
                </c:pt>
                <c:pt idx="77">
                  <c:v>0.557093998</c:v>
                </c:pt>
                <c:pt idx="78">
                  <c:v>0.655797896</c:v>
                </c:pt>
                <c:pt idx="79">
                  <c:v>0.344995419</c:v>
                </c:pt>
                <c:pt idx="80">
                  <c:v>0.512593631</c:v>
                </c:pt>
                <c:pt idx="81">
                  <c:v>0.621975868</c:v>
                </c:pt>
                <c:pt idx="82">
                  <c:v>0.470005126</c:v>
                </c:pt>
                <c:pt idx="83">
                  <c:v>0.636952239</c:v>
                </c:pt>
                <c:pt idx="84">
                  <c:v>0.533073569</c:v>
                </c:pt>
                <c:pt idx="85">
                  <c:v>0.600916191</c:v>
                </c:pt>
                <c:pt idx="86">
                  <c:v>0.452632676</c:v>
                </c:pt>
                <c:pt idx="87">
                  <c:v>0.473118968</c:v>
                </c:pt>
                <c:pt idx="88">
                  <c:v>0.49727984</c:v>
                </c:pt>
                <c:pt idx="89">
                  <c:v>0.479288701</c:v>
                </c:pt>
                <c:pt idx="90">
                  <c:v>0.462183865</c:v>
                </c:pt>
                <c:pt idx="91">
                  <c:v>0.330325238</c:v>
                </c:pt>
                <c:pt idx="92">
                  <c:v>0.462137954</c:v>
                </c:pt>
                <c:pt idx="93">
                  <c:v>0.573100645</c:v>
                </c:pt>
                <c:pt idx="94">
                  <c:v>0.554827798</c:v>
                </c:pt>
                <c:pt idx="95">
                  <c:v>0.479590721</c:v>
                </c:pt>
                <c:pt idx="96">
                  <c:v>0.525128454</c:v>
                </c:pt>
                <c:pt idx="97">
                  <c:v>0.469831031</c:v>
                </c:pt>
                <c:pt idx="98">
                  <c:v>0.476455334</c:v>
                </c:pt>
                <c:pt idx="99">
                  <c:v>0.350873909</c:v>
                </c:pt>
                <c:pt idx="100">
                  <c:v>0.362286642</c:v>
                </c:pt>
                <c:pt idx="101">
                  <c:v>0.527162148</c:v>
                </c:pt>
                <c:pt idx="102">
                  <c:v>0.538830402</c:v>
                </c:pt>
                <c:pt idx="103">
                  <c:v>0.579886377</c:v>
                </c:pt>
                <c:pt idx="104">
                  <c:v>0.684439043</c:v>
                </c:pt>
                <c:pt idx="105">
                  <c:v>0.445306757</c:v>
                </c:pt>
                <c:pt idx="106">
                  <c:v>0.473474857</c:v>
                </c:pt>
                <c:pt idx="107">
                  <c:v>0.508020595</c:v>
                </c:pt>
                <c:pt idx="108">
                  <c:v>0.332196394</c:v>
                </c:pt>
                <c:pt idx="109">
                  <c:v>0.474367268</c:v>
                </c:pt>
                <c:pt idx="110">
                  <c:v>0.566320956</c:v>
                </c:pt>
                <c:pt idx="111">
                  <c:v>0.509010529</c:v>
                </c:pt>
                <c:pt idx="112">
                  <c:v>0.520254968</c:v>
                </c:pt>
                <c:pt idx="113">
                  <c:v>0.653863145</c:v>
                </c:pt>
                <c:pt idx="114">
                  <c:v>0.370362241</c:v>
                </c:pt>
                <c:pt idx="115">
                  <c:v>0.595865889</c:v>
                </c:pt>
                <c:pt idx="116">
                  <c:v>0.545882693</c:v>
                </c:pt>
                <c:pt idx="117">
                  <c:v>0.584846047</c:v>
                </c:pt>
                <c:pt idx="118">
                  <c:v>0.526568943</c:v>
                </c:pt>
                <c:pt idx="119">
                  <c:v>0.508090389</c:v>
                </c:pt>
                <c:pt idx="120">
                  <c:v>0.685372441</c:v>
                </c:pt>
                <c:pt idx="121">
                  <c:v>0.407893341</c:v>
                </c:pt>
                <c:pt idx="122">
                  <c:v>0.574228546</c:v>
                </c:pt>
                <c:pt idx="123">
                  <c:v>0.564846206</c:v>
                </c:pt>
                <c:pt idx="124">
                  <c:v>0.522928414</c:v>
                </c:pt>
                <c:pt idx="125">
                  <c:v>0.560448275</c:v>
                </c:pt>
                <c:pt idx="126">
                  <c:v>0.492430311</c:v>
                </c:pt>
                <c:pt idx="127">
                  <c:v>0.46865479</c:v>
                </c:pt>
                <c:pt idx="128">
                  <c:v>0.343910265</c:v>
                </c:pt>
                <c:pt idx="129">
                  <c:v>0.593915878</c:v>
                </c:pt>
                <c:pt idx="130">
                  <c:v>0.551481206</c:v>
                </c:pt>
                <c:pt idx="131">
                  <c:v>0.523971438</c:v>
                </c:pt>
                <c:pt idx="132">
                  <c:v>0.596561938</c:v>
                </c:pt>
                <c:pt idx="133">
                  <c:v>0.537838532</c:v>
                </c:pt>
                <c:pt idx="134">
                  <c:v>0.456520265</c:v>
                </c:pt>
                <c:pt idx="135">
                  <c:v>0.588608261</c:v>
                </c:pt>
                <c:pt idx="136">
                  <c:v>0.524817889</c:v>
                </c:pt>
                <c:pt idx="137">
                  <c:v>0.524935808</c:v>
                </c:pt>
                <c:pt idx="138">
                  <c:v>0.3889276</c:v>
                </c:pt>
                <c:pt idx="139">
                  <c:v>0.513387445</c:v>
                </c:pt>
                <c:pt idx="140">
                  <c:v>0.488181057</c:v>
                </c:pt>
                <c:pt idx="141">
                  <c:v>0.348343252</c:v>
                </c:pt>
                <c:pt idx="142">
                  <c:v>0.52763618</c:v>
                </c:pt>
                <c:pt idx="143">
                  <c:v>0.691114034</c:v>
                </c:pt>
                <c:pt idx="144">
                  <c:v>0.530090683</c:v>
                </c:pt>
                <c:pt idx="145">
                  <c:v>0.529797867</c:v>
                </c:pt>
                <c:pt idx="146">
                  <c:v>0.456329405</c:v>
                </c:pt>
                <c:pt idx="147">
                  <c:v>0.574563855</c:v>
                </c:pt>
                <c:pt idx="148">
                  <c:v>0.601863583</c:v>
                </c:pt>
                <c:pt idx="149">
                  <c:v>0.468466392</c:v>
                </c:pt>
                <c:pt idx="150">
                  <c:v>0.671919507</c:v>
                </c:pt>
                <c:pt idx="151">
                  <c:v>0.565819682</c:v>
                </c:pt>
                <c:pt idx="152">
                  <c:v>0.549497505</c:v>
                </c:pt>
                <c:pt idx="153">
                  <c:v>0.618968593</c:v>
                </c:pt>
                <c:pt idx="154">
                  <c:v>0.560851943</c:v>
                </c:pt>
                <c:pt idx="155">
                  <c:v>0.671549889</c:v>
                </c:pt>
                <c:pt idx="156">
                  <c:v>0.683182906</c:v>
                </c:pt>
                <c:pt idx="157">
                  <c:v>0.714223847</c:v>
                </c:pt>
                <c:pt idx="158">
                  <c:v>0.713589658</c:v>
                </c:pt>
                <c:pt idx="159">
                  <c:v>0.401735002</c:v>
                </c:pt>
                <c:pt idx="160">
                  <c:v>0.356486626</c:v>
                </c:pt>
                <c:pt idx="161">
                  <c:v>0.340568658</c:v>
                </c:pt>
                <c:pt idx="162">
                  <c:v>0.651032827</c:v>
                </c:pt>
                <c:pt idx="163">
                  <c:v>0.680726524</c:v>
                </c:pt>
                <c:pt idx="164">
                  <c:v>0.338148116</c:v>
                </c:pt>
                <c:pt idx="165">
                  <c:v>0.402074642</c:v>
                </c:pt>
                <c:pt idx="166">
                  <c:v>0.66850945</c:v>
                </c:pt>
                <c:pt idx="167">
                  <c:v>0.361298667</c:v>
                </c:pt>
                <c:pt idx="168">
                  <c:v>0.25</c:v>
                </c:pt>
                <c:pt idx="169">
                  <c:v>0.355169638</c:v>
                </c:pt>
                <c:pt idx="170">
                  <c:v>0.327868469</c:v>
                </c:pt>
                <c:pt idx="171">
                  <c:v>0.987356403</c:v>
                </c:pt>
                <c:pt idx="172">
                  <c:v>0.395767592</c:v>
                </c:pt>
                <c:pt idx="173">
                  <c:v>0.664279682</c:v>
                </c:pt>
                <c:pt idx="174">
                  <c:v>0.351229239</c:v>
                </c:pt>
                <c:pt idx="175">
                  <c:v>0.311418736</c:v>
                </c:pt>
                <c:pt idx="176">
                  <c:v>0.931683269</c:v>
                </c:pt>
                <c:pt idx="177">
                  <c:v>0.678568164</c:v>
                </c:pt>
                <c:pt idx="178">
                  <c:v>0.952655337</c:v>
                </c:pt>
                <c:pt idx="179">
                  <c:v>0.340251822</c:v>
                </c:pt>
                <c:pt idx="180">
                  <c:v>0.316056622</c:v>
                </c:pt>
                <c:pt idx="181">
                  <c:v>0.656550697</c:v>
                </c:pt>
                <c:pt idx="182">
                  <c:v>0.340480159</c:v>
                </c:pt>
                <c:pt idx="183">
                  <c:v>0.6828243</c:v>
                </c:pt>
                <c:pt idx="184">
                  <c:v>0.683813228</c:v>
                </c:pt>
                <c:pt idx="185">
                  <c:v>0.25</c:v>
                </c:pt>
                <c:pt idx="186">
                  <c:v>0.470232513</c:v>
                </c:pt>
                <c:pt idx="187">
                  <c:v>0.648465218</c:v>
                </c:pt>
                <c:pt idx="188">
                  <c:v>0.579078729</c:v>
                </c:pt>
                <c:pt idx="189">
                  <c:v>0.256925333</c:v>
                </c:pt>
                <c:pt idx="190">
                  <c:v>0.966908833</c:v>
                </c:pt>
                <c:pt idx="191">
                  <c:v>0.337586026</c:v>
                </c:pt>
                <c:pt idx="192">
                  <c:v>1.027395915</c:v>
                </c:pt>
                <c:pt idx="193">
                  <c:v>0.307982378</c:v>
                </c:pt>
                <c:pt idx="194">
                  <c:v>0.354312814</c:v>
                </c:pt>
                <c:pt idx="195">
                  <c:v>0.677197218</c:v>
                </c:pt>
                <c:pt idx="196">
                  <c:v>0.686178547</c:v>
                </c:pt>
                <c:pt idx="197">
                  <c:v>0.689345823</c:v>
                </c:pt>
                <c:pt idx="198">
                  <c:v>0.393689347</c:v>
                </c:pt>
                <c:pt idx="199">
                  <c:v>0.352813088</c:v>
                </c:pt>
                <c:pt idx="200">
                  <c:v>1.068361666</c:v>
                </c:pt>
                <c:pt idx="201">
                  <c:v>1.007822819</c:v>
                </c:pt>
                <c:pt idx="202">
                  <c:v>0.943810469</c:v>
                </c:pt>
                <c:pt idx="203">
                  <c:v>0.271383275</c:v>
                </c:pt>
                <c:pt idx="204">
                  <c:v>0.719058797</c:v>
                </c:pt>
                <c:pt idx="205">
                  <c:v>0.417471253</c:v>
                </c:pt>
                <c:pt idx="206">
                  <c:v>0.710534105</c:v>
                </c:pt>
                <c:pt idx="207">
                  <c:v>0.683284046</c:v>
                </c:pt>
                <c:pt idx="208">
                  <c:v>0.309993602</c:v>
                </c:pt>
                <c:pt idx="209">
                  <c:v>0.304843492</c:v>
                </c:pt>
                <c:pt idx="210">
                  <c:v>0.259391492</c:v>
                </c:pt>
                <c:pt idx="211">
                  <c:v>0.697707344</c:v>
                </c:pt>
                <c:pt idx="212">
                  <c:v>0.25</c:v>
                </c:pt>
                <c:pt idx="213">
                  <c:v>0.46512646</c:v>
                </c:pt>
                <c:pt idx="214">
                  <c:v>0.669954149</c:v>
                </c:pt>
                <c:pt idx="215">
                  <c:v>0.706532285</c:v>
                </c:pt>
                <c:pt idx="216">
                  <c:v>0.292014046</c:v>
                </c:pt>
                <c:pt idx="217">
                  <c:v>0.988388665</c:v>
                </c:pt>
                <c:pt idx="218">
                  <c:v>0.310616394</c:v>
                </c:pt>
                <c:pt idx="219">
                  <c:v>0.686891815</c:v>
                </c:pt>
                <c:pt idx="220">
                  <c:v>0.701146635</c:v>
                </c:pt>
                <c:pt idx="221">
                  <c:v>0.640829047</c:v>
                </c:pt>
                <c:pt idx="222">
                  <c:v>0.978697682</c:v>
                </c:pt>
                <c:pt idx="223">
                  <c:v>0.25</c:v>
                </c:pt>
                <c:pt idx="224">
                  <c:v>0.476960914</c:v>
                </c:pt>
                <c:pt idx="225">
                  <c:v>1.066212875</c:v>
                </c:pt>
                <c:pt idx="226">
                  <c:v>0.641947239</c:v>
                </c:pt>
                <c:pt idx="227">
                  <c:v>0.954032186</c:v>
                </c:pt>
                <c:pt idx="228">
                  <c:v>0.332637664</c:v>
                </c:pt>
                <c:pt idx="229">
                  <c:v>0.323532279</c:v>
                </c:pt>
                <c:pt idx="230">
                  <c:v>0.261029597</c:v>
                </c:pt>
                <c:pt idx="231">
                  <c:v>0.952648914</c:v>
                </c:pt>
                <c:pt idx="232">
                  <c:v>0.466481317</c:v>
                </c:pt>
                <c:pt idx="233">
                  <c:v>0.25</c:v>
                </c:pt>
                <c:pt idx="234">
                  <c:v>0.329423828</c:v>
                </c:pt>
                <c:pt idx="235">
                  <c:v>0.324951714</c:v>
                </c:pt>
                <c:pt idx="236">
                  <c:v>0.276433592</c:v>
                </c:pt>
                <c:pt idx="237">
                  <c:v>0.608819752</c:v>
                </c:pt>
                <c:pt idx="238">
                  <c:v>0.381800564</c:v>
                </c:pt>
                <c:pt idx="239">
                  <c:v>0.657918489</c:v>
                </c:pt>
                <c:pt idx="240">
                  <c:v>0.270604226</c:v>
                </c:pt>
                <c:pt idx="241">
                  <c:v>0.747138118</c:v>
                </c:pt>
                <c:pt idx="242">
                  <c:v>1.001540726</c:v>
                </c:pt>
                <c:pt idx="243">
                  <c:v>0.6736491</c:v>
                </c:pt>
                <c:pt idx="244">
                  <c:v>0.929382004</c:v>
                </c:pt>
                <c:pt idx="245">
                  <c:v>0.340546529</c:v>
                </c:pt>
                <c:pt idx="246">
                  <c:v>0.280741012</c:v>
                </c:pt>
                <c:pt idx="247">
                  <c:v>0.396095112</c:v>
                </c:pt>
                <c:pt idx="248">
                  <c:v>0.657048814</c:v>
                </c:pt>
                <c:pt idx="249">
                  <c:v>0.381584144</c:v>
                </c:pt>
                <c:pt idx="250">
                  <c:v>0.697177692</c:v>
                </c:pt>
                <c:pt idx="251">
                  <c:v>0.945352872</c:v>
                </c:pt>
                <c:pt idx="252">
                  <c:v>0.333066511</c:v>
                </c:pt>
                <c:pt idx="253">
                  <c:v>0.357329282</c:v>
                </c:pt>
                <c:pt idx="254">
                  <c:v>0.36842434</c:v>
                </c:pt>
                <c:pt idx="255">
                  <c:v>0.274114205</c:v>
                </c:pt>
                <c:pt idx="256">
                  <c:v>0.709744792</c:v>
                </c:pt>
                <c:pt idx="257">
                  <c:v>0.401873209</c:v>
                </c:pt>
                <c:pt idx="258">
                  <c:v>0.252435674</c:v>
                </c:pt>
                <c:pt idx="259">
                  <c:v>0.678776522</c:v>
                </c:pt>
                <c:pt idx="260">
                  <c:v>0.327054814</c:v>
                </c:pt>
                <c:pt idx="261">
                  <c:v>0.920871626</c:v>
                </c:pt>
                <c:pt idx="262">
                  <c:v>1.075598389</c:v>
                </c:pt>
                <c:pt idx="263">
                  <c:v>0.411793015</c:v>
                </c:pt>
                <c:pt idx="264">
                  <c:v>0.981116919</c:v>
                </c:pt>
                <c:pt idx="265">
                  <c:v>0.258396148</c:v>
                </c:pt>
                <c:pt idx="266">
                  <c:v>0.344867553</c:v>
                </c:pt>
                <c:pt idx="267">
                  <c:v>0.332390486</c:v>
                </c:pt>
                <c:pt idx="268">
                  <c:v>0.642006401</c:v>
                </c:pt>
                <c:pt idx="269">
                  <c:v>0.25</c:v>
                </c:pt>
                <c:pt idx="270">
                  <c:v>0.25</c:v>
                </c:pt>
                <c:pt idx="271">
                  <c:v>0.940526427</c:v>
                </c:pt>
                <c:pt idx="272">
                  <c:v>0.355755243</c:v>
                </c:pt>
                <c:pt idx="273">
                  <c:v>0.284964589</c:v>
                </c:pt>
                <c:pt idx="274">
                  <c:v>0.710825875</c:v>
                </c:pt>
                <c:pt idx="275">
                  <c:v>0.717074116</c:v>
                </c:pt>
                <c:pt idx="276">
                  <c:v>0.472310382</c:v>
                </c:pt>
                <c:pt idx="277">
                  <c:v>1.022051708</c:v>
                </c:pt>
                <c:pt idx="278">
                  <c:v>0.361059193</c:v>
                </c:pt>
                <c:pt idx="279">
                  <c:v>0.993845667</c:v>
                </c:pt>
                <c:pt idx="280">
                  <c:v>0.266987704</c:v>
                </c:pt>
                <c:pt idx="281">
                  <c:v>0.341108767</c:v>
                </c:pt>
                <c:pt idx="282">
                  <c:v>0.254699904</c:v>
                </c:pt>
                <c:pt idx="283">
                  <c:v>0.654953022</c:v>
                </c:pt>
                <c:pt idx="284">
                  <c:v>0.327049958</c:v>
                </c:pt>
                <c:pt idx="285">
                  <c:v>0.994349225</c:v>
                </c:pt>
                <c:pt idx="286">
                  <c:v>0.337298569</c:v>
                </c:pt>
                <c:pt idx="287">
                  <c:v>1.01476275</c:v>
                </c:pt>
                <c:pt idx="288">
                  <c:v>0.702536977</c:v>
                </c:pt>
                <c:pt idx="289">
                  <c:v>0.70765295</c:v>
                </c:pt>
                <c:pt idx="290">
                  <c:v>0.996218713</c:v>
                </c:pt>
                <c:pt idx="291">
                  <c:v>0.440502169</c:v>
                </c:pt>
                <c:pt idx="292">
                  <c:v>0.664870814</c:v>
                </c:pt>
                <c:pt idx="293">
                  <c:v>0.689353122</c:v>
                </c:pt>
                <c:pt idx="294">
                  <c:v>0.423363112</c:v>
                </c:pt>
                <c:pt idx="295">
                  <c:v>0.615169068</c:v>
                </c:pt>
                <c:pt idx="296">
                  <c:v>0.305633927</c:v>
                </c:pt>
                <c:pt idx="297">
                  <c:v>0.608036772</c:v>
                </c:pt>
                <c:pt idx="298">
                  <c:v>1.053129731</c:v>
                </c:pt>
                <c:pt idx="299">
                  <c:v>0.34785888</c:v>
                </c:pt>
                <c:pt idx="300">
                  <c:v>1.028608566</c:v>
                </c:pt>
                <c:pt idx="301">
                  <c:v>1.014606951</c:v>
                </c:pt>
                <c:pt idx="302">
                  <c:v>1.067673619</c:v>
                </c:pt>
                <c:pt idx="303">
                  <c:v>0.601114785</c:v>
                </c:pt>
                <c:pt idx="304">
                  <c:v>0.359853101</c:v>
                </c:pt>
                <c:pt idx="305">
                  <c:v>0.650340567</c:v>
                </c:pt>
                <c:pt idx="306">
                  <c:v>0.32494968</c:v>
                </c:pt>
                <c:pt idx="307">
                  <c:v>1.05981705</c:v>
                </c:pt>
                <c:pt idx="308">
                  <c:v>0.681688879</c:v>
                </c:pt>
                <c:pt idx="309">
                  <c:v>0.725929057</c:v>
                </c:pt>
                <c:pt idx="310">
                  <c:v>0.747801083</c:v>
                </c:pt>
                <c:pt idx="311">
                  <c:v>0.280348531</c:v>
                </c:pt>
                <c:pt idx="312">
                  <c:v>0.969601297</c:v>
                </c:pt>
                <c:pt idx="313">
                  <c:v>0.613670378</c:v>
                </c:pt>
                <c:pt idx="314">
                  <c:v>0.688767894</c:v>
                </c:pt>
                <c:pt idx="315">
                  <c:v>0.384642175</c:v>
                </c:pt>
                <c:pt idx="316">
                  <c:v>0.341625716</c:v>
                </c:pt>
                <c:pt idx="317">
                  <c:v>0.283875228</c:v>
                </c:pt>
                <c:pt idx="318">
                  <c:v>0.475659899</c:v>
                </c:pt>
                <c:pt idx="319">
                  <c:v>0.445478353</c:v>
                </c:pt>
                <c:pt idx="320">
                  <c:v>0.436769891</c:v>
                </c:pt>
                <c:pt idx="321">
                  <c:v>0.443957922</c:v>
                </c:pt>
                <c:pt idx="322">
                  <c:v>0.459439752</c:v>
                </c:pt>
                <c:pt idx="323">
                  <c:v>0.413661232</c:v>
                </c:pt>
                <c:pt idx="324">
                  <c:v>0.689890701</c:v>
                </c:pt>
                <c:pt idx="325">
                  <c:v>0.403715862</c:v>
                </c:pt>
                <c:pt idx="326">
                  <c:v>0.46534223</c:v>
                </c:pt>
                <c:pt idx="327">
                  <c:v>0.464459504</c:v>
                </c:pt>
                <c:pt idx="328">
                  <c:v>0.379075121</c:v>
                </c:pt>
                <c:pt idx="329">
                  <c:v>0.637533775</c:v>
                </c:pt>
                <c:pt idx="330">
                  <c:v>0.74024369</c:v>
                </c:pt>
                <c:pt idx="331">
                  <c:v>0.676376832</c:v>
                </c:pt>
                <c:pt idx="332">
                  <c:v>0.404468167</c:v>
                </c:pt>
                <c:pt idx="333">
                  <c:v>0.2</c:v>
                </c:pt>
                <c:pt idx="334">
                  <c:v>0.352253292</c:v>
                </c:pt>
                <c:pt idx="335">
                  <c:v>0.541005432</c:v>
                </c:pt>
                <c:pt idx="336">
                  <c:v>0.470116177</c:v>
                </c:pt>
                <c:pt idx="337">
                  <c:v>0.202678886</c:v>
                </c:pt>
                <c:pt idx="338">
                  <c:v>0.442857244</c:v>
                </c:pt>
                <c:pt idx="339">
                  <c:v>0.742489841</c:v>
                </c:pt>
                <c:pt idx="340">
                  <c:v>0.467464781</c:v>
                </c:pt>
                <c:pt idx="341">
                  <c:v>0.344803795</c:v>
                </c:pt>
                <c:pt idx="342">
                  <c:v>0.477074943</c:v>
                </c:pt>
                <c:pt idx="343">
                  <c:v>0.38963132</c:v>
                </c:pt>
                <c:pt idx="344">
                  <c:v>0.620584353</c:v>
                </c:pt>
                <c:pt idx="345">
                  <c:v>0.69425</c:v>
                </c:pt>
                <c:pt idx="346">
                  <c:v>0.650309112</c:v>
                </c:pt>
                <c:pt idx="347">
                  <c:v>0.652911346</c:v>
                </c:pt>
                <c:pt idx="348">
                  <c:v>0.470796601</c:v>
                </c:pt>
                <c:pt idx="349">
                  <c:v>0.521762765</c:v>
                </c:pt>
                <c:pt idx="350">
                  <c:v>0.470873331</c:v>
                </c:pt>
                <c:pt idx="351">
                  <c:v>0.62553036</c:v>
                </c:pt>
                <c:pt idx="352">
                  <c:v>0.397468485</c:v>
                </c:pt>
                <c:pt idx="353">
                  <c:v>0.64627493</c:v>
                </c:pt>
                <c:pt idx="354">
                  <c:v>0.33084521</c:v>
                </c:pt>
                <c:pt idx="355">
                  <c:v>0.459771255</c:v>
                </c:pt>
                <c:pt idx="356">
                  <c:v>0.601976163</c:v>
                </c:pt>
                <c:pt idx="357">
                  <c:v>0.399713916</c:v>
                </c:pt>
                <c:pt idx="358">
                  <c:v>0.390356614</c:v>
                </c:pt>
                <c:pt idx="359">
                  <c:v>0.631544683</c:v>
                </c:pt>
                <c:pt idx="360">
                  <c:v>0.649085507</c:v>
                </c:pt>
                <c:pt idx="361">
                  <c:v>0.400219462</c:v>
                </c:pt>
                <c:pt idx="362">
                  <c:v>0.491674809</c:v>
                </c:pt>
                <c:pt idx="363">
                  <c:v>0.641663964</c:v>
                </c:pt>
                <c:pt idx="364">
                  <c:v>0.384993133</c:v>
                </c:pt>
                <c:pt idx="365">
                  <c:v>0.387703286</c:v>
                </c:pt>
                <c:pt idx="366">
                  <c:v>0.473115387</c:v>
                </c:pt>
                <c:pt idx="367">
                  <c:v>0.393991529</c:v>
                </c:pt>
                <c:pt idx="368">
                  <c:v>0.599344482</c:v>
                </c:pt>
                <c:pt idx="369">
                  <c:v>0.394201241</c:v>
                </c:pt>
                <c:pt idx="370">
                  <c:v>0.602714689</c:v>
                </c:pt>
                <c:pt idx="371">
                  <c:v>0.344483884</c:v>
                </c:pt>
                <c:pt idx="372">
                  <c:v>0.674477011</c:v>
                </c:pt>
                <c:pt idx="373">
                  <c:v>0.618154632</c:v>
                </c:pt>
                <c:pt idx="374">
                  <c:v>0.389138094</c:v>
                </c:pt>
                <c:pt idx="375">
                  <c:v>0.459850526</c:v>
                </c:pt>
                <c:pt idx="376">
                  <c:v>0.735585769</c:v>
                </c:pt>
                <c:pt idx="377">
                  <c:v>0.600268505</c:v>
                </c:pt>
                <c:pt idx="378">
                  <c:v>0.399101855</c:v>
                </c:pt>
                <c:pt idx="379">
                  <c:v>0.443945982</c:v>
                </c:pt>
                <c:pt idx="380">
                  <c:v>0.392282253</c:v>
                </c:pt>
                <c:pt idx="381">
                  <c:v>0.392353313</c:v>
                </c:pt>
                <c:pt idx="382">
                  <c:v>0.642922856</c:v>
                </c:pt>
                <c:pt idx="383">
                  <c:v>0.650887774</c:v>
                </c:pt>
                <c:pt idx="384">
                  <c:v>0.733742531</c:v>
                </c:pt>
                <c:pt idx="385">
                  <c:v>0.609250156</c:v>
                </c:pt>
                <c:pt idx="386">
                  <c:v>0.603962169</c:v>
                </c:pt>
                <c:pt idx="387">
                  <c:v>0.3428941</c:v>
                </c:pt>
                <c:pt idx="388">
                  <c:v>0.452124451</c:v>
                </c:pt>
                <c:pt idx="389">
                  <c:v>0.662686701</c:v>
                </c:pt>
                <c:pt idx="390">
                  <c:v>0.6005656</c:v>
                </c:pt>
                <c:pt idx="391">
                  <c:v>0.442056064</c:v>
                </c:pt>
                <c:pt idx="392">
                  <c:v>0.641981478</c:v>
                </c:pt>
                <c:pt idx="393">
                  <c:v>0.654168344</c:v>
                </c:pt>
                <c:pt idx="394">
                  <c:v>0.409793499</c:v>
                </c:pt>
                <c:pt idx="395">
                  <c:v>0.596044323</c:v>
                </c:pt>
                <c:pt idx="396">
                  <c:v>0.448647865</c:v>
                </c:pt>
                <c:pt idx="397">
                  <c:v>0.39673469</c:v>
                </c:pt>
                <c:pt idx="398">
                  <c:v>0.748982821</c:v>
                </c:pt>
                <c:pt idx="399">
                  <c:v>0.349281708</c:v>
                </c:pt>
                <c:pt idx="400">
                  <c:v>0.616084942</c:v>
                </c:pt>
                <c:pt idx="401">
                  <c:v>0.536066744</c:v>
                </c:pt>
                <c:pt idx="402">
                  <c:v>0.73821572</c:v>
                </c:pt>
                <c:pt idx="403">
                  <c:v>0.446396401</c:v>
                </c:pt>
                <c:pt idx="404">
                  <c:v>0.69703251</c:v>
                </c:pt>
                <c:pt idx="405">
                  <c:v>0.479450759</c:v>
                </c:pt>
                <c:pt idx="406">
                  <c:v>0.452102564</c:v>
                </c:pt>
                <c:pt idx="407">
                  <c:v>0.395631317</c:v>
                </c:pt>
                <c:pt idx="408">
                  <c:v>0.338425525</c:v>
                </c:pt>
                <c:pt idx="409">
                  <c:v>0.528519924</c:v>
                </c:pt>
                <c:pt idx="410">
                  <c:v>0.474502488</c:v>
                </c:pt>
                <c:pt idx="411">
                  <c:v>0.603015125</c:v>
                </c:pt>
                <c:pt idx="412">
                  <c:v>0.436257363</c:v>
                </c:pt>
                <c:pt idx="413">
                  <c:v>0.220010857</c:v>
                </c:pt>
                <c:pt idx="414">
                  <c:v>0.59947431</c:v>
                </c:pt>
                <c:pt idx="415">
                  <c:v>0.343915472</c:v>
                </c:pt>
                <c:pt idx="416">
                  <c:v>0.626211095</c:v>
                </c:pt>
                <c:pt idx="417">
                  <c:v>0.343424492</c:v>
                </c:pt>
                <c:pt idx="418">
                  <c:v>0.649419742</c:v>
                </c:pt>
                <c:pt idx="419">
                  <c:v>0.698073022</c:v>
                </c:pt>
                <c:pt idx="420">
                  <c:v>0.528192324</c:v>
                </c:pt>
                <c:pt idx="421">
                  <c:v>0.457470022</c:v>
                </c:pt>
                <c:pt idx="422">
                  <c:v>0.612637499</c:v>
                </c:pt>
                <c:pt idx="423">
                  <c:v>0.47820449</c:v>
                </c:pt>
                <c:pt idx="424">
                  <c:v>0.623723925</c:v>
                </c:pt>
                <c:pt idx="425">
                  <c:v>0.635645953</c:v>
                </c:pt>
                <c:pt idx="426">
                  <c:v>0.398203021</c:v>
                </c:pt>
                <c:pt idx="427">
                  <c:v>0.337690288</c:v>
                </c:pt>
                <c:pt idx="428">
                  <c:v>0.650685364</c:v>
                </c:pt>
                <c:pt idx="429">
                  <c:v>0.344772802</c:v>
                </c:pt>
                <c:pt idx="430">
                  <c:v>0.467870949</c:v>
                </c:pt>
                <c:pt idx="431">
                  <c:v>0.354224038</c:v>
                </c:pt>
                <c:pt idx="432">
                  <c:v>0.620077381</c:v>
                </c:pt>
                <c:pt idx="433">
                  <c:v>0.461284489</c:v>
                </c:pt>
                <c:pt idx="434">
                  <c:v>0.39309901</c:v>
                </c:pt>
                <c:pt idx="435">
                  <c:v>0.601997094</c:v>
                </c:pt>
                <c:pt idx="436">
                  <c:v>0.640787664</c:v>
                </c:pt>
                <c:pt idx="437">
                  <c:v>0.466441135</c:v>
                </c:pt>
                <c:pt idx="438">
                  <c:v>0.602341739</c:v>
                </c:pt>
                <c:pt idx="439">
                  <c:v>0.674994856</c:v>
                </c:pt>
                <c:pt idx="440">
                  <c:v>0.601867468</c:v>
                </c:pt>
                <c:pt idx="441">
                  <c:v>0.4250324</c:v>
                </c:pt>
              </c:numCache>
            </c:numRef>
          </c:xVal>
          <c:yVal>
            <c:numRef>
              <c:f>'Chart Data'!$B$2:$B$443</c:f>
              <c:numCache>
                <c:formatCode>0.0</c:formatCode>
                <c:ptCount val="442"/>
                <c:pt idx="0">
                  <c:v>0.579989220459</c:v>
                </c:pt>
                <c:pt idx="1">
                  <c:v>0.517343098542</c:v>
                </c:pt>
                <c:pt idx="2">
                  <c:v>0.351453495572</c:v>
                </c:pt>
                <c:pt idx="3">
                  <c:v>0.464141960963</c:v>
                </c:pt>
                <c:pt idx="4">
                  <c:v>0.579989220459</c:v>
                </c:pt>
                <c:pt idx="5">
                  <c:v>0.465177640485</c:v>
                </c:pt>
                <c:pt idx="6">
                  <c:v>0.583002601472</c:v>
                </c:pt>
                <c:pt idx="7">
                  <c:v>0.495375381999</c:v>
                </c:pt>
                <c:pt idx="8">
                  <c:v>0.583002601472</c:v>
                </c:pt>
                <c:pt idx="9">
                  <c:v>0.657037417254</c:v>
                </c:pt>
                <c:pt idx="10">
                  <c:v>0.517343098542</c:v>
                </c:pt>
                <c:pt idx="11">
                  <c:v>0.465177640485</c:v>
                </c:pt>
                <c:pt idx="12">
                  <c:v>0.517387025561</c:v>
                </c:pt>
                <c:pt idx="13">
                  <c:v>0.517343098542</c:v>
                </c:pt>
                <c:pt idx="14">
                  <c:v>0.583002601472</c:v>
                </c:pt>
                <c:pt idx="15">
                  <c:v>0.361024363696</c:v>
                </c:pt>
                <c:pt idx="16">
                  <c:v>0.579989220459</c:v>
                </c:pt>
                <c:pt idx="17">
                  <c:v>0.583002601472</c:v>
                </c:pt>
                <c:pt idx="18">
                  <c:v>0.574730780496</c:v>
                </c:pt>
                <c:pt idx="19">
                  <c:v>0.507271854839</c:v>
                </c:pt>
                <c:pt idx="20">
                  <c:v>0.538628936</c:v>
                </c:pt>
                <c:pt idx="21">
                  <c:v>0.569471514379</c:v>
                </c:pt>
                <c:pt idx="22">
                  <c:v>0.522139120132</c:v>
                </c:pt>
                <c:pt idx="23">
                  <c:v>0.34814878376</c:v>
                </c:pt>
                <c:pt idx="24">
                  <c:v>0.475256109473</c:v>
                </c:pt>
                <c:pt idx="25">
                  <c:v>0.614037500261</c:v>
                </c:pt>
                <c:pt idx="26">
                  <c:v>0.592463403833</c:v>
                </c:pt>
                <c:pt idx="27">
                  <c:v>0.583593454722</c:v>
                </c:pt>
                <c:pt idx="28">
                  <c:v>0.558194899855</c:v>
                </c:pt>
                <c:pt idx="29">
                  <c:v>0.614816945826</c:v>
                </c:pt>
                <c:pt idx="30">
                  <c:v>0.541493326899</c:v>
                </c:pt>
                <c:pt idx="31">
                  <c:v>0.591877465741</c:v>
                </c:pt>
                <c:pt idx="32">
                  <c:v>0.646859864555</c:v>
                </c:pt>
                <c:pt idx="33">
                  <c:v>0.502377802513</c:v>
                </c:pt>
                <c:pt idx="34">
                  <c:v>0.614921267876</c:v>
                </c:pt>
                <c:pt idx="35">
                  <c:v>0.538795058696</c:v>
                </c:pt>
                <c:pt idx="36">
                  <c:v>0.505669864244</c:v>
                </c:pt>
                <c:pt idx="37">
                  <c:v>0.585432394158</c:v>
                </c:pt>
                <c:pt idx="38">
                  <c:v>0.502746005059</c:v>
                </c:pt>
                <c:pt idx="39">
                  <c:v>0.464565782214</c:v>
                </c:pt>
                <c:pt idx="40">
                  <c:v>0.577569344833</c:v>
                </c:pt>
                <c:pt idx="41">
                  <c:v>0.576896140386</c:v>
                </c:pt>
                <c:pt idx="42">
                  <c:v>0.380012261785</c:v>
                </c:pt>
                <c:pt idx="43">
                  <c:v>0.583930142119</c:v>
                </c:pt>
                <c:pt idx="44">
                  <c:v>0.374741173706</c:v>
                </c:pt>
                <c:pt idx="45">
                  <c:v>0.563311086707</c:v>
                </c:pt>
                <c:pt idx="46">
                  <c:v>0.570258316725</c:v>
                </c:pt>
                <c:pt idx="47">
                  <c:v>0.373437618075</c:v>
                </c:pt>
                <c:pt idx="48">
                  <c:v>0.587842874542</c:v>
                </c:pt>
                <c:pt idx="49">
                  <c:v>0.34522664437</c:v>
                </c:pt>
                <c:pt idx="50">
                  <c:v>0.62424545477</c:v>
                </c:pt>
                <c:pt idx="51">
                  <c:v>0.563319371466</c:v>
                </c:pt>
                <c:pt idx="52">
                  <c:v>0.563280523727</c:v>
                </c:pt>
                <c:pt idx="53">
                  <c:v>0.501433837475</c:v>
                </c:pt>
                <c:pt idx="54">
                  <c:v>0.352259691262</c:v>
                </c:pt>
                <c:pt idx="55">
                  <c:v>0.596160164139</c:v>
                </c:pt>
                <c:pt idx="56">
                  <c:v>0.559284984217</c:v>
                </c:pt>
                <c:pt idx="57">
                  <c:v>0.545557538995</c:v>
                </c:pt>
                <c:pt idx="58">
                  <c:v>0.593242116247</c:v>
                </c:pt>
                <c:pt idx="59">
                  <c:v>0.570129499926</c:v>
                </c:pt>
                <c:pt idx="60">
                  <c:v>0.541765222404</c:v>
                </c:pt>
                <c:pt idx="61">
                  <c:v>0.575647270488</c:v>
                </c:pt>
                <c:pt idx="62">
                  <c:v>0.515471270183</c:v>
                </c:pt>
                <c:pt idx="63">
                  <c:v>0.515897311157</c:v>
                </c:pt>
                <c:pt idx="64">
                  <c:v>0.570324989506</c:v>
                </c:pt>
                <c:pt idx="65">
                  <c:v>0.350447386704</c:v>
                </c:pt>
                <c:pt idx="66">
                  <c:v>0.548075436636</c:v>
                </c:pt>
                <c:pt idx="67">
                  <c:v>0.457198850656</c:v>
                </c:pt>
                <c:pt idx="68">
                  <c:v>0.565501291491</c:v>
                </c:pt>
                <c:pt idx="69">
                  <c:v>0.578051641983</c:v>
                </c:pt>
                <c:pt idx="70">
                  <c:v>0.51830192114</c:v>
                </c:pt>
                <c:pt idx="71">
                  <c:v>0.465583044206</c:v>
                </c:pt>
                <c:pt idx="72">
                  <c:v>0.34361596991</c:v>
                </c:pt>
                <c:pt idx="73">
                  <c:v>0.509767140823</c:v>
                </c:pt>
                <c:pt idx="74">
                  <c:v>0.611175415745</c:v>
                </c:pt>
                <c:pt idx="75">
                  <c:v>0.578095384323</c:v>
                </c:pt>
                <c:pt idx="76">
                  <c:v>0.537453335607</c:v>
                </c:pt>
                <c:pt idx="77">
                  <c:v>0.558266729937</c:v>
                </c:pt>
                <c:pt idx="78">
                  <c:v>0.596611610929</c:v>
                </c:pt>
                <c:pt idx="79">
                  <c:v>0.362309070487</c:v>
                </c:pt>
                <c:pt idx="80">
                  <c:v>0.505976524363</c:v>
                </c:pt>
                <c:pt idx="81">
                  <c:v>0.568852379063</c:v>
                </c:pt>
                <c:pt idx="82">
                  <c:v>0.527142304681</c:v>
                </c:pt>
                <c:pt idx="83">
                  <c:v>0.651556516338</c:v>
                </c:pt>
                <c:pt idx="84">
                  <c:v>0.543861143429</c:v>
                </c:pt>
                <c:pt idx="85">
                  <c:v>0.586792949811</c:v>
                </c:pt>
                <c:pt idx="86">
                  <c:v>0.515717493912</c:v>
                </c:pt>
                <c:pt idx="87">
                  <c:v>0.475621679728</c:v>
                </c:pt>
                <c:pt idx="88">
                  <c:v>0.503094532312</c:v>
                </c:pt>
                <c:pt idx="89">
                  <c:v>0.464857502709</c:v>
                </c:pt>
                <c:pt idx="90">
                  <c:v>0.462213994938</c:v>
                </c:pt>
                <c:pt idx="91">
                  <c:v>0.360717230351</c:v>
                </c:pt>
                <c:pt idx="92">
                  <c:v>0.523781787159</c:v>
                </c:pt>
                <c:pt idx="93">
                  <c:v>0.57476877915</c:v>
                </c:pt>
                <c:pt idx="94">
                  <c:v>0.578505068729</c:v>
                </c:pt>
                <c:pt idx="95">
                  <c:v>0.66456736765</c:v>
                </c:pt>
                <c:pt idx="96">
                  <c:v>0.519618536722</c:v>
                </c:pt>
                <c:pt idx="97">
                  <c:v>0.652002619868</c:v>
                </c:pt>
                <c:pt idx="98">
                  <c:v>0.459754734623</c:v>
                </c:pt>
                <c:pt idx="99">
                  <c:v>0.387102633353</c:v>
                </c:pt>
                <c:pt idx="100">
                  <c:v>0.354620938486</c:v>
                </c:pt>
                <c:pt idx="101">
                  <c:v>0.520155651317</c:v>
                </c:pt>
                <c:pt idx="102">
                  <c:v>0.629738467822</c:v>
                </c:pt>
                <c:pt idx="103">
                  <c:v>0.567603348253</c:v>
                </c:pt>
                <c:pt idx="104">
                  <c:v>0.665479999834</c:v>
                </c:pt>
                <c:pt idx="105">
                  <c:v>0.455538428963</c:v>
                </c:pt>
                <c:pt idx="106">
                  <c:v>0.633935966923</c:v>
                </c:pt>
                <c:pt idx="107">
                  <c:v>0.492568272281</c:v>
                </c:pt>
                <c:pt idx="108">
                  <c:v>0.395080219277</c:v>
                </c:pt>
                <c:pt idx="109">
                  <c:v>0.469802298541</c:v>
                </c:pt>
                <c:pt idx="110">
                  <c:v>0.568675563341</c:v>
                </c:pt>
                <c:pt idx="111">
                  <c:v>0.517110198715</c:v>
                </c:pt>
                <c:pt idx="112">
                  <c:v>0.51931961633</c:v>
                </c:pt>
                <c:pt idx="113">
                  <c:v>0.589892315197</c:v>
                </c:pt>
                <c:pt idx="114">
                  <c:v>0.365279812432</c:v>
                </c:pt>
                <c:pt idx="115">
                  <c:v>0.590696281943</c:v>
                </c:pt>
                <c:pt idx="116">
                  <c:v>0.537192917544</c:v>
                </c:pt>
                <c:pt idx="117">
                  <c:v>0.592663647248</c:v>
                </c:pt>
                <c:pt idx="118">
                  <c:v>0.615137860608</c:v>
                </c:pt>
                <c:pt idx="119">
                  <c:v>0.512013016945</c:v>
                </c:pt>
                <c:pt idx="120">
                  <c:v>0.557319229923</c:v>
                </c:pt>
                <c:pt idx="121">
                  <c:v>0.37574453242</c:v>
                </c:pt>
                <c:pt idx="122">
                  <c:v>0.578310173601</c:v>
                </c:pt>
                <c:pt idx="123">
                  <c:v>0.558328199422</c:v>
                </c:pt>
                <c:pt idx="124">
                  <c:v>0.515884399828</c:v>
                </c:pt>
                <c:pt idx="125">
                  <c:v>0.585299359802</c:v>
                </c:pt>
                <c:pt idx="126">
                  <c:v>0.509256710447</c:v>
                </c:pt>
                <c:pt idx="127">
                  <c:v>0.459963672942</c:v>
                </c:pt>
                <c:pt idx="128">
                  <c:v>0.372296997622</c:v>
                </c:pt>
                <c:pt idx="129">
                  <c:v>0.57800502906</c:v>
                </c:pt>
                <c:pt idx="130">
                  <c:v>0.551178360384</c:v>
                </c:pt>
                <c:pt idx="131">
                  <c:v>0.603131701689</c:v>
                </c:pt>
                <c:pt idx="132">
                  <c:v>0.612991654635</c:v>
                </c:pt>
                <c:pt idx="133">
                  <c:v>0.501603821421</c:v>
                </c:pt>
                <c:pt idx="134">
                  <c:v>0.465034877329</c:v>
                </c:pt>
                <c:pt idx="135">
                  <c:v>0.571941954698</c:v>
                </c:pt>
                <c:pt idx="136">
                  <c:v>0.516480861168</c:v>
                </c:pt>
                <c:pt idx="137">
                  <c:v>0.508656876064</c:v>
                </c:pt>
                <c:pt idx="138">
                  <c:v>0.375678569983</c:v>
                </c:pt>
                <c:pt idx="139">
                  <c:v>0.51560308951</c:v>
                </c:pt>
                <c:pt idx="140">
                  <c:v>0.511162176356</c:v>
                </c:pt>
                <c:pt idx="141">
                  <c:v>0.354416930492</c:v>
                </c:pt>
                <c:pt idx="142">
                  <c:v>0.599192359733</c:v>
                </c:pt>
                <c:pt idx="143">
                  <c:v>0.560187584324</c:v>
                </c:pt>
                <c:pt idx="144">
                  <c:v>0.519200135779</c:v>
                </c:pt>
                <c:pt idx="145">
                  <c:v>0.515090613789</c:v>
                </c:pt>
                <c:pt idx="146">
                  <c:v>0.47285370554</c:v>
                </c:pt>
                <c:pt idx="147">
                  <c:v>0.532619377662</c:v>
                </c:pt>
                <c:pt idx="148">
                  <c:v>0.602475015165</c:v>
                </c:pt>
                <c:pt idx="149">
                  <c:v>0.549219752899</c:v>
                </c:pt>
                <c:pt idx="150">
                  <c:v>0.662751866499</c:v>
                </c:pt>
                <c:pt idx="151">
                  <c:v>0.572162923023</c:v>
                </c:pt>
                <c:pt idx="152">
                  <c:v>0.549916524302</c:v>
                </c:pt>
                <c:pt idx="153">
                  <c:v>0.567660145513</c:v>
                </c:pt>
                <c:pt idx="154">
                  <c:v>0.562092200551</c:v>
                </c:pt>
                <c:pt idx="155">
                  <c:v>0.667387459266</c:v>
                </c:pt>
                <c:pt idx="156">
                  <c:v>0.686803707874</c:v>
                </c:pt>
                <c:pt idx="157">
                  <c:v>0.71171638873</c:v>
                </c:pt>
                <c:pt idx="158">
                  <c:v>0.722471951337</c:v>
                </c:pt>
                <c:pt idx="159">
                  <c:v>0.38011523797</c:v>
                </c:pt>
                <c:pt idx="160">
                  <c:v>0.379826417018</c:v>
                </c:pt>
                <c:pt idx="161">
                  <c:v>0.354533478919</c:v>
                </c:pt>
                <c:pt idx="162">
                  <c:v>0.656780700345</c:v>
                </c:pt>
                <c:pt idx="163">
                  <c:v>0.703908734497</c:v>
                </c:pt>
                <c:pt idx="164">
                  <c:v>0.347035296464</c:v>
                </c:pt>
                <c:pt idx="165">
                  <c:v>0.387627213088</c:v>
                </c:pt>
                <c:pt idx="166">
                  <c:v>0.675543605485</c:v>
                </c:pt>
                <c:pt idx="167">
                  <c:v>0.365178225774</c:v>
                </c:pt>
                <c:pt idx="168">
                  <c:v>0.25067889148</c:v>
                </c:pt>
                <c:pt idx="169">
                  <c:v>0.3833148098</c:v>
                </c:pt>
                <c:pt idx="170">
                  <c:v>0.315229485561</c:v>
                </c:pt>
                <c:pt idx="171">
                  <c:v>0.991541520141</c:v>
                </c:pt>
                <c:pt idx="172">
                  <c:v>0.38695842231</c:v>
                </c:pt>
                <c:pt idx="173">
                  <c:v>0.637430032507</c:v>
                </c:pt>
                <c:pt idx="174">
                  <c:v>0.337577247926</c:v>
                </c:pt>
                <c:pt idx="175">
                  <c:v>0.313610972915</c:v>
                </c:pt>
                <c:pt idx="176">
                  <c:v>0.945804356438</c:v>
                </c:pt>
                <c:pt idx="177">
                  <c:v>0.680411981273</c:v>
                </c:pt>
                <c:pt idx="178">
                  <c:v>0.965680458861</c:v>
                </c:pt>
                <c:pt idx="179">
                  <c:v>0.358228690634</c:v>
                </c:pt>
                <c:pt idx="180">
                  <c:v>0.330304288062</c:v>
                </c:pt>
                <c:pt idx="181">
                  <c:v>0.665202212332</c:v>
                </c:pt>
                <c:pt idx="182">
                  <c:v>0.339097378383</c:v>
                </c:pt>
                <c:pt idx="183">
                  <c:v>0.694480939</c:v>
                </c:pt>
                <c:pt idx="184">
                  <c:v>0.672763819255</c:v>
                </c:pt>
                <c:pt idx="185">
                  <c:v>0.253272381162</c:v>
                </c:pt>
                <c:pt idx="186">
                  <c:v>0.446913203087</c:v>
                </c:pt>
                <c:pt idx="187">
                  <c:v>0.648855807574</c:v>
                </c:pt>
                <c:pt idx="188">
                  <c:v>0.58285419099</c:v>
                </c:pt>
                <c:pt idx="189">
                  <c:v>0.30471979294</c:v>
                </c:pt>
                <c:pt idx="190">
                  <c:v>0.943559101003</c:v>
                </c:pt>
                <c:pt idx="191">
                  <c:v>0.36363858845</c:v>
                </c:pt>
                <c:pt idx="192">
                  <c:v>1.06193796682</c:v>
                </c:pt>
                <c:pt idx="193">
                  <c:v>0.323002090787</c:v>
                </c:pt>
                <c:pt idx="194">
                  <c:v>0.342278873628</c:v>
                </c:pt>
                <c:pt idx="195">
                  <c:v>0.675886435627</c:v>
                </c:pt>
                <c:pt idx="196">
                  <c:v>0.699139853234</c:v>
                </c:pt>
                <c:pt idx="197">
                  <c:v>0.69021333998</c:v>
                </c:pt>
                <c:pt idx="198">
                  <c:v>0.381718359682</c:v>
                </c:pt>
                <c:pt idx="199">
                  <c:v>0.38470865471</c:v>
                </c:pt>
                <c:pt idx="200">
                  <c:v>1.06296103617</c:v>
                </c:pt>
                <c:pt idx="201">
                  <c:v>1.01682822433</c:v>
                </c:pt>
                <c:pt idx="202">
                  <c:v>0.968075963213</c:v>
                </c:pt>
                <c:pt idx="203">
                  <c:v>0.274241982703</c:v>
                </c:pt>
                <c:pt idx="204">
                  <c:v>0.713373471512</c:v>
                </c:pt>
                <c:pt idx="205">
                  <c:v>0.426757775251</c:v>
                </c:pt>
                <c:pt idx="206">
                  <c:v>0.703729936702</c:v>
                </c:pt>
                <c:pt idx="207">
                  <c:v>0.675856725806</c:v>
                </c:pt>
                <c:pt idx="208">
                  <c:v>0.320716377272</c:v>
                </c:pt>
                <c:pt idx="209">
                  <c:v>0.279710717233</c:v>
                </c:pt>
                <c:pt idx="210">
                  <c:v>0.265930331835</c:v>
                </c:pt>
                <c:pt idx="211">
                  <c:v>0.695128920448</c:v>
                </c:pt>
                <c:pt idx="212">
                  <c:v>0.266867141806</c:v>
                </c:pt>
                <c:pt idx="213">
                  <c:v>0.443278976957</c:v>
                </c:pt>
                <c:pt idx="214">
                  <c:v>0.675748600607</c:v>
                </c:pt>
                <c:pt idx="215">
                  <c:v>0.713047586041</c:v>
                </c:pt>
                <c:pt idx="216">
                  <c:v>0.289249259603</c:v>
                </c:pt>
                <c:pt idx="217">
                  <c:v>0.980014694115</c:v>
                </c:pt>
                <c:pt idx="218">
                  <c:v>0.305917139222</c:v>
                </c:pt>
                <c:pt idx="219">
                  <c:v>0.683449791656</c:v>
                </c:pt>
                <c:pt idx="220">
                  <c:v>0.701062741226</c:v>
                </c:pt>
                <c:pt idx="221">
                  <c:v>0.646480329032</c:v>
                </c:pt>
                <c:pt idx="222">
                  <c:v>0.988782097082</c:v>
                </c:pt>
                <c:pt idx="223">
                  <c:v>0.250364616562</c:v>
                </c:pt>
                <c:pt idx="224">
                  <c:v>0.445674130446</c:v>
                </c:pt>
                <c:pt idx="225">
                  <c:v>1.03458660137</c:v>
                </c:pt>
                <c:pt idx="226">
                  <c:v>0.649078545694</c:v>
                </c:pt>
                <c:pt idx="227">
                  <c:v>0.95003067546</c:v>
                </c:pt>
                <c:pt idx="228">
                  <c:v>0.338691305364</c:v>
                </c:pt>
                <c:pt idx="229">
                  <c:v>0.315779420528</c:v>
                </c:pt>
                <c:pt idx="230">
                  <c:v>0.268447831555</c:v>
                </c:pt>
                <c:pt idx="231">
                  <c:v>0.965593678972</c:v>
                </c:pt>
                <c:pt idx="232">
                  <c:v>0.430831965699</c:v>
                </c:pt>
                <c:pt idx="233">
                  <c:v>0.252974750338</c:v>
                </c:pt>
                <c:pt idx="234">
                  <c:v>0.33050468824</c:v>
                </c:pt>
                <c:pt idx="235">
                  <c:v>0.319425813561</c:v>
                </c:pt>
                <c:pt idx="236">
                  <c:v>0.271485481856</c:v>
                </c:pt>
                <c:pt idx="237">
                  <c:v>0.606640663211</c:v>
                </c:pt>
                <c:pt idx="238">
                  <c:v>0.389598732453</c:v>
                </c:pt>
                <c:pt idx="239">
                  <c:v>0.662906378925</c:v>
                </c:pt>
                <c:pt idx="240">
                  <c:v>0.265210367011</c:v>
                </c:pt>
                <c:pt idx="241">
                  <c:v>0.746333456291</c:v>
                </c:pt>
                <c:pt idx="242">
                  <c:v>1.0089320757</c:v>
                </c:pt>
                <c:pt idx="243">
                  <c:v>0.674906652965</c:v>
                </c:pt>
                <c:pt idx="244">
                  <c:v>0.956741782242</c:v>
                </c:pt>
                <c:pt idx="245">
                  <c:v>0.331915429461</c:v>
                </c:pt>
                <c:pt idx="246">
                  <c:v>0.292176179473</c:v>
                </c:pt>
                <c:pt idx="247">
                  <c:v>0.401758685411</c:v>
                </c:pt>
                <c:pt idx="248">
                  <c:v>0.650940100407</c:v>
                </c:pt>
                <c:pt idx="249">
                  <c:v>0.383995298876</c:v>
                </c:pt>
                <c:pt idx="250">
                  <c:v>0.692965828351</c:v>
                </c:pt>
                <c:pt idx="251">
                  <c:v>0.966203555896</c:v>
                </c:pt>
                <c:pt idx="252">
                  <c:v>0.358937259816</c:v>
                </c:pt>
                <c:pt idx="253">
                  <c:v>0.345302643741</c:v>
                </c:pt>
                <c:pt idx="254">
                  <c:v>0.3860444091</c:v>
                </c:pt>
                <c:pt idx="255">
                  <c:v>0.268881620871</c:v>
                </c:pt>
                <c:pt idx="256">
                  <c:v>0.701043883326</c:v>
                </c:pt>
                <c:pt idx="257">
                  <c:v>0.390687359198</c:v>
                </c:pt>
                <c:pt idx="258">
                  <c:v>0.259799933682</c:v>
                </c:pt>
                <c:pt idx="259">
                  <c:v>0.682693084837</c:v>
                </c:pt>
                <c:pt idx="260">
                  <c:v>0.325409768583</c:v>
                </c:pt>
                <c:pt idx="261">
                  <c:v>0.952439484706</c:v>
                </c:pt>
                <c:pt idx="262">
                  <c:v>1.06615466695</c:v>
                </c:pt>
                <c:pt idx="263">
                  <c:v>0.379036312467</c:v>
                </c:pt>
                <c:pt idx="264">
                  <c:v>0.978055841749</c:v>
                </c:pt>
                <c:pt idx="265">
                  <c:v>0.271728659736</c:v>
                </c:pt>
                <c:pt idx="266">
                  <c:v>0.359879075299</c:v>
                </c:pt>
                <c:pt idx="267">
                  <c:v>0.332828401866</c:v>
                </c:pt>
                <c:pt idx="268">
                  <c:v>0.647510791722</c:v>
                </c:pt>
                <c:pt idx="269">
                  <c:v>0.251994142388</c:v>
                </c:pt>
                <c:pt idx="270">
                  <c:v>0.254142856021</c:v>
                </c:pt>
                <c:pt idx="271">
                  <c:v>0.957042245518</c:v>
                </c:pt>
                <c:pt idx="272">
                  <c:v>0.349097660933</c:v>
                </c:pt>
                <c:pt idx="273">
                  <c:v>0.277341382545</c:v>
                </c:pt>
                <c:pt idx="274">
                  <c:v>0.697861330126</c:v>
                </c:pt>
                <c:pt idx="275">
                  <c:v>0.705583577033</c:v>
                </c:pt>
                <c:pt idx="276">
                  <c:v>0.442197488106</c:v>
                </c:pt>
                <c:pt idx="277">
                  <c:v>1.02846125779</c:v>
                </c:pt>
                <c:pt idx="278">
                  <c:v>0.384854996817</c:v>
                </c:pt>
                <c:pt idx="279">
                  <c:v>0.955341946658</c:v>
                </c:pt>
                <c:pt idx="280">
                  <c:v>0.281902015675</c:v>
                </c:pt>
                <c:pt idx="281">
                  <c:v>0.331285056011</c:v>
                </c:pt>
                <c:pt idx="282">
                  <c:v>0.255912720548</c:v>
                </c:pt>
                <c:pt idx="283">
                  <c:v>0.661613288121</c:v>
                </c:pt>
                <c:pt idx="284">
                  <c:v>0.347823166872</c:v>
                </c:pt>
                <c:pt idx="285">
                  <c:v>0.988388404388</c:v>
                </c:pt>
                <c:pt idx="286">
                  <c:v>0.353810674167</c:v>
                </c:pt>
                <c:pt idx="287">
                  <c:v>0.958974650213</c:v>
                </c:pt>
                <c:pt idx="288">
                  <c:v>0.700532441522</c:v>
                </c:pt>
                <c:pt idx="289">
                  <c:v>0.705992408541</c:v>
                </c:pt>
                <c:pt idx="290">
                  <c:v>0.997371139121</c:v>
                </c:pt>
                <c:pt idx="291">
                  <c:v>0.439992425432</c:v>
                </c:pt>
                <c:pt idx="292">
                  <c:v>0.672083900509</c:v>
                </c:pt>
                <c:pt idx="293">
                  <c:v>0.694952026977</c:v>
                </c:pt>
                <c:pt idx="294">
                  <c:v>0.427845978133</c:v>
                </c:pt>
                <c:pt idx="295">
                  <c:v>0.614975875254</c:v>
                </c:pt>
                <c:pt idx="296">
                  <c:v>0.306158616645</c:v>
                </c:pt>
                <c:pt idx="297">
                  <c:v>0.641347133334</c:v>
                </c:pt>
                <c:pt idx="298">
                  <c:v>1.05756501824</c:v>
                </c:pt>
                <c:pt idx="299">
                  <c:v>0.352715126396</c:v>
                </c:pt>
                <c:pt idx="300">
                  <c:v>1.0178940864</c:v>
                </c:pt>
                <c:pt idx="301">
                  <c:v>0.993394505936</c:v>
                </c:pt>
                <c:pt idx="302">
                  <c:v>1.06675456976</c:v>
                </c:pt>
                <c:pt idx="303">
                  <c:v>0.605300981179</c:v>
                </c:pt>
                <c:pt idx="304">
                  <c:v>0.352306566332</c:v>
                </c:pt>
                <c:pt idx="305">
                  <c:v>0.649074953718</c:v>
                </c:pt>
                <c:pt idx="306">
                  <c:v>0.315933047491</c:v>
                </c:pt>
                <c:pt idx="307">
                  <c:v>1.06802498393</c:v>
                </c:pt>
                <c:pt idx="308">
                  <c:v>0.68559111593</c:v>
                </c:pt>
                <c:pt idx="309">
                  <c:v>0.716253338386</c:v>
                </c:pt>
                <c:pt idx="310">
                  <c:v>0.749429020052</c:v>
                </c:pt>
                <c:pt idx="311">
                  <c:v>0.260942797779</c:v>
                </c:pt>
                <c:pt idx="312">
                  <c:v>0.972587626214</c:v>
                </c:pt>
                <c:pt idx="313">
                  <c:v>0.606365223232</c:v>
                </c:pt>
                <c:pt idx="314">
                  <c:v>0.699211981979</c:v>
                </c:pt>
                <c:pt idx="315">
                  <c:v>0.382152577648</c:v>
                </c:pt>
                <c:pt idx="316">
                  <c:v>0.335126783162</c:v>
                </c:pt>
                <c:pt idx="317">
                  <c:v>0.279561820132</c:v>
                </c:pt>
                <c:pt idx="318">
                  <c:v>0.470603392917</c:v>
                </c:pt>
                <c:pt idx="319">
                  <c:v>0.423547617616</c:v>
                </c:pt>
                <c:pt idx="320">
                  <c:v>0.424763371848</c:v>
                </c:pt>
                <c:pt idx="321">
                  <c:v>0.444691457392</c:v>
                </c:pt>
                <c:pt idx="322">
                  <c:v>0.450481964351</c:v>
                </c:pt>
                <c:pt idx="323">
                  <c:v>0.406047511703</c:v>
                </c:pt>
                <c:pt idx="324">
                  <c:v>0.63765217695</c:v>
                </c:pt>
                <c:pt idx="325">
                  <c:v>0.398689197196</c:v>
                </c:pt>
                <c:pt idx="326">
                  <c:v>0.451186635844</c:v>
                </c:pt>
                <c:pt idx="327">
                  <c:v>0.4225639866</c:v>
                </c:pt>
                <c:pt idx="328">
                  <c:v>0.3783080014</c:v>
                </c:pt>
                <c:pt idx="329">
                  <c:v>0.640891716467</c:v>
                </c:pt>
                <c:pt idx="330">
                  <c:v>0.740990538827</c:v>
                </c:pt>
                <c:pt idx="331">
                  <c:v>0.666808499733</c:v>
                </c:pt>
                <c:pt idx="332">
                  <c:v>0.390528361528</c:v>
                </c:pt>
                <c:pt idx="333">
                  <c:v>0.207470521797</c:v>
                </c:pt>
                <c:pt idx="334">
                  <c:v>0.343487080557</c:v>
                </c:pt>
                <c:pt idx="335">
                  <c:v>0.556684801546</c:v>
                </c:pt>
                <c:pt idx="336">
                  <c:v>0.529496124986</c:v>
                </c:pt>
                <c:pt idx="337">
                  <c:v>0.358794968673</c:v>
                </c:pt>
                <c:pt idx="338">
                  <c:v>0.421373285712</c:v>
                </c:pt>
                <c:pt idx="339">
                  <c:v>0.742555799013</c:v>
                </c:pt>
                <c:pt idx="340">
                  <c:v>0.455279772698</c:v>
                </c:pt>
                <c:pt idx="341">
                  <c:v>0.337415970489</c:v>
                </c:pt>
                <c:pt idx="342">
                  <c:v>0.468876518597</c:v>
                </c:pt>
                <c:pt idx="343">
                  <c:v>0.395602692249</c:v>
                </c:pt>
                <c:pt idx="344">
                  <c:v>0.61971103177</c:v>
                </c:pt>
                <c:pt idx="345">
                  <c:v>0.700589580346</c:v>
                </c:pt>
                <c:pt idx="346">
                  <c:v>0.647506051706</c:v>
                </c:pt>
                <c:pt idx="347">
                  <c:v>0.627335468726</c:v>
                </c:pt>
                <c:pt idx="348">
                  <c:v>0.463530272339</c:v>
                </c:pt>
                <c:pt idx="349">
                  <c:v>0.565474937734</c:v>
                </c:pt>
                <c:pt idx="350">
                  <c:v>0.455314077067</c:v>
                </c:pt>
                <c:pt idx="351">
                  <c:v>0.531660428077</c:v>
                </c:pt>
                <c:pt idx="352">
                  <c:v>0.395608813081</c:v>
                </c:pt>
                <c:pt idx="353">
                  <c:v>0.638440535717</c:v>
                </c:pt>
                <c:pt idx="354">
                  <c:v>0.350872306351</c:v>
                </c:pt>
                <c:pt idx="355">
                  <c:v>0.470825365658</c:v>
                </c:pt>
                <c:pt idx="356">
                  <c:v>0.580233731611</c:v>
                </c:pt>
                <c:pt idx="357">
                  <c:v>0.400535119735</c:v>
                </c:pt>
                <c:pt idx="358">
                  <c:v>0.38969161619</c:v>
                </c:pt>
                <c:pt idx="359">
                  <c:v>0.624152844364</c:v>
                </c:pt>
                <c:pt idx="360">
                  <c:v>0.642973414167</c:v>
                </c:pt>
                <c:pt idx="361">
                  <c:v>0.416016294137</c:v>
                </c:pt>
                <c:pt idx="362">
                  <c:v>0.615752820614</c:v>
                </c:pt>
                <c:pt idx="363">
                  <c:v>0.640326018853</c:v>
                </c:pt>
                <c:pt idx="364">
                  <c:v>0.392598857769</c:v>
                </c:pt>
                <c:pt idx="365">
                  <c:v>0.386784279959</c:v>
                </c:pt>
                <c:pt idx="366">
                  <c:v>0.458345461151</c:v>
                </c:pt>
                <c:pt idx="367">
                  <c:v>0.391915828108</c:v>
                </c:pt>
                <c:pt idx="368">
                  <c:v>0.564736217149</c:v>
                </c:pt>
                <c:pt idx="369">
                  <c:v>0.401588125551</c:v>
                </c:pt>
                <c:pt idx="370">
                  <c:v>0.424643706089</c:v>
                </c:pt>
                <c:pt idx="371">
                  <c:v>0.358084233368</c:v>
                </c:pt>
                <c:pt idx="372">
                  <c:v>0.639546138547</c:v>
                </c:pt>
                <c:pt idx="373">
                  <c:v>0.614247315366</c:v>
                </c:pt>
                <c:pt idx="374">
                  <c:v>0.371090438004</c:v>
                </c:pt>
                <c:pt idx="375">
                  <c:v>0.455473811542</c:v>
                </c:pt>
                <c:pt idx="376">
                  <c:v>0.710643615223</c:v>
                </c:pt>
                <c:pt idx="377">
                  <c:v>0.569953280835</c:v>
                </c:pt>
                <c:pt idx="378">
                  <c:v>0.387595425392</c:v>
                </c:pt>
                <c:pt idx="379">
                  <c:v>0.420438644949</c:v>
                </c:pt>
                <c:pt idx="380">
                  <c:v>0.396933203255</c:v>
                </c:pt>
                <c:pt idx="381">
                  <c:v>0.383705783822</c:v>
                </c:pt>
                <c:pt idx="382">
                  <c:v>0.638346965062</c:v>
                </c:pt>
                <c:pt idx="383">
                  <c:v>0.634864491801</c:v>
                </c:pt>
                <c:pt idx="384">
                  <c:v>0.735773616689</c:v>
                </c:pt>
                <c:pt idx="385">
                  <c:v>0.59661062287</c:v>
                </c:pt>
                <c:pt idx="386">
                  <c:v>0.575103707256</c:v>
                </c:pt>
                <c:pt idx="387">
                  <c:v>0.371311321614</c:v>
                </c:pt>
                <c:pt idx="388">
                  <c:v>0.462936683087</c:v>
                </c:pt>
                <c:pt idx="389">
                  <c:v>0.643557687334</c:v>
                </c:pt>
                <c:pt idx="390">
                  <c:v>0.554268825152</c:v>
                </c:pt>
                <c:pt idx="391">
                  <c:v>0.409195706056</c:v>
                </c:pt>
                <c:pt idx="392">
                  <c:v>0.628940377495</c:v>
                </c:pt>
                <c:pt idx="393">
                  <c:v>0.642594514824</c:v>
                </c:pt>
                <c:pt idx="394">
                  <c:v>0.441445704483</c:v>
                </c:pt>
                <c:pt idx="395">
                  <c:v>0.598026107597</c:v>
                </c:pt>
                <c:pt idx="396">
                  <c:v>0.420691321065</c:v>
                </c:pt>
                <c:pt idx="397">
                  <c:v>0.413520009994</c:v>
                </c:pt>
                <c:pt idx="398">
                  <c:v>0.775016168793</c:v>
                </c:pt>
                <c:pt idx="399">
                  <c:v>0.337959617976</c:v>
                </c:pt>
                <c:pt idx="400">
                  <c:v>0.616352045253</c:v>
                </c:pt>
                <c:pt idx="401">
                  <c:v>0.569886549644</c:v>
                </c:pt>
                <c:pt idx="402">
                  <c:v>0.73458935373</c:v>
                </c:pt>
                <c:pt idx="403">
                  <c:v>0.425732186892</c:v>
                </c:pt>
                <c:pt idx="404">
                  <c:v>0.694090882733</c:v>
                </c:pt>
                <c:pt idx="405">
                  <c:v>0.4196126096</c:v>
                </c:pt>
                <c:pt idx="406">
                  <c:v>0.434660234582</c:v>
                </c:pt>
                <c:pt idx="407">
                  <c:v>0.386731421968</c:v>
                </c:pt>
                <c:pt idx="408">
                  <c:v>0.354670564305</c:v>
                </c:pt>
                <c:pt idx="409">
                  <c:v>0.549635152026</c:v>
                </c:pt>
                <c:pt idx="410">
                  <c:v>0.416343075766</c:v>
                </c:pt>
                <c:pt idx="411">
                  <c:v>0.560529055044</c:v>
                </c:pt>
                <c:pt idx="412">
                  <c:v>0.413893716415</c:v>
                </c:pt>
                <c:pt idx="413">
                  <c:v>0.277148831021</c:v>
                </c:pt>
                <c:pt idx="414">
                  <c:v>0.593891128257</c:v>
                </c:pt>
                <c:pt idx="415">
                  <c:v>0.341554361435</c:v>
                </c:pt>
                <c:pt idx="416">
                  <c:v>0.627410822314</c:v>
                </c:pt>
                <c:pt idx="417">
                  <c:v>0.34036828193</c:v>
                </c:pt>
                <c:pt idx="418">
                  <c:v>0.632990088869</c:v>
                </c:pt>
                <c:pt idx="419">
                  <c:v>0.70184486825</c:v>
                </c:pt>
                <c:pt idx="420">
                  <c:v>0.563238732998</c:v>
                </c:pt>
                <c:pt idx="421">
                  <c:v>0.398075060382</c:v>
                </c:pt>
                <c:pt idx="422">
                  <c:v>0.602179516355</c:v>
                </c:pt>
                <c:pt idx="423">
                  <c:v>0.502794633466</c:v>
                </c:pt>
                <c:pt idx="424">
                  <c:v>0.533498664653</c:v>
                </c:pt>
                <c:pt idx="425">
                  <c:v>0.553800289041</c:v>
                </c:pt>
                <c:pt idx="426">
                  <c:v>0.398327593939</c:v>
                </c:pt>
                <c:pt idx="427">
                  <c:v>0.343593780404</c:v>
                </c:pt>
                <c:pt idx="428">
                  <c:v>0.646518908568</c:v>
                </c:pt>
                <c:pt idx="429">
                  <c:v>0.369147487697</c:v>
                </c:pt>
                <c:pt idx="430">
                  <c:v>0.457971612175</c:v>
                </c:pt>
                <c:pt idx="431">
                  <c:v>0.356276214516</c:v>
                </c:pt>
                <c:pt idx="432">
                  <c:v>0.637938849221</c:v>
                </c:pt>
                <c:pt idx="433">
                  <c:v>0.459011183031</c:v>
                </c:pt>
                <c:pt idx="434">
                  <c:v>0.389557136118</c:v>
                </c:pt>
                <c:pt idx="435">
                  <c:v>0.571442615994</c:v>
                </c:pt>
                <c:pt idx="436">
                  <c:v>0.638851257887</c:v>
                </c:pt>
                <c:pt idx="437">
                  <c:v>0.456577820038</c:v>
                </c:pt>
                <c:pt idx="438">
                  <c:v>0.601403034204</c:v>
                </c:pt>
                <c:pt idx="439">
                  <c:v>0.668564070408</c:v>
                </c:pt>
                <c:pt idx="440">
                  <c:v>0.629102129893</c:v>
                </c:pt>
                <c:pt idx="441">
                  <c:v>0.422944868315</c:v>
                </c:pt>
              </c:numCache>
            </c:numRef>
          </c:yVal>
        </c:ser>
        <c:ser>
          <c:idx val="1"/>
          <c:order val="1"/>
          <c:tx>
            <c:v>Ideal prediction</c:v>
          </c:tx>
          <c:spPr>
            <a:ln xmlns:a="http://schemas.openxmlformats.org/drawingml/2006/main" w="9525">
              <a:solidFill>
                <a:srgbClr val="65717B"/>
              </a:solidFill>
            </a:ln>
          </c:spPr>
          <c:marker>
            <c:symbol val="none"/>
          </c:marker>
          <c:xVal>
            <c:numRef>
              <c:f>'Chart Data'!$C$2:$C$3</c:f>
              <c:numCache>
                <c:formatCode>General</c:formatCode>
                <c:ptCount val="2"/>
                <c:pt idx="0">
                  <c:v>0.15</c:v>
                </c:pt>
                <c:pt idx="1">
                  <c:v>1.15</c:v>
                </c:pt>
              </c:numCache>
            </c:numRef>
          </c:xVal>
          <c:yVal>
            <c:numRef>
              <c:f>'Chart Data'!$D$2:$D$3</c:f>
              <c:numCache>
                <c:formatCode>0.0</c:formatCode>
                <c:ptCount val="2"/>
                <c:pt idx="0">
                  <c:v>0.15</c:v>
                </c:pt>
                <c:pt idx="1">
                  <c:v>1.15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5"/>
          <c:min val="0.15"/>
        </c:scaling>
        <c:delete val="0"/>
        <c:axPos val="l"/>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Predicted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valAx>
      <c:valAx>
        <c:axId val="48650112"/>
        <c:scaling>
          <c:orientation val="minMax"/>
          <c:max val="1.15"/>
          <c:min val="0.15"/>
        </c:scaling>
        <c:delete val="0"/>
        <c:axPos val="b"/>
        <c:majorGridlines>
          <c:spPr>
            <a:ln xmlns:a="http://schemas.openxmlformats.org/drawingml/2006/main" w="4763">
              <a:solidFill>
                <a:srgbClr val="E6EAEE"/>
              </a:solidFill>
            </a:ln>
          </c:spPr>
        </c:majorGridlines>
        <c:title>
          <c:tx>
            <c:rich>
              <a:bodyPr xmlns:a="http://schemas.openxmlformats.org/drawingml/2006/main"/>
              <a:lstStyle xmlns:a="http://schemas.openxmlformats.org/drawingml/2006/main"/>
              <a:p xmlns:a="http://schemas.openxmlformats.org/drawingml/2006/main">
                <a:r>
                  <a:rPr sz="1200">
                    <a:solidFill>
                      <a:srgbClr val="263645"/>
                    </a:solidFill>
                    <a:latin typeface="Arial"/>
                    <a:ea typeface="Arial"/>
                    <a:cs typeface="Arial"/>
                  </a:rPr>
                  <a:t>Observed bonded thickness (nm)</a:t>
                </a:r>
              </a:p>
            </c:rich>
          </c:tx>
          <c:overlay val="0"/>
          <c:txPr>
            <a:bodyPr xmlns:a="http://schemas.openxmlformats.org/drawingml/2006/main" anchorCtr="1"/>
            <a:lstStyle xmlns:a="http://schemas.openxmlformats.org/drawingml/2006/main"/>
            <a:p xmlns:a="http://schemas.openxmlformats.org/drawingml/2006/main">
              <a:pPr>
                <a:defRPr sz="1200">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75" b="1">
                <a:solidFill>
                  <a:srgbClr val="002B5E"/>
                </a:solidFill>
                <a:latin typeface="Arial"/>
                <a:ea typeface="Arial"/>
                <a:cs typeface="Arial"/>
              </a:rPr>
              <a:t>Training rows with negative concentration partial derivative</a:t>
            </a:r>
          </a:p>
        </c:rich>
      </c:tx>
      <c:overlay val="0"/>
      <c:txPr>
        <a:bodyPr xmlns:a="http://schemas.openxmlformats.org/drawingml/2006/main" anchorCtr="1"/>
        <a:lstStyle xmlns:a="http://schemas.openxmlformats.org/drawingml/2006/main"/>
        <a:p xmlns:a="http://schemas.openxmlformats.org/drawingml/2006/main">
          <a:pPr>
            <a:defRPr sz="1275" b="1">
              <a:solidFill>
                <a:srgbClr val="002B5E"/>
              </a:solidFill>
              <a:latin typeface="Arial"/>
              <a:ea typeface="Arial"/>
              <a:cs typeface="Arial"/>
            </a:defRPr>
          </a:pPr>
        </a:p>
      </c:txPr>
    </c:title>
    <c:plotArea>
      <c:barChart>
        <c:barDir val="col"/>
        <c:grouping val="clustered"/>
        <c:varyColors val="0"/>
        <c:ser>
          <c:idx val="0"/>
          <c:order val="0"/>
          <c:tx>
            <c:v>Default</c:v>
          </c:tx>
          <c:spPr>
            <a:solidFill xmlns:a="http://schemas.openxmlformats.org/drawingml/2006/main">
              <a:srgbClr val="6F8FAE"/>
            </a:solidFill>
          </c:spPr>
          <c:invertIfNegative val="0"/>
          <c:cat>
            <c:strRef>
              <c:f>'Chart Data'!$A$2:$A$5</c:f>
              <c:strCache>
                <c:ptCount val="4"/>
                <c:pt idx="0">
                  <c:v>Pooled</c:v>
                </c:pt>
                <c:pt idx="1">
                  <c:v>0.377 cP</c:v>
                </c:pt>
                <c:pt idx="2">
                  <c:v>0.423 cP</c:v>
                </c:pt>
                <c:pt idx="3">
                  <c:v>0.68 cP</c:v>
                </c:pt>
              </c:strCache>
            </c:strRef>
          </c:cat>
          <c:val>
            <c:numRef>
              <c:f>'Chart Data'!$B$2:$B$5</c:f>
              <c:numCache>
                <c:formatCode>0%</c:formatCode>
                <c:ptCount val="4"/>
                <c:pt idx="0">
                  <c:v>0.434405308831</c:v>
                </c:pt>
                <c:pt idx="1">
                  <c:v>0.86553030303</c:v>
                </c:pt>
                <c:pt idx="2">
                  <c:v>0.231689088191</c:v>
                </c:pt>
                <c:pt idx="3">
                  <c:v>0.313648293963</c:v>
                </c:pt>
              </c:numCache>
            </c:numRef>
          </c:val>
        </c:ser>
        <c:ser>
          <c:idx val="1"/>
          <c:order val="1"/>
          <c:tx>
            <c:v>Concentration penalty</c:v>
          </c:tx>
          <c:spPr>
            <a:solidFill xmlns:a="http://schemas.openxmlformats.org/drawingml/2006/main">
              <a:srgbClr val="B49A45"/>
            </a:solidFill>
          </c:spPr>
          <c:invertIfNegative val="0"/>
          <c:cat>
            <c:strRef>
              <c:f>'Chart Data'!$C$2:$C$5</c:f>
              <c:strCache>
                <c:ptCount val="4"/>
                <c:pt idx="0">
                  <c:v>Pooled</c:v>
                </c:pt>
                <c:pt idx="1">
                  <c:v>0.377 cP</c:v>
                </c:pt>
                <c:pt idx="2">
                  <c:v>0.423 cP</c:v>
                </c:pt>
                <c:pt idx="3">
                  <c:v>0.68 cP</c:v>
                </c:pt>
              </c:strCache>
            </c:strRef>
          </c:cat>
          <c:val>
            <c:numRef>
              <c:f>'Chart Data'!$D$2:$D$5</c:f>
              <c:numCache>
                <c:formatCode>0%</c:formatCode>
                <c:ptCount val="4"/>
                <c:pt idx="0">
                  <c:v>0.409903011741</c:v>
                </c:pt>
                <c:pt idx="1">
                  <c:v>0.823863636364</c:v>
                </c:pt>
                <c:pt idx="2">
                  <c:v>0.206278026906</c:v>
                </c:pt>
                <c:pt idx="3">
                  <c:v>0.301837270341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4763">
              <a:solidFill>
                <a:srgbClr val="E3E8E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Measured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Data'!$B$2:$B$47</c:f>
              <c:numCache>
                <c:formatCode>0.0</c:formatCode>
                <c:ptCount val="46"/>
                <c:pt idx="0">
                  <c:v>2.83287467538</c:v>
                </c:pt>
                <c:pt idx="1">
                  <c:v>2.76290178056</c:v>
                </c:pt>
                <c:pt idx="2">
                  <c:v>2.67926566202</c:v>
                </c:pt>
                <c:pt idx="3">
                  <c:v>2.58123505522</c:v>
                </c:pt>
                <c:pt idx="4">
                  <c:v>2.46818465013</c:v>
                </c:pt>
                <c:pt idx="5">
                  <c:v>2.33910255217</c:v>
                </c:pt>
                <c:pt idx="6">
                  <c:v>2.19285808493</c:v>
                </c:pt>
                <c:pt idx="7">
                  <c:v>2.02818154817</c:v>
                </c:pt>
                <c:pt idx="8">
                  <c:v>1.84310115374</c:v>
                </c:pt>
                <c:pt idx="9">
                  <c:v>1.63398746361</c:v>
                </c:pt>
                <c:pt idx="10">
                  <c:v>1.39414784365</c:v>
                </c:pt>
                <c:pt idx="11">
                  <c:v>1.11198204664</c:v>
                </c:pt>
                <c:pt idx="12">
                  <c:v>0.769203282558</c:v>
                </c:pt>
                <c:pt idx="13">
                  <c:v>0.349289969233</c:v>
                </c:pt>
                <c:pt idx="14">
                  <c:v>-0.0591419769408</c:v>
                </c:pt>
                <c:pt idx="15">
                  <c:v>-0.190571192575</c:v>
                </c:pt>
                <c:pt idx="16">
                  <c:v>-0.323096552196</c:v>
                </c:pt>
                <c:pt idx="17">
                  <c:v>-0.544964085446</c:v>
                </c:pt>
                <c:pt idx="18">
                  <c:v>-0.537269507216</c:v>
                </c:pt>
                <c:pt idx="19">
                  <c:v>-0.519809685275</c:v>
                </c:pt>
                <c:pt idx="20">
                  <c:v>-0.576016927764</c:v>
                </c:pt>
                <c:pt idx="21">
                  <c:v>-0.598481132499</c:v>
                </c:pt>
                <c:pt idx="22">
                  <c:v>-0.622395119995</c:v>
                </c:pt>
                <c:pt idx="23">
                  <c:v>-0.647526316351</c:v>
                </c:pt>
                <c:pt idx="24">
                  <c:v>-0.655802352283</c:v>
                </c:pt>
                <c:pt idx="25">
                  <c:v>-0.667343152346</c:v>
                </c:pt>
                <c:pt idx="26">
                  <c:v>-0.680855304156</c:v>
                </c:pt>
                <c:pt idx="27">
                  <c:v>-0.691282454496</c:v>
                </c:pt>
                <c:pt idx="28">
                  <c:v>-0.701847578261</c:v>
                </c:pt>
                <c:pt idx="29">
                  <c:v>-0.711096866112</c:v>
                </c:pt>
                <c:pt idx="30">
                  <c:v>-0.71964433085</c:v>
                </c:pt>
                <c:pt idx="31">
                  <c:v>-0.728542511994</c:v>
                </c:pt>
                <c:pt idx="32">
                  <c:v>-0.73708544208</c:v>
                </c:pt>
                <c:pt idx="33">
                  <c:v>-0.745301410646</c:v>
                </c:pt>
                <c:pt idx="34">
                  <c:v>-0.753136088039</c:v>
                </c:pt>
                <c:pt idx="35">
                  <c:v>-0.760555893271</c:v>
                </c:pt>
                <c:pt idx="36">
                  <c:v>-0.767680355725</c:v>
                </c:pt>
                <c:pt idx="37">
                  <c:v>-0.774464203947</c:v>
                </c:pt>
                <c:pt idx="38">
                  <c:v>-0.780922546509</c:v>
                </c:pt>
                <c:pt idx="39">
                  <c:v>-0.787101028315</c:v>
                </c:pt>
                <c:pt idx="40">
                  <c:v>-0.793032943945</c:v>
                </c:pt>
                <c:pt idx="41">
                  <c:v>-0.798740564293</c:v>
                </c:pt>
                <c:pt idx="42">
                  <c:v>-0.804212300201</c:v>
                </c:pt>
                <c:pt idx="43">
                  <c:v>-0.809437306789</c:v>
                </c:pt>
                <c:pt idx="44">
                  <c:v>-0.814419129838</c:v>
                </c:pt>
                <c:pt idx="45">
                  <c:v>-0.819169373128</c:v>
                </c:pt>
              </c:numCache>
            </c:numRef>
          </c:yVal>
        </c:ser>
        <c:ser>
          <c:idx val="1"/>
          <c:order val="1"/>
          <c:tx>
            <c:v>Validation data loss</c:v>
          </c:tx>
          <c:spPr>
            <a:ln xmlns:a="http://schemas.openxmlformats.org/drawingml/2006/main" w="19050">
              <a:solidFill>
                <a:srgbClr val="B49A45"/>
              </a:solidFill>
            </a:ln>
          </c:spPr>
          <c:marker>
            <c:symbol val="none"/>
          </c:marker>
          <c:xVal>
            <c:numRef>
              <c:f>'Chart Data'!$C$2:$C$47</c:f>
              <c:numCache>
                <c:formatCode>General</c:formatCode>
                <c:ptCount val="46"/>
                <c:pt idx="0">
                  <c:v>1</c:v>
                </c:pt>
                <c:pt idx="1">
                  <c:v>6</c:v>
                </c:pt>
                <c:pt idx="2">
                  <c:v>11</c:v>
                </c:pt>
                <c:pt idx="3">
                  <c:v>16</c:v>
                </c:pt>
                <c:pt idx="4">
                  <c:v>21</c:v>
                </c:pt>
                <c:pt idx="5">
                  <c:v>26</c:v>
                </c:pt>
                <c:pt idx="6">
                  <c:v>31</c:v>
                </c:pt>
                <c:pt idx="7">
                  <c:v>36</c:v>
                </c:pt>
                <c:pt idx="8">
                  <c:v>41</c:v>
                </c:pt>
                <c:pt idx="9">
                  <c:v>46</c:v>
                </c:pt>
                <c:pt idx="10">
                  <c:v>51</c:v>
                </c:pt>
                <c:pt idx="11">
                  <c:v>56</c:v>
                </c:pt>
                <c:pt idx="12">
                  <c:v>61</c:v>
                </c:pt>
                <c:pt idx="13">
                  <c:v>66</c:v>
                </c:pt>
                <c:pt idx="14">
                  <c:v>71</c:v>
                </c:pt>
                <c:pt idx="15">
                  <c:v>76</c:v>
                </c:pt>
                <c:pt idx="16">
                  <c:v>81</c:v>
                </c:pt>
                <c:pt idx="17">
                  <c:v>86</c:v>
                </c:pt>
                <c:pt idx="18">
                  <c:v>91</c:v>
                </c:pt>
                <c:pt idx="19">
                  <c:v>96</c:v>
                </c:pt>
                <c:pt idx="20">
                  <c:v>101</c:v>
                </c:pt>
                <c:pt idx="21">
                  <c:v>106</c:v>
                </c:pt>
                <c:pt idx="22">
                  <c:v>111</c:v>
                </c:pt>
                <c:pt idx="23">
                  <c:v>116</c:v>
                </c:pt>
                <c:pt idx="24">
                  <c:v>121</c:v>
                </c:pt>
                <c:pt idx="25">
                  <c:v>126</c:v>
                </c:pt>
                <c:pt idx="26">
                  <c:v>131</c:v>
                </c:pt>
                <c:pt idx="27">
                  <c:v>136</c:v>
                </c:pt>
                <c:pt idx="28">
                  <c:v>141</c:v>
                </c:pt>
                <c:pt idx="29">
                  <c:v>146</c:v>
                </c:pt>
                <c:pt idx="30">
                  <c:v>151</c:v>
                </c:pt>
                <c:pt idx="31">
                  <c:v>156</c:v>
                </c:pt>
                <c:pt idx="32">
                  <c:v>161</c:v>
                </c:pt>
                <c:pt idx="33">
                  <c:v>166</c:v>
                </c:pt>
                <c:pt idx="34">
                  <c:v>171</c:v>
                </c:pt>
                <c:pt idx="35">
                  <c:v>176</c:v>
                </c:pt>
                <c:pt idx="36">
                  <c:v>181</c:v>
                </c:pt>
                <c:pt idx="37">
                  <c:v>186</c:v>
                </c:pt>
                <c:pt idx="38">
                  <c:v>191</c:v>
                </c:pt>
                <c:pt idx="39">
                  <c:v>196</c:v>
                </c:pt>
                <c:pt idx="40">
                  <c:v>201</c:v>
                </c:pt>
                <c:pt idx="41">
                  <c:v>206</c:v>
                </c:pt>
                <c:pt idx="42">
                  <c:v>211</c:v>
                </c:pt>
                <c:pt idx="43">
                  <c:v>216</c:v>
                </c:pt>
                <c:pt idx="44">
                  <c:v>221</c:v>
                </c:pt>
                <c:pt idx="45">
                  <c:v>226</c:v>
                </c:pt>
              </c:numCache>
            </c:numRef>
          </c:xVal>
          <c:yVal>
            <c:numRef>
              <c:f>'Chart Data'!$D$2:$D$47</c:f>
              <c:numCache>
                <c:formatCode>0.0</c:formatCode>
                <c:ptCount val="46"/>
                <c:pt idx="0">
                  <c:v>3.05674531361</c:v>
                </c:pt>
                <c:pt idx="1">
                  <c:v>3.0068535539</c:v>
                </c:pt>
                <c:pt idx="2">
                  <c:v>2.94666765781</c:v>
                </c:pt>
                <c:pt idx="3">
                  <c:v>2.8746313154</c:v>
                </c:pt>
                <c:pt idx="4">
                  <c:v>2.78941505341</c:v>
                </c:pt>
                <c:pt idx="5">
                  <c:v>2.68923881801</c:v>
                </c:pt>
                <c:pt idx="6">
                  <c:v>2.57169060326</c:v>
                </c:pt>
                <c:pt idx="7">
                  <c:v>2.43342226953</c:v>
                </c:pt>
                <c:pt idx="8">
                  <c:v>2.26964456973</c:v>
                </c:pt>
                <c:pt idx="9">
                  <c:v>2.07384429735</c:v>
                </c:pt>
                <c:pt idx="10">
                  <c:v>1.83753090256</c:v>
                </c:pt>
                <c:pt idx="11">
                  <c:v>1.54882297169</c:v>
                </c:pt>
                <c:pt idx="12">
                  <c:v>1.18801762455</c:v>
                </c:pt>
                <c:pt idx="13">
                  <c:v>0.720257037824</c:v>
                </c:pt>
                <c:pt idx="14">
                  <c:v>0.147911712574</c:v>
                </c:pt>
                <c:pt idx="15">
                  <c:v>-0.0958712163934</c:v>
                </c:pt>
                <c:pt idx="16">
                  <c:v>-0.0558843011408</c:v>
                </c:pt>
                <c:pt idx="17">
                  <c:v>0.110967949436</c:v>
                </c:pt>
                <c:pt idx="18">
                  <c:v>0.28340574798</c:v>
                </c:pt>
                <c:pt idx="19">
                  <c:v>0.293037133276</c:v>
                </c:pt>
                <c:pt idx="20">
                  <c:v>0.213528963655</c:v>
                </c:pt>
                <c:pt idx="21">
                  <c:v>0.155888796644</c:v>
                </c:pt>
                <c:pt idx="22">
                  <c:v>0.144490282202</c:v>
                </c:pt>
                <c:pt idx="23">
                  <c:v>0.157430369913</c:v>
                </c:pt>
                <c:pt idx="24">
                  <c:v>0.157797936317</c:v>
                </c:pt>
                <c:pt idx="25">
                  <c:v>0.131753723288</c:v>
                </c:pt>
                <c:pt idx="26">
                  <c:v>0.101976157092</c:v>
                </c:pt>
                <c:pt idx="27">
                  <c:v>0.0898627304637</c:v>
                </c:pt>
                <c:pt idx="28">
                  <c:v>0.0938199827103</c:v>
                </c:pt>
                <c:pt idx="29">
                  <c:v>0.0993946957778</c:v>
                </c:pt>
                <c:pt idx="30">
                  <c:v>0.0960119810565</c:v>
                </c:pt>
                <c:pt idx="31">
                  <c:v>0.0853134246656</c:v>
                </c:pt>
                <c:pt idx="32">
                  <c:v>0.0745776356011</c:v>
                </c:pt>
                <c:pt idx="33">
                  <c:v>0.0672588918208</c:v>
                </c:pt>
                <c:pt idx="34">
                  <c:v>0.0616844283963</c:v>
                </c:pt>
                <c:pt idx="35">
                  <c:v>0.0553214656592</c:v>
                </c:pt>
                <c:pt idx="36">
                  <c:v>0.0481091529082</c:v>
                </c:pt>
                <c:pt idx="37">
                  <c:v>0.041600579728</c:v>
                </c:pt>
                <c:pt idx="38">
                  <c:v>0.0364340643231</c:v>
                </c:pt>
                <c:pt idx="39">
                  <c:v>0.0317609675074</c:v>
                </c:pt>
                <c:pt idx="40">
                  <c:v>0.0265958293485</c:v>
                </c:pt>
                <c:pt idx="41">
                  <c:v>0.0209111996797</c:v>
                </c:pt>
                <c:pt idx="42">
                  <c:v>0.0153147830571</c:v>
                </c:pt>
                <c:pt idx="43">
                  <c:v>0.0101682523238</c:v>
                </c:pt>
                <c:pt idx="44">
                  <c:v>0.0053383935299</c:v>
                </c:pt>
                <c:pt idx="45">
                  <c:v>0.00059527974686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226"/>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002B5E"/>
                </a:solidFill>
                <a:latin typeface="Arial"/>
                <a:ea typeface="Arial"/>
                <a:cs typeface="Arial"/>
              </a:rPr>
              <a:t>Synthetic PINN</a:t>
            </a:r>
          </a:p>
        </c:rich>
      </c:tx>
      <c:overlay val="0"/>
      <c:txPr>
        <a:bodyPr xmlns:a="http://schemas.openxmlformats.org/drawingml/2006/main" anchorCtr="1"/>
        <a:lstStyle xmlns:a="http://schemas.openxmlformats.org/drawingml/2006/main"/>
        <a:p xmlns:a="http://schemas.openxmlformats.org/drawingml/2006/main">
          <a:pPr>
            <a:defRPr sz="1350" b="1">
              <a:solidFill>
                <a:srgbClr val="002B5E"/>
              </a:solidFill>
              <a:latin typeface="Arial"/>
              <a:ea typeface="Arial"/>
              <a:cs typeface="Arial"/>
            </a:defRPr>
          </a:pPr>
        </a:p>
      </c:txPr>
    </c:title>
    <c:plotArea>
      <c:scatterChart>
        <c:scatterStyle val="line"/>
        <c:varyColors val="0"/>
        <c:ser>
          <c:idx val="0"/>
          <c:order val="0"/>
          <c:tx>
            <c:v>Training data loss</c:v>
          </c:tx>
          <c:spPr>
            <a:ln xmlns:a="http://schemas.openxmlformats.org/drawingml/2006/main" w="19050">
              <a:solidFill>
                <a:srgbClr val="6F8FAE"/>
              </a:solidFill>
            </a:ln>
          </c:spPr>
          <c:marker>
            <c:symbol val="none"/>
          </c:marker>
          <c:xVal>
            <c:numRef>
              <c:f>'Chart Data'!$A$2:$A$62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Data'!$B$2:$B$62</c:f>
              <c:numCache>
                <c:formatCode>0.0</c:formatCode>
                <c:ptCount val="61"/>
                <c:pt idx="0">
                  <c:v>1.38587295481</c:v>
                </c:pt>
                <c:pt idx="1">
                  <c:v>-0.0298479425762</c:v>
                </c:pt>
                <c:pt idx="2">
                  <c:v>-0.331439646698</c:v>
                </c:pt>
                <c:pt idx="3">
                  <c:v>-0.434109379299</c:v>
                </c:pt>
                <c:pt idx="4">
                  <c:v>-0.482306932696</c:v>
                </c:pt>
                <c:pt idx="5">
                  <c:v>-0.522060510413</c:v>
                </c:pt>
                <c:pt idx="6">
                  <c:v>-0.557997779439</c:v>
                </c:pt>
                <c:pt idx="7">
                  <c:v>-0.591128996674</c:v>
                </c:pt>
                <c:pt idx="8">
                  <c:v>-0.622066900526</c:v>
                </c:pt>
                <c:pt idx="9">
                  <c:v>-0.651226617861</c:v>
                </c:pt>
                <c:pt idx="10">
                  <c:v>-0.678982904649</c:v>
                </c:pt>
                <c:pt idx="11">
                  <c:v>-0.705659450921</c:v>
                </c:pt>
                <c:pt idx="12">
                  <c:v>-0.731400276582</c:v>
                </c:pt>
                <c:pt idx="13">
                  <c:v>-0.756140597533</c:v>
                </c:pt>
                <c:pt idx="14">
                  <c:v>-0.779680798649</c:v>
                </c:pt>
                <c:pt idx="15">
                  <c:v>-0.801816512169</c:v>
                </c:pt>
                <c:pt idx="16">
                  <c:v>-0.822386882299</c:v>
                </c:pt>
                <c:pt idx="17">
                  <c:v>-0.841309536833</c:v>
                </c:pt>
                <c:pt idx="18">
                  <c:v>-0.858583901345</c:v>
                </c:pt>
                <c:pt idx="19">
                  <c:v>-0.874292186662</c:v>
                </c:pt>
                <c:pt idx="20">
                  <c:v>-0.888572285786</c:v>
                </c:pt>
                <c:pt idx="21">
                  <c:v>-0.901568283119</c:v>
                </c:pt>
                <c:pt idx="22">
                  <c:v>-0.913400811733</c:v>
                </c:pt>
                <c:pt idx="23">
                  <c:v>-0.924174653346</c:v>
                </c:pt>
                <c:pt idx="24">
                  <c:v>-0.933964119646</c:v>
                </c:pt>
                <c:pt idx="25">
                  <c:v>-0.942831004571</c:v>
                </c:pt>
                <c:pt idx="26">
                  <c:v>-0.950834143462</c:v>
                </c:pt>
                <c:pt idx="27">
                  <c:v>-0.958038698366</c:v>
                </c:pt>
                <c:pt idx="28">
                  <c:v>-0.964497157644</c:v>
                </c:pt>
                <c:pt idx="29">
                  <c:v>-0.970281403191</c:v>
                </c:pt>
                <c:pt idx="30">
                  <c:v>-0.975463157387</c:v>
                </c:pt>
                <c:pt idx="31">
                  <c:v>-0.980112261778</c:v>
                </c:pt>
                <c:pt idx="32">
                  <c:v>-0.984286818243</c:v>
                </c:pt>
                <c:pt idx="33">
                  <c:v>-0.988055721361</c:v>
                </c:pt>
                <c:pt idx="34">
                  <c:v>-0.991475534036</c:v>
                </c:pt>
                <c:pt idx="35">
                  <c:v>-0.994593973427</c:v>
                </c:pt>
                <c:pt idx="36">
                  <c:v>-0.997453917726</c:v>
                </c:pt>
                <c:pt idx="37">
                  <c:v>-1.00009196317</c:v>
                </c:pt>
                <c:pt idx="38">
                  <c:v>-1.00253846306</c:v>
                </c:pt>
                <c:pt idx="39">
                  <c:v>-1.00482527946</c:v>
                </c:pt>
                <c:pt idx="40">
                  <c:v>-1.0069724281</c:v>
                </c:pt>
                <c:pt idx="41">
                  <c:v>-1.00899306416</c:v>
                </c:pt>
                <c:pt idx="42">
                  <c:v>-1.01090802728</c:v>
                </c:pt>
                <c:pt idx="43">
                  <c:v>-1.01272870099</c:v>
                </c:pt>
                <c:pt idx="44">
                  <c:v>-1.01446627092</c:v>
                </c:pt>
                <c:pt idx="45">
                  <c:v>-1.01613626149</c:v>
                </c:pt>
                <c:pt idx="46">
                  <c:v>-1.01774062775</c:v>
                </c:pt>
                <c:pt idx="47">
                  <c:v>-1.01929207945</c:v>
                </c:pt>
                <c:pt idx="48">
                  <c:v>-1.02079359073</c:v>
                </c:pt>
                <c:pt idx="49">
                  <c:v>-1.02224578086</c:v>
                </c:pt>
                <c:pt idx="50">
                  <c:v>-1.02366405902</c:v>
                </c:pt>
                <c:pt idx="51">
                  <c:v>-1.02505160683</c:v>
                </c:pt>
                <c:pt idx="52">
                  <c:v>-1.02640728886</c:v>
                </c:pt>
                <c:pt idx="53">
                  <c:v>-1.0277352069</c:v>
                </c:pt>
                <c:pt idx="54">
                  <c:v>-1.0290400051</c:v>
                </c:pt>
                <c:pt idx="55">
                  <c:v>-1.03032330128</c:v>
                </c:pt>
                <c:pt idx="56">
                  <c:v>-1.03159721154</c:v>
                </c:pt>
                <c:pt idx="57">
                  <c:v>-1.03286125801</c:v>
                </c:pt>
                <c:pt idx="58">
                  <c:v>-1.03410886815</c:v>
                </c:pt>
                <c:pt idx="59">
                  <c:v>-1.03534908581</c:v>
                </c:pt>
                <c:pt idx="60">
                  <c:v>-1.03652953153</c:v>
                </c:pt>
              </c:numCache>
            </c:numRef>
          </c:yVal>
        </c:ser>
        <c:ser>
          <c:idx val="1"/>
          <c:order val="1"/>
          <c:tx>
            <c:v>Validation data loss</c:v>
          </c:tx>
          <c:spPr>
            <a:ln xmlns:a="http://schemas.openxmlformats.org/drawingml/2006/main" w="19050">
              <a:solidFill>
                <a:srgbClr val="B49A45"/>
              </a:solidFill>
            </a:ln>
          </c:spPr>
          <c:marker>
            <c:symbol val="none"/>
          </c:marker>
          <c:xVal>
            <c:numRef>
              <c:f>'Chart Data'!$C$2:$C$62</c:f>
              <c:numCache>
                <c:formatCode>General</c:formatCode>
                <c:ptCount val="61"/>
                <c:pt idx="0">
                  <c:v>1</c:v>
                </c:pt>
                <c:pt idx="1">
                  <c:v>26</c:v>
                </c:pt>
                <c:pt idx="2">
                  <c:v>51</c:v>
                </c:pt>
                <c:pt idx="3">
                  <c:v>76</c:v>
                </c:pt>
                <c:pt idx="4">
                  <c:v>101</c:v>
                </c:pt>
                <c:pt idx="5">
                  <c:v>126</c:v>
                </c:pt>
                <c:pt idx="6">
                  <c:v>151</c:v>
                </c:pt>
                <c:pt idx="7">
                  <c:v>176</c:v>
                </c:pt>
                <c:pt idx="8">
                  <c:v>201</c:v>
                </c:pt>
                <c:pt idx="9">
                  <c:v>226</c:v>
                </c:pt>
                <c:pt idx="10">
                  <c:v>251</c:v>
                </c:pt>
                <c:pt idx="11">
                  <c:v>276</c:v>
                </c:pt>
                <c:pt idx="12">
                  <c:v>301</c:v>
                </c:pt>
                <c:pt idx="13">
                  <c:v>326</c:v>
                </c:pt>
                <c:pt idx="14">
                  <c:v>351</c:v>
                </c:pt>
                <c:pt idx="15">
                  <c:v>376</c:v>
                </c:pt>
                <c:pt idx="16">
                  <c:v>401</c:v>
                </c:pt>
                <c:pt idx="17">
                  <c:v>426</c:v>
                </c:pt>
                <c:pt idx="18">
                  <c:v>451</c:v>
                </c:pt>
                <c:pt idx="19">
                  <c:v>476</c:v>
                </c:pt>
                <c:pt idx="20">
                  <c:v>501</c:v>
                </c:pt>
                <c:pt idx="21">
                  <c:v>526</c:v>
                </c:pt>
                <c:pt idx="22">
                  <c:v>551</c:v>
                </c:pt>
                <c:pt idx="23">
                  <c:v>576</c:v>
                </c:pt>
                <c:pt idx="24">
                  <c:v>601</c:v>
                </c:pt>
                <c:pt idx="25">
                  <c:v>626</c:v>
                </c:pt>
                <c:pt idx="26">
                  <c:v>651</c:v>
                </c:pt>
                <c:pt idx="27">
                  <c:v>676</c:v>
                </c:pt>
                <c:pt idx="28">
                  <c:v>701</c:v>
                </c:pt>
                <c:pt idx="29">
                  <c:v>726</c:v>
                </c:pt>
                <c:pt idx="30">
                  <c:v>751</c:v>
                </c:pt>
                <c:pt idx="31">
                  <c:v>776</c:v>
                </c:pt>
                <c:pt idx="32">
                  <c:v>801</c:v>
                </c:pt>
                <c:pt idx="33">
                  <c:v>826</c:v>
                </c:pt>
                <c:pt idx="34">
                  <c:v>851</c:v>
                </c:pt>
                <c:pt idx="35">
                  <c:v>876</c:v>
                </c:pt>
                <c:pt idx="36">
                  <c:v>901</c:v>
                </c:pt>
                <c:pt idx="37">
                  <c:v>926</c:v>
                </c:pt>
                <c:pt idx="38">
                  <c:v>951</c:v>
                </c:pt>
                <c:pt idx="39">
                  <c:v>976</c:v>
                </c:pt>
                <c:pt idx="40">
                  <c:v>1001</c:v>
                </c:pt>
                <c:pt idx="41">
                  <c:v>1026</c:v>
                </c:pt>
                <c:pt idx="42">
                  <c:v>1051</c:v>
                </c:pt>
                <c:pt idx="43">
                  <c:v>1076</c:v>
                </c:pt>
                <c:pt idx="44">
                  <c:v>1101</c:v>
                </c:pt>
                <c:pt idx="45">
                  <c:v>1126</c:v>
                </c:pt>
                <c:pt idx="46">
                  <c:v>1151</c:v>
                </c:pt>
                <c:pt idx="47">
                  <c:v>1176</c:v>
                </c:pt>
                <c:pt idx="48">
                  <c:v>1201</c:v>
                </c:pt>
                <c:pt idx="49">
                  <c:v>1226</c:v>
                </c:pt>
                <c:pt idx="50">
                  <c:v>1251</c:v>
                </c:pt>
                <c:pt idx="51">
                  <c:v>1276</c:v>
                </c:pt>
                <c:pt idx="52">
                  <c:v>1301</c:v>
                </c:pt>
                <c:pt idx="53">
                  <c:v>1326</c:v>
                </c:pt>
                <c:pt idx="54">
                  <c:v>1351</c:v>
                </c:pt>
                <c:pt idx="55">
                  <c:v>1376</c:v>
                </c:pt>
                <c:pt idx="56">
                  <c:v>1401</c:v>
                </c:pt>
                <c:pt idx="57">
                  <c:v>1426</c:v>
                </c:pt>
                <c:pt idx="58">
                  <c:v>1451</c:v>
                </c:pt>
                <c:pt idx="59">
                  <c:v>1476</c:v>
                </c:pt>
                <c:pt idx="60">
                  <c:v>1500</c:v>
                </c:pt>
              </c:numCache>
            </c:numRef>
          </c:xVal>
          <c:yVal>
            <c:numRef>
              <c:f>'Chart Data'!$D$2:$D$62</c:f>
              <c:numCache>
                <c:formatCode>0.0</c:formatCode>
                <c:ptCount val="61"/>
                <c:pt idx="0">
                  <c:v>1.43649748729</c:v>
                </c:pt>
                <c:pt idx="1">
                  <c:v>-0.0213647818458</c:v>
                </c:pt>
                <c:pt idx="2">
                  <c:v>-0.235734924155</c:v>
                </c:pt>
                <c:pt idx="3">
                  <c:v>-0.344864837142</c:v>
                </c:pt>
                <c:pt idx="4">
                  <c:v>-0.402064097887</c:v>
                </c:pt>
                <c:pt idx="5">
                  <c:v>-0.443153247084</c:v>
                </c:pt>
                <c:pt idx="6">
                  <c:v>-0.480316866362</c:v>
                </c:pt>
                <c:pt idx="7">
                  <c:v>-0.513301006972</c:v>
                </c:pt>
                <c:pt idx="8">
                  <c:v>-0.54558729274</c:v>
                </c:pt>
                <c:pt idx="9">
                  <c:v>-0.577725715105</c:v>
                </c:pt>
                <c:pt idx="10">
                  <c:v>-0.609379361922</c:v>
                </c:pt>
                <c:pt idx="11">
                  <c:v>-0.640037334897</c:v>
                </c:pt>
                <c:pt idx="12">
                  <c:v>-0.669157562696</c:v>
                </c:pt>
                <c:pt idx="13">
                  <c:v>-0.696378341948</c:v>
                </c:pt>
                <c:pt idx="14">
                  <c:v>-0.721416195141</c:v>
                </c:pt>
                <c:pt idx="15">
                  <c:v>-0.744158251703</c:v>
                </c:pt>
                <c:pt idx="16">
                  <c:v>-0.764510519544</c:v>
                </c:pt>
                <c:pt idx="17">
                  <c:v>-0.782402233627</c:v>
                </c:pt>
                <c:pt idx="18">
                  <c:v>-0.797949477142</c:v>
                </c:pt>
                <c:pt idx="19">
                  <c:v>-0.811321881746</c:v>
                </c:pt>
                <c:pt idx="20">
                  <c:v>-0.822840430509</c:v>
                </c:pt>
                <c:pt idx="21">
                  <c:v>-0.832730213863</c:v>
                </c:pt>
                <c:pt idx="22">
                  <c:v>-0.841316452565</c:v>
                </c:pt>
                <c:pt idx="23">
                  <c:v>-0.848794504171</c:v>
                </c:pt>
                <c:pt idx="24">
                  <c:v>-0.855375532356</c:v>
                </c:pt>
                <c:pt idx="25">
                  <c:v>-0.861189800493</c:v>
                </c:pt>
                <c:pt idx="26">
                  <c:v>-0.866404303432</c:v>
                </c:pt>
                <c:pt idx="27">
                  <c:v>-0.871102044556</c:v>
                </c:pt>
                <c:pt idx="28">
                  <c:v>-0.875369312096</c:v>
                </c:pt>
                <c:pt idx="29">
                  <c:v>-0.879252258123</c:v>
                </c:pt>
                <c:pt idx="30">
                  <c:v>-0.882880548336</c:v>
                </c:pt>
                <c:pt idx="31">
                  <c:v>-0.886307381854</c:v>
                </c:pt>
                <c:pt idx="32">
                  <c:v>-0.889450899259</c:v>
                </c:pt>
                <c:pt idx="33">
                  <c:v>-0.89249403985</c:v>
                </c:pt>
                <c:pt idx="34">
                  <c:v>-0.89539113287</c:v>
                </c:pt>
                <c:pt idx="35">
                  <c:v>-0.898142986534</c:v>
                </c:pt>
                <c:pt idx="36">
                  <c:v>-0.90091604567</c:v>
                </c:pt>
                <c:pt idx="37">
                  <c:v>-0.903599903286</c:v>
                </c:pt>
                <c:pt idx="38">
                  <c:v>-0.906170339915</c:v>
                </c:pt>
                <c:pt idx="39">
                  <c:v>-0.908777009458</c:v>
                </c:pt>
                <c:pt idx="40">
                  <c:v>-0.911282913931</c:v>
                </c:pt>
                <c:pt idx="41">
                  <c:v>-0.913727034347</c:v>
                </c:pt>
                <c:pt idx="42">
                  <c:v>-0.916076900323</c:v>
                </c:pt>
                <c:pt idx="43">
                  <c:v>-0.918537631775</c:v>
                </c:pt>
                <c:pt idx="44">
                  <c:v>-0.920820732076</c:v>
                </c:pt>
                <c:pt idx="45">
                  <c:v>-0.922990679325</c:v>
                </c:pt>
                <c:pt idx="46">
                  <c:v>-0.92518138276</c:v>
                </c:pt>
                <c:pt idx="47">
                  <c:v>-0.927401616681</c:v>
                </c:pt>
                <c:pt idx="48">
                  <c:v>-0.92948268268</c:v>
                </c:pt>
                <c:pt idx="49">
                  <c:v>-0.931534410334</c:v>
                </c:pt>
                <c:pt idx="50">
                  <c:v>-0.933579437628</c:v>
                </c:pt>
                <c:pt idx="51">
                  <c:v>-0.935497199341</c:v>
                </c:pt>
                <c:pt idx="52">
                  <c:v>-0.937438987947</c:v>
                </c:pt>
                <c:pt idx="53">
                  <c:v>-0.939355361946</c:v>
                </c:pt>
                <c:pt idx="54">
                  <c:v>-0.941245068963</c:v>
                </c:pt>
                <c:pt idx="55">
                  <c:v>-0.943016788008</c:v>
                </c:pt>
                <c:pt idx="56">
                  <c:v>-0.944909816825</c:v>
                </c:pt>
                <c:pt idx="57">
                  <c:v>-0.946557308867</c:v>
                </c:pt>
                <c:pt idx="58">
                  <c:v>-0.948313416131</c:v>
                </c:pt>
                <c:pt idx="59">
                  <c:v>-0.950063010346</c:v>
                </c:pt>
                <c:pt idx="60">
                  <c:v>-0.951739412599</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1.5"/>
        </c:scaling>
        <c:delete val="0"/>
        <c:axPos val="l"/>
        <c:majorGridlines>
          <c:spPr>
            <a:ln xmlns:a="http://schemas.openxmlformats.org/drawingml/2006/main" w="4763">
              <a:solidFill>
                <a:srgbClr val="E3E8ED"/>
              </a:solidFill>
            </a:ln>
          </c:spPr>
        </c:majorGridlines>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log10 normalized MSE</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50112"/>
        <c:crossesAt val="-1.5"/>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125">
                    <a:solidFill>
                      <a:srgbClr val="263645"/>
                    </a:solidFill>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125">
                  <a:solidFill>
                    <a:srgbClr val="26364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5717B"/>
                </a:solidFill>
                <a:latin typeface="Arial"/>
                <a:ea typeface="Arial"/>
                <a:cs typeface="Arial"/>
              </a:defRPr>
            </a:pPr>
          </a:p>
        </c:txPr>
        <c:crossAx val="48672768"/>
      </c:valAx>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263645"/>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 name="footer-date">
            <a:extLst xmlns:a="http://schemas.openxmlformats.org/drawingml/2006/main">
              <a:ext uri="{FF2B5EF4-FFF2-40B4-BE49-F238E27FC236}">
                <a16:creationId xmlns:a16="http://schemas.microsoft.com/office/drawing/2014/main" id="{DB862365-F539-4E57-9DCA-8BC7D04FAB07}"/>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2AB2696F-1C25-4360-8059-376764574B1C}"/>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a:t>
            </a:r>
          </a:p>
        </p:txBody>
      </p:sp>
      <p:sp>
        <p:nvSpPr>
          <p:cNvPr id="3" name="cover-title">
            <a:extLst xmlns:a="http://schemas.openxmlformats.org/drawingml/2006/main">
              <a:ext uri="{FF2B5EF4-FFF2-40B4-BE49-F238E27FC236}">
                <a16:creationId xmlns:a16="http://schemas.microsoft.com/office/drawing/2014/main" id="{C08CB2DB-7813-4741-A92A-9FBFF2F5E7E0}"/>
              </a:ext>
            </a:extLst>
          </p:cNvPr>
          <p:cNvSpPr>
            <a:spLocks xmlns:a="http://schemas.openxmlformats.org/drawingml/2006/main" noGrp="1"/>
          </p:cNvSpPr>
          <p:nvPr/>
        </p:nvSpPr>
        <p:spPr>
          <a:xfrm xmlns:a="http://schemas.openxmlformats.org/drawingml/2006/main">
            <a:off x="742950" y="1466850"/>
            <a:ext cx="7658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Physics-Informed Neural Network</a:t>
            </a:r>
          </a:p>
          <a:p xmlns:a="http://schemas.openxmlformats.org/drawingml/2006/main">
            <a:pPr algn="ctr">
              <a:lnSpc>
                <a:spcPct val="105000"/>
              </a:lnSpc>
              <a:buNone/>
              <a:defRPr sz="2925" b="1" i="0">
                <a:solidFill>
                  <a:srgbClr val="948151"/>
                </a:solidFill>
                <a:latin typeface="Arial"/>
                <a:ea typeface="Arial"/>
                <a:cs typeface="Arial"/>
              </a:defRPr>
            </a:pPr>
            <a:r>
              <a:rPr sz="2925" b="1" i="0">
                <a:solidFill>
                  <a:srgbClr val="948151"/>
                </a:solidFill>
                <a:latin typeface="Arial"/>
                <a:ea typeface="Arial"/>
                <a:cs typeface="Arial"/>
              </a:rPr>
              <a:t>Research Update</a:t>
            </a:r>
          </a:p>
        </p:txBody>
      </p:sp>
      <p:sp>
        <p:nvSpPr>
          <p:cNvPr id="4" name="divider">
            <a:extLst xmlns:a="http://schemas.openxmlformats.org/drawingml/2006/main">
              <a:ext uri="{FF2B5EF4-FFF2-40B4-BE49-F238E27FC236}">
                <a16:creationId xmlns:a16="http://schemas.microsoft.com/office/drawing/2014/main" id="{D13A50AD-2800-497D-9BA9-0900901660CA}"/>
              </a:ext>
            </a:extLst>
          </p:cNvPr>
          <p:cNvSpPr>
            <a:spLocks xmlns:a="http://schemas.openxmlformats.org/drawingml/2006/main" noGrp="1"/>
          </p:cNvSpPr>
          <p:nvPr/>
        </p:nvSpPr>
        <p:spPr>
          <a:xfrm xmlns:a="http://schemas.openxmlformats.org/drawingml/2006/main">
            <a:off x="1952625" y="2781300"/>
            <a:ext cx="5238750" cy="0"/>
          </a:xfrm>
          <a:prstGeom xmlns:a="http://schemas.openxmlformats.org/drawingml/2006/main" prst="line">
            <a:avLst/>
          </a:prstGeom>
          <a:noFill xmlns:a="http://schemas.openxmlformats.org/drawingml/2006/main"/>
          <a:ln xmlns:a="http://schemas.openxmlformats.org/drawingml/2006/main" w="19050">
            <a:solidFill>
              <a:srgbClr val="948151"/>
            </a:solidFill>
            <a:prstDash val="solid"/>
          </a:ln>
        </p:spPr>
      </p:sp>
      <p:sp>
        <p:nvSpPr>
          <p:cNvPr id="5" name="cover-subtitle">
            <a:extLst xmlns:a="http://schemas.openxmlformats.org/drawingml/2006/main">
              <a:ext uri="{FF2B5EF4-FFF2-40B4-BE49-F238E27FC236}">
                <a16:creationId xmlns:a16="http://schemas.microsoft.com/office/drawing/2014/main" id="{2C4043E8-42DB-4F46-AF5F-EFE50C826990}"/>
              </a:ext>
            </a:extLst>
          </p:cNvPr>
          <p:cNvSpPr>
            <a:spLocks xmlns:a="http://schemas.openxmlformats.org/drawingml/2006/main" noGrp="1"/>
          </p:cNvSpPr>
          <p:nvPr/>
        </p:nvSpPr>
        <p:spPr>
          <a:xfrm xmlns:a="http://schemas.openxmlformats.org/drawingml/2006/main">
            <a:off x="1390650" y="3009900"/>
            <a:ext cx="6362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650" b="0" i="0">
                <a:solidFill>
                  <a:srgbClr val="002B5E"/>
                </a:solidFill>
                <a:latin typeface="Arial"/>
                <a:ea typeface="Arial"/>
                <a:cs typeface="Arial"/>
              </a:defRPr>
            </a:pPr>
            <a:r>
              <a:rPr sz="1650" b="0" i="0">
                <a:solidFill>
                  <a:srgbClr val="002B5E"/>
                </a:solidFill>
                <a:latin typeface="Arial"/>
                <a:ea typeface="Arial"/>
                <a:cs typeface="Arial"/>
              </a:rPr>
              <a:t>Implementation, initial testing, and next experiments</a:t>
            </a:r>
          </a:p>
        </p:txBody>
      </p:sp>
      <p:sp>
        <p:nvSpPr>
          <p:cNvPr id="6" name="Rectangle 5">
            <a:extLst xmlns:a="http://schemas.openxmlformats.org/drawingml/2006/main">
              <a:ext uri="{FF2B5EF4-FFF2-40B4-BE49-F238E27FC236}">
                <a16:creationId xmlns:a16="http://schemas.microsoft.com/office/drawing/2014/main" id="{D9309C42-2D64-4EE5-8746-FF314421DF2C}"/>
              </a:ext>
            </a:extLst>
          </p:cNvPr>
          <p:cNvSpPr>
            <a:spLocks xmlns:a="http://schemas.openxmlformats.org/drawingml/2006/main" noGrp="1"/>
          </p:cNvSpPr>
          <p:nvPr/>
        </p:nvSpPr>
        <p:spPr>
          <a:xfrm xmlns:a="http://schemas.openxmlformats.org/drawingml/2006/main">
            <a:off x="1666875" y="3981450"/>
            <a:ext cx="581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003E7E"/>
                </a:solidFill>
                <a:latin typeface="Arial"/>
                <a:ea typeface="Arial"/>
                <a:cs typeface="Arial"/>
              </a:defRPr>
            </a:pPr>
            <a:r>
              <a:rPr sz="1425" b="1" i="0">
                <a:solidFill>
                  <a:srgbClr val="003E7E"/>
                </a:solidFill>
                <a:latin typeface="Arial"/>
                <a:ea typeface="Arial"/>
                <a:cs typeface="Arial"/>
              </a:rPr>
              <a:t>Bonded thickness prediction in PDMS dip coating</a:t>
            </a:r>
          </a:p>
        </p:txBody>
      </p:sp>
      <p:sp>
        <p:nvSpPr>
          <p:cNvPr id="7" name="Rectangle 6">
            <a:extLst xmlns:a="http://schemas.openxmlformats.org/drawingml/2006/main">
              <a:ext uri="{FF2B5EF4-FFF2-40B4-BE49-F238E27FC236}">
                <a16:creationId xmlns:a16="http://schemas.microsoft.com/office/drawing/2014/main" id="{95E88F13-7A93-4507-8850-AD7E7B56FDC3}"/>
              </a:ext>
            </a:extLst>
          </p:cNvPr>
          <p:cNvSpPr>
            <a:spLocks xmlns:a="http://schemas.openxmlformats.org/drawingml/2006/main" noGrp="1"/>
          </p:cNvSpPr>
          <p:nvPr/>
        </p:nvSpPr>
        <p:spPr>
          <a:xfrm xmlns:a="http://schemas.openxmlformats.org/drawingml/2006/main">
            <a:off x="3333750" y="483870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Alexander Adams</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Li Lab</a:t>
            </a:r>
          </a:p>
          <a:p xmlns:a="http://schemas.openxmlformats.org/drawingml/2006/main">
            <a:pPr algn="ctr">
              <a:lnSpc>
                <a:spcPct val="110000"/>
              </a:lnSpc>
              <a:buNone/>
              <a:defRPr sz="1350" b="0" i="0">
                <a:solidFill>
                  <a:srgbClr val="263645"/>
                </a:solidFill>
                <a:latin typeface="Arial"/>
                <a:ea typeface="Arial"/>
                <a:cs typeface="Arial"/>
              </a:defRPr>
            </a:pPr>
            <a:r>
              <a:rPr sz="1350" b="0" i="0">
                <a:solidFill>
                  <a:srgbClr val="263645"/>
                </a:solidFill>
                <a:latin typeface="Arial"/>
                <a:ea typeface="Arial"/>
                <a:cs typeface="Arial"/>
              </a:rPr>
              <a:t>October 14, 2026</a:t>
            </a:r>
          </a:p>
        </p:txBody>
      </p:sp>
    </p:spTree>
    <p:extLst>
      <p:ext uri="{BB962C8B-B14F-4D97-AF65-F5344CB8AC3E}">
        <p14:creationId xmlns:p14="http://schemas.microsoft.com/office/powerpoint/2010/main" val="138280187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Introduction to physics-informed neural networks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5B69DD9-F8B2-4D60-AF87-3DF4D90125C0}"/>
              </a:ext>
            </a:extLst>
          </p:cNvPr>
          <p:cNvSpPr>
            <a:spLocks xmlns:a="http://schemas.openxmlformats.org/drawingml/2006/main" noGrp="1"/>
          </p:cNvSpPr>
          <p:nvPr/>
        </p:nvSpPr>
        <p:spPr>
          <a:xfrm xmlns:a="http://schemas.openxmlformats.org/drawingml/2006/main">
            <a:off x="714375" y="1666875"/>
            <a:ext cx="776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645"/>
                </a:solidFill>
                <a:latin typeface="Arial"/>
                <a:ea typeface="Arial"/>
                <a:cs typeface="Arial"/>
              </a:defRPr>
            </a:defPPr>
          </a:lstStyle>
          <a:p xmlns:a="http://schemas.openxmlformats.org/drawingml/2006/main">
            <a:pPr algn="l">
              <a:defRPr sz="1725" b="0">
                <a:solidFill>
                  <a:srgbClr val="263645"/>
                </a:solidFill>
                <a:latin typeface="Arial"/>
                <a:ea typeface="Arial"/>
                <a:cs typeface="Arial"/>
              </a:defRPr>
            </a:pPr>
            <a:r>
              <a:rPr sz="1725" b="0">
                <a:solidFill>
                  <a:srgbClr val="263645"/>
                </a:solidFill>
                <a:latin typeface="Arial"/>
                <a:ea typeface="Arial"/>
                <a:cs typeface="Arial"/>
              </a:rPr>
              <a:t>A neural network learns a relationship between inputs and an output from examples. A PINN also uses physical rules to guide that relationship.</a:t>
            </a:r>
          </a:p>
        </p:txBody>
      </p:sp>
      <p:pic>
        <p:nvPicPr>
          <p:cNvPr id="14" name="">
            <a:extLst xmlns:a="http://schemas.openxmlformats.org/drawingml/2006/main">
              <a:ext uri="{FF2B5EF4-FFF2-40B4-BE49-F238E27FC236}">
                <a16:creationId xmlns:a16="http://schemas.microsoft.com/office/drawing/2014/main" id="{9CF3848D-C33A-4B56-98B2-A0FA4602A65D}"/>
              </a:ext>
            </a:extLst>
          </p:cNvPr>
          <p:cNvPicPr>
            <a:picLocks xmlns:a="http://schemas.openxmlformats.org/drawingml/2006/main" noChangeAspect="1"/>
          </p:cNvPicPr>
          <p:nvPr/>
        </p:nvPicPr>
        <p:blipFill>
          <a:blip xmlns:r="http://schemas.openxmlformats.org/officeDocument/2006/relationships" xmlns:a="http://schemas.openxmlformats.org/drawingml/2006/main" r:embed="R3c6edbbed7354f5b"/>
          <a:stretch xmlns:a="http://schemas.openxmlformats.org/drawingml/2006/main"/>
        </p:blipFill>
        <p:spPr>
          <a:xfrm xmlns:a="http://schemas.openxmlformats.org/drawingml/2006/main">
            <a:off x="820585" y="2524125"/>
            <a:ext cx="7502829" cy="3000375"/>
          </a:xfrm>
          <a:prstGeom xmlns:a="http://schemas.openxmlformats.org/drawingml/2006/main" prst="rect">
            <a:avLst/>
          </a:prstGeom>
        </p:spPr>
      </p:pic>
      <p:sp>
        <p:nvSpPr>
          <p:cNvPr id="15" name="content-5">
            <a:extLst xmlns:a="http://schemas.openxmlformats.org/drawingml/2006/main">
              <a:ext uri="{FF2B5EF4-FFF2-40B4-BE49-F238E27FC236}">
                <a16:creationId xmlns:a16="http://schemas.microsoft.com/office/drawing/2014/main" id="{7305F621-73F3-40F3-B1C1-2BEBC6D511D5}"/>
              </a:ext>
            </a:extLst>
          </p:cNvPr>
          <p:cNvSpPr>
            <a:spLocks xmlns:a="http://schemas.openxmlformats.org/drawingml/2006/main" noGrp="1"/>
          </p:cNvSpPr>
          <p:nvPr/>
        </p:nvSpPr>
        <p:spPr>
          <a:xfrm xmlns:a="http://schemas.openxmlformats.org/drawingml/2006/main">
            <a:off x="714375" y="5657850"/>
            <a:ext cx="7762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002B5E"/>
                </a:solidFill>
                <a:latin typeface="Arial"/>
                <a:ea typeface="Arial"/>
                <a:cs typeface="Arial"/>
              </a:defRPr>
            </a:defPPr>
          </a:lstStyle>
          <a:p xmlns:a="http://schemas.openxmlformats.org/drawingml/2006/main">
            <a:pPr algn="ctr">
              <a:defRPr sz="1575" b="1">
                <a:solidFill>
                  <a:srgbClr val="002B5E"/>
                </a:solidFill>
                <a:latin typeface="Arial"/>
                <a:ea typeface="Arial"/>
                <a:cs typeface="Arial"/>
              </a:defRPr>
            </a:pPr>
            <a:r>
              <a:rPr sz="1575" b="1">
                <a:solidFill>
                  <a:srgbClr val="002B5E"/>
                </a:solidFill>
                <a:latin typeface="Arial"/>
                <a:ea typeface="Arial"/>
                <a:cs typeface="Arial"/>
              </a:rPr>
              <a:t>In this project: predict bonded thickness, enforce its physical bound, and test smoothness or mechanistic penalties where justified.</a:t>
            </a:r>
          </a:p>
        </p:txBody>
      </p:sp>
    </p:spTree>
    <p:extLst>
      <p:ext uri="{BB962C8B-B14F-4D97-AF65-F5344CB8AC3E}">
        <p14:creationId xmlns:p14="http://schemas.microsoft.com/office/powerpoint/2010/main" val="13828018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PINN implementation and initial findings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473B0CFD-A9CA-4936-85BD-8A5B6E785885}"/>
              </a:ext>
            </a:extLst>
          </p:cNvPr>
          <p:cNvSpPr>
            <a:spLocks xmlns:a="http://schemas.openxmlformats.org/drawingml/2006/main" noGrp="1"/>
          </p:cNvSpPr>
          <p:nvPr/>
        </p:nvSpPr>
        <p:spPr>
          <a:xfrm xmlns:a="http://schemas.openxmlformats.org/drawingml/2006/main">
            <a:off x="704850" y="168592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IMPLEMENTED</a:t>
            </a:r>
          </a:p>
        </p:txBody>
      </p:sp>
      <p:sp>
        <p:nvSpPr>
          <p:cNvPr id="14" name="content-5">
            <a:extLst xmlns:a="http://schemas.openxmlformats.org/drawingml/2006/main">
              <a:ext uri="{FF2B5EF4-FFF2-40B4-BE49-F238E27FC236}">
                <a16:creationId xmlns:a16="http://schemas.microsoft.com/office/drawing/2014/main" id="{9924C9E2-7CAF-4B4D-8AA7-85D6DB4DD62A}"/>
              </a:ext>
            </a:extLst>
          </p:cNvPr>
          <p:cNvSpPr>
            <a:spLocks xmlns:a="http://schemas.openxmlformats.org/drawingml/2006/main" noGrp="1"/>
          </p:cNvSpPr>
          <p:nvPr/>
        </p:nvSpPr>
        <p:spPr>
          <a:xfrm xmlns:a="http://schemas.openxmlformats.org/drawingml/2006/main">
            <a:off x="704850" y="202882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Compact PyTorch model predicts bonded thickness with an explicit physical bound.</a:t>
            </a:r>
          </a:p>
        </p:txBody>
      </p:sp>
      <p:sp>
        <p:nvSpPr>
          <p:cNvPr id="15" name="content-6">
            <a:extLst xmlns:a="http://schemas.openxmlformats.org/drawingml/2006/main">
              <a:ext uri="{FF2B5EF4-FFF2-40B4-BE49-F238E27FC236}">
                <a16:creationId xmlns:a16="http://schemas.microsoft.com/office/drawing/2014/main" id="{7D3BD6BA-D2A8-41F5-84C7-93B5EEA631F9}"/>
              </a:ext>
            </a:extLst>
          </p:cNvPr>
          <p:cNvSpPr>
            <a:spLocks xmlns:a="http://schemas.openxmlformats.org/drawingml/2006/main" noGrp="1"/>
          </p:cNvSpPr>
          <p:nvPr/>
        </p:nvSpPr>
        <p:spPr>
          <a:xfrm xmlns:a="http://schemas.openxmlformats.org/drawingml/2006/main">
            <a:off x="704850" y="2876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Five models share each split, including two neural ablations and tree baselines.</a:t>
            </a:r>
          </a:p>
        </p:txBody>
      </p:sp>
      <p:sp>
        <p:nvSpPr>
          <p:cNvPr id="16" name="content-7">
            <a:extLst xmlns:a="http://schemas.openxmlformats.org/drawingml/2006/main">
              <a:ext uri="{FF2B5EF4-FFF2-40B4-BE49-F238E27FC236}">
                <a16:creationId xmlns:a16="http://schemas.microsoft.com/office/drawing/2014/main" id="{EC8DCD52-DC6E-4ACC-A6D2-D2DB5011D945}"/>
              </a:ext>
            </a:extLst>
          </p:cNvPr>
          <p:cNvSpPr>
            <a:spLocks xmlns:a="http://schemas.openxmlformats.org/drawingml/2006/main" noGrp="1"/>
          </p:cNvSpPr>
          <p:nvPr/>
        </p:nvSpPr>
        <p:spPr>
          <a:xfrm xmlns:a="http://schemas.openxmlformats.org/drawingml/2006/main">
            <a:off x="704850" y="3724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Versioned runs preserve source, data identity, checkpoints, and per-model results.</a:t>
            </a:r>
          </a:p>
        </p:txBody>
      </p:sp>
      <p:sp>
        <p:nvSpPr>
          <p:cNvPr id="17" name="content-8">
            <a:extLst xmlns:a="http://schemas.openxmlformats.org/drawingml/2006/main">
              <a:ext uri="{FF2B5EF4-FFF2-40B4-BE49-F238E27FC236}">
                <a16:creationId xmlns:a16="http://schemas.microsoft.com/office/drawing/2014/main" id="{18D64B3B-E431-4B8B-BEEA-0ABA30C308D1}"/>
              </a:ext>
            </a:extLst>
          </p:cNvPr>
          <p:cNvSpPr>
            <a:spLocks xmlns:a="http://schemas.openxmlformats.org/drawingml/2006/main" noGrp="1"/>
          </p:cNvSpPr>
          <p:nvPr/>
        </p:nvSpPr>
        <p:spPr>
          <a:xfrm xmlns:a="http://schemas.openxmlformats.org/drawingml/2006/main">
            <a:off x="5048250" y="16859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INITIAL FINDINGS</a:t>
            </a:r>
          </a:p>
        </p:txBody>
      </p:sp>
      <p:sp>
        <p:nvSpPr>
          <p:cNvPr id="18" name="content-9">
            <a:extLst xmlns:a="http://schemas.openxmlformats.org/drawingml/2006/main">
              <a:ext uri="{FF2B5EF4-FFF2-40B4-BE49-F238E27FC236}">
                <a16:creationId xmlns:a16="http://schemas.microsoft.com/office/drawing/2014/main" id="{E38B74B0-DD3E-484C-85A8-B4B0CB752466}"/>
              </a:ext>
            </a:extLst>
          </p:cNvPr>
          <p:cNvSpPr>
            <a:spLocks xmlns:a="http://schemas.openxmlformats.org/drawingml/2006/main" noGrp="1"/>
          </p:cNvSpPr>
          <p:nvPr/>
        </p:nvSpPr>
        <p:spPr>
          <a:xfrm xmlns:a="http://schemas.openxmlformats.org/drawingml/2006/main">
            <a:off x="5048250" y="202882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Measured holdout: PINN RMSE 0.1223 nm. Gradient boosting performs best at 0.0649 nm.</a:t>
            </a:r>
          </a:p>
        </p:txBody>
      </p:sp>
      <p:sp>
        <p:nvSpPr>
          <p:cNvPr id="19" name="content-10">
            <a:extLst xmlns:a="http://schemas.openxmlformats.org/drawingml/2006/main">
              <a:ext uri="{FF2B5EF4-FFF2-40B4-BE49-F238E27FC236}">
                <a16:creationId xmlns:a16="http://schemas.microsoft.com/office/drawing/2014/main" id="{D1397681-D259-402D-9C6F-E626AA6F0714}"/>
              </a:ext>
            </a:extLst>
          </p:cNvPr>
          <p:cNvSpPr>
            <a:spLocks xmlns:a="http://schemas.openxmlformats.org/drawingml/2006/main" noGrp="1"/>
          </p:cNvSpPr>
          <p:nvPr/>
        </p:nvSpPr>
        <p:spPr>
          <a:xfrm xmlns:a="http://schemas.openxmlformats.org/drawingml/2006/main">
            <a:off x="5048250" y="2876550"/>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holdout: PINN RMSE 0.0557 nm and R² 0.905. Random forest remains stronger.</a:t>
            </a:r>
          </a:p>
        </p:txBody>
      </p:sp>
      <p:sp>
        <p:nvSpPr>
          <p:cNvPr id="20" name="content-11">
            <a:extLst xmlns:a="http://schemas.openxmlformats.org/drawingml/2006/main">
              <a:ext uri="{FF2B5EF4-FFF2-40B4-BE49-F238E27FC236}">
                <a16:creationId xmlns:a16="http://schemas.microsoft.com/office/drawing/2014/main" id="{39D8CBA1-8EA9-4A54-97D6-FBA691B36353}"/>
              </a:ext>
            </a:extLst>
          </p:cNvPr>
          <p:cNvSpPr>
            <a:spLocks xmlns:a="http://schemas.openxmlformats.org/drawingml/2006/main" noGrp="1"/>
          </p:cNvSpPr>
          <p:nvPr/>
        </p:nvSpPr>
        <p:spPr>
          <a:xfrm xmlns:a="http://schemas.openxmlformats.org/drawingml/2006/main">
            <a:off x="5048250" y="3724275"/>
            <a:ext cx="33909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 guarantees physical plausibility. Initial tests have not established an accuracy benefit.</a:t>
            </a:r>
          </a:p>
        </p:txBody>
      </p:sp>
      <p:sp>
        <p:nvSpPr>
          <p:cNvPr id="21" name="content-12">
            <a:extLst xmlns:a="http://schemas.openxmlformats.org/drawingml/2006/main">
              <a:ext uri="{FF2B5EF4-FFF2-40B4-BE49-F238E27FC236}">
                <a16:creationId xmlns:a16="http://schemas.microsoft.com/office/drawing/2014/main" id="{FA2835AB-CB1A-4B39-8ED4-DAA89A079E7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Current scope: constrained inference from measured film state</a:t>
            </a:r>
          </a:p>
        </p:txBody>
      </p:sp>
    </p:spTree>
    <p:extLst>
      <p:ext uri="{BB962C8B-B14F-4D97-AF65-F5344CB8AC3E}">
        <p14:creationId xmlns:p14="http://schemas.microsoft.com/office/powerpoint/2010/main" val="138280187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Implementation changes from v0.1 to v0.2</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8E31E3CB-9809-4B1A-912B-385CEB657552}"/>
              </a:ext>
            </a:extLst>
          </p:cNvPr>
          <p:cNvGraphicFramePr/>
          <p:nvPr/>
        </p:nvGraphicFramePr>
        <p:xfrm>
          <a:off xmlns:a="http://schemas.openxmlformats.org/drawingml/2006/main" x="571500" y="1676400"/>
          <a:ext xmlns:a="http://schemas.openxmlformats.org/drawingml/2006/main" cx="8001000" cy="3705225"/>
        </p:xfrm>
        <a:graphic xmlns:a="http://schemas.openxmlformats.org/drawingml/2006/main">
          <a:graphicData uri="http://schemas.openxmlformats.org/drawingml/2006/table">
            <a:tbl>
              <a:tblPr/>
              <a:tblGrid>
                <a:gridCol w="1428750"/>
                <a:gridCol w="4057650"/>
                <a:gridCol w="2514600"/>
              </a:tblGrid>
              <a:tr h="617538">
                <a:tc>
                  <a:txBody>
                    <a:bodyPr>
                      <a:noAutofit/>
                    </a:bodyPr>
                    <a:lstStyle/>
                    <a:p>
                      <a:pPr algn="l"/>
                      <a:r>
                        <a:rPr sz="1275" b="1">
                          <a:solidFill>
                            <a:srgbClr val="FFFFFF"/>
                          </a:solidFill>
                          <a:latin typeface="Arial"/>
                          <a:ea typeface="Arial"/>
                          <a:cs typeface="Arial"/>
                        </a:rPr>
                        <a:t>Stage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Reason</a:t>
                      </a:r>
                    </a:p>
                  </a:txBody>
                  <a:tcPr marL="85725" marR="85725" marT="76200" marB="76200" anchor="ctr">
                    <a:solidFill>
                      <a:srgbClr val="002B5E"/>
                    </a:solidFill>
                  </a:tcPr>
                </a:tc>
              </a:tr>
              <a:tr h="617538">
                <a:tc>
                  <a:txBody>
                    <a:bodyPr>
                      <a:noAutofit/>
                    </a:bodyPr>
                    <a:lstStyle/>
                    <a:p>
                      <a:pPr algn="l"/>
                      <a:r>
                        <a:rPr sz="1275" b="1">
                          <a:solidFill>
                            <a:srgbClr val="263645"/>
                          </a:solidFill>
                          <a:latin typeface="Arial"/>
                          <a:ea typeface="Arial"/>
                          <a:cs typeface="Arial"/>
                        </a:rPr>
                        <a:t>v0.1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58 measured rows, three inputs</a:t>
                      </a:r>
                    </a:p>
                    <a:p>
                      <a:pPr algn="ctr"/>
                      <a:r>
                        <a:rPr sz="1275" b="0">
                          <a:solidFill>
                            <a:srgbClr val="263645"/>
                          </a:solidFill>
                          <a:latin typeface="Arial"/>
                          <a:ea typeface="Arial"/>
                          <a:cs typeface="Arial"/>
                        </a:rPr>
                        <a:t>Bounded tanh network and curvature prior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Establish a transparent</a:t>
                      </a:r>
                    </a:p>
                    <a:p>
                      <a:pPr algn="ctr"/>
                      <a:r>
                        <a:rPr sz="1275" b="0">
                          <a:solidFill>
                            <a:srgbClr val="263645"/>
                          </a:solidFill>
                          <a:latin typeface="Arial"/>
                          <a:ea typeface="Arial"/>
                          <a:cs typeface="Arial"/>
                        </a:rPr>
                        <a:t>experimental baseline</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v0.1 evaluation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Grouped holdout and high-concentration test</a:t>
                      </a:r>
                    </a:p>
                    <a:p>
                      <a:pPr algn="ctr"/>
                      <a:r>
                        <a:rPr sz="1275" b="0">
                          <a:solidFill>
                            <a:srgbClr val="263645"/>
                          </a:solidFill>
                          <a:latin typeface="Arial"/>
                          <a:ea typeface="Arial"/>
                          <a:cs typeface="Arial"/>
                        </a:rPr>
                        <a:t>Bounded NN, standard NN, RF, and GB</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Separate accuracy, bounds,</a:t>
                      </a:r>
                    </a:p>
                    <a:p>
                      <a:pPr algn="ctr"/>
                      <a:r>
                        <a:rPr sz="1275" b="0">
                          <a:solidFill>
                            <a:srgbClr val="263645"/>
                          </a:solidFill>
                          <a:latin typeface="Arial"/>
                          <a:ea typeface="Arial"/>
                          <a:cs typeface="Arial"/>
                        </a:rPr>
                        <a:t>and extrapolation behavior</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synthetic study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Seven inputs and audited 3k source</a:t>
                      </a:r>
                    </a:p>
                    <a:p>
                      <a:pPr algn="ctr"/>
                      <a:r>
                        <a:rPr sz="1275" b="0">
                          <a:solidFill>
                            <a:srgbClr val="263645"/>
                          </a:solidFill>
                          <a:latin typeface="Arial"/>
                          <a:ea typeface="Arial"/>
                          <a:cs typeface="Arial"/>
                        </a:rPr>
                        <a:t>Concentration-monotonicity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optimization at larger scale</a:t>
                      </a:r>
                    </a:p>
                    <a:p>
                      <a:pPr algn="ctr"/>
                      <a:r>
                        <a:rPr sz="1275" b="0">
                          <a:solidFill>
                            <a:srgbClr val="263645"/>
                          </a:solidFill>
                          <a:latin typeface="Arial"/>
                          <a:ea typeface="Arial"/>
                          <a:cs typeface="Arial"/>
                        </a:rPr>
                        <a:t>without claiming new experiments</a:t>
                      </a:r>
                    </a:p>
                  </a:txBody>
                  <a:tcPr marL="85725" marR="85725" marT="76200" marB="76200" anchor="ctr">
                    <a:solidFill>
                      <a:srgbClr val="FFFFFF"/>
                    </a:solidFill>
                  </a:tcPr>
                </a:tc>
              </a:tr>
              <a:tr h="617538">
                <a:tc>
                  <a:txBody>
                    <a:bodyPr>
                      <a:noAutofit/>
                    </a:bodyPr>
                    <a:lstStyle/>
                    <a:p>
                      <a:pPr algn="l"/>
                      <a:r>
                        <a:rPr sz="1275" b="1">
                          <a:solidFill>
                            <a:srgbClr val="263645"/>
                          </a:solidFill>
                          <a:latin typeface="Arial"/>
                          <a:ea typeface="Arial"/>
                          <a:cs typeface="Arial"/>
                        </a:rPr>
                        <a:t>v0.2 physics support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Measured-velocity curvature</a:t>
                      </a:r>
                    </a:p>
                    <a:p>
                      <a:pPr algn="ctr"/>
                      <a:r>
                        <a:rPr sz="1275" b="0">
                          <a:solidFill>
                            <a:srgbClr val="263645"/>
                          </a:solidFill>
                          <a:latin typeface="Arial"/>
                          <a:ea typeface="Arial"/>
                          <a:cs typeface="Arial"/>
                        </a:rPr>
                        <a:t>Gated LLD mobile-layer residual</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Prepare all four slide constraints</a:t>
                      </a:r>
                    </a:p>
                    <a:p>
                      <a:pPr algn="ctr"/>
                      <a:r>
                        <a:rPr sz="1275" b="0">
                          <a:solidFill>
                            <a:srgbClr val="263645"/>
                          </a:solidFill>
                          <a:latin typeface="Arial"/>
                          <a:ea typeface="Arial"/>
                          <a:cs typeface="Arial"/>
                        </a:rPr>
                        <a:t>with explicit activation requirements</a:t>
                      </a:r>
                    </a:p>
                  </a:txBody>
                  <a:tcPr marL="85725" marR="85725" marT="76200" marB="76200" anchor="ctr">
                    <a:solidFill>
                      <a:srgbClr val="F7F5EF"/>
                    </a:solidFill>
                  </a:tcPr>
                </a:tc>
              </a:tr>
              <a:tr h="617538">
                <a:tc>
                  <a:txBody>
                    <a:bodyPr>
                      <a:noAutofit/>
                    </a:bodyPr>
                    <a:lstStyle/>
                    <a:p>
                      <a:pPr algn="l"/>
                      <a:r>
                        <a:rPr sz="1275" b="1">
                          <a:solidFill>
                            <a:srgbClr val="263645"/>
                          </a:solidFill>
                          <a:latin typeface="Arial"/>
                          <a:ea typeface="Arial"/>
                          <a:cs typeface="Arial"/>
                        </a:rPr>
                        <a:t>v0.2 provenance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Dated run register and source snapshots</a:t>
                      </a:r>
                    </a:p>
                    <a:p>
                      <a:pPr algn="ctr"/>
                      <a:r>
                        <a:rPr sz="1275" b="0">
                          <a:solidFill>
                            <a:srgbClr val="263645"/>
                          </a:solidFill>
                          <a:latin typeface="Arial"/>
                          <a:ea typeface="Arial"/>
                          <a:cs typeface="Arial"/>
                        </a:rPr>
                        <a:t>Published code, data, results, and checkpoints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Make each experiment</a:t>
                      </a:r>
                    </a:p>
                    <a:p>
                      <a:pPr algn="ctr"/>
                      <a:r>
                        <a:rPr sz="1275" b="0">
                          <a:solidFill>
                            <a:srgbClr val="263645"/>
                          </a:solidFill>
                          <a:latin typeface="Arial"/>
                          <a:ea typeface="Arial"/>
                          <a:cs typeface="Arial"/>
                        </a:rPr>
                        <a:t>reviewable and reproducible</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CCC13DA3-A8C3-411E-B1C1-2FAF98F047EE}"/>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Five archived runs cover the measured baseline, extrapolation, and synthetic ablation</a:t>
            </a:r>
          </a:p>
        </p:txBody>
      </p:sp>
    </p:spTree>
    <p:extLst>
      <p:ext uri="{BB962C8B-B14F-4D97-AF65-F5344CB8AC3E}">
        <p14:creationId xmlns:p14="http://schemas.microsoft.com/office/powerpoint/2010/main" val="138280187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and synthetic data audits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9822A92C-8D79-41DA-9484-081E69A63138}"/>
              </a:ext>
            </a:extLst>
          </p:cNvPr>
          <p:cNvSpPr>
            <a:spLocks xmlns:a="http://schemas.openxmlformats.org/drawingml/2006/main" noGrp="1"/>
          </p:cNvSpPr>
          <p:nvPr/>
        </p:nvSpPr>
        <p:spPr>
          <a:xfrm xmlns:a="http://schemas.openxmlformats.org/drawingml/2006/main">
            <a:off x="704850"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BASELINE</a:t>
            </a:r>
          </a:p>
        </p:txBody>
      </p:sp>
      <p:sp>
        <p:nvSpPr>
          <p:cNvPr id="14" name="content-5">
            <a:extLst xmlns:a="http://schemas.openxmlformats.org/drawingml/2006/main">
              <a:ext uri="{FF2B5EF4-FFF2-40B4-BE49-F238E27FC236}">
                <a16:creationId xmlns:a16="http://schemas.microsoft.com/office/drawing/2014/main" id="{5489F6B8-C6AE-4F2A-8A9A-B84916B39ED9}"/>
              </a:ext>
            </a:extLst>
          </p:cNvPr>
          <p:cNvSpPr>
            <a:spLocks xmlns:a="http://schemas.openxmlformats.org/drawingml/2006/main" noGrp="1"/>
          </p:cNvSpPr>
          <p:nvPr/>
        </p:nvSpPr>
        <p:spPr>
          <a:xfrm xmlns:a="http://schemas.openxmlformats.org/drawingml/2006/main">
            <a:off x="704850" y="2028825"/>
            <a:ext cx="2571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48151"/>
                </a:solidFill>
                <a:latin typeface="Arial"/>
                <a:ea typeface="Arial"/>
                <a:cs typeface="Arial"/>
              </a:defRPr>
            </a:defPPr>
          </a:lstStyle>
          <a:p xmlns:a="http://schemas.openxmlformats.org/drawingml/2006/main">
            <a:pPr algn="l">
              <a:defRPr sz="3150" b="1">
                <a:solidFill>
                  <a:srgbClr val="948151"/>
                </a:solidFill>
                <a:latin typeface="Arial"/>
                <a:ea typeface="Arial"/>
                <a:cs typeface="Arial"/>
              </a:defRPr>
            </a:pPr>
            <a:r>
              <a:rPr sz="3150" b="1">
                <a:solidFill>
                  <a:srgbClr val="948151"/>
                </a:solidFill>
                <a:latin typeface="Arial"/>
                <a:ea typeface="Arial"/>
                <a:cs typeface="Arial"/>
              </a:rPr>
              <a:t>58</a:t>
            </a:r>
          </a:p>
        </p:txBody>
      </p:sp>
      <p:sp>
        <p:nvSpPr>
          <p:cNvPr id="15" name="content-6">
            <a:extLst xmlns:a="http://schemas.openxmlformats.org/drawingml/2006/main">
              <a:ext uri="{FF2B5EF4-FFF2-40B4-BE49-F238E27FC236}">
                <a16:creationId xmlns:a16="http://schemas.microsoft.com/office/drawing/2014/main" id="{C4C5DD64-4E2E-40DD-B22A-8BF28764B495}"/>
              </a:ext>
            </a:extLst>
          </p:cNvPr>
          <p:cNvSpPr>
            <a:spLocks xmlns:a="http://schemas.openxmlformats.org/drawingml/2006/main" noGrp="1"/>
          </p:cNvSpPr>
          <p:nvPr/>
        </p:nvSpPr>
        <p:spPr>
          <a:xfrm xmlns:a="http://schemas.openxmlformats.org/drawingml/2006/main">
            <a:off x="704850" y="27241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63645"/>
                </a:solidFill>
                <a:latin typeface="Arial"/>
                <a:ea typeface="Arial"/>
                <a:cs typeface="Arial"/>
              </a:defRPr>
            </a:defPPr>
          </a:lstStyle>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Hexane observations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16 concentration levels</a:t>
            </a:r>
          </a:p>
          <a:p xmlns:a="http://schemas.openxmlformats.org/drawingml/2006/main">
            <a:pPr algn="l">
              <a:defRPr sz="1650" b="0">
                <a:solidFill>
                  <a:srgbClr val="263645"/>
                </a:solidFill>
                <a:latin typeface="Arial"/>
                <a:ea typeface="Arial"/>
                <a:cs typeface="Arial"/>
              </a:defRPr>
            </a:pPr>
            <a:r>
              <a:rPr sz="1650" b="0">
                <a:solidFill>
                  <a:srgbClr val="263645"/>
                </a:solidFill>
                <a:latin typeface="Arial"/>
                <a:ea typeface="Arial"/>
                <a:cs typeface="Arial"/>
              </a:rPr>
              <a:t>Three predictors and one target</a:t>
            </a:r>
          </a:p>
        </p:txBody>
      </p:sp>
      <p:sp>
        <p:nvSpPr>
          <p:cNvPr id="16" name="content-7">
            <a:extLst xmlns:a="http://schemas.openxmlformats.org/drawingml/2006/main">
              <a:ext uri="{FF2B5EF4-FFF2-40B4-BE49-F238E27FC236}">
                <a16:creationId xmlns:a16="http://schemas.microsoft.com/office/drawing/2014/main" id="{26AA464F-A364-4DA0-879F-E5B29AD20ADB}"/>
              </a:ext>
            </a:extLst>
          </p:cNvPr>
          <p:cNvSpPr>
            <a:spLocks xmlns:a="http://schemas.openxmlformats.org/drawingml/2006/main" noGrp="1"/>
          </p:cNvSpPr>
          <p:nvPr/>
        </p:nvSpPr>
        <p:spPr>
          <a:xfrm xmlns:a="http://schemas.openxmlformats.org/drawingml/2006/main">
            <a:off x="704850" y="40957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All 58 rows pass the numerical</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thickness-bound checks.</a:t>
            </a:r>
          </a:p>
        </p:txBody>
      </p:sp>
      <p:sp>
        <p:nvSpPr>
          <p:cNvPr id="17" name="content-8">
            <a:extLst xmlns:a="http://schemas.openxmlformats.org/drawingml/2006/main">
              <a:ext uri="{FF2B5EF4-FFF2-40B4-BE49-F238E27FC236}">
                <a16:creationId xmlns:a16="http://schemas.microsoft.com/office/drawing/2014/main" id="{5E8F0118-8028-44B3-9C85-4581355A93D9}"/>
              </a:ext>
            </a:extLst>
          </p:cNvPr>
          <p:cNvSpPr>
            <a:spLocks xmlns:a="http://schemas.openxmlformats.org/drawingml/2006/main" noGrp="1"/>
          </p:cNvSpPr>
          <p:nvPr/>
        </p:nvSpPr>
        <p:spPr>
          <a:xfrm xmlns:a="http://schemas.openxmlformats.org/drawingml/2006/main">
            <a:off x="4733925" y="16764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SOURCE</a:t>
            </a:r>
          </a:p>
        </p:txBody>
      </p:sp>
      <p:graphicFrame>
        <p:nvGraphicFramePr>
          <p:cNvPr id="18" name="">
            <a:extLst xmlns:a="http://schemas.openxmlformats.org/drawingml/2006/main">
              <a:ext uri="{FF2B5EF4-FFF2-40B4-BE49-F238E27FC236}">
                <a16:creationId xmlns:a16="http://schemas.microsoft.com/office/drawing/2014/main" id="{E622D9DD-00D7-4374-ACD3-374019DBBA7A}"/>
              </a:ext>
            </a:extLst>
          </p:cNvPr>
          <p:cNvGraphicFramePr/>
          <p:nvPr/>
        </p:nvGraphicFramePr>
        <p:xfrm>
          <a:off xmlns:a="http://schemas.openxmlformats.org/drawingml/2006/main" x="4733925" y="2038350"/>
          <a:ext xmlns:a="http://schemas.openxmlformats.org/drawingml/2006/main" cx="3705225" cy="3143250"/>
        </p:xfrm>
        <a:graphic xmlns:a="http://schemas.openxmlformats.org/drawingml/2006/main">
          <a:graphicData uri="http://schemas.openxmlformats.org/drawingml/2006/table">
            <a:tbl>
              <a:tblPr/>
              <a:tblGrid>
                <a:gridCol w="2647950"/>
                <a:gridCol w="1057275"/>
              </a:tblGrid>
              <a:tr h="449036">
                <a:tc>
                  <a:txBody>
                    <a:bodyPr>
                      <a:noAutofit/>
                    </a:bodyPr>
                    <a:lstStyle/>
                    <a:p>
                      <a:pPr algn="l"/>
                      <a:r>
                        <a:rPr sz="1350" b="1">
                          <a:solidFill>
                            <a:srgbClr val="FFFFFF"/>
                          </a:solidFill>
                          <a:latin typeface="Arial"/>
                          <a:ea typeface="Arial"/>
                          <a:cs typeface="Arial"/>
                        </a:rPr>
                        <a:t>Audit check</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Rows</a:t>
                      </a:r>
                    </a:p>
                  </a:txBody>
                  <a:tcPr marL="85725" marR="85725" marT="76200" marB="76200" anchor="ctr">
                    <a:solidFill>
                      <a:srgbClr val="002B5E"/>
                    </a:solidFill>
                  </a:tcPr>
                </a:tc>
              </a:tr>
              <a:tr h="449036">
                <a:tc>
                  <a:txBody>
                    <a:bodyPr>
                      <a:noAutofit/>
                    </a:bodyPr>
                    <a:lstStyle/>
                    <a:p>
                      <a:pPr algn="l"/>
                      <a:r>
                        <a:rPr sz="1350" b="1">
                          <a:solidFill>
                            <a:srgbClr val="263645"/>
                          </a:solidFill>
                          <a:latin typeface="Arial"/>
                          <a:ea typeface="Arial"/>
                          <a:cs typeface="Arial"/>
                        </a:rPr>
                        <a:t>Raw combined source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3,000</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Nonpositive concentration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182</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Nonpositive 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6</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Bonded greater than total</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113</a:t>
                      </a:r>
                    </a:p>
                  </a:txBody>
                  <a:tcPr marL="85725" marR="85725" marT="76200" marB="76200" anchor="ctr">
                    <a:solidFill>
                      <a:srgbClr val="F7F5EF"/>
                    </a:solidFill>
                  </a:tcPr>
                </a:tc>
              </a:tr>
              <a:tr h="449036">
                <a:tc>
                  <a:txBody>
                    <a:bodyPr>
                      <a:noAutofit/>
                    </a:bodyPr>
                    <a:lstStyle/>
                    <a:p>
                      <a:pPr algn="l"/>
                      <a:r>
                        <a:rPr sz="1350" b="1">
                          <a:solidFill>
                            <a:srgbClr val="263645"/>
                          </a:solidFill>
                          <a:latin typeface="Arial"/>
                          <a:ea typeface="Arial"/>
                          <a:cs typeface="Arial"/>
                        </a:rPr>
                        <a:t>Unique excluded rows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192</a:t>
                      </a:r>
                    </a:p>
                  </a:txBody>
                  <a:tcPr marL="85725" marR="85725" marT="76200" marB="76200" anchor="ctr">
                    <a:solidFill>
                      <a:srgbClr val="FFFFFF"/>
                    </a:solidFill>
                  </a:tcPr>
                </a:tc>
              </a:tr>
              <a:tr h="449036">
                <a:tc>
                  <a:txBody>
                    <a:bodyPr>
                      <a:noAutofit/>
                    </a:bodyPr>
                    <a:lstStyle/>
                    <a:p>
                      <a:pPr algn="l"/>
                      <a:r>
                        <a:rPr sz="1350" b="1">
                          <a:solidFill>
                            <a:srgbClr val="263645"/>
                          </a:solidFill>
                          <a:latin typeface="Arial"/>
                          <a:ea typeface="Arial"/>
                          <a:cs typeface="Arial"/>
                        </a:rPr>
                        <a:t>Retained rows</a:t>
                      </a:r>
                    </a:p>
                  </a:txBody>
                  <a:tcPr marL="85725" marR="85725" marT="76200" marB="76200" anchor="ctr">
                    <a:solidFill>
                      <a:srgbClr val="F3ECD6"/>
                    </a:solidFill>
                  </a:tcPr>
                </a:tc>
                <a:tc>
                  <a:txBody>
                    <a:bodyPr>
                      <a:noAutofit/>
                    </a:bodyPr>
                    <a:lstStyle/>
                    <a:p>
                      <a:pPr algn="ctr"/>
                      <a:r>
                        <a:rPr sz="1350" b="1">
                          <a:solidFill>
                            <a:srgbClr val="263645"/>
                          </a:solidFill>
                          <a:latin typeface="Arial"/>
                          <a:ea typeface="Arial"/>
                          <a:cs typeface="Arial"/>
                        </a:rPr>
                        <a:t>2,808</a:t>
                      </a:r>
                    </a:p>
                  </a:txBody>
                  <a:tcPr marL="85725" marR="85725" marT="76200" marB="76200" anchor="ctr">
                    <a:solidFill>
                      <a:srgbClr val="F3ECD6"/>
                    </a:solidFill>
                  </a:tcPr>
                </a:tc>
              </a:tr>
            </a:tbl>
          </a:graphicData>
        </a:graphic>
      </p:graphicFrame>
      <p:sp>
        <p:nvSpPr>
          <p:cNvPr id="19" name="content-9">
            <a:extLst xmlns:a="http://schemas.openxmlformats.org/drawingml/2006/main">
              <a:ext uri="{FF2B5EF4-FFF2-40B4-BE49-F238E27FC236}">
                <a16:creationId xmlns:a16="http://schemas.microsoft.com/office/drawing/2014/main" id="{4688FD2C-73D7-4A43-80EF-78607AA84373}"/>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Exclusion reasons overlap. Preserve the raw source and original row IDs</a:t>
            </a:r>
          </a:p>
        </p:txBody>
      </p:sp>
    </p:spTree>
    <p:extLst>
      <p:ext uri="{BB962C8B-B14F-4D97-AF65-F5344CB8AC3E}">
        <p14:creationId xmlns:p14="http://schemas.microsoft.com/office/powerpoint/2010/main" val="13828018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Feature choices and preprocessing</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5259CC4-8363-47F2-ADCF-64F88AB32B68}"/>
              </a:ext>
            </a:extLst>
          </p:cNvPr>
          <p:cNvGraphicFramePr/>
          <p:nvPr/>
        </p:nvGraphicFramePr>
        <p:xfrm>
          <a:off xmlns:a="http://schemas.openxmlformats.org/drawingml/2006/main" x="571500" y="1685925"/>
          <a:ext xmlns:a="http://schemas.openxmlformats.org/drawingml/2006/main" cx="8001000" cy="3286125"/>
        </p:xfrm>
        <a:graphic xmlns:a="http://schemas.openxmlformats.org/drawingml/2006/main">
          <a:graphicData uri="http://schemas.openxmlformats.org/drawingml/2006/table">
            <a:tbl>
              <a:tblPr/>
              <a:tblGrid>
                <a:gridCol w="2038350"/>
                <a:gridCol w="2762250"/>
                <a:gridCol w="3200400"/>
              </a:tblGrid>
              <a:tr h="547688">
                <a:tc>
                  <a:txBody>
                    <a:bodyPr>
                      <a:noAutofit/>
                    </a:bodyPr>
                    <a:lstStyle/>
                    <a:p>
                      <a:pPr algn="l"/>
                      <a:r>
                        <a:rPr sz="1350" b="1">
                          <a:solidFill>
                            <a:srgbClr val="FFFFFF"/>
                          </a:solidFill>
                          <a:latin typeface="Arial"/>
                          <a:ea typeface="Arial"/>
                          <a:cs typeface="Arial"/>
                        </a:rPr>
                        <a:t>Feature group</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Measured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Synthetic run</a:t>
                      </a:r>
                    </a:p>
                  </a:txBody>
                  <a:tcPr marL="85725" marR="85725" marT="76200" marB="76200" anchor="ctr">
                    <a:solidFill>
                      <a:srgbClr val="002B5E"/>
                    </a:solidFill>
                  </a:tcPr>
                </a:tc>
              </a:tr>
              <a:tr h="547688">
                <a:tc>
                  <a:txBody>
                    <a:bodyPr>
                      <a:noAutofit/>
                    </a:bodyPr>
                    <a:lstStyle/>
                    <a:p>
                      <a:pPr algn="l"/>
                      <a:r>
                        <a:rPr sz="1350" b="1">
                          <a:solidFill>
                            <a:srgbClr val="263645"/>
                          </a:solidFill>
                          <a:latin typeface="Arial"/>
                          <a:ea typeface="Arial"/>
                          <a:cs typeface="Arial"/>
                        </a:rPr>
                        <a:t>Film and process state</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Concentration</a:t>
                      </a:r>
                    </a:p>
                    <a:p>
                      <a:pPr algn="ctr"/>
                      <a:r>
                        <a:rPr sz="1350" b="0">
                          <a:solidFill>
                            <a:srgbClr val="263645"/>
                          </a:solidFill>
                          <a:latin typeface="Arial"/>
                          <a:ea typeface="Arial"/>
                          <a:cs typeface="Arial"/>
                        </a:rPr>
                        <a:t>Uncoated layer</a:t>
                      </a:r>
                    </a:p>
                    <a:p>
                      <a:pPr algn="ctr"/>
                      <a:r>
                        <a:rPr sz="1350" b="0">
                          <a:solidFill>
                            <a:srgbClr val="263645"/>
                          </a:solidFill>
                          <a:latin typeface="Arial"/>
                          <a:ea typeface="Arial"/>
                          <a:cs typeface="Arial"/>
                        </a:rPr>
                        <a:t>Total thickness</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Same three measured-state inputs</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Solvent descriptors</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Unavailable in the</a:t>
                      </a:r>
                    </a:p>
                    <a:p>
                      <a:pPr algn="ctr"/>
                      <a:r>
                        <a:rPr sz="1350" b="0">
                          <a:solidFill>
                            <a:srgbClr val="263645"/>
                          </a:solidFill>
                          <a:latin typeface="Arial"/>
                          <a:ea typeface="Arial"/>
                          <a:cs typeface="Arial"/>
                        </a:rPr>
                        <a:t>four-column workbook</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Polarity, viscosity</a:t>
                      </a:r>
                    </a:p>
                    <a:p>
                      <a:pPr algn="ctr"/>
                      <a:r>
                        <a:rPr sz="1350" b="0">
                          <a:solidFill>
                            <a:srgbClr val="263645"/>
                          </a:solidFill>
                          <a:latin typeface="Arial"/>
                          <a:ea typeface="Arial"/>
                          <a:cs typeface="Arial"/>
                        </a:rPr>
                        <a:t>Boiling point, surface tension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Concentration transform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Natural logarithm</a:t>
                      </a:r>
                    </a:p>
                  </a:txBody>
                  <a:tcPr marL="85725" marR="85725" marT="76200" marB="76200" anchor="ctr">
                    <a:solidFill>
                      <a:srgbClr val="FFFFFF"/>
                    </a:solidFill>
                  </a:tcPr>
                </a:tc>
              </a:tr>
              <a:tr h="547688">
                <a:tc>
                  <a:txBody>
                    <a:bodyPr>
                      <a:noAutofit/>
                    </a:bodyPr>
                    <a:lstStyle/>
                    <a:p>
                      <a:pPr algn="l"/>
                      <a:r>
                        <a:rPr sz="1350" b="1">
                          <a:solidFill>
                            <a:srgbClr val="263645"/>
                          </a:solidFill>
                          <a:latin typeface="Arial"/>
                          <a:ea typeface="Arial"/>
                          <a:cs typeface="Arial"/>
                        </a:rPr>
                        <a:t>Input scaling</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Training-only standardization</a:t>
                      </a:r>
                    </a:p>
                  </a:txBody>
                  <a:tcPr marL="85725" marR="85725" marT="76200" marB="76200" anchor="ctr">
                    <a:solidFill>
                      <a:srgbClr val="F7F5EF"/>
                    </a:solidFill>
                  </a:tcPr>
                </a:tc>
              </a:tr>
              <a:tr h="547688">
                <a:tc>
                  <a:txBody>
                    <a:bodyPr>
                      <a:noAutofit/>
                    </a:bodyPr>
                    <a:lstStyle/>
                    <a:p>
                      <a:pPr algn="l"/>
                      <a:r>
                        <a:rPr sz="1350" b="1">
                          <a:solidFill>
                            <a:srgbClr val="263645"/>
                          </a:solidFill>
                          <a:latin typeface="Arial"/>
                          <a:ea typeface="Arial"/>
                          <a:cs typeface="Arial"/>
                        </a:rPr>
                        <a:t>Output</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Bonded thickness in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DE5F4BAE-A9B4-466D-8929-41608653BA6E}"/>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Confirm concentration units and measurement timing before mechanistic interpretation</a:t>
            </a:r>
          </a:p>
        </p:txBody>
      </p:sp>
    </p:spTree>
    <p:extLst>
      <p:ext uri="{BB962C8B-B14F-4D97-AF65-F5344CB8AC3E}">
        <p14:creationId xmlns:p14="http://schemas.microsoft.com/office/powerpoint/2010/main" val="13828018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 name="footer-date">
            <a:extLst xmlns:a="http://schemas.openxmlformats.org/drawingml/2006/main">
              <a:ext uri="{FF2B5EF4-FFF2-40B4-BE49-F238E27FC236}">
                <a16:creationId xmlns:a16="http://schemas.microsoft.com/office/drawing/2014/main" id="{CF76D794-37A7-4946-ACF3-71D6C474783E}"/>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8217F89D-A0F8-482A-A1A3-133A94B36F0D}"/>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7</a:t>
            </a:r>
          </a:p>
        </p:txBody>
      </p:sp>
      <p:sp>
        <p:nvSpPr>
          <p:cNvPr id="3" name="slide-title">
            <a:extLst xmlns:a="http://schemas.openxmlformats.org/drawingml/2006/main">
              <a:ext uri="{FF2B5EF4-FFF2-40B4-BE49-F238E27FC236}">
                <a16:creationId xmlns:a16="http://schemas.microsoft.com/office/drawing/2014/main" id="{24018924-7AE9-47BE-9E63-143943C8EEE3}"/>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Compact network and bounded bonded thickness</a:t>
            </a:r>
          </a:p>
        </p:txBody>
      </p:sp>
      <p:sp>
        <p:nvSpPr>
          <p:cNvPr id="4" name="divider">
            <a:extLst xmlns:a="http://schemas.openxmlformats.org/drawingml/2006/main">
              <a:ext uri="{FF2B5EF4-FFF2-40B4-BE49-F238E27FC236}">
                <a16:creationId xmlns:a16="http://schemas.microsoft.com/office/drawing/2014/main" id="{0A96379B-B546-488F-AC98-A8EF29E31FBD}"/>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5" name="Rectangle 4">
            <a:extLst xmlns:a="http://schemas.openxmlformats.org/drawingml/2006/main">
              <a:ext uri="{FF2B5EF4-FFF2-40B4-BE49-F238E27FC236}">
                <a16:creationId xmlns:a16="http://schemas.microsoft.com/office/drawing/2014/main" id="{FB5EAE18-3C6E-4F72-BBA4-42AEC603C65C}"/>
              </a:ext>
            </a:extLst>
          </p:cNvPr>
          <p:cNvSpPr>
            <a:spLocks xmlns:a="http://schemas.openxmlformats.org/drawingml/2006/main" noGrp="1"/>
          </p:cNvSpPr>
          <p:nvPr/>
        </p:nvSpPr>
        <p:spPr>
          <a:xfrm xmlns:a="http://schemas.openxmlformats.org/drawingml/2006/main">
            <a:off x="666750" y="16573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875" b="1" i="0">
                <a:solidFill>
                  <a:srgbClr val="948151"/>
                </a:solidFill>
                <a:latin typeface="Arial"/>
                <a:ea typeface="Arial"/>
                <a:cs typeface="Arial"/>
              </a:defRPr>
            </a:pPr>
            <a:r>
              <a:rPr sz="1875" b="1" i="0">
                <a:solidFill>
                  <a:srgbClr val="948151"/>
                </a:solidFill>
                <a:latin typeface="Arial"/>
                <a:ea typeface="Arial"/>
                <a:cs typeface="Arial"/>
              </a:rPr>
              <a:t/>
            </a:r>
          </a:p>
        </p:txBody>
      </p:sp>
      <p:sp>
        <p:nvSpPr>
          <p:cNvPr id="6" name="Rectangle 5">
            <a:extLst xmlns:a="http://schemas.openxmlformats.org/drawingml/2006/main">
              <a:ext uri="{FF2B5EF4-FFF2-40B4-BE49-F238E27FC236}">
                <a16:creationId xmlns:a16="http://schemas.microsoft.com/office/drawing/2014/main" id="{826C97BC-B332-4768-9D0A-0482813AD0B8}"/>
              </a:ext>
            </a:extLst>
          </p:cNvPr>
          <p:cNvSpPr>
            <a:spLocks xmlns:a="http://schemas.openxmlformats.org/drawingml/2006/main" noGrp="1"/>
          </p:cNvSpPr>
          <p:nvPr/>
        </p:nvSpPr>
        <p:spPr>
          <a:xfrm xmlns:a="http://schemas.openxmlformats.org/drawingml/2006/main">
            <a:off x="876300" y="2857500"/>
            <a:ext cx="1219200" cy="685800"/>
          </a:xfrm>
          <a:prstGeom xmlns:a="http://schemas.openxmlformats.org/drawingml/2006/main" prst="rect">
            <a:avLst/>
          </a:prstGeom>
          <a:solidFill xmlns:a="http://schemas.openxmlformats.org/drawingml/2006/main">
            <a:srgbClr val="E7EEF4"/>
          </a:solidFill>
          <a:ln xmlns:a="http://schemas.openxmlformats.org/drawingml/2006/main" w="13335">
            <a:solidFill>
              <a:srgbClr val="6F8FAE"/>
            </a:solidFill>
            <a:prstDash val="solid"/>
          </a:ln>
        </p:spPr>
      </p:sp>
      <p:sp>
        <p:nvSpPr>
          <p:cNvPr id="7" name="Rectangle 6">
            <a:extLst xmlns:a="http://schemas.openxmlformats.org/drawingml/2006/main">
              <a:ext uri="{FF2B5EF4-FFF2-40B4-BE49-F238E27FC236}">
                <a16:creationId xmlns:a16="http://schemas.microsoft.com/office/drawing/2014/main" id="{3E40A558-39C2-4641-8C45-B6205D3A62AC}"/>
              </a:ext>
            </a:extLst>
          </p:cNvPr>
          <p:cNvSpPr>
            <a:spLocks xmlns:a="http://schemas.openxmlformats.org/drawingml/2006/main" noGrp="1"/>
          </p:cNvSpPr>
          <p:nvPr/>
        </p:nvSpPr>
        <p:spPr>
          <a:xfrm xmlns:a="http://schemas.openxmlformats.org/drawingml/2006/main">
            <a:off x="1000125" y="300990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3 or 7</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inputs</a:t>
            </a:r>
          </a:p>
        </p:txBody>
      </p:sp>
      <p:sp>
        <p:nvSpPr>
          <p:cNvPr id="8" name="Rectangle 7">
            <a:extLst xmlns:a="http://schemas.openxmlformats.org/drawingml/2006/main">
              <a:ext uri="{FF2B5EF4-FFF2-40B4-BE49-F238E27FC236}">
                <a16:creationId xmlns:a16="http://schemas.microsoft.com/office/drawing/2014/main" id="{1600DCEA-29A9-4388-8B18-84EE0EA04870}"/>
              </a:ext>
            </a:extLst>
          </p:cNvPr>
          <p:cNvSpPr>
            <a:spLocks xmlns:a="http://schemas.openxmlformats.org/drawingml/2006/main" noGrp="1"/>
          </p:cNvSpPr>
          <p:nvPr/>
        </p:nvSpPr>
        <p:spPr>
          <a:xfrm xmlns:a="http://schemas.openxmlformats.org/drawingml/2006/main">
            <a:off x="2724150" y="2857500"/>
            <a:ext cx="1428750" cy="685800"/>
          </a:xfrm>
          <a:prstGeom xmlns:a="http://schemas.openxmlformats.org/drawingml/2006/main" prst="rect">
            <a:avLst/>
          </a:prstGeom>
          <a:solidFill xmlns:a="http://schemas.openxmlformats.org/drawingml/2006/main">
            <a:srgbClr val="F3ECD6"/>
          </a:solidFill>
          <a:ln xmlns:a="http://schemas.openxmlformats.org/drawingml/2006/main" w="13335">
            <a:solidFill>
              <a:srgbClr val="B49A45"/>
            </a:solidFill>
            <a:prstDash val="solid"/>
          </a:ln>
        </p:spPr>
      </p:sp>
      <p:sp>
        <p:nvSpPr>
          <p:cNvPr id="9" name="Rectangle 8">
            <a:extLst xmlns:a="http://schemas.openxmlformats.org/drawingml/2006/main">
              <a:ext uri="{FF2B5EF4-FFF2-40B4-BE49-F238E27FC236}">
                <a16:creationId xmlns:a16="http://schemas.microsoft.com/office/drawing/2014/main" id="{87704CB8-997F-42DF-A5EB-0233641C95DB}"/>
              </a:ext>
            </a:extLst>
          </p:cNvPr>
          <p:cNvSpPr>
            <a:spLocks xmlns:a="http://schemas.openxmlformats.org/drawingml/2006/main" noGrp="1"/>
          </p:cNvSpPr>
          <p:nvPr/>
        </p:nvSpPr>
        <p:spPr>
          <a:xfrm xmlns:a="http://schemas.openxmlformats.org/drawingml/2006/main">
            <a:off x="2857500" y="300990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16 + 16</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tanh</a:t>
            </a:r>
          </a:p>
        </p:txBody>
      </p:sp>
      <p:sp>
        <p:nvSpPr>
          <p:cNvPr id="10" name="Rectangle 9">
            <a:extLst xmlns:a="http://schemas.openxmlformats.org/drawingml/2006/main">
              <a:ext uri="{FF2B5EF4-FFF2-40B4-BE49-F238E27FC236}">
                <a16:creationId xmlns:a16="http://schemas.microsoft.com/office/drawing/2014/main" id="{8734C580-2DB8-4F31-895D-5F3D2071568A}"/>
              </a:ext>
            </a:extLst>
          </p:cNvPr>
          <p:cNvSpPr>
            <a:spLocks xmlns:a="http://schemas.openxmlformats.org/drawingml/2006/main" noGrp="1"/>
          </p:cNvSpPr>
          <p:nvPr/>
        </p:nvSpPr>
        <p:spPr>
          <a:xfrm xmlns:a="http://schemas.openxmlformats.org/drawingml/2006/main">
            <a:off x="2724150" y="4362450"/>
            <a:ext cx="142875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002B5E"/>
            </a:solidFill>
            <a:prstDash val="solid"/>
          </a:ln>
        </p:spPr>
      </p:sp>
      <p:sp>
        <p:nvSpPr>
          <p:cNvPr id="11" name="Rectangle 10">
            <a:extLst xmlns:a="http://schemas.openxmlformats.org/drawingml/2006/main">
              <a:ext uri="{FF2B5EF4-FFF2-40B4-BE49-F238E27FC236}">
                <a16:creationId xmlns:a16="http://schemas.microsoft.com/office/drawing/2014/main" id="{3CD824CD-9C99-4200-B998-BC23930371B4}"/>
              </a:ext>
            </a:extLst>
          </p:cNvPr>
          <p:cNvSpPr>
            <a:spLocks xmlns:a="http://schemas.openxmlformats.org/drawingml/2006/main" noGrp="1"/>
          </p:cNvSpPr>
          <p:nvPr/>
        </p:nvSpPr>
        <p:spPr>
          <a:xfrm xmlns:a="http://schemas.openxmlformats.org/drawingml/2006/main">
            <a:off x="2857500" y="4514850"/>
            <a:ext cx="116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Bounded</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bonded hB</a:t>
            </a:r>
          </a:p>
        </p:txBody>
      </p:sp>
      <p:sp>
        <p:nvSpPr>
          <p:cNvPr id="12" name="Rectangle 11">
            <a:extLst xmlns:a="http://schemas.openxmlformats.org/drawingml/2006/main">
              <a:ext uri="{FF2B5EF4-FFF2-40B4-BE49-F238E27FC236}">
                <a16:creationId xmlns:a16="http://schemas.microsoft.com/office/drawing/2014/main" id="{4E5EB609-2D49-47D1-BC60-9ACADBD1E3B5}"/>
              </a:ext>
            </a:extLst>
          </p:cNvPr>
          <p:cNvSpPr>
            <a:spLocks xmlns:a="http://schemas.openxmlformats.org/drawingml/2006/main" noGrp="1"/>
          </p:cNvSpPr>
          <p:nvPr/>
        </p:nvSpPr>
        <p:spPr>
          <a:xfrm xmlns:a="http://schemas.openxmlformats.org/drawingml/2006/main">
            <a:off x="876300" y="4362450"/>
            <a:ext cx="1219200" cy="685800"/>
          </a:xfrm>
          <a:prstGeom xmlns:a="http://schemas.openxmlformats.org/drawingml/2006/main" prst="rect">
            <a:avLst/>
          </a:prstGeom>
          <a:solidFill xmlns:a="http://schemas.openxmlformats.org/drawingml/2006/main">
            <a:srgbClr val="FFFFFF"/>
          </a:solidFill>
          <a:ln xmlns:a="http://schemas.openxmlformats.org/drawingml/2006/main" w="13335">
            <a:solidFill>
              <a:srgbClr val="B49A45"/>
            </a:solidFill>
            <a:prstDash val="dash"/>
          </a:ln>
        </p:spPr>
      </p:sp>
      <p:sp>
        <p:nvSpPr>
          <p:cNvPr id="13" name="Rectangle 12">
            <a:extLst xmlns:a="http://schemas.openxmlformats.org/drawingml/2006/main">
              <a:ext uri="{FF2B5EF4-FFF2-40B4-BE49-F238E27FC236}">
                <a16:creationId xmlns:a16="http://schemas.microsoft.com/office/drawing/2014/main" id="{6DA9103C-6092-45CE-B330-24A2725E06E7}"/>
              </a:ext>
            </a:extLst>
          </p:cNvPr>
          <p:cNvSpPr>
            <a:spLocks xmlns:a="http://schemas.openxmlformats.org/drawingml/2006/main" noGrp="1"/>
          </p:cNvSpPr>
          <p:nvPr/>
        </p:nvSpPr>
        <p:spPr>
          <a:xfrm xmlns:a="http://schemas.openxmlformats.org/drawingml/2006/main">
            <a:off x="1000125" y="4514850"/>
            <a:ext cx="971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Derivative</a:t>
            </a:r>
          </a:p>
          <a:p xmlns:a="http://schemas.openxmlformats.org/drawingml/2006/main">
            <a:pPr algn="ctr">
              <a:lnSpc>
                <a:spcPct val="105000"/>
              </a:lnSpc>
              <a:buNone/>
              <a:defRPr sz="1350" b="1" i="0">
                <a:solidFill>
                  <a:srgbClr val="002B5E"/>
                </a:solidFill>
                <a:latin typeface="Arial"/>
                <a:ea typeface="Arial"/>
                <a:cs typeface="Arial"/>
              </a:defRPr>
            </a:pPr>
            <a:r>
              <a:rPr sz="1350" b="1" i="0">
                <a:solidFill>
                  <a:srgbClr val="002B5E"/>
                </a:solidFill>
                <a:latin typeface="Arial"/>
                <a:ea typeface="Arial"/>
                <a:cs typeface="Arial"/>
              </a:rPr>
              <a:t>penalties</a:t>
            </a:r>
          </a:p>
        </p:txBody>
      </p:sp>
      <p:cxnSp>
        <p:nvCxnSpPr>
          <p:cNvPr id="34" name="Straight Arrow Connector 33">
            <a:extLst xmlns:a="http://schemas.openxmlformats.org/drawingml/2006/main">
              <a:ext uri="{FF2B5EF4-FFF2-40B4-BE49-F238E27FC236}">
                <a16:creationId xmlns:a16="http://schemas.microsoft.com/office/drawing/2014/main" id="{C98DFC56-9622-4080-BE62-127DC97F1374}"/>
              </a:ext>
            </a:extLst>
          </p:cNvPr>
          <p:cNvCxnSpPr>
            <a:stCxn xmlns:a="http://schemas.openxmlformats.org/drawingml/2006/main" id="6" idx="3"/>
            <a:endCxn xmlns:a="http://schemas.openxmlformats.org/drawingml/2006/main" id="8" idx="1"/>
          </p:cNvCxnSpPr>
          <p:nvPr/>
        </p:nvCxnSpPr>
        <p:spPr>
          <a:xfrm xmlns:a="http://schemas.openxmlformats.org/drawingml/2006/main">
            <a:off x="2095500" y="3200400"/>
            <a:ext cx="628650" cy="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5" name="Straight Arrow Connector 34">
            <a:extLst xmlns:a="http://schemas.openxmlformats.org/drawingml/2006/main">
              <a:ext uri="{FF2B5EF4-FFF2-40B4-BE49-F238E27FC236}">
                <a16:creationId xmlns:a16="http://schemas.microsoft.com/office/drawing/2014/main" id="{494FFC30-E54E-44C7-AADF-0F4F30C75339}"/>
              </a:ext>
            </a:extLst>
          </p:cNvPr>
          <p:cNvCxnSpPr>
            <a:stCxn xmlns:a="http://schemas.openxmlformats.org/drawingml/2006/main" id="8" idx="2"/>
            <a:endCxn xmlns:a="http://schemas.openxmlformats.org/drawingml/2006/main" id="10" idx="0"/>
          </p:cNvCxnSpPr>
          <p:nvPr/>
        </p:nvCxnSpPr>
        <p:spPr>
          <a:xfrm xmlns:a="http://schemas.openxmlformats.org/drawingml/2006/main">
            <a:off x="3438525" y="3543300"/>
            <a:ext cx="0" cy="819150"/>
          </a:xfrm>
          <a:prstGeom xmlns:a="http://schemas.openxmlformats.org/drawingml/2006/main" prst="straightConnector1">
            <a:avLst/>
          </a:prstGeom>
          <a:ln xmlns:a="http://schemas.openxmlformats.org/drawingml/2006/main" w="19050">
            <a:solidFill>
              <a:srgbClr val="B49A45"/>
            </a:solidFill>
            <a:prstDash val="solid"/>
            <a:tailEnd type="triangle" w="sm" len="sm"/>
          </a:ln>
        </p:spPr>
      </p:cxnSp>
      <p:cxnSp>
        <p:nvCxnSpPr>
          <p:cNvPr id="36" name="Connector: Elbow 35">
            <a:extLst xmlns:a="http://schemas.openxmlformats.org/drawingml/2006/main">
              <a:ext uri="{FF2B5EF4-FFF2-40B4-BE49-F238E27FC236}">
                <a16:creationId xmlns:a16="http://schemas.microsoft.com/office/drawing/2014/main" id="{A319F62F-CE61-40E1-97E0-6E6141386755}"/>
              </a:ext>
            </a:extLst>
          </p:cNvPr>
          <p:cNvCxnSpPr>
            <a:stCxn xmlns:a="http://schemas.openxmlformats.org/drawingml/2006/main" id="12" idx="3"/>
            <a:endCxn xmlns:a="http://schemas.openxmlformats.org/drawingml/2006/main" id="8" idx="1"/>
          </p:cNvCxnSpPr>
          <p:nvPr/>
        </p:nvCxnSpPr>
        <p:spPr>
          <a:xfrm xmlns:a="http://schemas.openxmlformats.org/drawingml/2006/main" flipV="1">
            <a:off x="2095500" y="3200400"/>
            <a:ext cx="628650" cy="1504950"/>
          </a:xfrm>
          <a:prstGeom xmlns:a="http://schemas.openxmlformats.org/drawingml/2006/main" prst="bentConnector3">
            <a:avLst>
              <a:gd name="adj1" fmla="val 50000"/>
            </a:avLst>
          </a:prstGeom>
          <a:ln xmlns:a="http://schemas.openxmlformats.org/drawingml/2006/main" w="19050">
            <a:solidFill>
              <a:srgbClr val="B49A45"/>
            </a:solidFill>
            <a:prstDash val="dash"/>
            <a:tailEnd type="triangle" w="sm" len="sm"/>
          </a:ln>
        </p:spPr>
      </p:cxnSp>
      <p:sp>
        <p:nvSpPr>
          <p:cNvPr id="17" name="Rectangle 16">
            <a:extLst xmlns:a="http://schemas.openxmlformats.org/drawingml/2006/main">
              <a:ext uri="{FF2B5EF4-FFF2-40B4-BE49-F238E27FC236}">
                <a16:creationId xmlns:a16="http://schemas.microsoft.com/office/drawing/2014/main" id="{4708052E-8B54-4960-93F8-494E8EFA8AF3}"/>
              </a:ext>
            </a:extLst>
          </p:cNvPr>
          <p:cNvSpPr>
            <a:spLocks xmlns:a="http://schemas.openxmlformats.org/drawingml/2006/main" noGrp="1"/>
          </p:cNvSpPr>
          <p:nvPr/>
        </p:nvSpPr>
        <p:spPr>
          <a:xfrm xmlns:a="http://schemas.openxmlformats.org/drawingml/2006/main">
            <a:off x="5334000" y="23241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NETWORK DETAILS</a:t>
            </a:r>
          </a:p>
        </p:txBody>
      </p:sp>
      <p:sp>
        <p:nvSpPr>
          <p:cNvPr id="18" name="Rectangle 17">
            <a:extLst xmlns:a="http://schemas.openxmlformats.org/drawingml/2006/main">
              <a:ext uri="{FF2B5EF4-FFF2-40B4-BE49-F238E27FC236}">
                <a16:creationId xmlns:a16="http://schemas.microsoft.com/office/drawing/2014/main" id="{96D72E43-7F64-4535-9365-A9B8FAC0747F}"/>
              </a:ext>
            </a:extLst>
          </p:cNvPr>
          <p:cNvSpPr>
            <a:spLocks xmlns:a="http://schemas.openxmlformats.org/drawingml/2006/main" noGrp="1"/>
          </p:cNvSpPr>
          <p:nvPr/>
        </p:nvSpPr>
        <p:spPr>
          <a:xfrm xmlns:a="http://schemas.openxmlformats.org/drawingml/2006/main">
            <a:off x="5295900" y="2686050"/>
            <a:ext cx="3333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Two hidden layers, 16 units each</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One output logit</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353 parameters with three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417 parameters with seven inputs</a:t>
            </a:r>
          </a:p>
          <a:p xmlns:a="http://schemas.openxmlformats.org/drawingml/2006/main">
            <a:pPr marL="215900" indent="-114300" algn="l">
              <a:lnSpc>
                <a:spcPct val="103000"/>
              </a:lnSpc>
              <a:spcAft>
                <a:spcPts val="800"/>
              </a:spcAft>
              <a:buNone/>
              <a:defRPr sz="1350" b="0" i="0">
                <a:solidFill>
                  <a:srgbClr val="263645"/>
                </a:solidFill>
                <a:latin typeface="Arial"/>
                <a:ea typeface="Arial"/>
                <a:cs typeface="Arial"/>
              </a:defRPr>
            </a:pPr>
            <a:r>
              <a:rPr sz="1350" b="0" i="0">
                <a:solidFill>
                  <a:srgbClr val="263645"/>
                </a:solidFill>
                <a:latin typeface="Arial"/>
                <a:ea typeface="Arial"/>
                <a:cs typeface="Arial"/>
              </a:rPr>
              <a:t>Tanh supports second derivatives</a:t>
            </a:r>
          </a:p>
        </p:txBody>
      </p:sp>
      <p:sp>
        <p:nvSpPr>
          <p:cNvPr id="19" name="Rectangle 18">
            <a:extLst xmlns:a="http://schemas.openxmlformats.org/drawingml/2006/main">
              <a:ext uri="{FF2B5EF4-FFF2-40B4-BE49-F238E27FC236}">
                <a16:creationId xmlns:a16="http://schemas.microsoft.com/office/drawing/2014/main" id="{8E844AF4-0B56-4FDD-B1FD-5D723EC590B8}"/>
              </a:ext>
            </a:extLst>
          </p:cNvPr>
          <p:cNvSpPr>
            <a:spLocks xmlns:a="http://schemas.openxmlformats.org/drawingml/2006/main" noGrp="1"/>
          </p:cNvSpPr>
          <p:nvPr/>
        </p:nvSpPr>
        <p:spPr>
          <a:xfrm xmlns:a="http://schemas.openxmlformats.org/drawingml/2006/main">
            <a:off x="5334000" y="52197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002B5E"/>
                </a:solidFill>
                <a:latin typeface="Arial"/>
                <a:ea typeface="Arial"/>
                <a:cs typeface="Arial"/>
              </a:defRPr>
            </a:pPr>
            <a:r>
              <a:rPr sz="1125" b="1" i="0">
                <a:solidFill>
                  <a:srgbClr val="002B5E"/>
                </a:solidFill>
                <a:latin typeface="Arial"/>
                <a:ea typeface="Arial"/>
                <a:cs typeface="Arial"/>
              </a:rPr>
              <a:t>PHYSICAL OUTPUT</a:t>
            </a:r>
          </a:p>
        </p:txBody>
      </p:sp>
      <p:sp>
        <p:nvSpPr>
          <p:cNvPr id="20" name="Rectangle 19">
            <a:extLst xmlns:a="http://schemas.openxmlformats.org/drawingml/2006/main">
              <a:ext uri="{FF2B5EF4-FFF2-40B4-BE49-F238E27FC236}">
                <a16:creationId xmlns:a16="http://schemas.microsoft.com/office/drawing/2014/main" id="{951FF5F5-8727-4E13-902F-1923331131FD}"/>
              </a:ext>
            </a:extLst>
          </p:cNvPr>
          <p:cNvSpPr>
            <a:spLocks xmlns:a="http://schemas.openxmlformats.org/drawingml/2006/main" noGrp="1"/>
          </p:cNvSpPr>
          <p:nvPr/>
        </p:nvSpPr>
        <p:spPr>
          <a:xfrm xmlns:a="http://schemas.openxmlformats.org/drawingml/2006/main">
            <a:off x="5314950" y="552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350" b="0" i="0">
                <a:solidFill>
                  <a:srgbClr val="263645"/>
                </a:solidFill>
                <a:latin typeface="Arial"/>
                <a:ea typeface="Arial"/>
                <a:cs typeface="Arial"/>
              </a:defRPr>
            </a:pPr>
            <a:r>
              <a:rPr sz="1350" b="0" i="0">
                <a:solidFill>
                  <a:srgbClr val="263645"/>
                </a:solidFill>
                <a:latin typeface="Arial"/>
                <a:ea typeface="Arial"/>
                <a:cs typeface="Arial"/>
              </a:rPr>
              <a:t/>
            </a:r>
          </a:p>
        </p:txBody>
      </p:sp>
      <p:pic>
        <p:nvPicPr>
          <p:cNvPr id="37" name="">
            <a:extLst xmlns:a="http://schemas.openxmlformats.org/drawingml/2006/main">
              <a:ext uri="{FF2B5EF4-FFF2-40B4-BE49-F238E27FC236}">
                <a16:creationId xmlns:a16="http://schemas.microsoft.com/office/drawing/2014/main" id="{1BBA0155-1854-45F8-8790-461A4593463C}"/>
              </a:ext>
            </a:extLst>
          </p:cNvPr>
          <p:cNvPicPr>
            <a:picLocks xmlns:a="http://schemas.openxmlformats.org/drawingml/2006/main" noChangeAspect="1"/>
          </p:cNvPicPr>
          <p:nvPr/>
        </p:nvPicPr>
        <p:blipFill>
          <a:blip xmlns:r="http://schemas.openxmlformats.org/officeDocument/2006/relationships" xmlns:a="http://schemas.openxmlformats.org/drawingml/2006/main" r:embed="Rb3fbb8a05b0a4f6f"/>
          <a:stretch xmlns:a="http://schemas.openxmlformats.org/drawingml/2006/main"/>
        </p:blipFill>
        <p:spPr>
          <a:xfrm xmlns:a="http://schemas.openxmlformats.org/drawingml/2006/main">
            <a:off x="3369469" y="1685925"/>
            <a:ext cx="2366963" cy="466725"/>
          </a:xfrm>
          <a:prstGeom xmlns:a="http://schemas.openxmlformats.org/drawingml/2006/main" prst="rect">
            <a:avLst/>
          </a:prstGeom>
        </p:spPr>
      </p:pic>
      <p:pic>
        <p:nvPicPr>
          <p:cNvPr id="38" name="">
            <a:extLst xmlns:a="http://schemas.openxmlformats.org/drawingml/2006/main">
              <a:ext uri="{FF2B5EF4-FFF2-40B4-BE49-F238E27FC236}">
                <a16:creationId xmlns:a16="http://schemas.microsoft.com/office/drawing/2014/main" id="{864B62F7-24B6-4BC2-9A6E-9DBBCC4AC3E4}"/>
              </a:ext>
            </a:extLst>
          </p:cNvPr>
          <p:cNvPicPr>
            <a:picLocks xmlns:a="http://schemas.openxmlformats.org/drawingml/2006/main" noChangeAspect="1"/>
          </p:cNvPicPr>
          <p:nvPr/>
        </p:nvPicPr>
        <p:blipFill>
          <a:blip xmlns:r="http://schemas.openxmlformats.org/officeDocument/2006/relationships" xmlns:a="http://schemas.openxmlformats.org/drawingml/2006/main" r:embed="R04af5d6cef9844a2"/>
          <a:stretch xmlns:a="http://schemas.openxmlformats.org/drawingml/2006/main"/>
        </p:blipFill>
        <p:spPr>
          <a:xfrm xmlns:a="http://schemas.openxmlformats.org/drawingml/2006/main">
            <a:off x="6074229" y="5467350"/>
            <a:ext cx="1396093" cy="361950"/>
          </a:xfrm>
          <a:prstGeom xmlns:a="http://schemas.openxmlformats.org/drawingml/2006/main" prst="rect">
            <a:avLst/>
          </a:prstGeom>
        </p:spPr>
      </p:pic>
      <p:sp>
        <p:nvSpPr>
          <p:cNvPr id="39" name="content-20">
            <a:extLst xmlns:a="http://schemas.openxmlformats.org/drawingml/2006/main">
              <a:ext uri="{FF2B5EF4-FFF2-40B4-BE49-F238E27FC236}">
                <a16:creationId xmlns:a16="http://schemas.microsoft.com/office/drawing/2014/main" id="{D3167A9D-8967-4B89-A081-4C434FB18767}"/>
              </a:ext>
            </a:extLst>
          </p:cNvPr>
          <p:cNvSpPr>
            <a:spLocks xmlns:a="http://schemas.openxmlformats.org/drawingml/2006/main" noGrp="1"/>
          </p:cNvSpPr>
          <p:nvPr/>
        </p:nvSpPr>
        <p:spPr>
          <a:xfrm xmlns:a="http://schemas.openxmlformats.org/drawingml/2006/main">
            <a:off x="5324475" y="5857875"/>
            <a:ext cx="314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Raw measured total thickness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defines the output bound</a:t>
            </a:r>
          </a:p>
        </p:txBody>
      </p:sp>
    </p:spTree>
    <p:extLst>
      <p:ext uri="{BB962C8B-B14F-4D97-AF65-F5344CB8AC3E}">
        <p14:creationId xmlns:p14="http://schemas.microsoft.com/office/powerpoint/2010/main" val="138280187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Loss terms and initial coefficients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F2508436-22CD-4F87-9589-739E1FE02346}"/>
              </a:ext>
            </a:extLst>
          </p:cNvPr>
          <p:cNvPicPr>
            <a:picLocks xmlns:a="http://schemas.openxmlformats.org/drawingml/2006/main" noChangeAspect="1"/>
          </p:cNvPicPr>
          <p:nvPr/>
        </p:nvPicPr>
        <p:blipFill>
          <a:blip xmlns:r="http://schemas.openxmlformats.org/officeDocument/2006/relationships" xmlns:a="http://schemas.openxmlformats.org/drawingml/2006/main" r:embed="R9ce5393e136c4c53"/>
          <a:stretch xmlns:a="http://schemas.openxmlformats.org/drawingml/2006/main"/>
        </p:blipFill>
        <p:spPr>
          <a:xfrm xmlns:a="http://schemas.openxmlformats.org/drawingml/2006/main">
            <a:off x="704850" y="1734404"/>
            <a:ext cx="7734300" cy="369767"/>
          </a:xfrm>
          <a:prstGeom xmlns:a="http://schemas.openxmlformats.org/drawingml/2006/main" prst="rect">
            <a:avLst/>
          </a:prstGeom>
        </p:spPr>
      </p:pic>
      <p:graphicFrame>
        <p:nvGraphicFramePr>
          <p:cNvPr id="14" name="">
            <a:extLst xmlns:a="http://schemas.openxmlformats.org/drawingml/2006/main">
              <a:ext uri="{FF2B5EF4-FFF2-40B4-BE49-F238E27FC236}">
                <a16:creationId xmlns:a16="http://schemas.microsoft.com/office/drawing/2014/main" id="{6469AFD3-BF6C-43BF-AD59-22E2EE33CD6F}"/>
              </a:ext>
            </a:extLst>
          </p:cNvPr>
          <p:cNvGraphicFramePr/>
          <p:nvPr/>
        </p:nvGraphicFramePr>
        <p:xfrm>
          <a:off xmlns:a="http://schemas.openxmlformats.org/drawingml/2006/main" x="571500" y="2324100"/>
          <a:ext xmlns:a="http://schemas.openxmlformats.org/drawingml/2006/main" cx="8001000" cy="3133725"/>
        </p:xfrm>
        <a:graphic xmlns:a="http://schemas.openxmlformats.org/drawingml/2006/main">
          <a:graphicData uri="http://schemas.openxmlformats.org/drawingml/2006/table">
            <a:tbl>
              <a:tblPr/>
              <a:tblGrid>
                <a:gridCol w="1476375"/>
                <a:gridCol w="4810125"/>
                <a:gridCol w="1714500"/>
              </a:tblGrid>
              <a:tr h="522288">
                <a:tc>
                  <a:txBody>
                    <a:bodyPr>
                      <a:noAutofit/>
                    </a:bodyPr>
                    <a:lstStyle/>
                    <a:p>
                      <a:pPr algn="l"/>
                      <a:r>
                        <a:rPr sz="1275" b="1">
                          <a:solidFill>
                            <a:srgbClr val="FFFFFF"/>
                          </a:solidFill>
                          <a:latin typeface="Arial"/>
                          <a:ea typeface="Arial"/>
                          <a:cs typeface="Arial"/>
                        </a:rPr>
                        <a:t>Term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Definition or behavior</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coefficient</a:t>
                      </a:r>
                    </a:p>
                  </a:txBody>
                  <a:tcPr marL="85725" marR="85725" marT="76200" marB="76200" anchor="ctr">
                    <a:solidFill>
                      <a:srgbClr val="002B5E"/>
                    </a:solidFill>
                  </a:tcPr>
                </a:tc>
              </a:tr>
              <a:tr h="522288">
                <a:tc>
                  <a:txBody>
                    <a:bodyPr>
                      <a:noAutofit/>
                    </a:bodyPr>
                    <a:lstStyle/>
                    <a:p>
                      <a:pPr algn="l"/>
                      <a:r>
                        <a:rPr sz="1275" b="1">
                          <a:solidFill>
                            <a:srgbClr val="263645"/>
                          </a:solidFill>
                          <a:latin typeface="Arial"/>
                          <a:ea typeface="Arial"/>
                          <a:cs typeface="Arial"/>
                        </a:rPr>
                        <a:t>Data</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Mean squared error in bonded thickness</a:t>
                      </a:r>
                    </a:p>
                    <a:p>
                      <a:pPr algn="ctr"/>
                      <a:r>
                        <a:rPr sz="1275" b="0">
                          <a:solidFill>
                            <a:srgbClr val="263645"/>
                          </a:solidFill>
                          <a:latin typeface="Arial"/>
                          <a:ea typeface="Arial"/>
                          <a:cs typeface="Arial"/>
                        </a:rPr>
                        <a:t>Normalize by training target standard deviation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Mean squared diagonal second derivative</a:t>
                      </a:r>
                    </a:p>
                    <a:p>
                      <a:pPr algn="ctr"/>
                      <a:r>
                        <a:rPr sz="1275" b="0">
                          <a:solidFill>
                            <a:srgbClr val="263645"/>
                          </a:solidFill>
                          <a:latin typeface="Arial"/>
                          <a:ea typeface="Arial"/>
                          <a:cs typeface="Arial"/>
                        </a:rPr>
                        <a:t>With respect to standardized transformed inputs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Monotonicity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Penalize partial derivatives with the wrong sign</a:t>
                      </a:r>
                    </a:p>
                    <a:p>
                      <a:pPr algn="ctr"/>
                      <a:r>
                        <a:rPr sz="1275" b="0">
                          <a:solidFill>
                            <a:srgbClr val="263645"/>
                          </a:solidFill>
                          <a:latin typeface="Arial"/>
                          <a:ea typeface="Arial"/>
                          <a:cs typeface="Arial"/>
                        </a:rPr>
                        <a:t>Separate positive-concentration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default</a:t>
                      </a:r>
                    </a:p>
                    <a:p>
                      <a:pPr algn="ctr"/>
                      <a:r>
                        <a:rPr sz="1275" b="0">
                          <a:solidFill>
                            <a:srgbClr val="263645"/>
                          </a:solidFill>
                          <a:latin typeface="Arial"/>
                          <a:ea typeface="Arial"/>
                          <a:cs typeface="Arial"/>
                        </a:rPr>
                        <a:t>0.01 ablation</a:t>
                      </a:r>
                    </a:p>
                  </a:txBody>
                  <a:tcPr marL="85725" marR="85725" marT="76200" marB="76200" anchor="ctr">
                    <a:solidFill>
                      <a:srgbClr val="FFFFFF"/>
                    </a:solidFill>
                  </a:tcPr>
                </a:tc>
              </a:tr>
              <a:tr h="522288">
                <a:tc>
                  <a:txBody>
                    <a:bodyPr>
                      <a:noAutofit/>
                    </a:bodyPr>
                    <a:lstStyle/>
                    <a:p>
                      <a:pPr algn="l"/>
                      <a:r>
                        <a:rPr sz="1275" b="1">
                          <a:solidFill>
                            <a:srgbClr val="263645"/>
                          </a:solidFill>
                          <a:latin typeface="Arial"/>
                          <a:ea typeface="Arial"/>
                          <a:cs typeface="Arial"/>
                        </a:rPr>
                        <a:t>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Second derivative with respect to</a:t>
                      </a:r>
                    </a:p>
                    <a:p>
                      <a:pPr algn="ctr"/>
                      <a:r>
                        <a:rPr sz="1275" b="0">
                          <a:solidFill>
                            <a:srgbClr val="263645"/>
                          </a:solidFill>
                          <a:latin typeface="Arial"/>
                          <a:ea typeface="Arial"/>
                          <a:cs typeface="Arial"/>
                        </a:rPr>
                        <a:t>measured withdrawal velocity input</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7F5EF"/>
                    </a:solidFill>
                  </a:tcPr>
                </a:tc>
              </a:tr>
              <a:tr h="522288">
                <a:tc>
                  <a:txBody>
                    <a:bodyPr>
                      <a:noAutofit/>
                    </a:bodyPr>
                    <a:lstStyle/>
                    <a:p>
                      <a:pPr algn="l"/>
                      <a:r>
                        <a:rPr sz="1275" b="1">
                          <a:solidFill>
                            <a:srgbClr val="263645"/>
                          </a:solidFill>
                          <a:latin typeface="Arial"/>
                          <a:ea typeface="Arial"/>
                          <a:cs typeface="Arial"/>
                        </a:rPr>
                        <a:t>LLD residual</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Compare predicted dry mobile thickness</a:t>
                      </a:r>
                    </a:p>
                    <a:p>
                      <a:pPr algn="ctr"/>
                      <a:r>
                        <a:rPr sz="1275" b="0">
                          <a:solidFill>
                            <a:srgbClr val="263645"/>
                          </a:solidFill>
                          <a:latin typeface="Arial"/>
                          <a:ea typeface="Arial"/>
                          <a:cs typeface="Arial"/>
                        </a:rPr>
                        <a:t>with the eligible hydrodynamic estimate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 in current runs</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9ABB56E1-55D2-474E-AD0E-13893A6BBA3A}"/>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hard thickness bound comes from the output transform, not a penalty weight</a:t>
            </a:r>
          </a:p>
        </p:txBody>
      </p:sp>
    </p:spTree>
    <p:extLst>
      <p:ext uri="{BB962C8B-B14F-4D97-AF65-F5344CB8AC3E}">
        <p14:creationId xmlns:p14="http://schemas.microsoft.com/office/powerpoint/2010/main" val="13828018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Mathematical definitions of the loss terms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F1D6F044-4B27-4E7D-8484-B45B73584286}"/>
              </a:ext>
            </a:extLst>
          </p:cNvPr>
          <p:cNvSpPr>
            <a:spLocks xmlns:a="http://schemas.openxmlformats.org/drawingml/2006/main" noGrp="1"/>
          </p:cNvSpPr>
          <p:nvPr/>
        </p:nvSpPr>
        <p:spPr>
          <a:xfrm xmlns:a="http://schemas.openxmlformats.org/drawingml/2006/main">
            <a:off x="714375" y="1609725"/>
            <a:ext cx="7762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63645"/>
                </a:solidFill>
                <a:latin typeface="Arial"/>
                <a:ea typeface="Arial"/>
                <a:cs typeface="Arial"/>
              </a:defRPr>
            </a:defPPr>
          </a:lstStyle>
          <a:p xmlns:a="http://schemas.openxmlformats.org/drawingml/2006/main">
            <a:pPr algn="l">
              <a:defRPr sz="1575" b="0">
                <a:solidFill>
                  <a:srgbClr val="263645"/>
                </a:solidFill>
                <a:latin typeface="Arial"/>
                <a:ea typeface="Arial"/>
                <a:cs typeface="Arial"/>
              </a:defRPr>
            </a:pPr>
            <a:r>
              <a:rPr sz="1575" b="0">
                <a:solidFill>
                  <a:srgbClr val="263645"/>
                </a:solidFill>
                <a:latin typeface="Arial"/>
                <a:ea typeface="Arial"/>
                <a:cs typeface="Arial"/>
              </a:rPr>
              <a:t>Each loss scores a different kind of error. The coefficients set how strongly training responds to each score.</a:t>
            </a:r>
          </a:p>
        </p:txBody>
      </p:sp>
      <p:sp>
        <p:nvSpPr>
          <p:cNvPr id="14" name="content-5">
            <a:extLst xmlns:a="http://schemas.openxmlformats.org/drawingml/2006/main">
              <a:ext uri="{FF2B5EF4-FFF2-40B4-BE49-F238E27FC236}">
                <a16:creationId xmlns:a16="http://schemas.microsoft.com/office/drawing/2014/main" id="{326D9BA3-A858-4B45-A529-905AA95E17C0}"/>
              </a:ext>
            </a:extLst>
          </p:cNvPr>
          <p:cNvSpPr>
            <a:spLocks xmlns:a="http://schemas.openxmlformats.org/drawingml/2006/main" noGrp="1"/>
          </p:cNvSpPr>
          <p:nvPr/>
        </p:nvSpPr>
        <p:spPr>
          <a:xfrm xmlns:a="http://schemas.openxmlformats.org/drawingml/2006/main">
            <a:off x="714375" y="22764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DATA FIT</a:t>
            </a:r>
          </a:p>
        </p:txBody>
      </p:sp>
      <p:pic>
        <p:nvPicPr>
          <p:cNvPr id="15" name="">
            <a:extLst xmlns:a="http://schemas.openxmlformats.org/drawingml/2006/main">
              <a:ext uri="{FF2B5EF4-FFF2-40B4-BE49-F238E27FC236}">
                <a16:creationId xmlns:a16="http://schemas.microsoft.com/office/drawing/2014/main" id="{8A570546-CCAC-4EC1-98CE-55AE4A26EFA5}"/>
              </a:ext>
            </a:extLst>
          </p:cNvPr>
          <p:cNvPicPr>
            <a:picLocks xmlns:a="http://schemas.openxmlformats.org/drawingml/2006/main" noChangeAspect="1"/>
          </p:cNvPicPr>
          <p:nvPr/>
        </p:nvPicPr>
        <p:blipFill>
          <a:blip xmlns:r="http://schemas.openxmlformats.org/officeDocument/2006/relationships" xmlns:a="http://schemas.openxmlformats.org/drawingml/2006/main" r:embed="R7c3a7ba074844486"/>
          <a:stretch xmlns:a="http://schemas.openxmlformats.org/drawingml/2006/main"/>
        </p:blipFill>
        <p:spPr>
          <a:xfrm xmlns:a="http://schemas.openxmlformats.org/drawingml/2006/main">
            <a:off x="4578777" y="2200275"/>
            <a:ext cx="2234345" cy="542925"/>
          </a:xfrm>
          <a:prstGeom xmlns:a="http://schemas.openxmlformats.org/drawingml/2006/main" prst="rect">
            <a:avLst/>
          </a:prstGeom>
        </p:spPr>
      </p:pic>
      <p:sp>
        <p:nvSpPr>
          <p:cNvPr id="16" name="content-6">
            <a:extLst xmlns:a="http://schemas.openxmlformats.org/drawingml/2006/main">
              <a:ext uri="{FF2B5EF4-FFF2-40B4-BE49-F238E27FC236}">
                <a16:creationId xmlns:a16="http://schemas.microsoft.com/office/drawing/2014/main" id="{EB5577BE-71DE-4925-80AE-AA06C9AAD2C2}"/>
              </a:ext>
            </a:extLst>
          </p:cNvPr>
          <p:cNvSpPr>
            <a:spLocks xmlns:a="http://schemas.openxmlformats.org/drawingml/2006/main" noGrp="1"/>
          </p:cNvSpPr>
          <p:nvPr/>
        </p:nvSpPr>
        <p:spPr>
          <a:xfrm xmlns:a="http://schemas.openxmlformats.org/drawingml/2006/main">
            <a:off x="3057525" y="276225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Prediction error relative to measured bonded thickness</a:t>
            </a:r>
          </a:p>
        </p:txBody>
      </p:sp>
      <p:sp>
        <p:nvSpPr>
          <p:cNvPr id="17" name="content-7">
            <a:extLst xmlns:a="http://schemas.openxmlformats.org/drawingml/2006/main">
              <a:ext uri="{FF2B5EF4-FFF2-40B4-BE49-F238E27FC236}">
                <a16:creationId xmlns:a16="http://schemas.microsoft.com/office/drawing/2014/main" id="{CB1A4CBC-7C75-4E41-9033-A7F6D122266B}"/>
              </a:ext>
            </a:extLst>
          </p:cNvPr>
          <p:cNvSpPr>
            <a:spLocks xmlns:a="http://schemas.openxmlformats.org/drawingml/2006/main" noGrp="1"/>
          </p:cNvSpPr>
          <p:nvPr/>
        </p:nvSpPr>
        <p:spPr>
          <a:xfrm xmlns:a="http://schemas.openxmlformats.org/drawingml/2006/main">
            <a:off x="714375" y="306705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INPUT SMOOTHNESS</a:t>
            </a:r>
          </a:p>
        </p:txBody>
      </p:sp>
      <p:pic>
        <p:nvPicPr>
          <p:cNvPr id="18" name="">
            <a:extLst xmlns:a="http://schemas.openxmlformats.org/drawingml/2006/main">
              <a:ext uri="{FF2B5EF4-FFF2-40B4-BE49-F238E27FC236}">
                <a16:creationId xmlns:a16="http://schemas.microsoft.com/office/drawing/2014/main" id="{F1A98767-3BE6-4B2C-849E-0F663488C776}"/>
              </a:ext>
            </a:extLst>
          </p:cNvPr>
          <p:cNvPicPr>
            <a:picLocks xmlns:a="http://schemas.openxmlformats.org/drawingml/2006/main" noChangeAspect="1"/>
          </p:cNvPicPr>
          <p:nvPr/>
        </p:nvPicPr>
        <p:blipFill>
          <a:blip xmlns:r="http://schemas.openxmlformats.org/officeDocument/2006/relationships" xmlns:a="http://schemas.openxmlformats.org/drawingml/2006/main" r:embed="Rdb9d50ec53d24a1c"/>
          <a:stretch xmlns:a="http://schemas.openxmlformats.org/drawingml/2006/main"/>
        </p:blipFill>
        <p:spPr>
          <a:xfrm xmlns:a="http://schemas.openxmlformats.org/drawingml/2006/main">
            <a:off x="4610100" y="2990850"/>
            <a:ext cx="2171700" cy="542925"/>
          </a:xfrm>
          <a:prstGeom xmlns:a="http://schemas.openxmlformats.org/drawingml/2006/main" prst="rect">
            <a:avLst/>
          </a:prstGeom>
        </p:spPr>
      </p:pic>
      <p:sp>
        <p:nvSpPr>
          <p:cNvPr id="19" name="content-8">
            <a:extLst xmlns:a="http://schemas.openxmlformats.org/drawingml/2006/main">
              <a:ext uri="{FF2B5EF4-FFF2-40B4-BE49-F238E27FC236}">
                <a16:creationId xmlns:a16="http://schemas.microsoft.com/office/drawing/2014/main" id="{ABE241BB-9DEC-40CA-AE45-E48366D1E16A}"/>
              </a:ext>
            </a:extLst>
          </p:cNvPr>
          <p:cNvSpPr>
            <a:spLocks xmlns:a="http://schemas.openxmlformats.org/drawingml/2006/main" noGrp="1"/>
          </p:cNvSpPr>
          <p:nvPr/>
        </p:nvSpPr>
        <p:spPr>
          <a:xfrm xmlns:a="http://schemas.openxmlformats.org/drawingml/2006/main">
            <a:off x="3057525" y="355282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each recorded input</a:t>
            </a:r>
          </a:p>
        </p:txBody>
      </p:sp>
      <p:sp>
        <p:nvSpPr>
          <p:cNvPr id="20" name="content-9">
            <a:extLst xmlns:a="http://schemas.openxmlformats.org/drawingml/2006/main">
              <a:ext uri="{FF2B5EF4-FFF2-40B4-BE49-F238E27FC236}">
                <a16:creationId xmlns:a16="http://schemas.microsoft.com/office/drawing/2014/main" id="{EB7EB59E-3006-4203-B9E1-57637BFA1311}"/>
              </a:ext>
            </a:extLst>
          </p:cNvPr>
          <p:cNvSpPr>
            <a:spLocks xmlns:a="http://schemas.openxmlformats.org/drawingml/2006/main" noGrp="1"/>
          </p:cNvSpPr>
          <p:nvPr/>
        </p:nvSpPr>
        <p:spPr>
          <a:xfrm xmlns:a="http://schemas.openxmlformats.org/drawingml/2006/main">
            <a:off x="714375" y="385762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MONOTONICITY</a:t>
            </a:r>
          </a:p>
        </p:txBody>
      </p:sp>
      <p:pic>
        <p:nvPicPr>
          <p:cNvPr id="21" name="">
            <a:extLst xmlns:a="http://schemas.openxmlformats.org/drawingml/2006/main">
              <a:ext uri="{FF2B5EF4-FFF2-40B4-BE49-F238E27FC236}">
                <a16:creationId xmlns:a16="http://schemas.microsoft.com/office/drawing/2014/main" id="{FEEC35DB-4695-46BA-96E7-C5D287859846}"/>
              </a:ext>
            </a:extLst>
          </p:cNvPr>
          <p:cNvPicPr>
            <a:picLocks xmlns:a="http://schemas.openxmlformats.org/drawingml/2006/main" noChangeAspect="1"/>
          </p:cNvPicPr>
          <p:nvPr/>
        </p:nvPicPr>
        <p:blipFill>
          <a:blip xmlns:r="http://schemas.openxmlformats.org/officeDocument/2006/relationships" xmlns:a="http://schemas.openxmlformats.org/drawingml/2006/main" r:embed="Rc5b6f96bc0fa49f8"/>
          <a:stretch xmlns:a="http://schemas.openxmlformats.org/drawingml/2006/main"/>
        </p:blipFill>
        <p:spPr>
          <a:xfrm xmlns:a="http://schemas.openxmlformats.org/drawingml/2006/main">
            <a:off x="4135041" y="3781425"/>
            <a:ext cx="3121819" cy="542925"/>
          </a:xfrm>
          <a:prstGeom xmlns:a="http://schemas.openxmlformats.org/drawingml/2006/main" prst="rect">
            <a:avLst/>
          </a:prstGeom>
        </p:spPr>
      </p:pic>
      <p:sp>
        <p:nvSpPr>
          <p:cNvPr id="22" name="content-10">
            <a:extLst xmlns:a="http://schemas.openxmlformats.org/drawingml/2006/main">
              <a:ext uri="{FF2B5EF4-FFF2-40B4-BE49-F238E27FC236}">
                <a16:creationId xmlns:a16="http://schemas.microsoft.com/office/drawing/2014/main" id="{57265CED-927F-4B1A-84F2-A2FF3CBFB828}"/>
              </a:ext>
            </a:extLst>
          </p:cNvPr>
          <p:cNvSpPr>
            <a:spLocks xmlns:a="http://schemas.openxmlformats.org/drawingml/2006/main" noGrp="1"/>
          </p:cNvSpPr>
          <p:nvPr/>
        </p:nvSpPr>
        <p:spPr>
          <a:xfrm xmlns:a="http://schemas.openxmlformats.org/drawingml/2006/main">
            <a:off x="3057525" y="4343400"/>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slopes that oppose the selected sign</a:t>
            </a:r>
          </a:p>
        </p:txBody>
      </p:sp>
      <p:sp>
        <p:nvSpPr>
          <p:cNvPr id="23" name="content-11">
            <a:extLst xmlns:a="http://schemas.openxmlformats.org/drawingml/2006/main">
              <a:ext uri="{FF2B5EF4-FFF2-40B4-BE49-F238E27FC236}">
                <a16:creationId xmlns:a16="http://schemas.microsoft.com/office/drawing/2014/main" id="{68483FEE-20E5-4C34-8165-CD72FF6005F1}"/>
              </a:ext>
            </a:extLst>
          </p:cNvPr>
          <p:cNvSpPr>
            <a:spLocks xmlns:a="http://schemas.openxmlformats.org/drawingml/2006/main" noGrp="1"/>
          </p:cNvSpPr>
          <p:nvPr/>
        </p:nvSpPr>
        <p:spPr>
          <a:xfrm xmlns:a="http://schemas.openxmlformats.org/drawingml/2006/main">
            <a:off x="714375" y="4648200"/>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VELOCITY SMOOTHNESS</a:t>
            </a:r>
          </a:p>
        </p:txBody>
      </p:sp>
      <p:pic>
        <p:nvPicPr>
          <p:cNvPr id="24" name="">
            <a:extLst xmlns:a="http://schemas.openxmlformats.org/drawingml/2006/main">
              <a:ext uri="{FF2B5EF4-FFF2-40B4-BE49-F238E27FC236}">
                <a16:creationId xmlns:a16="http://schemas.microsoft.com/office/drawing/2014/main" id="{EF875450-C9BC-4CC5-A652-CFE21483F5D6}"/>
              </a:ext>
            </a:extLst>
          </p:cNvPr>
          <p:cNvPicPr>
            <a:picLocks xmlns:a="http://schemas.openxmlformats.org/drawingml/2006/main" noChangeAspect="1"/>
          </p:cNvPicPr>
          <p:nvPr/>
        </p:nvPicPr>
        <p:blipFill>
          <a:blip xmlns:r="http://schemas.openxmlformats.org/officeDocument/2006/relationships" xmlns:a="http://schemas.openxmlformats.org/drawingml/2006/main" r:embed="R66ab88f68cbb4a9a"/>
          <a:stretch xmlns:a="http://schemas.openxmlformats.org/drawingml/2006/main"/>
        </p:blipFill>
        <p:spPr>
          <a:xfrm xmlns:a="http://schemas.openxmlformats.org/drawingml/2006/main">
            <a:off x="4630982" y="4572000"/>
            <a:ext cx="2129937" cy="542925"/>
          </a:xfrm>
          <a:prstGeom xmlns:a="http://schemas.openxmlformats.org/drawingml/2006/main" prst="rect">
            <a:avLst/>
          </a:prstGeom>
        </p:spPr>
      </p:pic>
      <p:sp>
        <p:nvSpPr>
          <p:cNvPr id="25" name="content-12">
            <a:extLst xmlns:a="http://schemas.openxmlformats.org/drawingml/2006/main">
              <a:ext uri="{FF2B5EF4-FFF2-40B4-BE49-F238E27FC236}">
                <a16:creationId xmlns:a16="http://schemas.microsoft.com/office/drawing/2014/main" id="{573B2B11-12CE-4CE1-9BD3-54D413B5F7B6}"/>
              </a:ext>
            </a:extLst>
          </p:cNvPr>
          <p:cNvSpPr>
            <a:spLocks xmlns:a="http://schemas.openxmlformats.org/drawingml/2006/main" noGrp="1"/>
          </p:cNvSpPr>
          <p:nvPr/>
        </p:nvSpPr>
        <p:spPr>
          <a:xfrm xmlns:a="http://schemas.openxmlformats.org/drawingml/2006/main">
            <a:off x="3057525" y="51339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5717B"/>
                </a:solidFill>
                <a:latin typeface="Arial"/>
                <a:ea typeface="Arial"/>
                <a:cs typeface="Arial"/>
              </a:defRPr>
            </a:defPPr>
          </a:lstStyle>
          <a:p xmlns:a="http://schemas.openxmlformats.org/drawingml/2006/main">
            <a:pPr algn="l">
              <a:defRPr sz="1125" b="0">
                <a:solidFill>
                  <a:srgbClr val="65717B"/>
                </a:solidFill>
                <a:latin typeface="Arial"/>
                <a:ea typeface="Arial"/>
                <a:cs typeface="Arial"/>
              </a:defRPr>
            </a:pPr>
            <a:r>
              <a:rPr sz="1125" b="0">
                <a:solidFill>
                  <a:srgbClr val="65717B"/>
                </a:solidFill>
                <a:latin typeface="Arial"/>
                <a:ea typeface="Arial"/>
                <a:cs typeface="Arial"/>
              </a:rPr>
              <a:t>Penalizes curvature in the standardized velocity input</a:t>
            </a:r>
          </a:p>
        </p:txBody>
      </p:sp>
      <p:pic>
        <p:nvPicPr>
          <p:cNvPr id="26" name="">
            <a:extLst xmlns:a="http://schemas.openxmlformats.org/drawingml/2006/main">
              <a:ext uri="{FF2B5EF4-FFF2-40B4-BE49-F238E27FC236}">
                <a16:creationId xmlns:a16="http://schemas.microsoft.com/office/drawing/2014/main" id="{807AA433-06CB-4402-B5F1-EF7F6EFE4868}"/>
              </a:ext>
            </a:extLst>
          </p:cNvPr>
          <p:cNvPicPr>
            <a:picLocks xmlns:a="http://schemas.openxmlformats.org/drawingml/2006/main" noChangeAspect="1"/>
          </p:cNvPicPr>
          <p:nvPr/>
        </p:nvPicPr>
        <p:blipFill>
          <a:blip xmlns:r="http://schemas.openxmlformats.org/officeDocument/2006/relationships" xmlns:a="http://schemas.openxmlformats.org/drawingml/2006/main" r:embed="R53f706ec3ebf40d6"/>
          <a:stretch xmlns:a="http://schemas.openxmlformats.org/drawingml/2006/main"/>
        </p:blipFill>
        <p:spPr>
          <a:xfrm xmlns:a="http://schemas.openxmlformats.org/drawingml/2006/main">
            <a:off x="1183607" y="5629275"/>
            <a:ext cx="547437" cy="371475"/>
          </a:xfrm>
          <a:prstGeom xmlns:a="http://schemas.openxmlformats.org/drawingml/2006/main" prst="rect">
            <a:avLst/>
          </a:prstGeom>
        </p:spPr>
      </p:pic>
      <p:sp>
        <p:nvSpPr>
          <p:cNvPr id="27" name="content-13">
            <a:extLst xmlns:a="http://schemas.openxmlformats.org/drawingml/2006/main">
              <a:ext uri="{FF2B5EF4-FFF2-40B4-BE49-F238E27FC236}">
                <a16:creationId xmlns:a16="http://schemas.microsoft.com/office/drawing/2014/main" id="{480C9BAB-9B5A-4B85-9604-37B2DD1E5B9E}"/>
              </a:ext>
            </a:extLst>
          </p:cNvPr>
          <p:cNvSpPr>
            <a:spLocks xmlns:a="http://schemas.openxmlformats.org/drawingml/2006/main" noGrp="1"/>
          </p:cNvSpPr>
          <p:nvPr/>
        </p:nvSpPr>
        <p:spPr>
          <a:xfrm xmlns:a="http://schemas.openxmlformats.org/drawingml/2006/main">
            <a:off x="2628900" y="5581650"/>
            <a:ext cx="5819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z: standardized inputs   sy: training target scale</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n: data rows   m: derivative rows   d: input count</a:t>
            </a:r>
          </a:p>
        </p:txBody>
      </p:sp>
    </p:spTree>
    <p:extLst>
      <p:ext uri="{BB962C8B-B14F-4D97-AF65-F5344CB8AC3E}">
        <p14:creationId xmlns:p14="http://schemas.microsoft.com/office/powerpoint/2010/main" val="13828018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Status of the four proposed physics constraints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FA526AC2-873E-4445-8AE4-734F8733062F}"/>
              </a:ext>
            </a:extLst>
          </p:cNvPr>
          <p:cNvGraphicFramePr/>
          <p:nvPr/>
        </p:nvGraphicFramePr>
        <p:xfrm>
          <a:off xmlns:a="http://schemas.openxmlformats.org/drawingml/2006/main" x="571500" y="1714500"/>
          <a:ext xmlns:a="http://schemas.openxmlformats.org/drawingml/2006/main" cx="8001000" cy="3295650"/>
        </p:xfrm>
        <a:graphic xmlns:a="http://schemas.openxmlformats.org/drawingml/2006/main">
          <a:graphicData uri="http://schemas.openxmlformats.org/drawingml/2006/table">
            <a:tbl>
              <a:tblPr/>
              <a:tblGrid>
                <a:gridCol w="1952625"/>
                <a:gridCol w="2952750"/>
                <a:gridCol w="3095625"/>
              </a:tblGrid>
              <a:tr h="659130">
                <a:tc>
                  <a:txBody>
                    <a:bodyPr>
                      <a:noAutofit/>
                    </a:bodyPr>
                    <a:lstStyle/>
                    <a:p>
                      <a:pPr algn="l"/>
                      <a:r>
                        <a:rPr sz="1275" b="1">
                          <a:solidFill>
                            <a:srgbClr val="FFFFFF"/>
                          </a:solidFill>
                          <a:latin typeface="Arial"/>
                          <a:ea typeface="Arial"/>
                          <a:cs typeface="Arial"/>
                        </a:rPr>
                        <a:t>Constraint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Implementation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Current status</a:t>
                      </a:r>
                    </a:p>
                  </a:txBody>
                  <a:tcPr marL="85725" marR="85725" marT="76200" marB="76200" anchor="ctr">
                    <a:solidFill>
                      <a:srgbClr val="002B5E"/>
                    </a:solidFill>
                  </a:tcPr>
                </a:tc>
              </a:tr>
              <a:tr h="659130">
                <a:tc>
                  <a:txBody>
                    <a:bodyPr>
                      <a:noAutofit/>
                    </a:bodyPr>
                    <a:lstStyle/>
                    <a:p>
                      <a:pPr algn="l"/>
                      <a:r>
                        <a:rPr sz="1275" b="1">
                          <a:solidFill>
                            <a:srgbClr val="263645"/>
                          </a:solidFill>
                          <a:latin typeface="Arial"/>
                          <a:ea typeface="Arial"/>
                          <a:cs typeface="Arial"/>
                        </a:rPr>
                        <a:t>Thickness bound</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Sigmoid output multiplied</a:t>
                      </a:r>
                    </a:p>
                    <a:p>
                      <a:pPr algn="ctr"/>
                      <a:r>
                        <a:rPr sz="1275" b="0">
                          <a:solidFill>
                            <a:srgbClr val="263645"/>
                          </a:solidFill>
                          <a:latin typeface="Arial"/>
                          <a:ea typeface="Arial"/>
                          <a:cs typeface="Arial"/>
                        </a:rPr>
                        <a:t>by measured total thickness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ACTIVE</a:t>
                      </a:r>
                    </a:p>
                    <a:p>
                      <a:pPr algn="ctr"/>
                      <a:r>
                        <a:rPr sz="1275" b="0">
                          <a:solidFill>
                            <a:srgbClr val="263645"/>
                          </a:solidFill>
                          <a:latin typeface="Arial"/>
                          <a:ea typeface="Arial"/>
                          <a:cs typeface="Arial"/>
                        </a:rPr>
                        <a:t>Hard guarantee</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Velocity smoothness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Penalty on velocity curvature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AVAILABLE</a:t>
                      </a:r>
                    </a:p>
                    <a:p>
                      <a:pPr algn="ctr"/>
                      <a:r>
                        <a:rPr sz="1275" b="0">
                          <a:solidFill>
                            <a:srgbClr val="263645"/>
                          </a:solidFill>
                          <a:latin typeface="Arial"/>
                          <a:ea typeface="Arial"/>
                          <a:cs typeface="Arial"/>
                        </a:rPr>
                        <a:t>No measured velocity in current tables</a:t>
                      </a:r>
                    </a:p>
                  </a:txBody>
                  <a:tcPr marL="85725" marR="85725" marT="76200" marB="76200" anchor="ctr">
                    <a:solidFill>
                      <a:srgbClr val="F7F5EF"/>
                    </a:solidFill>
                  </a:tcPr>
                </a:tc>
              </a:tr>
              <a:tr h="659130">
                <a:tc>
                  <a:txBody>
                    <a:bodyPr>
                      <a:noAutofit/>
                    </a:bodyPr>
                    <a:lstStyle/>
                    <a:p>
                      <a:pPr algn="l"/>
                      <a:r>
                        <a:rPr sz="1275" b="1">
                          <a:solidFill>
                            <a:srgbClr val="263645"/>
                          </a:solidFill>
                          <a:latin typeface="Arial"/>
                          <a:ea typeface="Arial"/>
                          <a:cs typeface="Arial"/>
                        </a:rPr>
                        <a:t>Monotonic trends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Configurable derivative-sign loss</a:t>
                      </a:r>
                    </a:p>
                    <a:p>
                      <a:pPr algn="ctr"/>
                      <a:r>
                        <a:rPr sz="1275" b="0">
                          <a:solidFill>
                            <a:srgbClr val="263645"/>
                          </a:solidFill>
                          <a:latin typeface="Arial"/>
                          <a:ea typeface="Arial"/>
                          <a:cs typeface="Arial"/>
                        </a:rPr>
                        <a:t>Training-only trend diagnostics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TESTED FOR CONCENTRATION</a:t>
                      </a:r>
                    </a:p>
                    <a:p>
                      <a:pPr algn="ctr"/>
                      <a:r>
                        <a:rPr sz="1275" b="0">
                          <a:solidFill>
                            <a:srgbClr val="263645"/>
                          </a:solidFill>
                          <a:latin typeface="Arial"/>
                          <a:ea typeface="Arial"/>
                          <a:cs typeface="Arial"/>
                        </a:rPr>
                        <a:t>Viscosity remains unconstrained</a:t>
                      </a:r>
                    </a:p>
                  </a:txBody>
                  <a:tcPr marL="85725" marR="85725" marT="76200" marB="76200" anchor="ctr">
                    <a:solidFill>
                      <a:srgbClr val="FFFFFF"/>
                    </a:solidFill>
                  </a:tcPr>
                </a:tc>
              </a:tr>
              <a:tr h="659130">
                <a:tc>
                  <a:txBody>
                    <a:bodyPr>
                      <a:noAutofit/>
                    </a:bodyPr>
                    <a:lstStyle/>
                    <a:p>
                      <a:pPr algn="l"/>
                      <a:r>
                        <a:rPr sz="1275" b="1">
                          <a:solidFill>
                            <a:srgbClr val="263645"/>
                          </a:solidFill>
                          <a:latin typeface="Arial"/>
                          <a:ea typeface="Arial"/>
                          <a:cs typeface="Arial"/>
                        </a:rPr>
                        <a:t>Hydrodynamic scaling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LLD residual on the dry mobile layer</a:t>
                      </a:r>
                    </a:p>
                    <a:p>
                      <a:pPr algn="ctr"/>
                      <a:r>
                        <a:rPr sz="1275" b="0">
                          <a:solidFill>
                            <a:srgbClr val="263645"/>
                          </a:solidFill>
                          <a:latin typeface="Arial"/>
                          <a:ea typeface="Arial"/>
                          <a:cs typeface="Arial"/>
                        </a:rPr>
                        <a:t>Explicit regime and conversion checks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AVAILABLE</a:t>
                      </a:r>
                    </a:p>
                    <a:p>
                      <a:pPr algn="ctr"/>
                      <a:r>
                        <a:rPr sz="1275" b="0">
                          <a:solidFill>
                            <a:srgbClr val="263645"/>
                          </a:solidFill>
                          <a:latin typeface="Arial"/>
                          <a:ea typeface="Arial"/>
                          <a:cs typeface="Arial"/>
                        </a:rPr>
                        <a:t>Required physical measurements missing</a:t>
                      </a:r>
                    </a:p>
                  </a:txBody>
                  <a:tcPr marL="85725" marR="85725" marT="76200" marB="76200" anchor="ctr">
                    <a:solidFill>
                      <a:srgbClr val="F7F5EF"/>
                    </a:solidFill>
                  </a:tcPr>
                </a:tc>
              </a:tr>
            </a:tbl>
          </a:graphicData>
        </a:graphic>
      </p:graphicFrame>
      <p:sp>
        <p:nvSpPr>
          <p:cNvPr id="14" name="content-4">
            <a:extLst xmlns:a="http://schemas.openxmlformats.org/drawingml/2006/main">
              <a:ext uri="{FF2B5EF4-FFF2-40B4-BE49-F238E27FC236}">
                <a16:creationId xmlns:a16="http://schemas.microsoft.com/office/drawing/2014/main" id="{896003D2-EB17-40F1-9B55-987EE640F2FC}"/>
              </a:ext>
            </a:extLst>
          </p:cNvPr>
          <p:cNvSpPr>
            <a:spLocks xmlns:a="http://schemas.openxmlformats.org/drawingml/2006/main" noGrp="1"/>
          </p:cNvSpPr>
          <p:nvPr/>
        </p:nvSpPr>
        <p:spPr>
          <a:xfrm xmlns:a="http://schemas.openxmlformats.org/drawingml/2006/main">
            <a:off x="742950" y="5219700"/>
            <a:ext cx="766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The general curvature prior smooths the recorded inputs. It does not demonstrate smoothness in an unmeasured velocity.</a:t>
            </a:r>
          </a:p>
        </p:txBody>
      </p:sp>
      <p:sp>
        <p:nvSpPr>
          <p:cNvPr id="15" name="content-5">
            <a:extLst xmlns:a="http://schemas.openxmlformats.org/drawingml/2006/main">
              <a:ext uri="{FF2B5EF4-FFF2-40B4-BE49-F238E27FC236}">
                <a16:creationId xmlns:a16="http://schemas.microsoft.com/office/drawing/2014/main" id="{E7240EF8-86B1-4489-B0F1-51ADC1ECC87E}"/>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Implemented support and experimentally justified activation are separate decisions</a:t>
            </a:r>
          </a:p>
        </p:txBody>
      </p:sp>
    </p:spTree>
    <p:extLst>
      <p:ext uri="{BB962C8B-B14F-4D97-AF65-F5344CB8AC3E}">
        <p14:creationId xmlns:p14="http://schemas.microsoft.com/office/powerpoint/2010/main" val="138280187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Hydrodynamic residual and activation requirements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pic>
        <p:nvPicPr>
          <p:cNvPr id="13" name="">
            <a:extLst xmlns:a="http://schemas.openxmlformats.org/drawingml/2006/main">
              <a:ext uri="{FF2B5EF4-FFF2-40B4-BE49-F238E27FC236}">
                <a16:creationId xmlns:a16="http://schemas.microsoft.com/office/drawing/2014/main" id="{4F723528-A22F-4B8C-A4F3-442FB5AB5292}"/>
              </a:ext>
            </a:extLst>
          </p:cNvPr>
          <p:cNvPicPr>
            <a:picLocks xmlns:a="http://schemas.openxmlformats.org/drawingml/2006/main" noChangeAspect="1"/>
          </p:cNvPicPr>
          <p:nvPr/>
        </p:nvPicPr>
        <p:blipFill>
          <a:blip xmlns:r="http://schemas.openxmlformats.org/officeDocument/2006/relationships" xmlns:a="http://schemas.openxmlformats.org/drawingml/2006/main" r:embed="Ra272aa54e747454b"/>
          <a:stretch xmlns:a="http://schemas.openxmlformats.org/drawingml/2006/main"/>
        </p:blipFill>
        <p:spPr>
          <a:xfrm xmlns:a="http://schemas.openxmlformats.org/drawingml/2006/main">
            <a:off x="1196816" y="1695450"/>
            <a:ext cx="1292543" cy="561975"/>
          </a:xfrm>
          <a:prstGeom xmlns:a="http://schemas.openxmlformats.org/drawingml/2006/main" prst="rect">
            <a:avLst/>
          </a:prstGeom>
        </p:spPr>
      </p:pic>
      <p:sp>
        <p:nvSpPr>
          <p:cNvPr id="14" name="content-4">
            <a:extLst xmlns:a="http://schemas.openxmlformats.org/drawingml/2006/main">
              <a:ext uri="{FF2B5EF4-FFF2-40B4-BE49-F238E27FC236}">
                <a16:creationId xmlns:a16="http://schemas.microsoft.com/office/drawing/2014/main" id="{9EE0C674-9DF4-4E78-A5A4-71E3AD90D6CD}"/>
              </a:ext>
            </a:extLst>
          </p:cNvPr>
          <p:cNvSpPr>
            <a:spLocks xmlns:a="http://schemas.openxmlformats.org/drawingml/2006/main" noGrp="1"/>
          </p:cNvSpPr>
          <p:nvPr/>
        </p:nvSpPr>
        <p:spPr>
          <a:xfrm xmlns:a="http://schemas.openxmlformats.org/drawingml/2006/main">
            <a:off x="3333750" y="171450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η: viscosity   U: withdrawal velocity</a:t>
            </a:r>
          </a:p>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γ: surface tension   ρ: density</a:t>
            </a:r>
          </a:p>
        </p:txBody>
      </p:sp>
      <p:pic>
        <p:nvPicPr>
          <p:cNvPr id="15" name="">
            <a:extLst xmlns:a="http://schemas.openxmlformats.org/drawingml/2006/main">
              <a:ext uri="{FF2B5EF4-FFF2-40B4-BE49-F238E27FC236}">
                <a16:creationId xmlns:a16="http://schemas.microsoft.com/office/drawing/2014/main" id="{986B37CF-FC32-4D01-B240-92B2020E60A9}"/>
              </a:ext>
            </a:extLst>
          </p:cNvPr>
          <p:cNvPicPr>
            <a:picLocks xmlns:a="http://schemas.openxmlformats.org/drawingml/2006/main" noChangeAspect="1"/>
          </p:cNvPicPr>
          <p:nvPr/>
        </p:nvPicPr>
        <p:blipFill>
          <a:blip xmlns:r="http://schemas.openxmlformats.org/officeDocument/2006/relationships" xmlns:a="http://schemas.openxmlformats.org/drawingml/2006/main" r:embed="R65ae266d43f04879"/>
          <a:stretch xmlns:a="http://schemas.openxmlformats.org/drawingml/2006/main"/>
        </p:blipFill>
        <p:spPr>
          <a:xfrm xmlns:a="http://schemas.openxmlformats.org/drawingml/2006/main">
            <a:off x="2856497" y="2371725"/>
            <a:ext cx="3431005" cy="56197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0FA7C41D-A2A8-4ADB-8A57-C704A6AE9B54}"/>
              </a:ext>
            </a:extLst>
          </p:cNvPr>
          <p:cNvPicPr>
            <a:picLocks xmlns:a="http://schemas.openxmlformats.org/drawingml/2006/main" noChangeAspect="1"/>
          </p:cNvPicPr>
          <p:nvPr/>
        </p:nvPicPr>
        <p:blipFill>
          <a:blip xmlns:r="http://schemas.openxmlformats.org/officeDocument/2006/relationships" xmlns:a="http://schemas.openxmlformats.org/drawingml/2006/main" r:embed="R910c2635df4e43cc"/>
          <a:stretch xmlns:a="http://schemas.openxmlformats.org/drawingml/2006/main"/>
        </p:blipFill>
        <p:spPr>
          <a:xfrm xmlns:a="http://schemas.openxmlformats.org/drawingml/2006/main">
            <a:off x="2840546" y="3057525"/>
            <a:ext cx="3462909" cy="581025"/>
          </a:xfrm>
          <a:prstGeom xmlns:a="http://schemas.openxmlformats.org/drawingml/2006/main" prst="rect">
            <a:avLst/>
          </a:prstGeom>
        </p:spPr>
      </p:pic>
      <p:sp>
        <p:nvSpPr>
          <p:cNvPr id="17" name="content-5">
            <a:extLst xmlns:a="http://schemas.openxmlformats.org/drawingml/2006/main">
              <a:ext uri="{FF2B5EF4-FFF2-40B4-BE49-F238E27FC236}">
                <a16:creationId xmlns:a16="http://schemas.microsoft.com/office/drawing/2014/main" id="{644F694C-A4AC-4DE0-8E18-1574ED5DB952}"/>
              </a:ext>
            </a:extLst>
          </p:cNvPr>
          <p:cNvSpPr>
            <a:spLocks xmlns:a="http://schemas.openxmlformats.org/drawingml/2006/main" noGrp="1"/>
          </p:cNvSpPr>
          <p:nvPr/>
        </p:nvSpPr>
        <p:spPr>
          <a:xfrm xmlns:a="http://schemas.openxmlformats.org/drawingml/2006/main">
            <a:off x="723900" y="36957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INPUTS</a:t>
            </a:r>
          </a:p>
        </p:txBody>
      </p:sp>
      <p:sp>
        <p:nvSpPr>
          <p:cNvPr id="18" name="content-6">
            <a:extLst xmlns:a="http://schemas.openxmlformats.org/drawingml/2006/main">
              <a:ext uri="{FF2B5EF4-FFF2-40B4-BE49-F238E27FC236}">
                <a16:creationId xmlns:a16="http://schemas.microsoft.com/office/drawing/2014/main" id="{5AE294E1-3CD5-46A3-BD0E-8D2766FCB8B5}"/>
              </a:ext>
            </a:extLst>
          </p:cNvPr>
          <p:cNvSpPr>
            <a:spLocks xmlns:a="http://schemas.openxmlformats.org/drawingml/2006/main" noGrp="1"/>
          </p:cNvSpPr>
          <p:nvPr/>
        </p:nvSpPr>
        <p:spPr>
          <a:xfrm xmlns:a="http://schemas.openxmlformats.org/drawingml/2006/main">
            <a:off x="723900" y="4067175"/>
            <a:ext cx="38385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Velocity, solution viscosity, surface tension,</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and solution density</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Independent wet-to-dry conversion factor</a:t>
            </a:r>
          </a:p>
        </p:txBody>
      </p:sp>
      <p:sp>
        <p:nvSpPr>
          <p:cNvPr id="19" name="content-7">
            <a:extLst xmlns:a="http://schemas.openxmlformats.org/drawingml/2006/main">
              <a:ext uri="{FF2B5EF4-FFF2-40B4-BE49-F238E27FC236}">
                <a16:creationId xmlns:a16="http://schemas.microsoft.com/office/drawing/2014/main" id="{D3BCE8D7-469D-4B02-A392-C8AE3838AAA8}"/>
              </a:ext>
            </a:extLst>
          </p:cNvPr>
          <p:cNvSpPr>
            <a:spLocks xmlns:a="http://schemas.openxmlformats.org/drawingml/2006/main" noGrp="1"/>
          </p:cNvSpPr>
          <p:nvPr/>
        </p:nvSpPr>
        <p:spPr>
          <a:xfrm xmlns:a="http://schemas.openxmlformats.org/drawingml/2006/main">
            <a:off x="5048250" y="36957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VALIDITY CHECKS</a:t>
            </a:r>
          </a:p>
        </p:txBody>
      </p:sp>
      <p:sp>
        <p:nvSpPr>
          <p:cNvPr id="20" name="content-8">
            <a:extLst xmlns:a="http://schemas.openxmlformats.org/drawingml/2006/main">
              <a:ext uri="{FF2B5EF4-FFF2-40B4-BE49-F238E27FC236}">
                <a16:creationId xmlns:a16="http://schemas.microsoft.com/office/drawing/2014/main" id="{62880769-CFBC-4D85-AB09-0BEB28884BED}"/>
              </a:ext>
            </a:extLst>
          </p:cNvPr>
          <p:cNvSpPr>
            <a:spLocks xmlns:a="http://schemas.openxmlformats.org/drawingml/2006/main" noGrp="1"/>
          </p:cNvSpPr>
          <p:nvPr/>
        </p:nvSpPr>
        <p:spPr>
          <a:xfrm xmlns:a="http://schemas.openxmlformats.org/drawingml/2006/main">
            <a:off x="5048250" y="4067175"/>
            <a:ext cx="34194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Flat-plate, Newtonian, eligible regime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Explicit per-row applicability flag</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Capillary number below 0.01</a:t>
            </a:r>
          </a:p>
        </p:txBody>
      </p:sp>
      <p:sp>
        <p:nvSpPr>
          <p:cNvPr id="21" name="content-9">
            <a:extLst xmlns:a="http://schemas.openxmlformats.org/drawingml/2006/main">
              <a:ext uri="{FF2B5EF4-FFF2-40B4-BE49-F238E27FC236}">
                <a16:creationId xmlns:a16="http://schemas.microsoft.com/office/drawing/2014/main" id="{F08E91BB-DF01-4A47-8F3C-85B6D8E6956B}"/>
              </a:ext>
            </a:extLst>
          </p:cNvPr>
          <p:cNvSpPr>
            <a:spLocks xmlns:a="http://schemas.openxmlformats.org/drawingml/2006/main" noGrp="1"/>
          </p:cNvSpPr>
          <p:nvPr/>
        </p:nvSpPr>
        <p:spPr>
          <a:xfrm xmlns:a="http://schemas.openxmlformats.org/drawingml/2006/main">
            <a:off x="723900" y="5286375"/>
            <a:ext cx="771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5717B"/>
                </a:solidFill>
                <a:latin typeface="Arial"/>
                <a:ea typeface="Arial"/>
                <a:cs typeface="Arial"/>
              </a:defRPr>
            </a:defPPr>
          </a:lstStyle>
          <a:p xmlns:a="http://schemas.openxmlformats.org/drawingml/2006/main">
            <a:pPr algn="l">
              <a:defRPr sz="1200" b="0">
                <a:solidFill>
                  <a:srgbClr val="65717B"/>
                </a:solidFill>
                <a:latin typeface="Arial"/>
                <a:ea typeface="Arial"/>
                <a:cs typeface="Arial"/>
              </a:defRPr>
            </a:pPr>
            <a:r>
              <a:rPr sz="1200" b="0">
                <a:solidFill>
                  <a:srgbClr val="65717B"/>
                </a:solidFill>
                <a:latin typeface="Arial"/>
                <a:ea typeface="Arial"/>
                <a:cs typeface="Arial"/>
              </a:rPr>
              <a:t>A: eligible rows   fdry: independent dry conversion   sy: training target scale</a:t>
            </a:r>
          </a:p>
        </p:txBody>
      </p:sp>
      <p:sp>
        <p:nvSpPr>
          <p:cNvPr id="22" name="content-10">
            <a:extLst xmlns:a="http://schemas.openxmlformats.org/drawingml/2006/main">
              <a:ext uri="{FF2B5EF4-FFF2-40B4-BE49-F238E27FC236}">
                <a16:creationId xmlns:a16="http://schemas.microsoft.com/office/drawing/2014/main" id="{E50A0F8E-591B-45B4-BBF8-0A57C700EB8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residual regularizes the mobile layer. Bonded adsorption needs separate physics</a:t>
            </a:r>
          </a:p>
        </p:txBody>
      </p:sp>
    </p:spTree>
    <p:extLst>
      <p:ext uri="{BB962C8B-B14F-4D97-AF65-F5344CB8AC3E}">
        <p14:creationId xmlns:p14="http://schemas.microsoft.com/office/powerpoint/2010/main" val="138280187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configuration and matched baselines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56097EBD-7EDB-47A1-9810-FC7CF0AC26CF}"/>
              </a:ext>
            </a:extLst>
          </p:cNvPr>
          <p:cNvGraphicFramePr/>
          <p:nvPr/>
        </p:nvGraphicFramePr>
        <p:xfrm>
          <a:off xmlns:a="http://schemas.openxmlformats.org/drawingml/2006/main" x="571500" y="1695450"/>
          <a:ext xmlns:a="http://schemas.openxmlformats.org/drawingml/2006/main" cx="4152900" cy="3743325"/>
        </p:xfrm>
        <a:graphic xmlns:a="http://schemas.openxmlformats.org/drawingml/2006/main">
          <a:graphicData uri="http://schemas.openxmlformats.org/drawingml/2006/table">
            <a:tbl>
              <a:tblPr/>
              <a:tblGrid>
                <a:gridCol w="2152650"/>
                <a:gridCol w="2000250"/>
              </a:tblGrid>
              <a:tr h="374333">
                <a:tc>
                  <a:txBody>
                    <a:bodyPr>
                      <a:noAutofit/>
                    </a:bodyPr>
                    <a:lstStyle/>
                    <a:p>
                      <a:pPr algn="l"/>
                      <a:r>
                        <a:rPr sz="1275" b="1">
                          <a:solidFill>
                            <a:srgbClr val="FFFFFF"/>
                          </a:solidFill>
                          <a:latin typeface="Arial"/>
                          <a:ea typeface="Arial"/>
                          <a:cs typeface="Arial"/>
                        </a:rPr>
                        <a:t>Setting</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Initial choice</a:t>
                      </a:r>
                    </a:p>
                  </a:txBody>
                  <a:tcPr marL="85725" marR="85725" marT="76200" marB="76200" anchor="ctr">
                    <a:solidFill>
                      <a:srgbClr val="002B5E"/>
                    </a:solidFill>
                  </a:tcPr>
                </a:tc>
              </a:tr>
              <a:tr h="374333">
                <a:tc>
                  <a:txBody>
                    <a:bodyPr>
                      <a:noAutofit/>
                    </a:bodyPr>
                    <a:lstStyle/>
                    <a:p>
                      <a:pPr algn="l"/>
                      <a:r>
                        <a:rPr sz="1275" b="1">
                          <a:solidFill>
                            <a:srgbClr val="263645"/>
                          </a:solidFill>
                          <a:latin typeface="Arial"/>
                          <a:ea typeface="Arial"/>
                          <a:cs typeface="Arial"/>
                        </a:rPr>
                        <a:t>Optimizer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Adam</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Learning rate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0.001</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Weight decay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0.0001</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Maximum epochs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1,500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Validation patience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150 epochs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Gradient clipping</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Norm = 10</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Derivative sample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Up to 256 training rows</a:t>
                      </a:r>
                    </a:p>
                  </a:txBody>
                  <a:tcPr marL="85725" marR="85725" marT="76200" marB="76200" anchor="ctr">
                    <a:solidFill>
                      <a:srgbClr val="FFFFFF"/>
                    </a:solidFill>
                  </a:tcPr>
                </a:tc>
              </a:tr>
              <a:tr h="374333">
                <a:tc>
                  <a:txBody>
                    <a:bodyPr>
                      <a:noAutofit/>
                    </a:bodyPr>
                    <a:lstStyle/>
                    <a:p>
                      <a:pPr algn="l"/>
                      <a:r>
                        <a:rPr sz="1275" b="1">
                          <a:solidFill>
                            <a:srgbClr val="263645"/>
                          </a:solidFill>
                          <a:latin typeface="Arial"/>
                          <a:ea typeface="Arial"/>
                          <a:cs typeface="Arial"/>
                        </a:rPr>
                        <a:t>Initialization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Xavier / zero biases</a:t>
                      </a:r>
                    </a:p>
                  </a:txBody>
                  <a:tcPr marL="85725" marR="85725" marT="76200" marB="76200" anchor="ctr">
                    <a:solidFill>
                      <a:srgbClr val="F7F5EF"/>
                    </a:solidFill>
                  </a:tcPr>
                </a:tc>
              </a:tr>
              <a:tr h="374333">
                <a:tc>
                  <a:txBody>
                    <a:bodyPr>
                      <a:noAutofit/>
                    </a:bodyPr>
                    <a:lstStyle/>
                    <a:p>
                      <a:pPr algn="l"/>
                      <a:r>
                        <a:rPr sz="1275" b="1">
                          <a:solidFill>
                            <a:srgbClr val="263645"/>
                          </a:solidFill>
                          <a:latin typeface="Arial"/>
                          <a:ea typeface="Arial"/>
                          <a:cs typeface="Arial"/>
                        </a:rPr>
                        <a:t>Reproducibility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Seed 42, CPU</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44C0C60F-3CE6-4CE9-BDC2-DE9CA4CE651C}"/>
              </a:ext>
            </a:extLst>
          </p:cNvPr>
          <p:cNvSpPr>
            <a:spLocks xmlns:a="http://schemas.openxmlformats.org/drawingml/2006/main" noGrp="1"/>
          </p:cNvSpPr>
          <p:nvPr/>
        </p:nvSpPr>
        <p:spPr>
          <a:xfrm xmlns:a="http://schemas.openxmlformats.org/drawingml/2006/main">
            <a:off x="5124450" y="170497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NEURAL COMPARISONS</a:t>
            </a:r>
          </a:p>
        </p:txBody>
      </p:sp>
      <p:sp>
        <p:nvSpPr>
          <p:cNvPr id="15" name="content-5">
            <a:extLst xmlns:a="http://schemas.openxmlformats.org/drawingml/2006/main">
              <a:ext uri="{FF2B5EF4-FFF2-40B4-BE49-F238E27FC236}">
                <a16:creationId xmlns:a16="http://schemas.microsoft.com/office/drawing/2014/main" id="{0F785F99-C0A0-4993-B8EB-79908D58201E}"/>
              </a:ext>
            </a:extLst>
          </p:cNvPr>
          <p:cNvSpPr>
            <a:spLocks xmlns:a="http://schemas.openxmlformats.org/drawingml/2006/main" noGrp="1"/>
          </p:cNvSpPr>
          <p:nvPr/>
        </p:nvSpPr>
        <p:spPr>
          <a:xfrm xmlns:a="http://schemas.openxmlformats.org/drawingml/2006/main">
            <a:off x="5124450" y="2057400"/>
            <a:ext cx="3295650" cy="501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PINN: hard bound plus curvature regularization.</a:t>
            </a:r>
          </a:p>
        </p:txBody>
      </p:sp>
      <p:sp>
        <p:nvSpPr>
          <p:cNvPr id="16" name="content-6">
            <a:extLst xmlns:a="http://schemas.openxmlformats.org/drawingml/2006/main">
              <a:ext uri="{FF2B5EF4-FFF2-40B4-BE49-F238E27FC236}">
                <a16:creationId xmlns:a16="http://schemas.microsoft.com/office/drawing/2014/main" id="{5D629E05-FCF1-4FD1-AEBF-B54A0054DC63}"/>
              </a:ext>
            </a:extLst>
          </p:cNvPr>
          <p:cNvSpPr>
            <a:spLocks xmlns:a="http://schemas.openxmlformats.org/drawingml/2006/main" noGrp="1"/>
          </p:cNvSpPr>
          <p:nvPr/>
        </p:nvSpPr>
        <p:spPr>
          <a:xfrm xmlns:a="http://schemas.openxmlformats.org/drawingml/2006/main">
            <a:off x="5124450" y="260604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Bounded NN: same output bound, with physics penalties off.</a:t>
            </a:r>
          </a:p>
        </p:txBody>
      </p:sp>
      <p:sp>
        <p:nvSpPr>
          <p:cNvPr id="17" name="content-7">
            <a:extLst xmlns:a="http://schemas.openxmlformats.org/drawingml/2006/main">
              <a:ext uri="{FF2B5EF4-FFF2-40B4-BE49-F238E27FC236}">
                <a16:creationId xmlns:a16="http://schemas.microsoft.com/office/drawing/2014/main" id="{5C260C58-245F-482B-BCEF-587797784D6D}"/>
              </a:ext>
            </a:extLst>
          </p:cNvPr>
          <p:cNvSpPr>
            <a:spLocks xmlns:a="http://schemas.openxmlformats.org/drawingml/2006/main" noGrp="1"/>
          </p:cNvSpPr>
          <p:nvPr/>
        </p:nvSpPr>
        <p:spPr>
          <a:xfrm xmlns:a="http://schemas.openxmlformats.org/drawingml/2006/main">
            <a:off x="5124450" y="3371850"/>
            <a:ext cx="3295650" cy="718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Standard NN: same hidden layers and optimizer, with a linear output.</a:t>
            </a:r>
          </a:p>
        </p:txBody>
      </p:sp>
      <p:sp>
        <p:nvSpPr>
          <p:cNvPr id="18" name="content-8">
            <a:extLst xmlns:a="http://schemas.openxmlformats.org/drawingml/2006/main">
              <a:ext uri="{FF2B5EF4-FFF2-40B4-BE49-F238E27FC236}">
                <a16:creationId xmlns:a16="http://schemas.microsoft.com/office/drawing/2014/main" id="{E078E895-6AB0-47C7-9494-4C1B8D5F182A}"/>
              </a:ext>
            </a:extLst>
          </p:cNvPr>
          <p:cNvSpPr>
            <a:spLocks xmlns:a="http://schemas.openxmlformats.org/drawingml/2006/main" noGrp="1"/>
          </p:cNvSpPr>
          <p:nvPr/>
        </p:nvSpPr>
        <p:spPr>
          <a:xfrm xmlns:a="http://schemas.openxmlformats.org/drawingml/2006/main">
            <a:off x="5124450" y="4543425"/>
            <a:ext cx="3295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TREE BASELINES</a:t>
            </a:r>
          </a:p>
        </p:txBody>
      </p:sp>
      <p:sp>
        <p:nvSpPr>
          <p:cNvPr id="19" name="content-9">
            <a:extLst xmlns:a="http://schemas.openxmlformats.org/drawingml/2006/main">
              <a:ext uri="{FF2B5EF4-FFF2-40B4-BE49-F238E27FC236}">
                <a16:creationId xmlns:a16="http://schemas.microsoft.com/office/drawing/2014/main" id="{72D4B99D-91A0-4AF5-8C88-9A438AE76EBC}"/>
              </a:ext>
            </a:extLst>
          </p:cNvPr>
          <p:cNvSpPr>
            <a:spLocks xmlns:a="http://schemas.openxmlformats.org/drawingml/2006/main" noGrp="1"/>
          </p:cNvSpPr>
          <p:nvPr/>
        </p:nvSpPr>
        <p:spPr>
          <a:xfrm xmlns:a="http://schemas.openxmlformats.org/drawingml/2006/main">
            <a:off x="5124450" y="4905375"/>
            <a:ext cx="32956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263645"/>
                </a:solidFill>
                <a:latin typeface="Arial"/>
                <a:ea typeface="Arial"/>
                <a:cs typeface="Arial"/>
              </a:defRPr>
            </a:defPPr>
          </a:lstStyle>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RF: 300 trees, minimum leaf size 2</a:t>
            </a:r>
          </a:p>
          <a:p xmlns:a="http://schemas.openxmlformats.org/drawingml/2006/main">
            <a:pPr algn="l">
              <a:defRPr sz="1350" b="0">
                <a:solidFill>
                  <a:srgbClr val="263645"/>
                </a:solidFill>
                <a:latin typeface="Arial"/>
                <a:ea typeface="Arial"/>
                <a:cs typeface="Arial"/>
              </a:defRPr>
            </a:pPr>
            <a:r>
              <a:rPr sz="1350" b="0">
                <a:solidFill>
                  <a:srgbClr val="263645"/>
                </a:solidFill>
                <a:latin typeface="Arial"/>
                <a:ea typeface="Arial"/>
                <a:cs typeface="Arial"/>
              </a:rPr>
              <a:t>GB: 100 trees, depth 2, learning rate 0.05</a:t>
            </a:r>
          </a:p>
        </p:txBody>
      </p:sp>
      <p:sp>
        <p:nvSpPr>
          <p:cNvPr id="20" name="content-10">
            <a:extLst xmlns:a="http://schemas.openxmlformats.org/drawingml/2006/main">
              <a:ext uri="{FF2B5EF4-FFF2-40B4-BE49-F238E27FC236}">
                <a16:creationId xmlns:a16="http://schemas.microsoft.com/office/drawing/2014/main" id="{09663DCA-D39F-4CE1-9CDA-8644C07624BB}"/>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Validation chooses neural checkpoints. Fixed tree settings receive no test-driven tuning</a:t>
            </a:r>
          </a:p>
        </p:txBody>
      </p:sp>
    </p:spTree>
    <p:extLst>
      <p:ext uri="{BB962C8B-B14F-4D97-AF65-F5344CB8AC3E}">
        <p14:creationId xmlns:p14="http://schemas.microsoft.com/office/powerpoint/2010/main" val="138280187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Evaluation splits and interpretation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93A985DA-5E2F-4184-9063-1A2E9CC7DE8C}"/>
              </a:ext>
            </a:extLst>
          </p:cNvPr>
          <p:cNvGraphicFramePr/>
          <p:nvPr/>
        </p:nvGraphicFramePr>
        <p:xfrm>
          <a:off xmlns:a="http://schemas.openxmlformats.org/drawingml/2006/main" x="571500" y="1724025"/>
          <a:ext xmlns:a="http://schemas.openxmlformats.org/drawingml/2006/main" cx="8001000" cy="2047875"/>
        </p:xfrm>
        <a:graphic xmlns:a="http://schemas.openxmlformats.org/drawingml/2006/main">
          <a:graphicData uri="http://schemas.openxmlformats.org/drawingml/2006/table">
            <a:tbl>
              <a:tblPr/>
              <a:tblGrid>
                <a:gridCol w="4343400"/>
                <a:gridCol w="1219200"/>
                <a:gridCol w="1219200"/>
                <a:gridCol w="1219200"/>
              </a:tblGrid>
              <a:tr h="511969">
                <a:tc>
                  <a:txBody>
                    <a:bodyPr>
                      <a:noAutofit/>
                    </a:bodyPr>
                    <a:lstStyle/>
                    <a:p>
                      <a:pPr algn="l"/>
                      <a:r>
                        <a:rPr sz="1500"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Training</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Validation</a:t>
                      </a:r>
                    </a:p>
                  </a:txBody>
                  <a:tcPr marL="85725" marR="85725" marT="76200" marB="76200" anchor="ctr">
                    <a:solidFill>
                      <a:srgbClr val="002B5E"/>
                    </a:solidFill>
                  </a:tcPr>
                </a:tc>
                <a:tc>
                  <a:txBody>
                    <a:bodyPr>
                      <a:noAutofit/>
                    </a:bodyPr>
                    <a:lstStyle/>
                    <a:p>
                      <a:pPr algn="ctr"/>
                      <a:r>
                        <a:rPr sz="1500" b="1">
                          <a:solidFill>
                            <a:srgbClr val="FFFFFF"/>
                          </a:solidFill>
                          <a:latin typeface="Arial"/>
                          <a:ea typeface="Arial"/>
                          <a:cs typeface="Arial"/>
                        </a:rPr>
                        <a:t>Test</a:t>
                      </a:r>
                    </a:p>
                  </a:txBody>
                  <a:tcPr marL="85725" marR="85725" marT="76200" marB="76200" anchor="ctr">
                    <a:solidFill>
                      <a:srgbClr val="002B5E"/>
                    </a:solidFill>
                  </a:tcPr>
                </a:tc>
              </a:tr>
              <a:tr h="511969">
                <a:tc>
                  <a:txBody>
                    <a:bodyPr>
                      <a:noAutofit/>
                    </a:bodyPr>
                    <a:lstStyle/>
                    <a:p>
                      <a:pPr algn="l"/>
                      <a:r>
                        <a:rPr sz="1500" b="1">
                          <a:solidFill>
                            <a:srgbClr val="263645"/>
                          </a:solidFill>
                          <a:latin typeface="Arial"/>
                          <a:ea typeface="Arial"/>
                          <a:cs typeface="Arial"/>
                        </a:rPr>
                        <a:t>Measured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28</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18</a:t>
                      </a:r>
                    </a:p>
                  </a:txBody>
                  <a:tcPr marL="85725" marR="85725" marT="76200" marB="76200" anchor="ctr">
                    <a:solidFill>
                      <a:srgbClr val="FFFFFF"/>
                    </a:solidFill>
                  </a:tcPr>
                </a:tc>
              </a:tr>
              <a:tr h="511969">
                <a:tc>
                  <a:txBody>
                    <a:bodyPr>
                      <a:noAutofit/>
                    </a:bodyPr>
                    <a:lstStyle/>
                    <a:p>
                      <a:pPr algn="l"/>
                      <a:r>
                        <a:rPr sz="1500" b="1">
                          <a:solidFill>
                            <a:srgbClr val="263645"/>
                          </a:solidFill>
                          <a:latin typeface="Arial"/>
                          <a:ea typeface="Arial"/>
                          <a:cs typeface="Arial"/>
                        </a:rPr>
                        <a:t>Measured high-concentration holdout</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36</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12</a:t>
                      </a:r>
                    </a:p>
                  </a:txBody>
                  <a:tcPr marL="85725" marR="85725" marT="76200" marB="76200" anchor="ctr">
                    <a:solidFill>
                      <a:srgbClr val="F7F5EF"/>
                    </a:solidFill>
                  </a:tcPr>
                </a:tc>
                <a:tc>
                  <a:txBody>
                    <a:bodyPr>
                      <a:noAutofit/>
                    </a:bodyPr>
                    <a:lstStyle/>
                    <a:p>
                      <a:pPr algn="ctr"/>
                      <a:r>
                        <a:rPr sz="1500" b="0">
                          <a:solidFill>
                            <a:srgbClr val="263645"/>
                          </a:solidFill>
                          <a:latin typeface="Arial"/>
                          <a:ea typeface="Arial"/>
                          <a:cs typeface="Arial"/>
                        </a:rPr>
                        <a:t>10</a:t>
                      </a:r>
                    </a:p>
                  </a:txBody>
                  <a:tcPr marL="85725" marR="85725" marT="76200" marB="76200" anchor="ctr">
                    <a:solidFill>
                      <a:srgbClr val="F7F5EF"/>
                    </a:solidFill>
                  </a:tcPr>
                </a:tc>
              </a:tr>
              <a:tr h="511969">
                <a:tc>
                  <a:txBody>
                    <a:bodyPr>
                      <a:noAutofit/>
                    </a:bodyPr>
                    <a:lstStyle/>
                    <a:p>
                      <a:pPr algn="l"/>
                      <a:r>
                        <a:rPr sz="1500" b="1">
                          <a:solidFill>
                            <a:srgbClr val="263645"/>
                          </a:solidFill>
                          <a:latin typeface="Arial"/>
                          <a:ea typeface="Arial"/>
                          <a:cs typeface="Arial"/>
                        </a:rPr>
                        <a:t>Synthetic concentration groups</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1,959</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407</a:t>
                      </a:r>
                    </a:p>
                  </a:txBody>
                  <a:tcPr marL="85725" marR="85725" marT="76200" marB="76200" anchor="ctr">
                    <a:solidFill>
                      <a:srgbClr val="FFFFFF"/>
                    </a:solidFill>
                  </a:tcPr>
                </a:tc>
                <a:tc>
                  <a:txBody>
                    <a:bodyPr>
                      <a:noAutofit/>
                    </a:bodyPr>
                    <a:lstStyle/>
                    <a:p>
                      <a:pPr algn="ctr"/>
                      <a:r>
                        <a:rPr sz="1500" b="0">
                          <a:solidFill>
                            <a:srgbClr val="263645"/>
                          </a:solidFill>
                          <a:latin typeface="Arial"/>
                          <a:ea typeface="Arial"/>
                          <a:cs typeface="Arial"/>
                        </a:rPr>
                        <a:t>442</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5265882A-6987-48EB-A511-7B8C355A5B0D}"/>
              </a:ext>
            </a:extLst>
          </p:cNvPr>
          <p:cNvSpPr>
            <a:spLocks xmlns:a="http://schemas.openxmlformats.org/drawingml/2006/main" noGrp="1"/>
          </p:cNvSpPr>
          <p:nvPr/>
        </p:nvSpPr>
        <p:spPr>
          <a:xfrm xmlns:a="http://schemas.openxmlformats.org/drawingml/2006/main">
            <a:off x="714375" y="4048125"/>
            <a:ext cx="385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MEASURED GENERALIZATION</a:t>
            </a:r>
          </a:p>
        </p:txBody>
      </p:sp>
      <p:sp>
        <p:nvSpPr>
          <p:cNvPr id="15" name="content-5">
            <a:extLst xmlns:a="http://schemas.openxmlformats.org/drawingml/2006/main">
              <a:ext uri="{FF2B5EF4-FFF2-40B4-BE49-F238E27FC236}">
                <a16:creationId xmlns:a16="http://schemas.microsoft.com/office/drawing/2014/main" id="{74795613-78FB-47DB-B05F-92EAFD0A6E83}"/>
              </a:ext>
            </a:extLst>
          </p:cNvPr>
          <p:cNvSpPr>
            <a:spLocks xmlns:a="http://schemas.openxmlformats.org/drawingml/2006/main" noGrp="1"/>
          </p:cNvSpPr>
          <p:nvPr/>
        </p:nvSpPr>
        <p:spPr>
          <a:xfrm xmlns:a="http://schemas.openxmlformats.org/drawingml/2006/main">
            <a:off x="714375" y="4391025"/>
            <a:ext cx="3762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Hold out entire concentration levels.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extrapolation test reserves</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3, 5, 7, and 10 in recorded units.</a:t>
            </a:r>
          </a:p>
        </p:txBody>
      </p:sp>
      <p:sp>
        <p:nvSpPr>
          <p:cNvPr id="16" name="content-6">
            <a:extLst xmlns:a="http://schemas.openxmlformats.org/drawingml/2006/main">
              <a:ext uri="{FF2B5EF4-FFF2-40B4-BE49-F238E27FC236}">
                <a16:creationId xmlns:a16="http://schemas.microsoft.com/office/drawing/2014/main" id="{E0AE1552-7FB9-4EE9-A71A-767E356A888A}"/>
              </a:ext>
            </a:extLst>
          </p:cNvPr>
          <p:cNvSpPr>
            <a:spLocks xmlns:a="http://schemas.openxmlformats.org/drawingml/2006/main" noGrp="1"/>
          </p:cNvSpPr>
          <p:nvPr/>
        </p:nvSpPr>
        <p:spPr>
          <a:xfrm xmlns:a="http://schemas.openxmlformats.org/drawingml/2006/main">
            <a:off x="5029200" y="4048125"/>
            <a:ext cx="3448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SYNTHETIC GENERALIZATION</a:t>
            </a:r>
          </a:p>
        </p:txBody>
      </p:sp>
      <p:sp>
        <p:nvSpPr>
          <p:cNvPr id="17" name="content-7">
            <a:extLst xmlns:a="http://schemas.openxmlformats.org/drawingml/2006/main">
              <a:ext uri="{FF2B5EF4-FFF2-40B4-BE49-F238E27FC236}">
                <a16:creationId xmlns:a16="http://schemas.microsoft.com/office/drawing/2014/main" id="{836A87E1-703B-490F-95D3-9B31A39DD67D}"/>
              </a:ext>
            </a:extLst>
          </p:cNvPr>
          <p:cNvSpPr>
            <a:spLocks xmlns:a="http://schemas.openxmlformats.org/drawingml/2006/main" noGrp="1"/>
          </p:cNvSpPr>
          <p:nvPr/>
        </p:nvSpPr>
        <p:spPr>
          <a:xfrm xmlns:a="http://schemas.openxmlformats.org/drawingml/2006/main">
            <a:off x="5029200" y="4391025"/>
            <a:ext cx="3419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IDs are unavailable.</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Exact concentration grouping cannot</a:t>
            </a:r>
          </a:p>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prove independent source experiments.</a:t>
            </a:r>
          </a:p>
        </p:txBody>
      </p:sp>
      <p:sp>
        <p:nvSpPr>
          <p:cNvPr id="18" name="content-8">
            <a:extLst xmlns:a="http://schemas.openxmlformats.org/drawingml/2006/main">
              <a:ext uri="{FF2B5EF4-FFF2-40B4-BE49-F238E27FC236}">
                <a16:creationId xmlns:a16="http://schemas.microsoft.com/office/drawing/2014/main" id="{6D6CE7BB-D212-44F7-AACF-546746D3531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Compare models within each shared split. Do not compare scores across protocols</a:t>
            </a:r>
          </a:p>
        </p:txBody>
      </p:sp>
    </p:spTree>
    <p:extLst>
      <p:ext uri="{BB962C8B-B14F-4D97-AF65-F5344CB8AC3E}">
        <p14:creationId xmlns:p14="http://schemas.microsoft.com/office/powerpoint/2010/main" val="13828018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Initial measured-data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26E2C152-27A0-4297-B47A-8C9A4AAB8EC8}"/>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58 observations, three inputs, 18 held-out rows</a:t>
            </a:r>
          </a:p>
        </p:txBody>
      </p:sp>
      <p:graphicFrame>
        <p:nvGraphicFramePr>
          <p:cNvPr id="14" name="Chart">
            <a:extLst xmlns:a="http://schemas.openxmlformats.org/drawingml/2006/main">
              <a:ext uri="{FF2B5EF4-FFF2-40B4-BE49-F238E27FC236}">
                <a16:creationId xmlns:a16="http://schemas.microsoft.com/office/drawing/2014/main" id="{797756A7-C8F4-4380-BD6A-806BAFBCC6C0}"/>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50b9fb99eb7044e9"/>
          </a:graphicData>
        </a:graphic>
      </p:graphicFrame>
      <p:graphicFrame>
        <p:nvGraphicFramePr>
          <p:cNvPr id="15" name="">
            <a:extLst xmlns:a="http://schemas.openxmlformats.org/drawingml/2006/main">
              <a:ext uri="{FF2B5EF4-FFF2-40B4-BE49-F238E27FC236}">
                <a16:creationId xmlns:a16="http://schemas.microsoft.com/office/drawing/2014/main" id="{6F1B620D-1F35-4B6B-8402-893F471707F3}"/>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0.1223</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-0.392</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0.1224</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-0.395</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0.2119</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-3.183</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0.0670</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0.582</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0.0649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0.607</a:t>
                      </a:r>
                    </a:p>
                  </a:txBody>
                  <a:tcPr marL="85725" marR="85725" marT="76200" marB="76200" anchor="ctr">
                    <a:solidFill>
                      <a:srgbClr val="F3ECD6"/>
                    </a:solidFill>
                  </a:tcPr>
                </a:tc>
              </a:tr>
            </a:tbl>
          </a:graphicData>
        </a:graphic>
      </p:graphicFrame>
      <p:sp>
        <p:nvSpPr>
          <p:cNvPr id="16" name="content-5">
            <a:extLst xmlns:a="http://schemas.openxmlformats.org/drawingml/2006/main">
              <a:ext uri="{FF2B5EF4-FFF2-40B4-BE49-F238E27FC236}">
                <a16:creationId xmlns:a16="http://schemas.microsoft.com/office/drawing/2014/main" id="{A60DE786-710D-4A6B-AE78-A4E3C81DBF18}"/>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0.1117 nm. All models: 0% observed bound violations.</a:t>
            </a:r>
          </a:p>
        </p:txBody>
      </p:sp>
      <p:sp>
        <p:nvSpPr>
          <p:cNvPr id="17" name="content-6">
            <a:extLst xmlns:a="http://schemas.openxmlformats.org/drawingml/2006/main">
              <a:ext uri="{FF2B5EF4-FFF2-40B4-BE49-F238E27FC236}">
                <a16:creationId xmlns:a16="http://schemas.microsoft.com/office/drawing/2014/main" id="{6C6543C0-0583-4AAD-8FA2-4923B6AF7E49}"/>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Gradient boosting and random forest outperform the initial neural models</a:t>
            </a:r>
          </a:p>
        </p:txBody>
      </p:sp>
    </p:spTree>
    <p:extLst>
      <p:ext uri="{BB962C8B-B14F-4D97-AF65-F5344CB8AC3E}">
        <p14:creationId xmlns:p14="http://schemas.microsoft.com/office/powerpoint/2010/main" val="1382801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15</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Measured high-concentration extrapolation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7E306FA5-DBE7-4444-B9D4-0CFE8E9CBBDF}"/>
              </a:ext>
            </a:extLst>
          </p:cNvPr>
          <p:cNvGraphicFramePr/>
          <p:nvPr/>
        </p:nvGraphicFramePr>
        <p:xfrm>
          <a:off xmlns:a="http://schemas.openxmlformats.org/drawingml/2006/main" x="523875" y="2028825"/>
          <a:ext xmlns:a="http://schemas.openxmlformats.org/drawingml/2006/main" cx="4743450" cy="3276600"/>
        </p:xfrm>
        <a:graphic xmlns:a="http://schemas.openxmlformats.org/drawingml/2006/main">
          <a:graphicData uri="http://schemas.openxmlformats.org/drawingml/2006/chart">
            <c:chart xmlns:r="http://schemas.openxmlformats.org/officeDocument/2006/relationships" xmlns:c="http://schemas.openxmlformats.org/drawingml/2006/chart" r:id="R72df5d8d3d12415a"/>
          </a:graphicData>
        </a:graphic>
      </p:graphicFrame>
      <p:graphicFrame>
        <p:nvGraphicFramePr>
          <p:cNvPr id="14" name="">
            <a:extLst xmlns:a="http://schemas.openxmlformats.org/drawingml/2006/main">
              <a:ext uri="{FF2B5EF4-FFF2-40B4-BE49-F238E27FC236}">
                <a16:creationId xmlns:a16="http://schemas.microsoft.com/office/drawing/2014/main" id="{0FFD8F15-47EB-453B-BC48-F916AA91D421}"/>
              </a:ext>
            </a:extLst>
          </p:cNvPr>
          <p:cNvGraphicFramePr/>
          <p:nvPr/>
        </p:nvGraphicFramePr>
        <p:xfrm>
          <a:off xmlns:a="http://schemas.openxmlformats.org/drawingml/2006/main" x="5476875" y="2143125"/>
          <a:ext xmlns:a="http://schemas.openxmlformats.org/drawingml/2006/main" cx="3095625" cy="2724150"/>
        </p:xfrm>
        <a:graphic xmlns:a="http://schemas.openxmlformats.org/drawingml/2006/main">
          <a:graphicData uri="http://schemas.openxmlformats.org/drawingml/2006/table">
            <a:tbl>
              <a:tblPr/>
              <a:tblGrid>
                <a:gridCol w="2028825"/>
                <a:gridCol w="1066800"/>
              </a:tblGrid>
              <a:tr h="454025">
                <a:tc>
                  <a:txBody>
                    <a:bodyPr>
                      <a:noAutofit/>
                    </a:bodyPr>
                    <a:lstStyle/>
                    <a:p>
                      <a:pPr algn="l"/>
                      <a:r>
                        <a:rPr sz="1275"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RMSE (nm)</a:t>
                      </a:r>
                    </a:p>
                  </a:txBody>
                  <a:tcPr marL="85725" marR="85725" marT="76200" marB="76200" anchor="ctr">
                    <a:solidFill>
                      <a:srgbClr val="002B5E"/>
                    </a:solidFill>
                  </a:tcPr>
                </a:tc>
              </a:tr>
              <a:tr h="454025">
                <a:tc>
                  <a:txBody>
                    <a:bodyPr>
                      <a:noAutofit/>
                    </a:bodyPr>
                    <a:lstStyle/>
                    <a:p>
                      <a:pPr algn="l"/>
                      <a:r>
                        <a:rPr sz="1275"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0.6168</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0.6115</a:t>
                      </a:r>
                    </a:p>
                  </a:txBody>
                  <a:tcPr marL="85725" marR="85725" marT="76200" marB="76200" anchor="ctr">
                    <a:solidFill>
                      <a:srgbClr val="F7F5EF"/>
                    </a:solidFill>
                  </a:tcPr>
                </a:tc>
              </a:tr>
              <a:tr h="454025">
                <a:tc>
                  <a:txBody>
                    <a:bodyPr>
                      <a:noAutofit/>
                    </a:bodyPr>
                    <a:lstStyle/>
                    <a:p>
                      <a:pPr algn="l"/>
                      <a:r>
                        <a:rPr sz="1275"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0.1042</a:t>
                      </a:r>
                    </a:p>
                  </a:txBody>
                  <a:tcPr marL="85725" marR="85725" marT="76200" marB="76200" anchor="ctr">
                    <a:solidFill>
                      <a:srgbClr val="FFFFFF"/>
                    </a:solidFill>
                  </a:tcPr>
                </a:tc>
              </a:tr>
              <a:tr h="454025">
                <a:tc>
                  <a:txBody>
                    <a:bodyPr>
                      <a:noAutofit/>
                    </a:bodyPr>
                    <a:lstStyle/>
                    <a:p>
                      <a:pPr algn="l"/>
                      <a:r>
                        <a:rPr sz="1275"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75" b="1">
                          <a:solidFill>
                            <a:srgbClr val="263645"/>
                          </a:solidFill>
                          <a:latin typeface="Arial"/>
                          <a:ea typeface="Arial"/>
                          <a:cs typeface="Arial"/>
                        </a:rPr>
                        <a:t>0.0294</a:t>
                      </a:r>
                    </a:p>
                  </a:txBody>
                  <a:tcPr marL="85725" marR="85725" marT="76200" marB="76200" anchor="ctr">
                    <a:solidFill>
                      <a:srgbClr val="F3ECD6"/>
                    </a:solidFill>
                  </a:tcPr>
                </a:tc>
              </a:tr>
              <a:tr h="454025">
                <a:tc>
                  <a:txBody>
                    <a:bodyPr>
                      <a:noAutofit/>
                    </a:bodyPr>
                    <a:lstStyle/>
                    <a:p>
                      <a:pPr algn="l"/>
                      <a:r>
                        <a:rPr sz="1275"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0.0296</a:t>
                      </a:r>
                    </a:p>
                  </a:txBody>
                  <a:tcPr marL="85725" marR="85725" marT="76200" marB="76200" anchor="ctr">
                    <a:solidFill>
                      <a:srgbClr val="FFFFFF"/>
                    </a:solidFill>
                  </a:tcPr>
                </a:tc>
              </a:tr>
            </a:tbl>
          </a:graphicData>
        </a:graphic>
      </p:graphicFrame>
      <p:sp>
        <p:nvSpPr>
          <p:cNvPr id="15" name="content-4">
            <a:extLst xmlns:a="http://schemas.openxmlformats.org/drawingml/2006/main">
              <a:ext uri="{FF2B5EF4-FFF2-40B4-BE49-F238E27FC236}">
                <a16:creationId xmlns:a16="http://schemas.microsoft.com/office/drawing/2014/main" id="{2A308B4C-19C3-4BD3-8697-87AF0F5AE344}"/>
              </a:ext>
            </a:extLst>
          </p:cNvPr>
          <p:cNvSpPr>
            <a:spLocks xmlns:a="http://schemas.openxmlformats.org/drawingml/2006/main" noGrp="1"/>
          </p:cNvSpPr>
          <p:nvPr/>
        </p:nvSpPr>
        <p:spPr>
          <a:xfrm xmlns:a="http://schemas.openxmlformats.org/drawingml/2006/main">
            <a:off x="5505450" y="4981575"/>
            <a:ext cx="3067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263645"/>
                </a:solidFill>
                <a:latin typeface="Arial"/>
                <a:ea typeface="Arial"/>
                <a:cs typeface="Arial"/>
              </a:defRPr>
            </a:defPPr>
          </a:lstStyle>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10 measured test rows</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All models have negative R²</a:t>
            </a:r>
          </a:p>
          <a:p xmlns:a="http://schemas.openxmlformats.org/drawingml/2006/main">
            <a:pPr algn="l">
              <a:defRPr sz="1275" b="0">
                <a:solidFill>
                  <a:srgbClr val="263645"/>
                </a:solidFill>
                <a:latin typeface="Arial"/>
                <a:ea typeface="Arial"/>
                <a:cs typeface="Arial"/>
              </a:defRPr>
            </a:pPr>
            <a:r>
              <a:rPr sz="1275" b="0">
                <a:solidFill>
                  <a:srgbClr val="263645"/>
                </a:solidFill>
                <a:latin typeface="Arial"/>
                <a:ea typeface="Arial"/>
                <a:cs typeface="Arial"/>
              </a:rPr>
              <a:t>PINN R²: −759.817</a:t>
            </a:r>
          </a:p>
        </p:txBody>
      </p:sp>
      <p:sp>
        <p:nvSpPr>
          <p:cNvPr id="16" name="content-5">
            <a:extLst xmlns:a="http://schemas.openxmlformats.org/drawingml/2006/main">
              <a:ext uri="{FF2B5EF4-FFF2-40B4-BE49-F238E27FC236}">
                <a16:creationId xmlns:a16="http://schemas.microsoft.com/office/drawing/2014/main" id="{414271E8-2A27-456C-9A16-37F3E18EF3E4}"/>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PINN satisfies the bound while its error grows at unseen high concentrations</a:t>
            </a:r>
          </a:p>
        </p:txBody>
      </p:sp>
    </p:spTree>
    <p:extLst>
      <p:ext uri="{BB962C8B-B14F-4D97-AF65-F5344CB8AC3E}">
        <p14:creationId xmlns:p14="http://schemas.microsoft.com/office/powerpoint/2010/main" val="1382801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16</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Seven-input synthetic benchmark</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C53CC58-C297-4D44-80EC-970B37D0582E}"/>
              </a:ext>
            </a:extLst>
          </p:cNvPr>
          <p:cNvSpPr>
            <a:spLocks xmlns:a="http://schemas.openxmlformats.org/drawingml/2006/main" noGrp="1"/>
          </p:cNvSpPr>
          <p:nvPr/>
        </p:nvSpPr>
        <p:spPr>
          <a:xfrm xmlns:a="http://schemas.openxmlformats.org/drawingml/2006/main">
            <a:off x="714375" y="1619250"/>
            <a:ext cx="7762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263645"/>
                </a:solidFill>
                <a:latin typeface="Arial"/>
                <a:ea typeface="Arial"/>
                <a:cs typeface="Arial"/>
              </a:defRPr>
            </a:defPPr>
          </a:lstStyle>
          <a:p xmlns:a="http://schemas.openxmlformats.org/drawingml/2006/main">
            <a:pPr algn="l">
              <a:defRPr sz="1425" b="0">
                <a:solidFill>
                  <a:srgbClr val="263645"/>
                </a:solidFill>
                <a:latin typeface="Arial"/>
                <a:ea typeface="Arial"/>
                <a:cs typeface="Arial"/>
              </a:defRPr>
            </a:pPr>
            <a:r>
              <a:rPr sz="1425" b="0">
                <a:solidFill>
                  <a:srgbClr val="263645"/>
                </a:solidFill>
                <a:latin typeface="Arial"/>
                <a:ea typeface="Arial"/>
                <a:cs typeface="Arial"/>
              </a:rPr>
              <a:t>2,808 retained rows, seven inputs, 442 held-out rows</a:t>
            </a:r>
          </a:p>
        </p:txBody>
      </p:sp>
      <p:graphicFrame>
        <p:nvGraphicFramePr>
          <p:cNvPr id="14" name="Chart">
            <a:extLst xmlns:a="http://schemas.openxmlformats.org/drawingml/2006/main">
              <a:ext uri="{FF2B5EF4-FFF2-40B4-BE49-F238E27FC236}">
                <a16:creationId xmlns:a16="http://schemas.microsoft.com/office/drawing/2014/main" id="{B602EECA-489F-49C4-A856-ACB837ABB9D7}"/>
              </a:ext>
            </a:extLst>
          </p:cNvPr>
          <p:cNvGraphicFramePr/>
          <p:nvPr/>
        </p:nvGraphicFramePr>
        <p:xfrm>
          <a:off xmlns:a="http://schemas.openxmlformats.org/drawingml/2006/main" x="552450" y="2076450"/>
          <a:ext xmlns:a="http://schemas.openxmlformats.org/drawingml/2006/main" cx="4743450" cy="3143250"/>
        </p:xfrm>
        <a:graphic xmlns:a="http://schemas.openxmlformats.org/drawingml/2006/main">
          <a:graphicData uri="http://schemas.openxmlformats.org/drawingml/2006/chart">
            <c:chart xmlns:r="http://schemas.openxmlformats.org/officeDocument/2006/relationships" xmlns:c="http://schemas.openxmlformats.org/drawingml/2006/chart" r:id="R0a20b8cfe49c47a9"/>
          </a:graphicData>
        </a:graphic>
      </p:graphicFrame>
      <p:graphicFrame>
        <p:nvGraphicFramePr>
          <p:cNvPr id="15" name="">
            <a:extLst xmlns:a="http://schemas.openxmlformats.org/drawingml/2006/main">
              <a:ext uri="{FF2B5EF4-FFF2-40B4-BE49-F238E27FC236}">
                <a16:creationId xmlns:a16="http://schemas.microsoft.com/office/drawing/2014/main" id="{1FD8A5D9-81E6-48DE-A8B8-3AB66B24A1F4}"/>
              </a:ext>
            </a:extLst>
          </p:cNvPr>
          <p:cNvGraphicFramePr/>
          <p:nvPr/>
        </p:nvGraphicFramePr>
        <p:xfrm>
          <a:off xmlns:a="http://schemas.openxmlformats.org/drawingml/2006/main" x="5486400" y="2105025"/>
          <a:ext xmlns:a="http://schemas.openxmlformats.org/drawingml/2006/main" cx="3105150" cy="2781300"/>
        </p:xfrm>
        <a:graphic xmlns:a="http://schemas.openxmlformats.org/drawingml/2006/main">
          <a:graphicData uri="http://schemas.openxmlformats.org/drawingml/2006/table">
            <a:tbl>
              <a:tblPr/>
              <a:tblGrid>
                <a:gridCol w="1409700"/>
                <a:gridCol w="933450"/>
                <a:gridCol w="762000"/>
              </a:tblGrid>
              <a:tr h="463550">
                <a:tc>
                  <a:txBody>
                    <a:bodyPr>
                      <a:noAutofit/>
                    </a:bodyPr>
                    <a:lstStyle/>
                    <a:p>
                      <a:pPr algn="l"/>
                      <a:r>
                        <a:rPr sz="1200" b="1">
                          <a:solidFill>
                            <a:srgbClr val="FFFFFF"/>
                          </a:solidFill>
                          <a:latin typeface="Arial"/>
                          <a:ea typeface="Arial"/>
                          <a:cs typeface="Arial"/>
                        </a:rPr>
                        <a:t>Model</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200" b="1">
                          <a:solidFill>
                            <a:srgbClr val="FFFFFF"/>
                          </a:solidFill>
                          <a:latin typeface="Arial"/>
                          <a:ea typeface="Arial"/>
                          <a:cs typeface="Arial"/>
                        </a:rPr>
                        <a:t>R²</a:t>
                      </a:r>
                    </a:p>
                  </a:txBody>
                  <a:tcPr marL="85725" marR="85725" marT="76200" marB="76200" anchor="ctr">
                    <a:solidFill>
                      <a:srgbClr val="002B5E"/>
                    </a:solidFill>
                  </a:tcPr>
                </a:tc>
              </a:tr>
              <a:tr h="463550">
                <a:tc>
                  <a:txBody>
                    <a:bodyPr>
                      <a:noAutofit/>
                    </a:bodyPr>
                    <a:lstStyle/>
                    <a:p>
                      <a:pPr algn="l"/>
                      <a:r>
                        <a:rPr sz="1200" b="1">
                          <a:solidFill>
                            <a:srgbClr val="263645"/>
                          </a:solidFill>
                          <a:latin typeface="Arial"/>
                          <a:ea typeface="Arial"/>
                          <a:cs typeface="Arial"/>
                        </a:rPr>
                        <a:t>PINN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0.0557</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0.905</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Bounded NN</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0.0551</a:t>
                      </a:r>
                    </a:p>
                  </a:txBody>
                  <a:tcPr marL="85725" marR="85725" marT="76200" marB="76200" anchor="ctr">
                    <a:solidFill>
                      <a:srgbClr val="F7F5EF"/>
                    </a:solidFill>
                  </a:tcPr>
                </a:tc>
                <a:tc>
                  <a:txBody>
                    <a:bodyPr>
                      <a:noAutofit/>
                    </a:bodyPr>
                    <a:lstStyle/>
                    <a:p>
                      <a:pPr algn="ctr"/>
                      <a:r>
                        <a:rPr sz="1200" b="0">
                          <a:solidFill>
                            <a:srgbClr val="263645"/>
                          </a:solidFill>
                          <a:latin typeface="Arial"/>
                          <a:ea typeface="Arial"/>
                          <a:cs typeface="Arial"/>
                        </a:rPr>
                        <a:t>0.907</a:t>
                      </a:r>
                    </a:p>
                  </a:txBody>
                  <a:tcPr marL="85725" marR="85725" marT="76200" marB="76200" anchor="ctr">
                    <a:solidFill>
                      <a:srgbClr val="F7F5EF"/>
                    </a:solidFill>
                  </a:tcPr>
                </a:tc>
              </a:tr>
              <a:tr h="463550">
                <a:tc>
                  <a:txBody>
                    <a:bodyPr>
                      <a:noAutofit/>
                    </a:bodyPr>
                    <a:lstStyle/>
                    <a:p>
                      <a:pPr algn="l"/>
                      <a:r>
                        <a:rPr sz="1200" b="1">
                          <a:solidFill>
                            <a:srgbClr val="263645"/>
                          </a:solidFill>
                          <a:latin typeface="Arial"/>
                          <a:ea typeface="Arial"/>
                          <a:cs typeface="Arial"/>
                        </a:rPr>
                        <a:t>Standard NN</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0.0541</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0.911</a:t>
                      </a:r>
                    </a:p>
                  </a:txBody>
                  <a:tcPr marL="85725" marR="85725" marT="76200" marB="76200" anchor="ctr">
                    <a:solidFill>
                      <a:srgbClr val="FFFFFF"/>
                    </a:solidFill>
                  </a:tcPr>
                </a:tc>
              </a:tr>
              <a:tr h="463550">
                <a:tc>
                  <a:txBody>
                    <a:bodyPr>
                      <a:noAutofit/>
                    </a:bodyPr>
                    <a:lstStyle/>
                    <a:p>
                      <a:pPr algn="l"/>
                      <a:r>
                        <a:rPr sz="1200" b="1">
                          <a:solidFill>
                            <a:srgbClr val="263645"/>
                          </a:solidFill>
                          <a:latin typeface="Arial"/>
                          <a:ea typeface="Arial"/>
                          <a:cs typeface="Arial"/>
                        </a:rPr>
                        <a:t>Random forest</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0.0359</a:t>
                      </a:r>
                    </a:p>
                  </a:txBody>
                  <a:tcPr marL="85725" marR="85725" marT="76200" marB="76200" anchor="ctr">
                    <a:solidFill>
                      <a:srgbClr val="F3ECD6"/>
                    </a:solidFill>
                  </a:tcPr>
                </a:tc>
                <a:tc>
                  <a:txBody>
                    <a:bodyPr>
                      <a:noAutofit/>
                    </a:bodyPr>
                    <a:lstStyle/>
                    <a:p>
                      <a:pPr algn="ctr"/>
                      <a:r>
                        <a:rPr sz="1200" b="1">
                          <a:solidFill>
                            <a:srgbClr val="263645"/>
                          </a:solidFill>
                          <a:latin typeface="Arial"/>
                          <a:ea typeface="Arial"/>
                          <a:cs typeface="Arial"/>
                        </a:rPr>
                        <a:t>0.961</a:t>
                      </a:r>
                    </a:p>
                  </a:txBody>
                  <a:tcPr marL="85725" marR="85725" marT="76200" marB="76200" anchor="ctr">
                    <a:solidFill>
                      <a:srgbClr val="F3ECD6"/>
                    </a:solidFill>
                  </a:tcPr>
                </a:tc>
              </a:tr>
              <a:tr h="463550">
                <a:tc>
                  <a:txBody>
                    <a:bodyPr>
                      <a:noAutofit/>
                    </a:bodyPr>
                    <a:lstStyle/>
                    <a:p>
                      <a:pPr algn="l"/>
                      <a:r>
                        <a:rPr sz="1200" b="1">
                          <a:solidFill>
                            <a:srgbClr val="263645"/>
                          </a:solidFill>
                          <a:latin typeface="Arial"/>
                          <a:ea typeface="Arial"/>
                          <a:cs typeface="Arial"/>
                        </a:rPr>
                        <a:t>Gradient boosting</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0.0748</a:t>
                      </a:r>
                    </a:p>
                  </a:txBody>
                  <a:tcPr marL="85725" marR="85725" marT="76200" marB="76200" anchor="ctr">
                    <a:solidFill>
                      <a:srgbClr val="FFFFFF"/>
                    </a:solidFill>
                  </a:tcPr>
                </a:tc>
                <a:tc>
                  <a:txBody>
                    <a:bodyPr>
                      <a:noAutofit/>
                    </a:bodyPr>
                    <a:lstStyle/>
                    <a:p>
                      <a:pPr algn="ctr"/>
                      <a:r>
                        <a:rPr sz="1200" b="0">
                          <a:solidFill>
                            <a:srgbClr val="263645"/>
                          </a:solidFill>
                          <a:latin typeface="Arial"/>
                          <a:ea typeface="Arial"/>
                          <a:cs typeface="Arial"/>
                        </a:rPr>
                        <a:t>0.829</a:t>
                      </a:r>
                    </a:p>
                  </a:txBody>
                  <a:tcPr marL="85725" marR="85725" marT="76200" marB="76200" anchor="ctr">
                    <a:solidFill>
                      <a:srgbClr val="FFFFFF"/>
                    </a:solidFill>
                  </a:tcPr>
                </a:tc>
              </a:tr>
            </a:tbl>
          </a:graphicData>
        </a:graphic>
      </p:graphicFrame>
      <p:sp>
        <p:nvSpPr>
          <p:cNvPr id="16" name="content-5">
            <a:extLst xmlns:a="http://schemas.openxmlformats.org/drawingml/2006/main">
              <a:ext uri="{FF2B5EF4-FFF2-40B4-BE49-F238E27FC236}">
                <a16:creationId xmlns:a16="http://schemas.microsoft.com/office/drawing/2014/main" id="{4B16C47F-644A-4FC7-9F16-A6162810386D}"/>
              </a:ext>
            </a:extLst>
          </p:cNvPr>
          <p:cNvSpPr>
            <a:spLocks xmlns:a="http://schemas.openxmlformats.org/drawingml/2006/main" noGrp="1"/>
          </p:cNvSpPr>
          <p:nvPr/>
        </p:nvSpPr>
        <p:spPr>
          <a:xfrm xmlns:a="http://schemas.openxmlformats.org/drawingml/2006/main">
            <a:off x="714375" y="5353050"/>
            <a:ext cx="7734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65717B"/>
                </a:solidFill>
                <a:latin typeface="Arial"/>
                <a:ea typeface="Arial"/>
                <a:cs typeface="Arial"/>
              </a:defRPr>
            </a:defPPr>
          </a:lstStyle>
          <a:p xmlns:a="http://schemas.openxmlformats.org/drawingml/2006/main">
            <a:pPr algn="l">
              <a:defRPr sz="1275" b="0">
                <a:solidFill>
                  <a:srgbClr val="65717B"/>
                </a:solidFill>
                <a:latin typeface="Arial"/>
                <a:ea typeface="Arial"/>
                <a:cs typeface="Arial"/>
              </a:defRPr>
            </a:pPr>
            <a:r>
              <a:rPr sz="1275" b="0">
                <a:solidFill>
                  <a:srgbClr val="65717B"/>
                </a:solidFill>
                <a:latin typeface="Arial"/>
                <a:ea typeface="Arial"/>
                <a:cs typeface="Arial"/>
              </a:rPr>
              <a:t>PINN MAE: 0.0436 nm. All models: 0% observed bound violations.</a:t>
            </a:r>
          </a:p>
        </p:txBody>
      </p:sp>
      <p:sp>
        <p:nvSpPr>
          <p:cNvPr id="17" name="content-6">
            <a:extLst xmlns:a="http://schemas.openxmlformats.org/drawingml/2006/main">
              <a:ext uri="{FF2B5EF4-FFF2-40B4-BE49-F238E27FC236}">
                <a16:creationId xmlns:a16="http://schemas.microsoft.com/office/drawing/2014/main" id="{244CA261-081C-4848-8993-AF2CF841C0F6}"/>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Synthetic PINN R² reaches 0.905. Random forest still gives the lowest error</a:t>
            </a:r>
          </a:p>
        </p:txBody>
      </p:sp>
    </p:spTree>
    <p:extLst>
      <p:ext uri="{BB962C8B-B14F-4D97-AF65-F5344CB8AC3E}">
        <p14:creationId xmlns:p14="http://schemas.microsoft.com/office/powerpoint/2010/main" val="138280187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17</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Synthetic holdout parity: PINN and random forest</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9F5872DD-F161-45CF-BA84-2968CE181F3D}"/>
              </a:ext>
            </a:extLst>
          </p:cNvPr>
          <p:cNvGraphicFramePr/>
          <p:nvPr/>
        </p:nvGraphicFramePr>
        <p:xfrm>
          <a:off xmlns:a="http://schemas.openxmlformats.org/drawingml/2006/main" x="4381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fa44749d86134a2b"/>
          </a:graphicData>
        </a:graphic>
      </p:graphicFrame>
      <p:graphicFrame>
        <p:nvGraphicFramePr>
          <p:cNvPr id="14" name="Chart">
            <a:extLst xmlns:a="http://schemas.openxmlformats.org/drawingml/2006/main">
              <a:ext uri="{FF2B5EF4-FFF2-40B4-BE49-F238E27FC236}">
                <a16:creationId xmlns:a16="http://schemas.microsoft.com/office/drawing/2014/main" id="{BE670EF2-385D-4CBB-B08B-3A3C2C23CC0B}"/>
              </a:ext>
            </a:extLst>
          </p:cNvPr>
          <p:cNvGraphicFramePr/>
          <p:nvPr/>
        </p:nvGraphicFramePr>
        <p:xfrm>
          <a:off xmlns:a="http://schemas.openxmlformats.org/drawingml/2006/main" x="4705350" y="1943100"/>
          <a:ext xmlns:a="http://schemas.openxmlformats.org/drawingml/2006/main" cx="4000500" cy="3190875"/>
        </p:xfrm>
        <a:graphic xmlns:a="http://schemas.openxmlformats.org/drawingml/2006/main">
          <a:graphicData uri="http://schemas.openxmlformats.org/drawingml/2006/chart">
            <c:chart xmlns:r="http://schemas.openxmlformats.org/officeDocument/2006/relationships" xmlns:c="http://schemas.openxmlformats.org/drawingml/2006/chart" r:id="Rc197663a8c4e4dd2"/>
          </a:graphicData>
        </a:graphic>
      </p:graphicFrame>
      <p:pic>
        <p:nvPicPr>
          <p:cNvPr id="15" name="">
            <a:extLst xmlns:a="http://schemas.openxmlformats.org/drawingml/2006/main">
              <a:ext uri="{FF2B5EF4-FFF2-40B4-BE49-F238E27FC236}">
                <a16:creationId xmlns:a16="http://schemas.microsoft.com/office/drawing/2014/main" id="{55384CF5-D501-45A2-A14F-C746F5693945}"/>
              </a:ext>
            </a:extLst>
          </p:cNvPr>
          <p:cNvPicPr>
            <a:picLocks xmlns:a="http://schemas.openxmlformats.org/drawingml/2006/main" noChangeAspect="1"/>
          </p:cNvPicPr>
          <p:nvPr/>
        </p:nvPicPr>
        <p:blipFill>
          <a:blip xmlns:r="http://schemas.openxmlformats.org/officeDocument/2006/relationships" xmlns:a="http://schemas.openxmlformats.org/drawingml/2006/main" r:embed="R0036fbf9fdbe44c2"/>
          <a:stretch xmlns:a="http://schemas.openxmlformats.org/drawingml/2006/main"/>
        </p:blipFill>
        <p:spPr>
          <a:xfrm xmlns:a="http://schemas.openxmlformats.org/drawingml/2006/main">
            <a:off x="733425" y="5274044"/>
            <a:ext cx="3476625" cy="310413"/>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9E526C0B-46EB-4DFD-B387-D46937754FF0}"/>
              </a:ext>
            </a:extLst>
          </p:cNvPr>
          <p:cNvPicPr>
            <a:picLocks xmlns:a="http://schemas.openxmlformats.org/drawingml/2006/main" noChangeAspect="1"/>
          </p:cNvPicPr>
          <p:nvPr/>
        </p:nvPicPr>
        <p:blipFill>
          <a:blip xmlns:r="http://schemas.openxmlformats.org/officeDocument/2006/relationships" xmlns:a="http://schemas.openxmlformats.org/drawingml/2006/main" r:embed="R96209c0e85784def"/>
          <a:stretch xmlns:a="http://schemas.openxmlformats.org/drawingml/2006/main"/>
        </p:blipFill>
        <p:spPr>
          <a:xfrm xmlns:a="http://schemas.openxmlformats.org/drawingml/2006/main">
            <a:off x="5000625" y="5262105"/>
            <a:ext cx="3476625" cy="334291"/>
          </a:xfrm>
          <a:prstGeom xmlns:a="http://schemas.openxmlformats.org/drawingml/2006/main" prst="rect">
            <a:avLst/>
          </a:prstGeom>
        </p:spPr>
      </p:pic>
      <p:sp>
        <p:nvSpPr>
          <p:cNvPr id="17" name="content-4">
            <a:extLst xmlns:a="http://schemas.openxmlformats.org/drawingml/2006/main">
              <a:ext uri="{FF2B5EF4-FFF2-40B4-BE49-F238E27FC236}">
                <a16:creationId xmlns:a16="http://schemas.microsoft.com/office/drawing/2014/main" id="{546D9A3B-E018-4028-ABB2-3F19BED3CE36}"/>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Both plots use all 442 identical test rows and matching axes</a:t>
            </a:r>
          </a:p>
        </p:txBody>
      </p:sp>
    </p:spTree>
    <p:extLst>
      <p:ext uri="{BB962C8B-B14F-4D97-AF65-F5344CB8AC3E}">
        <p14:creationId xmlns:p14="http://schemas.microsoft.com/office/powerpoint/2010/main" val="138280187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18</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Concentration-monotonicity ablation</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40FAE732-14A5-4C21-911B-86C1099F8EA2}"/>
              </a:ext>
            </a:extLst>
          </p:cNvPr>
          <p:cNvGraphicFramePr/>
          <p:nvPr/>
        </p:nvGraphicFramePr>
        <p:xfrm>
          <a:off xmlns:a="http://schemas.openxmlformats.org/drawingml/2006/main" x="571500" y="1762125"/>
          <a:ext xmlns:a="http://schemas.openxmlformats.org/drawingml/2006/main" cx="8001000" cy="1485900"/>
        </p:xfrm>
        <a:graphic xmlns:a="http://schemas.openxmlformats.org/drawingml/2006/main">
          <a:graphicData uri="http://schemas.openxmlformats.org/drawingml/2006/table">
            <a:tbl>
              <a:tblPr/>
              <a:tblGrid>
                <a:gridCol w="2962275"/>
                <a:gridCol w="1362075"/>
                <a:gridCol w="1362075"/>
                <a:gridCol w="2314575"/>
              </a:tblGrid>
              <a:tr h="495300">
                <a:tc>
                  <a:txBody>
                    <a:bodyPr>
                      <a:noAutofit/>
                    </a:bodyPr>
                    <a:lstStyle/>
                    <a:p>
                      <a:pPr algn="l"/>
                      <a:r>
                        <a:rPr sz="1350" b="1">
                          <a:solidFill>
                            <a:srgbClr val="FFFFFF"/>
                          </a:solidFill>
                          <a:latin typeface="Arial"/>
                          <a:ea typeface="Arial"/>
                          <a:cs typeface="Arial"/>
                        </a:rPr>
                        <a:t>PINN run</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RMSE (nm)</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R²</a:t>
                      </a:r>
                    </a:p>
                  </a:txBody>
                  <a:tcPr marL="85725" marR="85725" marT="76200" marB="76200" anchor="ctr">
                    <a:solidFill>
                      <a:srgbClr val="002B5E"/>
                    </a:solidFill>
                  </a:tcPr>
                </a:tc>
                <a:tc>
                  <a:txBody>
                    <a:bodyPr>
                      <a:noAutofit/>
                    </a:bodyPr>
                    <a:lstStyle/>
                    <a:p>
                      <a:pPr algn="ctr"/>
                      <a:r>
                        <a:rPr sz="1350" b="1">
                          <a:solidFill>
                            <a:srgbClr val="FFFFFF"/>
                          </a:solidFill>
                          <a:latin typeface="Arial"/>
                          <a:ea typeface="Arial"/>
                          <a:cs typeface="Arial"/>
                        </a:rPr>
                        <a:t>Negative local</a:t>
                      </a:r>
                    </a:p>
                    <a:p>
                      <a:pPr algn="ctr"/>
                      <a:r>
                        <a:rPr sz="1350" b="1">
                          <a:solidFill>
                            <a:srgbClr val="FFFFFF"/>
                          </a:solidFill>
                          <a:latin typeface="Arial"/>
                          <a:ea typeface="Arial"/>
                          <a:cs typeface="Arial"/>
                        </a:rPr>
                        <a:t>concentration slope</a:t>
                      </a:r>
                    </a:p>
                  </a:txBody>
                  <a:tcPr marL="85725" marR="85725" marT="76200" marB="76200" anchor="ctr">
                    <a:solidFill>
                      <a:srgbClr val="002B5E"/>
                    </a:solidFill>
                  </a:tcPr>
                </a:tc>
              </a:tr>
              <a:tr h="495300">
                <a:tc>
                  <a:txBody>
                    <a:bodyPr>
                      <a:noAutofit/>
                    </a:bodyPr>
                    <a:lstStyle/>
                    <a:p>
                      <a:pPr algn="l"/>
                      <a:r>
                        <a:rPr sz="1350" b="1">
                          <a:solidFill>
                            <a:srgbClr val="263645"/>
                          </a:solidFill>
                          <a:latin typeface="Arial"/>
                          <a:ea typeface="Arial"/>
                          <a:cs typeface="Arial"/>
                        </a:rPr>
                        <a:t>Default curvature prior</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0.055718</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0.905199</a:t>
                      </a:r>
                    </a:p>
                  </a:txBody>
                  <a:tcPr marL="85725" marR="85725" marT="76200" marB="76200" anchor="ctr">
                    <a:solidFill>
                      <a:srgbClr val="FFFFFF"/>
                    </a:solidFill>
                  </a:tcPr>
                </a:tc>
                <a:tc>
                  <a:txBody>
                    <a:bodyPr>
                      <a:noAutofit/>
                    </a:bodyPr>
                    <a:lstStyle/>
                    <a:p>
                      <a:pPr algn="ctr"/>
                      <a:r>
                        <a:rPr sz="1350" b="0">
                          <a:solidFill>
                            <a:srgbClr val="263645"/>
                          </a:solidFill>
                          <a:latin typeface="Arial"/>
                          <a:ea typeface="Arial"/>
                          <a:cs typeface="Arial"/>
                        </a:rPr>
                        <a:t>43.44%</a:t>
                      </a:r>
                    </a:p>
                  </a:txBody>
                  <a:tcPr marL="85725" marR="85725" marT="76200" marB="76200" anchor="ctr">
                    <a:solidFill>
                      <a:srgbClr val="FFFFFF"/>
                    </a:solidFill>
                  </a:tcPr>
                </a:tc>
              </a:tr>
              <a:tr h="495300">
                <a:tc>
                  <a:txBody>
                    <a:bodyPr>
                      <a:noAutofit/>
                    </a:bodyPr>
                    <a:lstStyle/>
                    <a:p>
                      <a:pPr algn="l"/>
                      <a:r>
                        <a:rPr sz="1350" b="1">
                          <a:solidFill>
                            <a:srgbClr val="263645"/>
                          </a:solidFill>
                          <a:latin typeface="Arial"/>
                          <a:ea typeface="Arial"/>
                          <a:cs typeface="Arial"/>
                        </a:rPr>
                        <a:t>Positive concentration penalty</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0.056009</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0.904208</a:t>
                      </a:r>
                    </a:p>
                  </a:txBody>
                  <a:tcPr marL="85725" marR="85725" marT="76200" marB="76200" anchor="ctr">
                    <a:solidFill>
                      <a:srgbClr val="F7F5EF"/>
                    </a:solidFill>
                  </a:tcPr>
                </a:tc>
                <a:tc>
                  <a:txBody>
                    <a:bodyPr>
                      <a:noAutofit/>
                    </a:bodyPr>
                    <a:lstStyle/>
                    <a:p>
                      <a:pPr algn="ctr"/>
                      <a:r>
                        <a:rPr sz="1350" b="0">
                          <a:solidFill>
                            <a:srgbClr val="263645"/>
                          </a:solidFill>
                          <a:latin typeface="Arial"/>
                          <a:ea typeface="Arial"/>
                          <a:cs typeface="Arial"/>
                        </a:rPr>
                        <a:t>40.99%</a:t>
                      </a:r>
                    </a:p>
                  </a:txBody>
                  <a:tcPr marL="85725" marR="85725" marT="76200" marB="76200" anchor="ctr">
                    <a:solidFill>
                      <a:srgbClr val="F7F5EF"/>
                    </a:solidFill>
                  </a:tcPr>
                </a:tc>
              </a:tr>
            </a:tbl>
          </a:graphicData>
        </a:graphic>
      </p:graphicFrame>
      <p:graphicFrame>
        <p:nvGraphicFramePr>
          <p:cNvPr id="14" name="Chart">
            <a:extLst xmlns:a="http://schemas.openxmlformats.org/drawingml/2006/main">
              <a:ext uri="{FF2B5EF4-FFF2-40B4-BE49-F238E27FC236}">
                <a16:creationId xmlns:a16="http://schemas.microsoft.com/office/drawing/2014/main" id="{21E66BFB-7BA2-4208-BD56-014FD6ED7A9B}"/>
              </a:ext>
            </a:extLst>
          </p:cNvPr>
          <p:cNvGraphicFramePr/>
          <p:nvPr/>
        </p:nvGraphicFramePr>
        <p:xfrm>
          <a:off xmlns:a="http://schemas.openxmlformats.org/drawingml/2006/main" x="771525" y="3524250"/>
          <a:ext xmlns:a="http://schemas.openxmlformats.org/drawingml/2006/main" cx="7543800" cy="1924050"/>
        </p:xfrm>
        <a:graphic xmlns:a="http://schemas.openxmlformats.org/drawingml/2006/main">
          <a:graphicData uri="http://schemas.openxmlformats.org/drawingml/2006/chart">
            <c:chart xmlns:r="http://schemas.openxmlformats.org/officeDocument/2006/relationships" xmlns:c="http://schemas.openxmlformats.org/drawingml/2006/chart" r:id="R0a0c7681a54c489c"/>
          </a:graphicData>
        </a:graphic>
      </p:graphicFrame>
      <p:sp>
        <p:nvSpPr>
          <p:cNvPr id="15" name="content-4">
            <a:extLst xmlns:a="http://schemas.openxmlformats.org/drawingml/2006/main">
              <a:ext uri="{FF2B5EF4-FFF2-40B4-BE49-F238E27FC236}">
                <a16:creationId xmlns:a16="http://schemas.microsoft.com/office/drawing/2014/main" id="{7B03424D-400F-41EA-AF8F-E34ED9E6BB84}"/>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penalty reduces some negative slopes but slightly worsens held-out error</a:t>
            </a:r>
          </a:p>
        </p:txBody>
      </p:sp>
    </p:spTree>
    <p:extLst>
      <p:ext uri="{BB962C8B-B14F-4D97-AF65-F5344CB8AC3E}">
        <p14:creationId xmlns:p14="http://schemas.microsoft.com/office/powerpoint/2010/main" val="13828018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19</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Training histories and selected checkpoints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Chart">
            <a:extLst xmlns:a="http://schemas.openxmlformats.org/drawingml/2006/main">
              <a:ext uri="{FF2B5EF4-FFF2-40B4-BE49-F238E27FC236}">
                <a16:creationId xmlns:a16="http://schemas.microsoft.com/office/drawing/2014/main" id="{2B38D4AD-9073-4D5B-AB3C-1E9602C6E83B}"/>
              </a:ext>
            </a:extLst>
          </p:cNvPr>
          <p:cNvGraphicFramePr/>
          <p:nvPr/>
        </p:nvGraphicFramePr>
        <p:xfrm>
          <a:off xmlns:a="http://schemas.openxmlformats.org/drawingml/2006/main" x="457200"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00478ff6b6244160"/>
          </a:graphicData>
        </a:graphic>
      </p:graphicFrame>
      <p:graphicFrame>
        <p:nvGraphicFramePr>
          <p:cNvPr id="14" name="Chart">
            <a:extLst xmlns:a="http://schemas.openxmlformats.org/drawingml/2006/main">
              <a:ext uri="{FF2B5EF4-FFF2-40B4-BE49-F238E27FC236}">
                <a16:creationId xmlns:a16="http://schemas.microsoft.com/office/drawing/2014/main" id="{0C29FED3-9BCF-48A3-9E1F-859A0EC8ABB1}"/>
              </a:ext>
            </a:extLst>
          </p:cNvPr>
          <p:cNvGraphicFramePr/>
          <p:nvPr/>
        </p:nvGraphicFramePr>
        <p:xfrm>
          <a:off xmlns:a="http://schemas.openxmlformats.org/drawingml/2006/main" x="4733925" y="1943100"/>
          <a:ext xmlns:a="http://schemas.openxmlformats.org/drawingml/2006/main" cx="3952875" cy="3238500"/>
        </p:xfrm>
        <a:graphic xmlns:a="http://schemas.openxmlformats.org/drawingml/2006/main">
          <a:graphicData uri="http://schemas.openxmlformats.org/drawingml/2006/chart">
            <c:chart xmlns:r="http://schemas.openxmlformats.org/officeDocument/2006/relationships" xmlns:c="http://schemas.openxmlformats.org/drawingml/2006/chart" r:id="Ra486e570e2c94af4"/>
          </a:graphicData>
        </a:graphic>
      </p:graphicFrame>
      <p:sp>
        <p:nvSpPr>
          <p:cNvPr id="15" name="content-4">
            <a:extLst xmlns:a="http://schemas.openxmlformats.org/drawingml/2006/main">
              <a:ext uri="{FF2B5EF4-FFF2-40B4-BE49-F238E27FC236}">
                <a16:creationId xmlns:a16="http://schemas.microsoft.com/office/drawing/2014/main" id="{8716FC21-C6A7-4346-8F6E-05BDFF609DB4}"/>
              </a:ext>
            </a:extLst>
          </p:cNvPr>
          <p:cNvSpPr>
            <a:spLocks xmlns:a="http://schemas.openxmlformats.org/drawingml/2006/main" noGrp="1"/>
          </p:cNvSpPr>
          <p:nvPr/>
        </p:nvSpPr>
        <p:spPr>
          <a:xfrm xmlns:a="http://schemas.openxmlformats.org/drawingml/2006/main">
            <a:off x="790575"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76</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stopped at epoch 226</a:t>
            </a:r>
          </a:p>
        </p:txBody>
      </p:sp>
      <p:sp>
        <p:nvSpPr>
          <p:cNvPr id="16" name="content-5">
            <a:extLst xmlns:a="http://schemas.openxmlformats.org/drawingml/2006/main">
              <a:ext uri="{FF2B5EF4-FFF2-40B4-BE49-F238E27FC236}">
                <a16:creationId xmlns:a16="http://schemas.microsoft.com/office/drawing/2014/main" id="{1B416C15-2CFF-4FAF-982C-A4EFB00628EE}"/>
              </a:ext>
            </a:extLst>
          </p:cNvPr>
          <p:cNvSpPr>
            <a:spLocks xmlns:a="http://schemas.openxmlformats.org/drawingml/2006/main" noGrp="1"/>
          </p:cNvSpPr>
          <p:nvPr/>
        </p:nvSpPr>
        <p:spPr>
          <a:xfrm xmlns:a="http://schemas.openxmlformats.org/drawingml/2006/main">
            <a:off x="5067300" y="5248275"/>
            <a:ext cx="3276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002B5E"/>
                </a:solidFill>
                <a:latin typeface="Arial"/>
                <a:ea typeface="Arial"/>
                <a:cs typeface="Arial"/>
              </a:defRPr>
            </a:defPPr>
          </a:lstStyle>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Selected epoch 1,500</a:t>
            </a:r>
          </a:p>
          <a:p xmlns:a="http://schemas.openxmlformats.org/drawingml/2006/main">
            <a:pPr algn="ctr">
              <a:defRPr sz="1425" b="1">
                <a:solidFill>
                  <a:srgbClr val="002B5E"/>
                </a:solidFill>
                <a:latin typeface="Arial"/>
                <a:ea typeface="Arial"/>
                <a:cs typeface="Arial"/>
              </a:defRPr>
            </a:pPr>
            <a:r>
              <a:rPr sz="1425" b="1">
                <a:solidFill>
                  <a:srgbClr val="002B5E"/>
                </a:solidFill>
                <a:latin typeface="Arial"/>
                <a:ea typeface="Arial"/>
                <a:cs typeface="Arial"/>
              </a:rPr>
              <a:t>Training reached the configured limit</a:t>
            </a:r>
          </a:p>
        </p:txBody>
      </p:sp>
      <p:sp>
        <p:nvSpPr>
          <p:cNvPr id="17" name="content-6">
            <a:extLst xmlns:a="http://schemas.openxmlformats.org/drawingml/2006/main">
              <a:ext uri="{FF2B5EF4-FFF2-40B4-BE49-F238E27FC236}">
                <a16:creationId xmlns:a16="http://schemas.microsoft.com/office/drawing/2014/main" id="{4E709115-4487-48F1-A263-BB32862B0BF1}"/>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A validation-based optimization-budget study remains a next step</a:t>
            </a:r>
          </a:p>
        </p:txBody>
      </p:sp>
    </p:spTree>
    <p:extLst>
      <p:ext uri="{BB962C8B-B14F-4D97-AF65-F5344CB8AC3E}">
        <p14:creationId xmlns:p14="http://schemas.microsoft.com/office/powerpoint/2010/main" val="138280187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20</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Architecture choices from the literature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D973F787-EF40-4AC5-B7C7-D7A4E7A4DBE9}"/>
              </a:ext>
            </a:extLst>
          </p:cNvPr>
          <p:cNvGraphicFramePr/>
          <p:nvPr/>
        </p:nvGraphicFramePr>
        <p:xfrm>
          <a:off xmlns:a="http://schemas.openxmlformats.org/drawingml/2006/main" x="571500" y="1752600"/>
          <a:ext xmlns:a="http://schemas.openxmlformats.org/drawingml/2006/main" cx="8001000" cy="3543300"/>
        </p:xfrm>
        <a:graphic xmlns:a="http://schemas.openxmlformats.org/drawingml/2006/main">
          <a:graphicData uri="http://schemas.openxmlformats.org/drawingml/2006/table">
            <a:tbl>
              <a:tblPr/>
              <a:tblGrid>
                <a:gridCol w="2209800"/>
                <a:gridCol w="2219325"/>
                <a:gridCol w="3571875"/>
              </a:tblGrid>
              <a:tr h="590550">
                <a:tc>
                  <a:txBody>
                    <a:bodyPr>
                      <a:noAutofit/>
                    </a:bodyPr>
                    <a:lstStyle/>
                    <a:p>
                      <a:pPr algn="l"/>
                      <a:r>
                        <a:rPr sz="1275" b="1">
                          <a:solidFill>
                            <a:srgbClr val="FFFFFF"/>
                          </a:solidFill>
                          <a:latin typeface="Arial"/>
                          <a:ea typeface="Arial"/>
                          <a:cs typeface="Arial"/>
                        </a:rPr>
                        <a:t>Architecture</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Relevant work</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Decision for this project</a:t>
                      </a:r>
                    </a:p>
                  </a:txBody>
                  <a:tcPr marL="85725" marR="85725" marT="76200" marB="76200" anchor="ctr">
                    <a:solidFill>
                      <a:srgbClr val="002B5E"/>
                    </a:solidFill>
                  </a:tcPr>
                </a:tc>
              </a:tr>
              <a:tr h="590550">
                <a:tc>
                  <a:txBody>
                    <a:bodyPr>
                      <a:noAutofit/>
                    </a:bodyPr>
                    <a:lstStyle/>
                    <a:p>
                      <a:pPr algn="l"/>
                      <a:r>
                        <a:rPr sz="1275" b="1">
                          <a:solidFill>
                            <a:srgbClr val="263645"/>
                          </a:solidFill>
                          <a:latin typeface="Arial"/>
                          <a:ea typeface="Arial"/>
                          <a:cs typeface="Arial"/>
                        </a:rPr>
                        <a:t>Compact tanh MLP</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Raissi et al., 2019</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Initial backbone for differentiable</a:t>
                      </a:r>
                    </a:p>
                    <a:p>
                      <a:pPr algn="ctr"/>
                      <a:r>
                        <a:rPr sz="1275" b="0">
                          <a:solidFill>
                            <a:srgbClr val="263645"/>
                          </a:solidFill>
                          <a:latin typeface="Arial"/>
                          <a:ea typeface="Arial"/>
                          <a:cs typeface="Arial"/>
                        </a:rPr>
                        <a:t>small-data constrained regression</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Modified or gated MLP</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Gradient pathologies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Next candidate if diagnostics show</a:t>
                      </a:r>
                    </a:p>
                    <a:p>
                      <a:pPr algn="ctr"/>
                      <a:r>
                        <a:rPr sz="1275" b="0">
                          <a:solidFill>
                            <a:srgbClr val="263645"/>
                          </a:solidFill>
                          <a:latin typeface="Arial"/>
                          <a:ea typeface="Arial"/>
                          <a:cs typeface="Arial"/>
                        </a:rPr>
                        <a:t>conflicting loss gradients</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Fourier-feature PINN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Wang et al., 2021</a:t>
                      </a:r>
                    </a:p>
                    <a:p>
                      <a:pPr algn="ctr"/>
                      <a:r>
                        <a:rPr sz="1275" b="0">
                          <a:solidFill>
                            <a:srgbClr val="263645"/>
                          </a:solidFill>
                          <a:latin typeface="Arial"/>
                          <a:ea typeface="Arial"/>
                          <a:cs typeface="Arial"/>
                        </a:rPr>
                        <a:t>Eigenvector bias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Test only with evidence of multiscale</a:t>
                      </a:r>
                    </a:p>
                    <a:p>
                      <a:pPr algn="ctr"/>
                      <a:r>
                        <a:rPr sz="1275" b="0">
                          <a:solidFill>
                            <a:srgbClr val="263645"/>
                          </a:solidFill>
                          <a:latin typeface="Arial"/>
                          <a:ea typeface="Arial"/>
                          <a:cs typeface="Arial"/>
                        </a:rPr>
                        <a:t>response rather than measurement noise</a:t>
                      </a:r>
                    </a:p>
                  </a:txBody>
                  <a:tcPr marL="85725" marR="85725" marT="76200" marB="76200" anchor="ctr">
                    <a:solidFill>
                      <a:srgbClr val="FFFFFF"/>
                    </a:solidFill>
                  </a:tcPr>
                </a:tc>
              </a:tr>
              <a:tr h="590550">
                <a:tc>
                  <a:txBody>
                    <a:bodyPr>
                      <a:noAutofit/>
                    </a:bodyPr>
                    <a:lstStyle/>
                    <a:p>
                      <a:pPr algn="l"/>
                      <a:r>
                        <a:rPr sz="1275" b="1">
                          <a:solidFill>
                            <a:srgbClr val="263645"/>
                          </a:solidFill>
                          <a:latin typeface="Arial"/>
                          <a:ea typeface="Arial"/>
                          <a:cs typeface="Arial"/>
                        </a:rPr>
                        <a:t>Bayesian PINN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Yang et al., 2021</a:t>
                      </a:r>
                    </a:p>
                    <a:p>
                      <a:pPr algn="ctr"/>
                      <a:r>
                        <a:rPr sz="1275" b="0">
                          <a:solidFill>
                            <a:srgbClr val="263645"/>
                          </a:solidFill>
                          <a:latin typeface="Arial"/>
                          <a:ea typeface="Arial"/>
                          <a:cs typeface="Arial"/>
                        </a:rPr>
                        <a:t>B-PINNs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Consider after auditing replicate noise</a:t>
                      </a:r>
                    </a:p>
                    <a:p>
                      <a:pPr algn="ctr"/>
                      <a:r>
                        <a:rPr sz="1275" b="0">
                          <a:solidFill>
                            <a:srgbClr val="263645"/>
                          </a:solidFill>
                          <a:latin typeface="Arial"/>
                          <a:ea typeface="Arial"/>
                          <a:cs typeface="Arial"/>
                        </a:rPr>
                        <a:t>and checking uncertainty calibration</a:t>
                      </a:r>
                    </a:p>
                  </a:txBody>
                  <a:tcPr marL="85725" marR="85725" marT="76200" marB="76200" anchor="ctr">
                    <a:solidFill>
                      <a:srgbClr val="F7F5EF"/>
                    </a:solidFill>
                  </a:tcPr>
                </a:tc>
              </a:tr>
              <a:tr h="590550">
                <a:tc>
                  <a:txBody>
                    <a:bodyPr>
                      <a:noAutofit/>
                    </a:bodyPr>
                    <a:lstStyle/>
                    <a:p>
                      <a:pPr algn="l"/>
                      <a:r>
                        <a:rPr sz="1275" b="1">
                          <a:solidFill>
                            <a:srgbClr val="263645"/>
                          </a:solidFill>
                          <a:latin typeface="Arial"/>
                          <a:ea typeface="Arial"/>
                          <a:cs typeface="Arial"/>
                        </a:rPr>
                        <a:t>DeepONet / FNO</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Lu et al., 2021</a:t>
                      </a:r>
                    </a:p>
                    <a:p>
                      <a:pPr algn="ctr"/>
                      <a:r>
                        <a:rPr sz="1275" b="0">
                          <a:solidFill>
                            <a:srgbClr val="263645"/>
                          </a:solidFill>
                          <a:latin typeface="Arial"/>
                          <a:ea typeface="Arial"/>
                          <a:cs typeface="Arial"/>
                        </a:rPr>
                        <a:t>Li et al., ICLR 2021</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Defer until trajectories, profiles,</a:t>
                      </a:r>
                    </a:p>
                    <a:p>
                      <a:pPr algn="ctr"/>
                      <a:r>
                        <a:rPr sz="1275" b="0">
                          <a:solidFill>
                            <a:srgbClr val="263645"/>
                          </a:solidFill>
                          <a:latin typeface="Arial"/>
                          <a:ea typeface="Arial"/>
                          <a:cs typeface="Arial"/>
                        </a:rPr>
                        <a:t>or families of field solutions exist</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A59927B6-266B-4A48-8959-BAF4EE26A958}"/>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The current scalar table supports a compact network before operator-learning models</a:t>
            </a:r>
          </a:p>
        </p:txBody>
      </p:sp>
    </p:spTree>
    <p:extLst>
      <p:ext uri="{BB962C8B-B14F-4D97-AF65-F5344CB8AC3E}">
        <p14:creationId xmlns:p14="http://schemas.microsoft.com/office/powerpoint/2010/main" val="13828018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21</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Recorded experiments and reproducibility</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72C00B18-0848-4414-B9E3-B5A120FCA5DA}"/>
              </a:ext>
            </a:extLst>
          </p:cNvPr>
          <p:cNvGraphicFramePr/>
          <p:nvPr/>
        </p:nvGraphicFramePr>
        <p:xfrm>
          <a:off xmlns:a="http://schemas.openxmlformats.org/drawingml/2006/main" x="571500" y="1771650"/>
          <a:ext xmlns:a="http://schemas.openxmlformats.org/drawingml/2006/main" cx="8001000" cy="2847975"/>
        </p:xfrm>
        <a:graphic xmlns:a="http://schemas.openxmlformats.org/drawingml/2006/main">
          <a:graphicData uri="http://schemas.openxmlformats.org/drawingml/2006/table">
            <a:tbl>
              <a:tblPr/>
              <a:tblGrid>
                <a:gridCol w="3257550"/>
                <a:gridCol w="952500"/>
                <a:gridCol w="2257425"/>
                <a:gridCol w="1533525"/>
              </a:tblGrid>
              <a:tr h="474663">
                <a:tc>
                  <a:txBody>
                    <a:bodyPr>
                      <a:noAutofit/>
                    </a:bodyPr>
                    <a:lstStyle/>
                    <a:p>
                      <a:pPr algn="l"/>
                      <a:r>
                        <a:rPr sz="1275" b="1">
                          <a:solidFill>
                            <a:srgbClr val="FFFFFF"/>
                          </a:solidFill>
                          <a:latin typeface="Arial"/>
                          <a:ea typeface="Arial"/>
                          <a:cs typeface="Arial"/>
                        </a:rPr>
                        <a:t>Run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Version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Start, Oct 11 (EDT)</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PINN RMSE</a:t>
                      </a:r>
                    </a:p>
                  </a:txBody>
                  <a:tcPr marL="85725" marR="85725" marT="76200" marB="76200" anchor="ctr">
                    <a:solidFill>
                      <a:srgbClr val="002B5E"/>
                    </a:solidFill>
                  </a:tcPr>
                </a:tc>
              </a:tr>
              <a:tr h="474663">
                <a:tc>
                  <a:txBody>
                    <a:bodyPr>
                      <a:noAutofit/>
                    </a:bodyPr>
                    <a:lstStyle/>
                    <a:p>
                      <a:pPr algn="l"/>
                      <a:r>
                        <a:rPr sz="1275" b="1">
                          <a:solidFill>
                            <a:srgbClr val="263645"/>
                          </a:solidFill>
                          <a:latin typeface="Arial"/>
                          <a:ea typeface="Arial"/>
                          <a:cs typeface="Arial"/>
                        </a:rPr>
                        <a:t>Measured grouped baseline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extrapolation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Unknown legacy time</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0.616773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grouped benchmark</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11:42:34</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0.055718 nm</a:t>
                      </a:r>
                    </a:p>
                  </a:txBody>
                  <a:tcPr marL="85725" marR="85725" marT="76200" marB="76200" anchor="ctr">
                    <a:solidFill>
                      <a:srgbClr val="FFFFFF"/>
                    </a:solidFill>
                  </a:tcPr>
                </a:tc>
              </a:tr>
              <a:tr h="474663">
                <a:tc>
                  <a:txBody>
                    <a:bodyPr>
                      <a:noAutofit/>
                    </a:bodyPr>
                    <a:lstStyle/>
                    <a:p>
                      <a:pPr algn="l"/>
                      <a:r>
                        <a:rPr sz="1275" b="1">
                          <a:solidFill>
                            <a:srgbClr val="263645"/>
                          </a:solidFill>
                          <a:latin typeface="Arial"/>
                          <a:ea typeface="Arial"/>
                          <a:cs typeface="Arial"/>
                        </a:rPr>
                        <a:t>Measured grouped rerun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11:44:41</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0.122251 nm</a:t>
                      </a:r>
                    </a:p>
                  </a:txBody>
                  <a:tcPr marL="85725" marR="85725" marT="76200" marB="76200" anchor="ctr">
                    <a:solidFill>
                      <a:srgbClr val="F7F5EF"/>
                    </a:solidFill>
                  </a:tcPr>
                </a:tc>
              </a:tr>
              <a:tr h="474663">
                <a:tc>
                  <a:txBody>
                    <a:bodyPr>
                      <a:noAutofit/>
                    </a:bodyPr>
                    <a:lstStyle/>
                    <a:p>
                      <a:pPr algn="l"/>
                      <a:r>
                        <a:rPr sz="1275" b="1">
                          <a:solidFill>
                            <a:srgbClr val="263645"/>
                          </a:solidFill>
                          <a:latin typeface="Arial"/>
                          <a:ea typeface="Arial"/>
                          <a:cs typeface="Arial"/>
                        </a:rPr>
                        <a:t>Synthetic concentration ablation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0.2.0</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11:45:28</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0.056009 nm</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56582596-6B09-4EC1-B63D-BC8EEAEF1DA1}"/>
              </a:ext>
            </a:extLst>
          </p:cNvPr>
          <p:cNvSpPr>
            <a:spLocks xmlns:a="http://schemas.openxmlformats.org/drawingml/2006/main" noGrp="1"/>
          </p:cNvSpPr>
          <p:nvPr/>
        </p:nvSpPr>
        <p:spPr>
          <a:xfrm xmlns:a="http://schemas.openxmlformats.org/drawingml/2006/main">
            <a:off x="733425" y="4962525"/>
            <a:ext cx="7677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Each new run stores execution times, per-model settings and results, exact source/configuration, data and artifact hashes, split IDs, and saved checkpoints.</a:t>
            </a:r>
          </a:p>
        </p:txBody>
      </p:sp>
      <p:sp>
        <p:nvSpPr>
          <p:cNvPr id="15" name="content-5">
            <a:extLst xmlns:a="http://schemas.openxmlformats.org/drawingml/2006/main">
              <a:ext uri="{FF2B5EF4-FFF2-40B4-BE49-F238E27FC236}">
                <a16:creationId xmlns:a16="http://schemas.microsoft.com/office/drawing/2014/main" id="{812B3284-D588-4BB5-BFB2-E95395A2C487}"/>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Ten integrity tests passed. All 111 archived artifacts match their published Git bytes</a:t>
            </a:r>
          </a:p>
        </p:txBody>
      </p:sp>
    </p:spTree>
    <p:extLst>
      <p:ext uri="{BB962C8B-B14F-4D97-AF65-F5344CB8AC3E}">
        <p14:creationId xmlns:p14="http://schemas.microsoft.com/office/powerpoint/2010/main" val="138280187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22</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What initial testing establishes</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3CDC792B-A966-4362-9892-667168BA7D89}"/>
              </a:ext>
            </a:extLst>
          </p:cNvPr>
          <p:cNvSpPr>
            <a:spLocks xmlns:a="http://schemas.openxmlformats.org/drawingml/2006/main" noGrp="1"/>
          </p:cNvSpPr>
          <p:nvPr/>
        </p:nvSpPr>
        <p:spPr>
          <a:xfrm xmlns:a="http://schemas.openxmlformats.org/drawingml/2006/main">
            <a:off x="723900" y="17145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SUPPORTED FINDINGS</a:t>
            </a:r>
          </a:p>
        </p:txBody>
      </p:sp>
      <p:sp>
        <p:nvSpPr>
          <p:cNvPr id="14" name="content-5">
            <a:extLst xmlns:a="http://schemas.openxmlformats.org/drawingml/2006/main">
              <a:ext uri="{FF2B5EF4-FFF2-40B4-BE49-F238E27FC236}">
                <a16:creationId xmlns:a16="http://schemas.microsoft.com/office/drawing/2014/main" id="{C44BE73E-C84D-4A0E-B8B9-9A4AE98C6E26}"/>
              </a:ext>
            </a:extLst>
          </p:cNvPr>
          <p:cNvSpPr>
            <a:spLocks xmlns:a="http://schemas.openxmlformats.org/drawingml/2006/main" noGrp="1"/>
          </p:cNvSpPr>
          <p:nvPr/>
        </p:nvSpPr>
        <p:spPr>
          <a:xfrm xmlns:a="http://schemas.openxmlformats.org/drawingml/2006/main">
            <a:off x="723900" y="21145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bounded architecture guarantees physically valid thickness predictions for valid totals.</a:t>
            </a:r>
          </a:p>
        </p:txBody>
      </p:sp>
      <p:sp>
        <p:nvSpPr>
          <p:cNvPr id="15" name="content-6">
            <a:extLst xmlns:a="http://schemas.openxmlformats.org/drawingml/2006/main">
              <a:ext uri="{FF2B5EF4-FFF2-40B4-BE49-F238E27FC236}">
                <a16:creationId xmlns:a16="http://schemas.microsoft.com/office/drawing/2014/main" id="{B6F7E5CD-5EA2-4A77-832E-86E66CDB03E4}"/>
              </a:ext>
            </a:extLst>
          </p:cNvPr>
          <p:cNvSpPr>
            <a:spLocks xmlns:a="http://schemas.openxmlformats.org/drawingml/2006/main" noGrp="1"/>
          </p:cNvSpPr>
          <p:nvPr/>
        </p:nvSpPr>
        <p:spPr>
          <a:xfrm xmlns:a="http://schemas.openxmlformats.org/drawingml/2006/main">
            <a:off x="723900" y="2962275"/>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measured PINN trails tree models on the initial concentration-group holdout.</a:t>
            </a:r>
          </a:p>
        </p:txBody>
      </p:sp>
      <p:sp>
        <p:nvSpPr>
          <p:cNvPr id="16" name="content-7">
            <a:extLst xmlns:a="http://schemas.openxmlformats.org/drawingml/2006/main">
              <a:ext uri="{FF2B5EF4-FFF2-40B4-BE49-F238E27FC236}">
                <a16:creationId xmlns:a16="http://schemas.microsoft.com/office/drawing/2014/main" id="{7BD0AA74-DDCB-461E-B7CE-D7AAD5EAB3E9}"/>
              </a:ext>
            </a:extLst>
          </p:cNvPr>
          <p:cNvSpPr>
            <a:spLocks xmlns:a="http://schemas.openxmlformats.org/drawingml/2006/main" noGrp="1"/>
          </p:cNvSpPr>
          <p:nvPr/>
        </p:nvSpPr>
        <p:spPr>
          <a:xfrm xmlns:a="http://schemas.openxmlformats.org/drawingml/2006/main">
            <a:off x="723900" y="381000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The synthetic PINN fits the represented distribution, while random forest remains stronger.</a:t>
            </a:r>
          </a:p>
        </p:txBody>
      </p:sp>
      <p:sp>
        <p:nvSpPr>
          <p:cNvPr id="17" name="content-8">
            <a:extLst xmlns:a="http://schemas.openxmlformats.org/drawingml/2006/main">
              <a:ext uri="{FF2B5EF4-FFF2-40B4-BE49-F238E27FC236}">
                <a16:creationId xmlns:a16="http://schemas.microsoft.com/office/drawing/2014/main" id="{54F2C3A4-9A61-4548-8FE4-654F771F86E8}"/>
              </a:ext>
            </a:extLst>
          </p:cNvPr>
          <p:cNvSpPr>
            <a:spLocks xmlns:a="http://schemas.openxmlformats.org/drawingml/2006/main" noGrp="1"/>
          </p:cNvSpPr>
          <p:nvPr/>
        </p:nvSpPr>
        <p:spPr>
          <a:xfrm xmlns:a="http://schemas.openxmlformats.org/drawingml/2006/main">
            <a:off x="5048250" y="1714500"/>
            <a:ext cx="3381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LIMITS ON INTERPRETATION</a:t>
            </a:r>
          </a:p>
        </p:txBody>
      </p:sp>
      <p:sp>
        <p:nvSpPr>
          <p:cNvPr id="18" name="content-9">
            <a:extLst xmlns:a="http://schemas.openxmlformats.org/drawingml/2006/main">
              <a:ext uri="{FF2B5EF4-FFF2-40B4-BE49-F238E27FC236}">
                <a16:creationId xmlns:a16="http://schemas.microsoft.com/office/drawing/2014/main" id="{294CD228-0E0C-496F-8E0D-768200A7D252}"/>
              </a:ext>
            </a:extLst>
          </p:cNvPr>
          <p:cNvSpPr>
            <a:spLocks xmlns:a="http://schemas.openxmlformats.org/drawingml/2006/main" noGrp="1"/>
          </p:cNvSpPr>
          <p:nvPr/>
        </p:nvSpPr>
        <p:spPr>
          <a:xfrm xmlns:a="http://schemas.openxmlformats.org/drawingml/2006/main">
            <a:off x="5048250" y="211455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Total thickness is a measured input. Recipe-only prediction needs a separate model design.</a:t>
            </a:r>
          </a:p>
        </p:txBody>
      </p:sp>
      <p:sp>
        <p:nvSpPr>
          <p:cNvPr id="19" name="content-10">
            <a:extLst xmlns:a="http://schemas.openxmlformats.org/drawingml/2006/main">
              <a:ext uri="{FF2B5EF4-FFF2-40B4-BE49-F238E27FC236}">
                <a16:creationId xmlns:a16="http://schemas.microsoft.com/office/drawing/2014/main" id="{26263B08-E3E9-4DBD-8673-8728044E114E}"/>
              </a:ext>
            </a:extLst>
          </p:cNvPr>
          <p:cNvSpPr>
            <a:spLocks xmlns:a="http://schemas.openxmlformats.org/drawingml/2006/main" noGrp="1"/>
          </p:cNvSpPr>
          <p:nvPr/>
        </p:nvSpPr>
        <p:spPr>
          <a:xfrm xmlns:a="http://schemas.openxmlformats.org/drawingml/2006/main">
            <a:off x="5048250" y="2962275"/>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Synthetic parent provenance and independent experimental batches remain unresolved.</a:t>
            </a:r>
          </a:p>
        </p:txBody>
      </p:sp>
      <p:sp>
        <p:nvSpPr>
          <p:cNvPr id="20" name="content-11">
            <a:extLst xmlns:a="http://schemas.openxmlformats.org/drawingml/2006/main">
              <a:ext uri="{FF2B5EF4-FFF2-40B4-BE49-F238E27FC236}">
                <a16:creationId xmlns:a16="http://schemas.microsoft.com/office/drawing/2014/main" id="{C6B7AB0F-AB0A-45E4-98F5-D50D3C684B43}"/>
              </a:ext>
            </a:extLst>
          </p:cNvPr>
          <p:cNvSpPr>
            <a:spLocks xmlns:a="http://schemas.openxmlformats.org/drawingml/2006/main" noGrp="1"/>
          </p:cNvSpPr>
          <p:nvPr/>
        </p:nvSpPr>
        <p:spPr>
          <a:xfrm xmlns:a="http://schemas.openxmlformats.org/drawingml/2006/main">
            <a:off x="5048250" y="3810000"/>
            <a:ext cx="34004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63645"/>
                </a:solidFill>
                <a:latin typeface="Arial"/>
                <a:ea typeface="Arial"/>
                <a:cs typeface="Arial"/>
              </a:defRPr>
            </a:defPPr>
          </a:lstStyle>
          <a:p xmlns:a="http://schemas.openxmlformats.org/drawingml/2006/main">
            <a:pPr algn="l">
              <a:defRPr sz="1500" b="0">
                <a:solidFill>
                  <a:srgbClr val="263645"/>
                </a:solidFill>
                <a:latin typeface="Arial"/>
                <a:ea typeface="Arial"/>
                <a:cs typeface="Arial"/>
              </a:defRPr>
            </a:pPr>
            <a:r>
              <a:rPr sz="1500" b="0">
                <a:solidFill>
                  <a:srgbClr val="263645"/>
                </a:solidFill>
                <a:latin typeface="Arial"/>
                <a:ea typeface="Arial"/>
                <a:cs typeface="Arial"/>
              </a:rPr>
              <a:t>No calibrated uncertainty, governing PDE, or identified adsorption mechanism is established.</a:t>
            </a:r>
          </a:p>
        </p:txBody>
      </p:sp>
      <p:sp>
        <p:nvSpPr>
          <p:cNvPr id="21" name="content-12">
            <a:extLst xmlns:a="http://schemas.openxmlformats.org/drawingml/2006/main">
              <a:ext uri="{FF2B5EF4-FFF2-40B4-BE49-F238E27FC236}">
                <a16:creationId xmlns:a16="http://schemas.microsoft.com/office/drawing/2014/main" id="{AC9E315B-EA86-49AF-8C06-C8A6A80C92C5}"/>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Physics plausibility and predictive accuracy require separate evidence</a:t>
            </a:r>
          </a:p>
        </p:txBody>
      </p:sp>
    </p:spTree>
    <p:extLst>
      <p:ext uri="{BB962C8B-B14F-4D97-AF65-F5344CB8AC3E}">
        <p14:creationId xmlns:p14="http://schemas.microsoft.com/office/powerpoint/2010/main" val="138280187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23</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Next experiments and decision criteria</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graphicFrame>
        <p:nvGraphicFramePr>
          <p:cNvPr id="13" name="">
            <a:extLst xmlns:a="http://schemas.openxmlformats.org/drawingml/2006/main">
              <a:ext uri="{FF2B5EF4-FFF2-40B4-BE49-F238E27FC236}">
                <a16:creationId xmlns:a16="http://schemas.microsoft.com/office/drawing/2014/main" id="{14F5524D-8E4D-41DE-BFBF-2B8A15642FE1}"/>
              </a:ext>
            </a:extLst>
          </p:cNvPr>
          <p:cNvGraphicFramePr/>
          <p:nvPr/>
        </p:nvGraphicFramePr>
        <p:xfrm>
          <a:off xmlns:a="http://schemas.openxmlformats.org/drawingml/2006/main" x="571500" y="1733550"/>
          <a:ext xmlns:a="http://schemas.openxmlformats.org/drawingml/2006/main" cx="8001000" cy="3390900"/>
        </p:xfrm>
        <a:graphic xmlns:a="http://schemas.openxmlformats.org/drawingml/2006/main">
          <a:graphicData uri="http://schemas.openxmlformats.org/drawingml/2006/table">
            <a:tbl>
              <a:tblPr/>
              <a:tblGrid>
                <a:gridCol w="1666875"/>
                <a:gridCol w="4105275"/>
                <a:gridCol w="2228850"/>
              </a:tblGrid>
              <a:tr h="565150">
                <a:tc>
                  <a:txBody>
                    <a:bodyPr>
                      <a:noAutofit/>
                    </a:bodyPr>
                    <a:lstStyle/>
                    <a:p>
                      <a:pPr algn="l"/>
                      <a:r>
                        <a:rPr sz="1275" b="1">
                          <a:solidFill>
                            <a:srgbClr val="FFFFFF"/>
                          </a:solidFill>
                          <a:latin typeface="Arial"/>
                          <a:ea typeface="Arial"/>
                          <a:cs typeface="Arial"/>
                        </a:rPr>
                        <a:t>Workstream</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Next action</a:t>
                      </a:r>
                    </a:p>
                  </a:txBody>
                  <a:tcPr marL="85725" marR="85725" marT="76200" marB="76200" anchor="ctr">
                    <a:solidFill>
                      <a:srgbClr val="002B5E"/>
                    </a:solidFill>
                  </a:tcPr>
                </a:tc>
                <a:tc>
                  <a:txBody>
                    <a:bodyPr>
                      <a:noAutofit/>
                    </a:bodyPr>
                    <a:lstStyle/>
                    <a:p>
                      <a:pPr algn="ctr"/>
                      <a:r>
                        <a:rPr sz="1275" b="1">
                          <a:solidFill>
                            <a:srgbClr val="FFFFFF"/>
                          </a:solidFill>
                          <a:latin typeface="Arial"/>
                          <a:ea typeface="Arial"/>
                          <a:cs typeface="Arial"/>
                        </a:rPr>
                        <a:t>Evidence to proceed</a:t>
                      </a:r>
                    </a:p>
                  </a:txBody>
                  <a:tcPr marL="85725" marR="85725" marT="76200" marB="76200" anchor="ctr">
                    <a:solidFill>
                      <a:srgbClr val="002B5E"/>
                    </a:solidFill>
                  </a:tcPr>
                </a:tc>
              </a:tr>
              <a:tr h="565150">
                <a:tc>
                  <a:txBody>
                    <a:bodyPr>
                      <a:noAutofit/>
                    </a:bodyPr>
                    <a:lstStyle/>
                    <a:p>
                      <a:pPr algn="l"/>
                      <a:r>
                        <a:rPr sz="1275" b="1">
                          <a:solidFill>
                            <a:srgbClr val="263645"/>
                          </a:solidFill>
                          <a:latin typeface="Arial"/>
                          <a:ea typeface="Arial"/>
                          <a:cs typeface="Arial"/>
                        </a:rPr>
                        <a:t>Data and units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Confirm units and measurement timing</a:t>
                      </a:r>
                    </a:p>
                    <a:p>
                      <a:pPr algn="ctr"/>
                      <a:r>
                        <a:rPr sz="1275" b="0">
                          <a:solidFill>
                            <a:srgbClr val="263645"/>
                          </a:solidFill>
                          <a:latin typeface="Arial"/>
                          <a:ea typeface="Arial"/>
                          <a:cs typeface="Arial"/>
                        </a:rPr>
                        <a:t>Add batch IDs and replicate error</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Verified units and</a:t>
                      </a:r>
                    </a:p>
                    <a:p>
                      <a:pPr algn="ctr"/>
                      <a:r>
                        <a:rPr sz="1275" b="0">
                          <a:solidFill>
                            <a:srgbClr val="263645"/>
                          </a:solidFill>
                          <a:latin typeface="Arial"/>
                          <a:ea typeface="Arial"/>
                          <a:cs typeface="Arial"/>
                        </a:rPr>
                        <a:t>independent groups</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Missing physics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Measure velocity, rheology and density</a:t>
                      </a:r>
                    </a:p>
                    <a:p>
                      <a:pPr algn="ctr"/>
                      <a:r>
                        <a:rPr sz="1275" b="0">
                          <a:solidFill>
                            <a:srgbClr val="263645"/>
                          </a:solidFill>
                          <a:latin typeface="Arial"/>
                          <a:ea typeface="Arial"/>
                          <a:cs typeface="Arial"/>
                        </a:rPr>
                        <a:t>Validate regime and dry conversion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Eligible regime and</a:t>
                      </a:r>
                    </a:p>
                    <a:p>
                      <a:pPr algn="ctr"/>
                      <a:r>
                        <a:rPr sz="1275" b="0">
                          <a:solidFill>
                            <a:srgbClr val="263645"/>
                          </a:solidFill>
                          <a:latin typeface="Arial"/>
                          <a:ea typeface="Arial"/>
                          <a:cs typeface="Arial"/>
                        </a:rPr>
                        <a:t>independent dry conversion</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Validation</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Repeat seeds and grouped experimental CV</a:t>
                      </a:r>
                    </a:p>
                    <a:p>
                      <a:pPr algn="ctr"/>
                      <a:r>
                        <a:rPr sz="1275" b="0">
                          <a:solidFill>
                            <a:srgbClr val="263645"/>
                          </a:solidFill>
                          <a:latin typeface="Arial"/>
                          <a:ea typeface="Arial"/>
                          <a:cs typeface="Arial"/>
                        </a:rPr>
                        <a:t>Reserve new independent test experiments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Stable error on an</a:t>
                      </a:r>
                    </a:p>
                    <a:p>
                      <a:pPr algn="ctr"/>
                      <a:r>
                        <a:rPr sz="1275" b="0">
                          <a:solidFill>
                            <a:srgbClr val="263645"/>
                          </a:solidFill>
                          <a:latin typeface="Arial"/>
                          <a:ea typeface="Arial"/>
                          <a:cs typeface="Arial"/>
                        </a:rPr>
                        <a:t>untouched measured test</a:t>
                      </a:r>
                    </a:p>
                  </a:txBody>
                  <a:tcPr marL="85725" marR="85725" marT="76200" marB="76200" anchor="ctr">
                    <a:solidFill>
                      <a:srgbClr val="FFFFFF"/>
                    </a:solidFill>
                  </a:tcPr>
                </a:tc>
              </a:tr>
              <a:tr h="565150">
                <a:tc>
                  <a:txBody>
                    <a:bodyPr>
                      <a:noAutofit/>
                    </a:bodyPr>
                    <a:lstStyle/>
                    <a:p>
                      <a:pPr algn="l"/>
                      <a:r>
                        <a:rPr sz="1275" b="1">
                          <a:solidFill>
                            <a:srgbClr val="263645"/>
                          </a:solidFill>
                          <a:latin typeface="Arial"/>
                          <a:ea typeface="Arial"/>
                          <a:cs typeface="Arial"/>
                        </a:rPr>
                        <a:t>Architecture and losses</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Test compact adsorption or saturation priors</a:t>
                      </a:r>
                    </a:p>
                    <a:p>
                      <a:pPr algn="ctr"/>
                      <a:r>
                        <a:rPr sz="1275" b="0">
                          <a:solidFill>
                            <a:srgbClr val="263645"/>
                          </a:solidFill>
                          <a:latin typeface="Arial"/>
                          <a:ea typeface="Arial"/>
                          <a:cs typeface="Arial"/>
                        </a:rPr>
                        <a:t>Tune only on training/validation</a:t>
                      </a:r>
                    </a:p>
                  </a:txBody>
                  <a:tcPr marL="85725" marR="85725" marT="76200" marB="76200" anchor="ctr">
                    <a:solidFill>
                      <a:srgbClr val="F7F5EF"/>
                    </a:solidFill>
                  </a:tcPr>
                </a:tc>
                <a:tc>
                  <a:txBody>
                    <a:bodyPr>
                      <a:noAutofit/>
                    </a:bodyPr>
                    <a:lstStyle/>
                    <a:p>
                      <a:pPr algn="ctr"/>
                      <a:r>
                        <a:rPr sz="1275" b="0">
                          <a:solidFill>
                            <a:srgbClr val="263645"/>
                          </a:solidFill>
                          <a:latin typeface="Arial"/>
                          <a:ea typeface="Arial"/>
                          <a:cs typeface="Arial"/>
                        </a:rPr>
                        <a:t>Gain over bounded NN</a:t>
                      </a:r>
                    </a:p>
                    <a:p>
                      <a:pPr algn="ctr"/>
                      <a:r>
                        <a:rPr sz="1275" b="0">
                          <a:solidFill>
                            <a:srgbClr val="263645"/>
                          </a:solidFill>
                          <a:latin typeface="Arial"/>
                          <a:ea typeface="Arial"/>
                          <a:cs typeface="Arial"/>
                        </a:rPr>
                        <a:t>with a frozen test</a:t>
                      </a:r>
                    </a:p>
                  </a:txBody>
                  <a:tcPr marL="85725" marR="85725" marT="76200" marB="76200" anchor="ctr">
                    <a:solidFill>
                      <a:srgbClr val="F7F5EF"/>
                    </a:solidFill>
                  </a:tcPr>
                </a:tc>
              </a:tr>
              <a:tr h="565150">
                <a:tc>
                  <a:txBody>
                    <a:bodyPr>
                      <a:noAutofit/>
                    </a:bodyPr>
                    <a:lstStyle/>
                    <a:p>
                      <a:pPr algn="l"/>
                      <a:r>
                        <a:rPr sz="1275" b="1">
                          <a:solidFill>
                            <a:srgbClr val="263645"/>
                          </a:solidFill>
                          <a:latin typeface="Arial"/>
                          <a:ea typeface="Arial"/>
                          <a:cs typeface="Arial"/>
                        </a:rPr>
                        <a:t>Data efficiency</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Augment after splitting measured parents</a:t>
                      </a:r>
                    </a:p>
                    <a:p>
                      <a:pPr algn="ctr"/>
                      <a:r>
                        <a:rPr sz="1275" b="0">
                          <a:solidFill>
                            <a:srgbClr val="263645"/>
                          </a:solidFill>
                          <a:latin typeface="Arial"/>
                          <a:ea typeface="Arial"/>
                          <a:cs typeface="Arial"/>
                        </a:rPr>
                        <a:t>Use fixed measured-test learning curves</a:t>
                      </a:r>
                    </a:p>
                  </a:txBody>
                  <a:tcPr marL="85725" marR="85725" marT="76200" marB="76200" anchor="ctr">
                    <a:solidFill>
                      <a:srgbClr val="FFFFFF"/>
                    </a:solidFill>
                  </a:tcPr>
                </a:tc>
                <a:tc>
                  <a:txBody>
                    <a:bodyPr>
                      <a:noAutofit/>
                    </a:bodyPr>
                    <a:lstStyle/>
                    <a:p>
                      <a:pPr algn="ctr"/>
                      <a:r>
                        <a:rPr sz="1275" b="0">
                          <a:solidFill>
                            <a:srgbClr val="263645"/>
                          </a:solidFill>
                          <a:latin typeface="Arial"/>
                          <a:ea typeface="Arial"/>
                          <a:cs typeface="Arial"/>
                        </a:rPr>
                        <a:t>Gain on measured tests</a:t>
                      </a:r>
                    </a:p>
                    <a:p>
                      <a:pPr algn="ctr"/>
                      <a:r>
                        <a:rPr sz="1275" b="0">
                          <a:solidFill>
                            <a:srgbClr val="263645"/>
                          </a:solidFill>
                          <a:latin typeface="Arial"/>
                          <a:ea typeface="Arial"/>
                          <a:cs typeface="Arial"/>
                        </a:rPr>
                        <a:t>with known training parents</a:t>
                      </a:r>
                    </a:p>
                  </a:txBody>
                  <a:tcPr marL="85725" marR="85725" marT="76200" marB="76200" anchor="ctr">
                    <a:solidFill>
                      <a:srgbClr val="FFFFFF"/>
                    </a:solidFill>
                  </a:tcPr>
                </a:tc>
              </a:tr>
            </a:tbl>
          </a:graphicData>
        </a:graphic>
      </p:graphicFrame>
      <p:sp>
        <p:nvSpPr>
          <p:cNvPr id="14" name="content-4">
            <a:extLst xmlns:a="http://schemas.openxmlformats.org/drawingml/2006/main">
              <a:ext uri="{FF2B5EF4-FFF2-40B4-BE49-F238E27FC236}">
                <a16:creationId xmlns:a16="http://schemas.microsoft.com/office/drawing/2014/main" id="{96928352-6934-41EA-8E39-4BD18582520C}"/>
              </a:ext>
            </a:extLst>
          </p:cNvPr>
          <p:cNvSpPr>
            <a:spLocks xmlns:a="http://schemas.openxmlformats.org/drawingml/2006/main" noGrp="1"/>
          </p:cNvSpPr>
          <p:nvPr/>
        </p:nvSpPr>
        <p:spPr>
          <a:xfrm xmlns:a="http://schemas.openxmlformats.org/drawingml/2006/main">
            <a:off x="704850" y="5734050"/>
            <a:ext cx="7734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002B5E"/>
                </a:solidFill>
                <a:latin typeface="Arial"/>
                <a:ea typeface="Arial"/>
                <a:cs typeface="Arial"/>
              </a:defRPr>
            </a:defPPr>
          </a:lstStyle>
          <a:p xmlns:a="http://schemas.openxmlformats.org/drawingml/2006/main">
            <a:pPr algn="ctr">
              <a:defRPr sz="1500" b="1">
                <a:solidFill>
                  <a:srgbClr val="002B5E"/>
                </a:solidFill>
                <a:latin typeface="Arial"/>
                <a:ea typeface="Arial"/>
                <a:cs typeface="Arial"/>
              </a:defRPr>
            </a:pPr>
            <a:r>
              <a:rPr sz="1500" b="1">
                <a:solidFill>
                  <a:srgbClr val="002B5E"/>
                </a:solidFill>
                <a:latin typeface="Arial"/>
                <a:ea typeface="Arial"/>
                <a:cs typeface="Arial"/>
              </a:rPr>
              <a:t>Immediate priority: validate measurements and splits before stronger physics claims</a:t>
            </a:r>
          </a:p>
        </p:txBody>
      </p:sp>
    </p:spTree>
    <p:extLst>
      <p:ext uri="{BB962C8B-B14F-4D97-AF65-F5344CB8AC3E}">
        <p14:creationId xmlns:p14="http://schemas.microsoft.com/office/powerpoint/2010/main" val="1382801872"/>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 name="footer-date">
            <a:extLst xmlns:a="http://schemas.openxmlformats.org/drawingml/2006/main">
              <a:ext uri="{FF2B5EF4-FFF2-40B4-BE49-F238E27FC236}">
                <a16:creationId xmlns:a16="http://schemas.microsoft.com/office/drawing/2014/main" id="{6BFBC6AE-2D89-4C50-BAD5-17AA0AF2C296}"/>
              </a:ext>
            </a:extLst>
          </p:cNvPr>
          <p:cNvSpPr>
            <a:spLocks xmlns:a="http://schemas.openxmlformats.org/drawingml/2006/main" noGrp="1"/>
          </p:cNvSpPr>
          <p:nvPr/>
        </p:nvSpPr>
        <p:spPr>
          <a:xfrm xmlns:a="http://schemas.openxmlformats.org/drawingml/2006/main">
            <a:off x="7410450" y="6515100"/>
            <a:ext cx="1000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825" b="0" i="0">
                <a:solidFill>
                  <a:srgbClr val="002B5E"/>
                </a:solidFill>
                <a:latin typeface="Georgia"/>
                <a:ea typeface="Georgia"/>
                <a:cs typeface="Georgia"/>
              </a:defRPr>
            </a:pPr>
            <a:r>
              <a:rPr sz="825" b="0" i="0">
                <a:solidFill>
                  <a:srgbClr val="002B5E"/>
                </a:solidFill>
                <a:latin typeface="Georgia"/>
                <a:ea typeface="Georgia"/>
                <a:cs typeface="Georgia"/>
              </a:rPr>
              <a:t>14 Oct 2026</a:t>
            </a:r>
          </a:p>
        </p:txBody>
      </p:sp>
      <p:sp>
        <p:nvSpPr>
          <p:cNvPr id="2" name="footer-page">
            <a:extLst xmlns:a="http://schemas.openxmlformats.org/drawingml/2006/main">
              <a:ext uri="{FF2B5EF4-FFF2-40B4-BE49-F238E27FC236}">
                <a16:creationId xmlns:a16="http://schemas.microsoft.com/office/drawing/2014/main" id="{7E6BD16D-04F5-409F-8123-5C0990C370B6}"/>
              </a:ext>
            </a:extLst>
          </p:cNvPr>
          <p:cNvSpPr>
            <a:spLocks xmlns:a="http://schemas.openxmlformats.org/drawingml/2006/main" noGrp="1"/>
          </p:cNvSpPr>
          <p:nvPr/>
        </p:nvSpPr>
        <p:spPr>
          <a:xfrm xmlns:a="http://schemas.openxmlformats.org/drawingml/2006/main">
            <a:off x="8620125" y="6486525"/>
            <a:ext cx="24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002B5E"/>
                </a:solidFill>
                <a:latin typeface="Georgia"/>
                <a:ea typeface="Georgia"/>
                <a:cs typeface="Georgia"/>
              </a:defRPr>
            </a:pPr>
            <a:r>
              <a:rPr sz="1050" b="0" i="0">
                <a:solidFill>
                  <a:srgbClr val="002B5E"/>
                </a:solidFill>
                <a:latin typeface="Georgia"/>
                <a:ea typeface="Georgia"/>
                <a:cs typeface="Georgia"/>
              </a:rPr>
              <a:t>24</a:t>
            </a:r>
          </a:p>
        </p:txBody>
      </p:sp>
      <p:sp>
        <p:nvSpPr>
          <p:cNvPr id="3" name="slide-title">
            <a:extLst xmlns:a="http://schemas.openxmlformats.org/drawingml/2006/main">
              <a:ext uri="{FF2B5EF4-FFF2-40B4-BE49-F238E27FC236}">
                <a16:creationId xmlns:a16="http://schemas.microsoft.com/office/drawing/2014/main" id="{B0F1B118-4376-46F6-812B-6B5D5C649891}"/>
              </a:ext>
            </a:extLst>
          </p:cNvPr>
          <p:cNvSpPr>
            <a:spLocks xmlns:a="http://schemas.openxmlformats.org/drawingml/2006/main" noGrp="1"/>
          </p:cNvSpPr>
          <p:nvPr/>
        </p:nvSpPr>
        <p:spPr>
          <a:xfrm xmlns:a="http://schemas.openxmlformats.org/drawingml/2006/main">
            <a:off x="571500" y="89535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1">
                <a:solidFill>
                  <a:srgbClr val="948151"/>
                </a:solidFill>
                <a:latin typeface="Arial"/>
                <a:ea typeface="Arial"/>
                <a:cs typeface="Arial"/>
              </a:defRPr>
            </a:defPPr>
          </a:lstStyle>
          <a:p xmlns:a="http://schemas.openxmlformats.org/drawingml/2006/main">
            <a:pPr algn="l">
              <a:lnSpc>
                <a:spcPct val="105000"/>
              </a:lnSpc>
              <a:buNone/>
              <a:defRPr sz="2250" b="1" i="0">
                <a:solidFill>
                  <a:srgbClr val="948151"/>
                </a:solidFill>
                <a:latin typeface="Arial"/>
                <a:ea typeface="Arial"/>
                <a:cs typeface="Arial"/>
              </a:defRPr>
            </a:pPr>
            <a:r>
              <a:rPr sz="2250" b="1" i="0">
                <a:solidFill>
                  <a:srgbClr val="948151"/>
                </a:solidFill>
                <a:latin typeface="Arial"/>
                <a:ea typeface="Arial"/>
                <a:cs typeface="Arial"/>
              </a:rPr>
              <a:t>References and archived evidence</a:t>
            </a:r>
          </a:p>
        </p:txBody>
      </p:sp>
      <p:sp>
        <p:nvSpPr>
          <p:cNvPr id="4" name="divider">
            <a:extLst xmlns:a="http://schemas.openxmlformats.org/drawingml/2006/main">
              <a:ext uri="{FF2B5EF4-FFF2-40B4-BE49-F238E27FC236}">
                <a16:creationId xmlns:a16="http://schemas.microsoft.com/office/drawing/2014/main" id="{87A1E0EC-F128-45EC-9BDB-180B06C45920}"/>
              </a:ext>
            </a:extLst>
          </p:cNvPr>
          <p:cNvSpPr>
            <a:spLocks xmlns:a="http://schemas.openxmlformats.org/drawingml/2006/main" noGrp="1"/>
          </p:cNvSpPr>
          <p:nvPr/>
        </p:nvSpPr>
        <p:spPr>
          <a:xfrm xmlns:a="http://schemas.openxmlformats.org/drawingml/2006/main">
            <a:off x="571500" y="1362075"/>
            <a:ext cx="8001000" cy="0"/>
          </a:xfrm>
          <a:prstGeom xmlns:a="http://schemas.openxmlformats.org/drawingml/2006/main" prst="line">
            <a:avLst/>
          </a:prstGeom>
          <a:noFill xmlns:a="http://schemas.openxmlformats.org/drawingml/2006/main"/>
          <a:ln xmlns:a="http://schemas.openxmlformats.org/drawingml/2006/main" w="14288">
            <a:solidFill>
              <a:srgbClr val="948151"/>
            </a:solidFill>
            <a:prstDash val="solid"/>
          </a:ln>
        </p:spPr>
      </p:sp>
      <p:sp>
        <p:nvSpPr>
          <p:cNvPr id="13" name="content-4">
            <a:extLst xmlns:a="http://schemas.openxmlformats.org/drawingml/2006/main">
              <a:ext uri="{FF2B5EF4-FFF2-40B4-BE49-F238E27FC236}">
                <a16:creationId xmlns:a16="http://schemas.microsoft.com/office/drawing/2014/main" id="{11B2F045-7D16-40AF-9E6D-44B4C23F3B87}"/>
              </a:ext>
            </a:extLst>
          </p:cNvPr>
          <p:cNvSpPr>
            <a:spLocks xmlns:a="http://schemas.openxmlformats.org/drawingml/2006/main" noGrp="1"/>
          </p:cNvSpPr>
          <p:nvPr/>
        </p:nvSpPr>
        <p:spPr>
          <a:xfrm xmlns:a="http://schemas.openxmlformats.org/drawingml/2006/main">
            <a:off x="714375" y="1695450"/>
            <a:ext cx="7667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PHYSICS-INFORMED ARCHITECTURES</a:t>
            </a:r>
          </a:p>
        </p:txBody>
      </p:sp>
      <p:sp>
        <p:nvSpPr>
          <p:cNvPr id="14" name="content-5">
            <a:extLst xmlns:a="http://schemas.openxmlformats.org/drawingml/2006/main">
              <a:ext uri="{FF2B5EF4-FFF2-40B4-BE49-F238E27FC236}">
                <a16:creationId xmlns:a16="http://schemas.microsoft.com/office/drawing/2014/main" id="{56668E38-AE34-43F2-A6EE-A9C0089C0272}"/>
              </a:ext>
            </a:extLst>
          </p:cNvPr>
          <p:cNvSpPr>
            <a:spLocks xmlns:a="http://schemas.openxmlformats.org/drawingml/2006/main" noGrp="1"/>
          </p:cNvSpPr>
          <p:nvPr/>
        </p:nvSpPr>
        <p:spPr>
          <a:xfrm xmlns:a="http://schemas.openxmlformats.org/drawingml/2006/main">
            <a:off x="714375" y="20669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fdb88149d3d14c9f"/>
              </a:rPr>
              <a:t>Raissi, Perdikaris &amp; Karniadakis (2019)</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Physics-informed neural networks, JCP</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10.1016/j.jcp.2018.10.045</a:t>
            </a:r>
          </a:p>
        </p:txBody>
      </p:sp>
      <p:sp>
        <p:nvSpPr>
          <p:cNvPr id="15" name="content-6">
            <a:extLst xmlns:a="http://schemas.openxmlformats.org/drawingml/2006/main">
              <a:ext uri="{FF2B5EF4-FFF2-40B4-BE49-F238E27FC236}">
                <a16:creationId xmlns:a16="http://schemas.microsoft.com/office/drawing/2014/main" id="{4FB6846F-A1FE-490E-BC4E-F834069A0811}"/>
              </a:ext>
            </a:extLst>
          </p:cNvPr>
          <p:cNvSpPr>
            <a:spLocks xmlns:a="http://schemas.openxmlformats.org/drawingml/2006/main" noGrp="1"/>
          </p:cNvSpPr>
          <p:nvPr/>
        </p:nvSpPr>
        <p:spPr>
          <a:xfrm xmlns:a="http://schemas.openxmlformats.org/drawingml/2006/main">
            <a:off x="714375" y="28479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1b81b3e0e2fa4b70"/>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Hard constraints for inverse design</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2102.04626</a:t>
            </a:r>
          </a:p>
        </p:txBody>
      </p:sp>
      <p:sp>
        <p:nvSpPr>
          <p:cNvPr id="16" name="content-7">
            <a:extLst xmlns:a="http://schemas.openxmlformats.org/drawingml/2006/main">
              <a:ext uri="{FF2B5EF4-FFF2-40B4-BE49-F238E27FC236}">
                <a16:creationId xmlns:a16="http://schemas.microsoft.com/office/drawing/2014/main" id="{3C986562-CAAD-4367-B316-1BE2C8FD25B8}"/>
              </a:ext>
            </a:extLst>
          </p:cNvPr>
          <p:cNvSpPr>
            <a:spLocks xmlns:a="http://schemas.openxmlformats.org/drawingml/2006/main" noGrp="1"/>
          </p:cNvSpPr>
          <p:nvPr/>
        </p:nvSpPr>
        <p:spPr>
          <a:xfrm xmlns:a="http://schemas.openxmlformats.org/drawingml/2006/main">
            <a:off x="714375" y="362902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7ea5eb499b74463c"/>
              </a:rPr>
              <a:t>Wang, Teng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Gradient flow pathologies in PINNs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10.1137/20M1318043</a:t>
            </a:r>
          </a:p>
        </p:txBody>
      </p:sp>
      <p:sp>
        <p:nvSpPr>
          <p:cNvPr id="17" name="content-8">
            <a:extLst xmlns:a="http://schemas.openxmlformats.org/drawingml/2006/main">
              <a:ext uri="{FF2B5EF4-FFF2-40B4-BE49-F238E27FC236}">
                <a16:creationId xmlns:a16="http://schemas.microsoft.com/office/drawing/2014/main" id="{BEEC3837-A856-406E-B7E7-5B3EB60D645B}"/>
              </a:ext>
            </a:extLst>
          </p:cNvPr>
          <p:cNvSpPr>
            <a:spLocks xmlns:a="http://schemas.openxmlformats.org/drawingml/2006/main" noGrp="1"/>
          </p:cNvSpPr>
          <p:nvPr/>
        </p:nvSpPr>
        <p:spPr>
          <a:xfrm xmlns:a="http://schemas.openxmlformats.org/drawingml/2006/main">
            <a:off x="714375" y="4410075"/>
            <a:ext cx="3895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fd4d08b9e17746c0"/>
              </a:rPr>
              <a:t>Wang, Wang &amp; Perdikaris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Fourier-feature eigenvector bias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10.1016/j.cma.2021.113938</a:t>
            </a:r>
          </a:p>
        </p:txBody>
      </p:sp>
      <p:sp>
        <p:nvSpPr>
          <p:cNvPr id="18" name="content-9">
            <a:extLst xmlns:a="http://schemas.openxmlformats.org/drawingml/2006/main">
              <a:ext uri="{FF2B5EF4-FFF2-40B4-BE49-F238E27FC236}">
                <a16:creationId xmlns:a16="http://schemas.microsoft.com/office/drawing/2014/main" id="{6DA4EC19-DF00-4487-AC7D-E2A6757A614A}"/>
              </a:ext>
            </a:extLst>
          </p:cNvPr>
          <p:cNvSpPr>
            <a:spLocks xmlns:a="http://schemas.openxmlformats.org/drawingml/2006/main" noGrp="1"/>
          </p:cNvSpPr>
          <p:nvPr/>
        </p:nvSpPr>
        <p:spPr>
          <a:xfrm xmlns:a="http://schemas.openxmlformats.org/drawingml/2006/main">
            <a:off x="5010150" y="20669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c8a1ba11700d4f5e"/>
              </a:rPr>
              <a:t>Yang, Meng &amp; Karniadakis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B-PINNs for noisy forward/inverse problems</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10.1016/j.jcp.2020.109913</a:t>
            </a:r>
          </a:p>
        </p:txBody>
      </p:sp>
      <p:sp>
        <p:nvSpPr>
          <p:cNvPr id="19" name="content-10">
            <a:extLst xmlns:a="http://schemas.openxmlformats.org/drawingml/2006/main">
              <a:ext uri="{FF2B5EF4-FFF2-40B4-BE49-F238E27FC236}">
                <a16:creationId xmlns:a16="http://schemas.microsoft.com/office/drawing/2014/main" id="{B1EF80C8-E4C0-4A38-8A78-AC68FFCD1878}"/>
              </a:ext>
            </a:extLst>
          </p:cNvPr>
          <p:cNvSpPr>
            <a:spLocks xmlns:a="http://schemas.openxmlformats.org/drawingml/2006/main" noGrp="1"/>
          </p:cNvSpPr>
          <p:nvPr/>
        </p:nvSpPr>
        <p:spPr>
          <a:xfrm xmlns:a="http://schemas.openxmlformats.org/drawingml/2006/main">
            <a:off x="5010150" y="284797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c001b37e271d434d"/>
              </a:rPr>
              <a:t>Lu et al.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DeepONet, Nature Machine Intelligence</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DOI: 10.1038/s42256-021-00302-5</a:t>
            </a:r>
          </a:p>
        </p:txBody>
      </p:sp>
      <p:sp>
        <p:nvSpPr>
          <p:cNvPr id="20" name="content-11">
            <a:extLst xmlns:a="http://schemas.openxmlformats.org/drawingml/2006/main">
              <a:ext uri="{FF2B5EF4-FFF2-40B4-BE49-F238E27FC236}">
                <a16:creationId xmlns:a16="http://schemas.microsoft.com/office/drawing/2014/main" id="{48CC2E71-116A-41BA-8123-E1F31F2C4A07}"/>
              </a:ext>
            </a:extLst>
          </p:cNvPr>
          <p:cNvSpPr>
            <a:spLocks xmlns:a="http://schemas.openxmlformats.org/drawingml/2006/main" noGrp="1"/>
          </p:cNvSpPr>
          <p:nvPr/>
        </p:nvSpPr>
        <p:spPr>
          <a:xfrm xmlns:a="http://schemas.openxmlformats.org/drawingml/2006/main">
            <a:off x="5010150" y="3629025"/>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263645"/>
                </a:solidFill>
                <a:latin typeface="Arial"/>
                <a:ea typeface="Arial"/>
                <a:cs typeface="Arial"/>
              </a:defRPr>
            </a:defPPr>
          </a:lstStyle>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hlinkClick xmlns:r="http://schemas.openxmlformats.org/officeDocument/2006/relationships" r:id="Rd48ff0074c724119"/>
              </a:rPr>
              <a:t>Li et al. (ICLR 2021)</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Fourier Neural Operator</a:t>
            </a:r>
          </a:p>
          <a:p xmlns:a="http://schemas.openxmlformats.org/drawingml/2006/main">
            <a:pPr algn="l">
              <a:defRPr sz="1200" b="0">
                <a:solidFill>
                  <a:srgbClr val="263645"/>
                </a:solidFill>
                <a:latin typeface="Arial"/>
                <a:ea typeface="Arial"/>
                <a:cs typeface="Arial"/>
              </a:defRPr>
            </a:pPr>
            <a:r>
              <a:rPr sz="1200" b="0">
                <a:solidFill>
                  <a:srgbClr val="263645"/>
                </a:solidFill>
                <a:latin typeface="Arial"/>
                <a:ea typeface="Arial"/>
                <a:cs typeface="Arial"/>
              </a:rPr>
              <a:t>arXiv: 2010.08895</a:t>
            </a:r>
          </a:p>
        </p:txBody>
      </p:sp>
      <p:sp>
        <p:nvSpPr>
          <p:cNvPr id="21" name="content-12">
            <a:extLst xmlns:a="http://schemas.openxmlformats.org/drawingml/2006/main">
              <a:ext uri="{FF2B5EF4-FFF2-40B4-BE49-F238E27FC236}">
                <a16:creationId xmlns:a16="http://schemas.microsoft.com/office/drawing/2014/main" id="{D3427084-E41A-4748-B90D-48902DB9025B}"/>
              </a:ext>
            </a:extLst>
          </p:cNvPr>
          <p:cNvSpPr>
            <a:spLocks xmlns:a="http://schemas.openxmlformats.org/drawingml/2006/main" noGrp="1"/>
          </p:cNvSpPr>
          <p:nvPr/>
        </p:nvSpPr>
        <p:spPr>
          <a:xfrm xmlns:a="http://schemas.openxmlformats.org/drawingml/2006/main">
            <a:off x="5010150" y="4514850"/>
            <a:ext cx="35147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1">
                <a:solidFill>
                  <a:srgbClr val="002B5E"/>
                </a:solidFill>
                <a:latin typeface="Arial"/>
                <a:ea typeface="Arial"/>
                <a:cs typeface="Arial"/>
              </a:defRPr>
            </a:defPPr>
          </a:lstStyle>
          <a:p xmlns:a="http://schemas.openxmlformats.org/drawingml/2006/main">
            <a:pPr algn="l">
              <a:defRPr sz="1125" b="1">
                <a:solidFill>
                  <a:srgbClr val="002B5E"/>
                </a:solidFill>
                <a:latin typeface="Arial"/>
                <a:ea typeface="Arial"/>
                <a:cs typeface="Arial"/>
              </a:defRPr>
            </a:pPr>
            <a:r>
              <a:rPr sz="1125" b="1">
                <a:solidFill>
                  <a:srgbClr val="002B5E"/>
                </a:solidFill>
                <a:latin typeface="Arial"/>
                <a:ea typeface="Arial"/>
                <a:cs typeface="Arial"/>
              </a:rPr>
              <a:t>CODE AND RESULTS</a:t>
            </a:r>
          </a:p>
        </p:txBody>
      </p:sp>
      <p:sp>
        <p:nvSpPr>
          <p:cNvPr id="22" name="content-13">
            <a:extLst xmlns:a="http://schemas.openxmlformats.org/drawingml/2006/main">
              <a:ext uri="{FF2B5EF4-FFF2-40B4-BE49-F238E27FC236}">
                <a16:creationId xmlns:a16="http://schemas.microsoft.com/office/drawing/2014/main" id="{DC9C9A24-1DA8-49AC-9292-9F2B4146F992}"/>
              </a:ext>
            </a:extLst>
          </p:cNvPr>
          <p:cNvSpPr>
            <a:spLocks xmlns:a="http://schemas.openxmlformats.org/drawingml/2006/main" noGrp="1"/>
          </p:cNvSpPr>
          <p:nvPr/>
        </p:nvSpPr>
        <p:spPr>
          <a:xfrm xmlns:a="http://schemas.openxmlformats.org/drawingml/2006/main">
            <a:off x="5010150" y="4838700"/>
            <a:ext cx="35147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002B5E"/>
                </a:solidFill>
                <a:latin typeface="Arial"/>
                <a:ea typeface="Arial"/>
                <a:cs typeface="Arial"/>
              </a:defRPr>
            </a:defPPr>
          </a:lstStyle>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GitHub: aadams2006 / Pitt-ML-MSE-Project</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rPr>
              <a:t>PINN folder and experiment register</a:t>
            </a:r>
          </a:p>
          <a:p xmlns:a="http://schemas.openxmlformats.org/drawingml/2006/main">
            <a:pPr algn="l">
              <a:defRPr sz="1200" b="0">
                <a:solidFill>
                  <a:srgbClr val="002B5E"/>
                </a:solidFill>
                <a:latin typeface="Arial"/>
                <a:ea typeface="Arial"/>
                <a:cs typeface="Arial"/>
              </a:defRPr>
            </a:pPr>
            <a:r>
              <a:rPr sz="1200" b="0">
                <a:solidFill>
                  <a:srgbClr val="002B5E"/>
                </a:solidFill>
                <a:latin typeface="Arial"/>
                <a:ea typeface="Arial"/>
                <a:cs typeface="Arial"/>
                <a:hlinkClick xmlns:r="http://schemas.openxmlformats.org/officeDocument/2006/relationships" r:id="Rc2a2f3cbe76b4baf"/>
              </a:rPr>
              <a:t>Draft pull request #6</a:t>
            </a:r>
          </a:p>
        </p:txBody>
      </p:sp>
      <p:sp>
        <p:nvSpPr>
          <p:cNvPr id="23" name="content-14">
            <a:extLst xmlns:a="http://schemas.openxmlformats.org/drawingml/2006/main">
              <a:ext uri="{FF2B5EF4-FFF2-40B4-BE49-F238E27FC236}">
                <a16:creationId xmlns:a16="http://schemas.microsoft.com/office/drawing/2014/main" id="{AE954B3C-25EB-4E71-8094-D0CDDF50932E}"/>
              </a:ext>
            </a:extLst>
          </p:cNvPr>
          <p:cNvSpPr>
            <a:spLocks xmlns:a="http://schemas.openxmlformats.org/drawingml/2006/main" noGrp="1"/>
          </p:cNvSpPr>
          <p:nvPr/>
        </p:nvSpPr>
        <p:spPr>
          <a:xfrm xmlns:a="http://schemas.openxmlformats.org/drawingml/2006/main">
            <a:off x="714375" y="5895975"/>
            <a:ext cx="77057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5717B"/>
                </a:solidFill>
                <a:latin typeface="Arial"/>
                <a:ea typeface="Arial"/>
                <a:cs typeface="Arial"/>
              </a:defRPr>
            </a:defPPr>
          </a:lstStyle>
          <a:p xmlns:a="http://schemas.openxmlformats.org/drawingml/2006/main">
            <a:pPr algn="ctr">
              <a:defRPr sz="1275" b="0">
                <a:solidFill>
                  <a:srgbClr val="65717B"/>
                </a:solidFill>
                <a:latin typeface="Arial"/>
                <a:ea typeface="Arial"/>
                <a:cs typeface="Arial"/>
              </a:defRPr>
            </a:pPr>
            <a:r>
              <a:rPr sz="1275" b="0">
                <a:solidFill>
                  <a:srgbClr val="65717B"/>
                </a:solidFill>
                <a:latin typeface="Arial"/>
                <a:ea typeface="Arial"/>
                <a:cs typeface="Arial"/>
              </a:rPr>
              <a:t>Results through October 11, 2026. Full sources and numerical details are in speaker notes.</a:t>
            </a:r>
          </a:p>
        </p:txBody>
      </p:sp>
    </p:spTree>
    <p:extLst>
      <p:ext uri="{BB962C8B-B14F-4D97-AF65-F5344CB8AC3E}">
        <p14:creationId xmlns:p14="http://schemas.microsoft.com/office/powerpoint/2010/main" val="1382801872"/>
      </p:ext>
    </p:extLst>
  </p:cSld>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eorgia"/>
        <a:ea typeface="ＭＳ Ｐゴシック"/>
        <a:cs typeface="ＭＳ Ｐゴシック"/>
      </a:majorFont>
      <a:minorFont>
        <a:latin typeface="Georgia"/>
        <a:ea typeface="ＭＳ Ｐゴシック"/>
        <a:cs typeface="ＭＳ Ｐゴシック"/>
      </a:minorFont>
    </a:fontScheme>
    <a:fmtScheme name="Blank Presentation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2026-10-12T00:32:11.5140000Z</dcterms:created>
  <dcterms:modified xsi:type="dcterms:W3CDTF">2026-10-12T00:32:11.5140000Z</dcterms:modified>
</coreProperties>
</file>