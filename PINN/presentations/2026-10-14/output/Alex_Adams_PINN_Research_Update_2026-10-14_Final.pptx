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6.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eaa96214024413" /><Relationship Type="http://schemas.openxmlformats.org/officeDocument/2006/relationships/extended-properties" Target="/docProps/app.xml" Id="Ra19e019f5558446a" /><Relationship Type="http://schemas.openxmlformats.org/officeDocument/2006/relationships/officeDocument" Target="/ppt/presentation.xml" Id="Rb111965b05714411" /></Relationships>
</file>

<file path=ppt/presentation.xml><?xml version="1.0" encoding="utf-8"?>
<p:presentation xmlns:p="http://schemas.openxmlformats.org/presentationml/2006/main">
  <p:sldMasterIdLst>
    <p:sldMasterId xmlns:r="http://schemas.openxmlformats.org/officeDocument/2006/relationships" id="2147483648" r:id="R371035075ceb4101"/>
  </p:sldMasterIdLst>
  <p:notesMasterIdLst>
    <p:notesMasterId xmlns:r="http://schemas.openxmlformats.org/officeDocument/2006/relationships" r:id="R6f46c5b67fc941b6"/>
  </p:notesMasterIdLst>
  <p:sldIdLst>
    <p:sldId xmlns:r="http://schemas.openxmlformats.org/officeDocument/2006/relationships" id="256" r:id="R46bd6e84f64f45aa"/>
    <p:sldId xmlns:r="http://schemas.openxmlformats.org/officeDocument/2006/relationships" id="257" r:id="Re6924b19aec34d17"/>
    <p:sldId xmlns:r="http://schemas.openxmlformats.org/officeDocument/2006/relationships" id="258" r:id="R6a40e26b7ce643b4"/>
    <p:sldId xmlns:r="http://schemas.openxmlformats.org/officeDocument/2006/relationships" id="259" r:id="R53a5d25181d34126"/>
    <p:sldId xmlns:r="http://schemas.openxmlformats.org/officeDocument/2006/relationships" id="260" r:id="Rd73d09f236df4260"/>
    <p:sldId xmlns:r="http://schemas.openxmlformats.org/officeDocument/2006/relationships" id="261" r:id="R4a4c5fc48ad34c4b"/>
    <p:sldId xmlns:r="http://schemas.openxmlformats.org/officeDocument/2006/relationships" id="262" r:id="R4d085b31b7ce4a05"/>
    <p:sldId xmlns:r="http://schemas.openxmlformats.org/officeDocument/2006/relationships" id="263" r:id="R4eb8e48a69de4d20"/>
    <p:sldId xmlns:r="http://schemas.openxmlformats.org/officeDocument/2006/relationships" id="264" r:id="Rb4cbdca44a8840ea"/>
    <p:sldId xmlns:r="http://schemas.openxmlformats.org/officeDocument/2006/relationships" id="265" r:id="Ra3c7c6def1934e24"/>
    <p:sldId xmlns:r="http://schemas.openxmlformats.org/officeDocument/2006/relationships" id="266" r:id="R722ea1a444ea42f4"/>
    <p:sldId xmlns:r="http://schemas.openxmlformats.org/officeDocument/2006/relationships" id="267" r:id="R852d8c6296b44f6b"/>
    <p:sldId xmlns:r="http://schemas.openxmlformats.org/officeDocument/2006/relationships" id="268" r:id="Rdeec9fa8546b44db"/>
    <p:sldId xmlns:r="http://schemas.openxmlformats.org/officeDocument/2006/relationships" id="269" r:id="Rdd704ce8eebf4f60"/>
    <p:sldId xmlns:r="http://schemas.openxmlformats.org/officeDocument/2006/relationships" id="270" r:id="R48ec55d09a164a69"/>
    <p:sldId xmlns:r="http://schemas.openxmlformats.org/officeDocument/2006/relationships" id="271" r:id="Rc7b61302889c48df"/>
    <p:sldId xmlns:r="http://schemas.openxmlformats.org/officeDocument/2006/relationships" id="272" r:id="Rb1ecd9262d6749dd"/>
    <p:sldId xmlns:r="http://schemas.openxmlformats.org/officeDocument/2006/relationships" id="273" r:id="R2b0cb000d7c0470a"/>
    <p:sldId xmlns:r="http://schemas.openxmlformats.org/officeDocument/2006/relationships" id="274" r:id="Rb983ba5210a047bd"/>
    <p:sldId xmlns:r="http://schemas.openxmlformats.org/officeDocument/2006/relationships" id="275" r:id="Rde154a7af8d24267"/>
    <p:sldId xmlns:r="http://schemas.openxmlformats.org/officeDocument/2006/relationships" id="276" r:id="Rb9c4b8abcd6849a7"/>
    <p:sldId xmlns:r="http://schemas.openxmlformats.org/officeDocument/2006/relationships" id="277" r:id="R8471d6c2f37241a9"/>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bfc3badf81f436b" /><Relationship Type="http://schemas.openxmlformats.org/officeDocument/2006/relationships/slideMaster" Target="/ppt/slideMasters/slideMaster1.xml" Id="R371035075ceb4101" /><Relationship Type="http://schemas.openxmlformats.org/officeDocument/2006/relationships/notesMaster" Target="/ppt/notesMasters/notesMaster1.xml" Id="R6f46c5b67fc941b6" /><Relationship Type="http://schemas.openxmlformats.org/officeDocument/2006/relationships/presProps" Target="/ppt/presProps.xml" Id="Rde259a30d5e74924" /><Relationship Type="http://schemas.openxmlformats.org/officeDocument/2006/relationships/viewProps" Target="/ppt/viewProps.xml" Id="Rfc08ddcb99f24bda" /><Relationship Type="http://schemas.openxmlformats.org/officeDocument/2006/relationships/tableStyles" Target="/ppt/tableStyles.xml" Id="R1a2812d13a994c70" /><Relationship Type="http://schemas.openxmlformats.org/officeDocument/2006/relationships/slide" Target="/ppt/slides/slide1.xml" Id="R46bd6e84f64f45aa" /><Relationship Type="http://schemas.openxmlformats.org/officeDocument/2006/relationships/slide" Target="/ppt/slides/slide2.xml" Id="Re6924b19aec34d17" /><Relationship Type="http://schemas.openxmlformats.org/officeDocument/2006/relationships/slide" Target="/ppt/slides/slide3.xml" Id="R6a40e26b7ce643b4" /><Relationship Type="http://schemas.openxmlformats.org/officeDocument/2006/relationships/slide" Target="/ppt/slides/slide4.xml" Id="R53a5d25181d34126" /><Relationship Type="http://schemas.openxmlformats.org/officeDocument/2006/relationships/slide" Target="/ppt/slides/slide5.xml" Id="Rd73d09f236df4260" /><Relationship Type="http://schemas.openxmlformats.org/officeDocument/2006/relationships/slide" Target="/ppt/slides/slide6.xml" Id="R4a4c5fc48ad34c4b" /><Relationship Type="http://schemas.openxmlformats.org/officeDocument/2006/relationships/slide" Target="/ppt/slides/slide7.xml" Id="R4d085b31b7ce4a05" /><Relationship Type="http://schemas.openxmlformats.org/officeDocument/2006/relationships/slide" Target="/ppt/slides/slide8.xml" Id="R4eb8e48a69de4d20" /><Relationship Type="http://schemas.openxmlformats.org/officeDocument/2006/relationships/slide" Target="/ppt/slides/slide9.xml" Id="Rb4cbdca44a8840ea" /><Relationship Type="http://schemas.openxmlformats.org/officeDocument/2006/relationships/slide" Target="/ppt/slides/slide10.xml" Id="Ra3c7c6def1934e24" /><Relationship Type="http://schemas.openxmlformats.org/officeDocument/2006/relationships/slide" Target="/ppt/slides/slide11.xml" Id="R722ea1a444ea42f4" /><Relationship Type="http://schemas.openxmlformats.org/officeDocument/2006/relationships/slide" Target="/ppt/slides/slide12.xml" Id="R852d8c6296b44f6b" /><Relationship Type="http://schemas.openxmlformats.org/officeDocument/2006/relationships/slide" Target="/ppt/slides/slide13.xml" Id="Rdeec9fa8546b44db" /><Relationship Type="http://schemas.openxmlformats.org/officeDocument/2006/relationships/slide" Target="/ppt/slides/slide14.xml" Id="Rdd704ce8eebf4f60" /><Relationship Type="http://schemas.openxmlformats.org/officeDocument/2006/relationships/slide" Target="/ppt/slides/slide15.xml" Id="R48ec55d09a164a69" /><Relationship Type="http://schemas.openxmlformats.org/officeDocument/2006/relationships/slide" Target="/ppt/slides/slide16.xml" Id="Rc7b61302889c48df" /><Relationship Type="http://schemas.openxmlformats.org/officeDocument/2006/relationships/slide" Target="/ppt/slides/slide17.xml" Id="Rb1ecd9262d6749dd" /><Relationship Type="http://schemas.openxmlformats.org/officeDocument/2006/relationships/slide" Target="/ppt/slides/slide18.xml" Id="R2b0cb000d7c0470a" /><Relationship Type="http://schemas.openxmlformats.org/officeDocument/2006/relationships/slide" Target="/ppt/slides/slide19.xml" Id="Rb983ba5210a047bd" /><Relationship Type="http://schemas.openxmlformats.org/officeDocument/2006/relationships/slide" Target="/ppt/slides/slide20.xml" Id="Rde154a7af8d24267" /><Relationship Type="http://schemas.openxmlformats.org/officeDocument/2006/relationships/slide" Target="/ppt/slides/slide21.xml" Id="Rb9c4b8abcd6849a7" /><Relationship Type="http://schemas.openxmlformats.org/officeDocument/2006/relationships/slide" Target="/ppt/slides/slide22.xml" Id="R8471d6c2f37241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0f481185b42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4bb230c174c2a" /><Relationship Type="http://schemas.openxmlformats.org/officeDocument/2006/relationships/notesMaster" Target="/ppt/notesMasters/notesMaster1.xml" Id="R254a7f0a329240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09625f71fa47ef" /><Relationship Type="http://schemas.openxmlformats.org/officeDocument/2006/relationships/notesMaster" Target="/ppt/notesMasters/notesMaster1.xml" Id="R151575a9229042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04cc57c5bc4083" /><Relationship Type="http://schemas.openxmlformats.org/officeDocument/2006/relationships/notesMaster" Target="/ppt/notesMasters/notesMaster1.xml" Id="R83093bcc80b84a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65b6ada390471e" /><Relationship Type="http://schemas.openxmlformats.org/officeDocument/2006/relationships/notesMaster" Target="/ppt/notesMasters/notesMaster1.xml" Id="Rfbbc56492eef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ed9a5d77124cb1" /><Relationship Type="http://schemas.openxmlformats.org/officeDocument/2006/relationships/notesMaster" Target="/ppt/notesMasters/notesMaster1.xml" Id="R39ceca60256e4f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d6ef13df0a4d2a" /><Relationship Type="http://schemas.openxmlformats.org/officeDocument/2006/relationships/notesMaster" Target="/ppt/notesMasters/notesMaster1.xml" Id="R320766399c6f41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00a052ef5a4418" /><Relationship Type="http://schemas.openxmlformats.org/officeDocument/2006/relationships/notesMaster" Target="/ppt/notesMasters/notesMaster1.xml" Id="R6eac397b541046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75837fa17e482e" /><Relationship Type="http://schemas.openxmlformats.org/officeDocument/2006/relationships/notesMaster" Target="/ppt/notesMasters/notesMaster1.xml" Id="R9a8c29bfdf984e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628a12b4d84831" /><Relationship Type="http://schemas.openxmlformats.org/officeDocument/2006/relationships/notesMaster" Target="/ppt/notesMasters/notesMaster1.xml" Id="R2eafb31f0b4f40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fbb3a833224a2d" /><Relationship Type="http://schemas.openxmlformats.org/officeDocument/2006/relationships/notesMaster" Target="/ppt/notesMasters/notesMaster1.xml" Id="R72a8cf8c322444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570045f65046fa" /><Relationship Type="http://schemas.openxmlformats.org/officeDocument/2006/relationships/notesMaster" Target="/ppt/notesMasters/notesMaster1.xml" Id="R71c387aeb8ca43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9be42778ea4ae2" /><Relationship Type="http://schemas.openxmlformats.org/officeDocument/2006/relationships/notesMaster" Target="/ppt/notesMasters/notesMaster1.xml" Id="Rfa626dc2500c4b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df611f8e234447" /><Relationship Type="http://schemas.openxmlformats.org/officeDocument/2006/relationships/notesMaster" Target="/ppt/notesMasters/notesMaster1.xml" Id="Rf37aac58fa8a42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064c0c889044a4" /><Relationship Type="http://schemas.openxmlformats.org/officeDocument/2006/relationships/notesMaster" Target="/ppt/notesMasters/notesMaster1.xml" Id="Rb0990f7300524f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81f9a294644bb7" /><Relationship Type="http://schemas.openxmlformats.org/officeDocument/2006/relationships/notesMaster" Target="/ppt/notesMasters/notesMaster1.xml" Id="R9fe966b69b8f48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562d2c05fc4f6b" /><Relationship Type="http://schemas.openxmlformats.org/officeDocument/2006/relationships/notesMaster" Target="/ppt/notesMasters/notesMaster1.xml" Id="R198d8fc6365c43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2860a33020494b" /><Relationship Type="http://schemas.openxmlformats.org/officeDocument/2006/relationships/notesMaster" Target="/ppt/notesMasters/notesMaster1.xml" Id="R2700db962c2641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6ac5a170cf4503" /><Relationship Type="http://schemas.openxmlformats.org/officeDocument/2006/relationships/notesMaster" Target="/ppt/notesMasters/notesMaster1.xml" Id="R639d627ec03549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be867605fb498b" /><Relationship Type="http://schemas.openxmlformats.org/officeDocument/2006/relationships/notesMaster" Target="/ppt/notesMasters/notesMaster1.xml" Id="R520b616ed8bb43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98d34153944090" /><Relationship Type="http://schemas.openxmlformats.org/officeDocument/2006/relationships/notesMaster" Target="/ppt/notesMasters/notesMaster1.xml" Id="R57f95ba0f33741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e5bc7931674b0c" /><Relationship Type="http://schemas.openxmlformats.org/officeDocument/2006/relationships/notesMaster" Target="/ppt/notesMasters/notesMaster1.xml" Id="R692ff8e52c0543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f06cdb0fa04297" /><Relationship Type="http://schemas.openxmlformats.org/officeDocument/2006/relationships/notesMaster" Target="/ppt/notesMasters/notesMaster1.xml" Id="R4df1162219654e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update for October 14, 2026. Results available through October 11, 2026. All numbers in this deck come from archived PINN runs. The supplied September deck provides the theme and layout reference. No new training runs were executed for this presentation.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PINN is physics-constrained tabular regression. It does not yet solve a governing PDE or identify an adsorption mechanism. Its inputs include measured total thickness, so recipe-only process forecasting remains a separate objective.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completed October 11, 2026. v0.1 runs predate prospective execution timestamps. v0.2 adds timestamped lifecycle records and seven-input synthetic benchmarks. The measured rerun reproduces v0.1 results. The code and artifacts are published on codex/pinn-physics-and-run-tracking with draft PR #6.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https://github.com/aadams2006/Pitt-ML-MSE-Project/tree/c771a486fe82b1ea13e7a70e156f64f01db03128/PINN/CHANGELOG.md</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overlap: 182+6+113 is not the number excluded. The union of invalid checks is 192, leaving 2808. The default physical checks also reject negative bonded values, negative layer inputs, missing/nonfinite values and invalid log inputs. There were no additional excluded rows under these checks for this benchmark. The combined synthetic source remains byte-identical to its original snapshot. Parent-row provenance is unavailable.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https://github.com/aadams2006/Pitt-ML-MSE-Project/tree/c771a486fe82b1ea13e7a70e156f64f01db03128/PINN/datasets/provenance.json</a:t>
            </a:r>
            <a:endParaRPr>
              <a:latin typeface="Arial"/>
              <a:ea typeface="Arial"/>
              <a:cs typeface="Arial"/>
            </a:endParaRPr>
          </a:p>
          <a:p xmlns:a="http://schemas.openxmlformats.org/drawingml/2006/main">
            <a:r>
              <a:t>https://github.com/aadams2006/Pitt-ML-MSE-Project/tree/c771a486fe82b1ea13e7a70e156f64f01db03128/PINN/runs/v020_synthetic_grouped/data_audit.json</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concentration spans 0.02 to 10 in the measured CSV, a 500-fold range. A natural log reduces scale imbalance. The source labels say g/mL, but high values and differences between workbooks and derived tables require lab confirmation. StandardScaler fits the training rows only. Bonded thickness never enters the input set. Total thickness is also the raw output envelope and is required at inference. Solvent descriptors have only three solvent-associated combinations in the synthetic data.</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https://github.com/aadams2006/Pitt-ML-MSE-Project/tree/c771a486fe82b1ea13e7a70e156f64f01db03128/PINN/config_synthetic.json</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 inputs, Linear(d,16), tanh, Linear(16,16), tanh, Linear(16,1), then sigmoid multiplied by raw measured total thickness. Parameter count is 16d+16+272+17, giving 353 for d=3 and 417 for d=7. Xavier-uniform weights and zero biases initialize the network. A positive measured total is required in data loading. Finite logits approach the endpoints asymptotically. The standard-NN ablation retains the same hidden layers but uses a linear unbounded output. Diagram structure is reused from slide 15 of the provided reference.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Ldata = mean(((hB_hat-hB)/sy)^2), with sy the population standard deviation of training targets floored at 1e-6. Lsmooth is a diagonal-Hessian curvature prior of hB_hat/sy in standardized/log-transformed coordinates, not a full Hessian norm. Differentiate the total-thickness envelope too. v0.2 evaluates derivative terms on up to 256 deterministic training-row samples per epoch. No arbitrary Cartesian collocation is added. Monotonic penalties are local soft penalties on normalized gradients. Weight decay is an optimizer parameter, separate from the displayed loss.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provided overview slide 15 lists these four candidate constraints. The concentration ablation sets a positive sign as an exploratory hypothesis, not a validated law. Three solvent-associated viscosity values cannot isolate a viscosity mechanism. Velocity smoothness and the hydrodynamic residual fail explicitly when enabled without necessary data. The nonnegative mobile layer follows from the bound, so it is not counted as an independent constraint.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0.9458 classical plate coefficient is supported by the JFM two-liquid dip-coating paper. U in mm/s converts by 1e-3 to m/s, viscosity cP by 1e-3 to Pa*s, surface tension mN/m by 1e-3 to N/m, and wet thickness m to nm by 1e9. rho is kg/m3 and g=9.81 m/s2. The conversion factor must be independent of the bonded target, positive and &lt;=1. The Ca threshold is a conservative starting gate, not a universal regime guarantee. Geometry, wetting, evaporation and interface validity are supplied by the lab flag. Current runs leave this loss off.</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https://github.com/aadams2006/Pitt-ML-MSE-Project/tree/c771a486fe82b1ea13e7a70e156f64f01db03128/PINN/config_measured_physics.example.json</a:t>
            </a:r>
            <a:endParaRPr>
              <a:latin typeface="Arial"/>
              <a:ea typeface="Arial"/>
              <a:cs typeface="Arial"/>
            </a:endParaRPr>
          </a:p>
          <a:p xmlns:a="http://schemas.openxmlformats.org/drawingml/2006/main">
            <a:r>
              <a:t>https://www.cambridge.org/core/journals/journal-of-fluid-mechanics/article/dipcoating-flow-in-the-presence-of-two-immiscible-liquids/CB484EB73B1903B5933AB087847C642E</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neural models use full-batch supervised training, training-only preprocessing and normalized data loss. Adam uses coupled weight decay as implemented by torch.optim.Adam. Torch uses float32 tensors, one CPU thread and deterministic operations. Early stopping counts epochs without validation improvement &gt;1e-7 and restores the selected state. v0.2 experimental PINN selects epoch 76 and stops after epoch 226. Synthetic PINNs select epoch 1500. RF and GB settings are fixed untuned baselines.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https://github.com/aadams2006/Pitt-ML-MSE-Project/tree/c771a486fe82b1ea13e7a70e156f64f01db03128/PINN/runs/v020_experimental_grouped/run_record.json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Grouped split reserves 20% of concentration groups for test and then 20% of remaining groups for validation, so row proportions vary. Extrapolation reserves the largest four of sixteen measured concentration levels. The v0.2 synthetic default and monotonicity runs use identical retained rows and partitions. Existing historical stratified-CV RF scores in the September deck use other protocols and are not direct competitors for these single-split results. True independent batches/specimens should replace concentration as the grouping unit when 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https://github.com/aadams2006/Pitt-ML-MSE-Project/tree/c771a486fe82b1ea13e7a70e156f64f01db03128/PINN/runs/legacy_initial_extrapolation/splits.csv</a:t>
            </a:r>
            <a:endParaRPr>
              <a:latin typeface="Arial"/>
              <a:ea typeface="Arial"/>
              <a:cs typeface="Arial"/>
            </a:endParaRPr>
          </a:p>
          <a:p xmlns:a="http://schemas.openxmlformats.org/drawingml/2006/main">
            <a:r>
              <a:t>https://github.com/aadams2006/Pitt-ML-MSE-Project/tree/c771a486fe82b1ea13e7a70e156f64f01db03128/PINN/runs/v020_synthetic_grouped/splits.csv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v0.2 experimental grouped run reproduces the original measured grouped results. Metrics refer only to 18 test observations on held-out concentration levels. PINN MAE 0.111693 nm, RMSE 0.122251 nm, R2 -0.391624. GB MAE 0.055622 nm, RMSE 0.064933 nm, R2 0.607406. All five observed violation fractions are zero, but only bounded outputs guarantee the inequality. Negative R2 means worse than a constant test-set-mean predictor on this small split. This is not evidence that neural models cannot work after a separate validation-based study.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v0.1 extrapolation uses 36 training, 12 validation and 10 test rows. RF RMSE is 0.029366 and R2 -0.724719, GB RMSE 0.029637 and R2 -0.756752. Test bonded values range only 0.50 to 0.57 nm, so R2 is highly sensitive to small error. At recorded concentration 10 the PINN predicts about 1.839 nm for observed 0.51 nm, still below measured total 13.18 nm. Multiplication by increasing total may contribute to error when the learned fraction extrapolates poorly. This is a plausible explanation, not a proven mechanism. No subsequent tuning used this test.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https://github.com/aadams2006/Pitt-ML-MSE-Project/tree/c771a486fe82b1ea13e7a70e156f64f01db03128/PINN/runs/legacy_initial_extrapolation/metrics.csv</a:t>
            </a:r>
            <a:endParaRPr>
              <a:latin typeface="Arial"/>
              <a:ea typeface="Arial"/>
              <a:cs typeface="Arial"/>
            </a:endParaRPr>
          </a:p>
          <a:p xmlns:a="http://schemas.openxmlformats.org/drawingml/2006/main">
            <a:r>
              <a:t>https://github.com/aadams2006/Pitt-ML-MSE-Project/tree/c771a486fe82b1ea13e7a70e156f64f01db03128/PINN/runs/legacy_initial_extrapolation/predictions.csv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PINN MAE 0.043595 nm, RMSE 0.055718 nm, R2 0.905199. RF MAE 0.020570 nm, RMSE 0.035903 nm, R2 0.960637. This is one synthetic-distribution holdout with seed 42. It cannot be compared as an accuracy improvement over the 58-row measured study because data, feature count, regime composition and test distribution differ. Synthetic siblings and generator statistics may leak without parent provenance. All test violation fractions are zero.</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one archived held-out synthetic row. Axes are equal in both panels, from 0.15 to 1.15 nm, and the gray diagonal marks predicted=observed. Repeated or overlapping points are not jittered. The raw dataset contains synthetic replicates, so apparent point density does not indicate independent experimental replication. Random forest predictions lie closer to the diagonal on this run.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sets monotonic_weight=.01 and sign +1 on concentration only. Architecture, seed, preprocessing, split and other weights match the default run. Fractions come from training-only gradients, not test data. Default pooled negative fraction .434405, ablation .409903. Cohorts are solvent-associated viscosities .377, .423 and .68 cP. In the .377 cohort the training Spearman association is only .100041. A soft local penalty does not guarantee global monotonicity, and synthetic correlation is not evidence of causal chemistry. Keep this hypothesis separate from the default.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https://github.com/aadams2006/Pitt-ML-MSE-Project/tree/c771a486fe82b1ea13e7a70e156f64f01db03128/PINN/runs/v020_synthetic_grouped/training_trend_diagnostics.csv</a:t>
            </a:r>
            <a:endParaRPr>
              <a:latin typeface="Arial"/>
              <a:ea typeface="Arial"/>
              <a:cs typeface="Arial"/>
            </a:endParaRPr>
          </a:p>
          <a:p xmlns:a="http://schemas.openxmlformats.org/drawingml/2006/main">
            <a:r>
              <a:t>https://github.com/aadams2006/Pitt-ML-MSE-Project/tree/c771a486fe82b1ea13e7a70e156f64f01db03128/PINN/runs/v020_synthetic_concentration_monotonic/training_trend_diagnostics.csv</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Charts use log10 of archived normalized data-loss and validation-loss histories. Log display retains the full initial and final loss ranges without clipping. A value of -1 means normalized MSE=0.1, 0 means 1, and 3 means 1000. The normalization uses each run training target standard deviation, so charts describe within-run optimization rather than comparing absolute nm errors across datasets. Figure samples every fifth measured epoch and every 25th synthetic epoch plus endpoints. All three synthetic neural models selected epoch 1500. Test results never select epochs.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https://github.com/aadams2006/Pitt-ML-MSE-Project/tree/c771a486fe82b1ea13e7a70e156f64f01db03128/PINN/runs/v020_experimental_grouped/pinn_history.csv</a:t>
            </a:r>
            <a:endParaRPr>
              <a:latin typeface="Arial"/>
              <a:ea typeface="Arial"/>
              <a:cs typeface="Arial"/>
            </a:endParaRPr>
          </a:p>
          <a:p xmlns:a="http://schemas.openxmlformats.org/drawingml/2006/main">
            <a:r>
              <a:t>https://github.com/aadams2006/Pitt-ML-MSE-Project/tree/c771a486fe82b1ea13e7a70e156f64f01db03128/PINN/runs/v020_synthetic_grouped/pinn_history.csv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is methodological background rather than evidence of a PDMS adsorption law. The sigmoid envelope is our algebraic project parameterization, not a reproduction of Lu et al. hPINN augmented-Lagrangian optimization. Operator architectures need function-valued input/output structure absent from three/seven scalar predictors. Full verified source links appear on the reference slide and in the repository literature review.</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https://arxiv.org/abs/2001.04536</a:t>
            </a:r>
            <a:endParaRPr>
              <a:latin typeface="Arial"/>
              <a:ea typeface="Arial"/>
              <a:cs typeface="Arial"/>
            </a:endParaRPr>
          </a:p>
          <a:p xmlns:a="http://schemas.openxmlformats.org/drawingml/2006/main">
            <a:r>
              <a:t>https://arxiv.org/abs/2012.10047</a:t>
            </a:r>
            <a:endParaRPr>
              <a:latin typeface="Arial"/>
              <a:ea typeface="Arial"/>
              <a:cs typeface="Arial"/>
            </a:endParaRPr>
          </a:p>
          <a:p xmlns:a="http://schemas.openxmlformats.org/drawingml/2006/main">
            <a:r>
              <a:t>https://arxiv.org/abs/2003.06097</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start/end execution times were never recorded. Their file modification times are approximate archival evidence and are not presented as execution timestamps. Three v0.2 runs capture UTC and America/New_York times prospectively. Code version plus exact source hash and source snapshot is authoritative when the worktree differed from its Git base. The v0.2 Git-status path-scope bug was corrected and annotated without changing scientific results. Byte-preserving attributes and a later Git renormalization repair preserve archive hashes. Source, models, raw/processed identity, predictions and runs are published on branch codex/pinn-physics-and-run-tracking, draft PR #6. Future runs record automatically but require a commit/push to publish.</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a:p xmlns:a="http://schemas.openxmlformats.org/drawingml/2006/main">
            <a:r>
              <a:t>https://github.com/aadams2006/Pitt-ML-MSE-Project/tree/c771a486fe82b1ea13e7a70e156f64f01db03128/PINN/run_tracking.py</a:t>
            </a:r>
            <a:endParaRPr>
              <a:latin typeface="Arial"/>
              <a:ea typeface="Arial"/>
              <a:cs typeface="Arial"/>
            </a:endParaRPr>
          </a:p>
          <a:p xmlns:a="http://schemas.openxmlformats.org/drawingml/2006/main">
            <a:r>
              <a:t>https://github.com/aadams2006/Pitt-ML-MSE-Project/tree/c771a486fe82b1ea13e7a70e156f64f01db03128/PINN/verify_runs.py</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single-seed, single-split exploratory tests. Test-set concentration ranges, solvent combinations, independent replicate count, source-unit ambiguity and target algebraic coupling limit causal and deployment claims. The high-concentration test demonstrates that staying within a bound does not ensure accurate extrapolation. No accuracy benefit from default curvature or the tested positive monotonicity penalty is established here.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https://github.com/aadams2006/Pitt-ML-MSE-Project/tree/c771a486fe82b1ea13e7a70e156f64f01db03128/PINN/INITIAL_RESULTS.md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new numerical result is promised by these next steps. Proposed saturation or adsorption parameterizations need independent physical evidence and identifiability checks. Velocity/LLD terms activate only after their measurement contract is met. A defensible augmentation study splits measured experiments before generating synthetic training rows. Test remains frozen, including when considering loss balancing, Bayesian uncertainty or Fourier features. Questions for the lab: what are the true concentration units, what measurements exist for velocity/density, what identifies independent samples, and when are total/uncoated thickness measured?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citations are the reviewed papers, not newly generated research claims. The deck uses the five archived PINN runs and the requested reference theme. The classical LLD coefficient and applicability discussion are sourced on slide 9. Data, code, run manifests and predictions identify all quantitative figures. Meeting date: October 14, 2026. Result cutoff: October 11, 2026.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https://arxiv.org/abs/2102.04626</a:t>
            </a:r>
            <a:endParaRPr>
              <a:latin typeface="Arial"/>
              <a:ea typeface="Arial"/>
              <a:cs typeface="Arial"/>
            </a:endParaRPr>
          </a:p>
          <a:p xmlns:a="http://schemas.openxmlformats.org/drawingml/2006/main">
            <a:r>
              <a:t>https://doi.org/10.1137/20M1318043</a:t>
            </a:r>
            <a:endParaRPr>
              <a:latin typeface="Arial"/>
              <a:ea typeface="Arial"/>
              <a:cs typeface="Arial"/>
            </a:endParaRPr>
          </a:p>
          <a:p xmlns:a="http://schemas.openxmlformats.org/drawingml/2006/main">
            <a:r>
              <a:t>https://doi.org/10.1016/j.cma.2021.113938</a:t>
            </a:r>
            <a:endParaRPr>
              <a:latin typeface="Arial"/>
              <a:ea typeface="Arial"/>
              <a:cs typeface="Arial"/>
            </a:endParaRPr>
          </a:p>
          <a:p xmlns:a="http://schemas.openxmlformats.org/drawingml/2006/main">
            <a:r>
              <a:t>https://doi.org/10.1016/j.jcp.2020.109913</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0d0ef2ad1449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d3de6ef63d41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d688945a164a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3656c45cc146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b16665681345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54353fd6cf433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1a7a96f1a0d465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dc7d735445644f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0ec673afd7494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b54668ea87041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90b3c702bdf4a7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3519B7-3883-4256-AD28-2878A12C7BA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D07BAA1-1016-4990-9F55-6B68C839CE8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Click to edit Master subtitle style</a:t>
            </a:r>
          </a:p>
        </p:txBody>
      </p:sp>
      <p:sp>
        <p:nvSpPr>
          <p:cNvPr id="4" name="Rectangle 4">
            <a:extLst xmlns:a="http://schemas.openxmlformats.org/drawingml/2006/main">
              <a:ext uri="{FF2B5EF4-FFF2-40B4-BE49-F238E27FC236}">
                <a16:creationId xmlns:a16="http://schemas.microsoft.com/office/drawing/2014/main" id="{4C46B55D-4FDD-4E0F-8C26-D4FEF5357B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4171307C-C51C-4D07-8C44-B366E36D28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6033F4C-8C69-4D83-8635-F61BB998D06C}"/>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23B762C-B6A6-9E40-924F-04B5C1CFB6F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2F2015-DA44-409A-A285-B9ED1F413F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AC756D-D57A-4FB4-BF24-B3682E651C2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F97C5E9C-4F89-4A68-B472-7598DCED97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84A45B6C-98C5-49CE-9B67-B01747CC1A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04FEB70-EAE0-4863-9111-6A448959FFD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5606D3B2-4460-404C-9951-68348479498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E1B15A-26BB-4F39-B958-57310BB58E0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E0B06A-D76A-4F15-ADC7-E6D263699A3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buNone/>
            </a:pPr>
            <a:r>
              <a:t>Click to edit Master text styles</a:t>
            </a:r>
          </a:p>
        </p:txBody>
      </p:sp>
      <p:sp>
        <p:nvSpPr>
          <p:cNvPr id="4" name="Rectangle 4">
            <a:extLst xmlns:a="http://schemas.openxmlformats.org/drawingml/2006/main">
              <a:ext uri="{FF2B5EF4-FFF2-40B4-BE49-F238E27FC236}">
                <a16:creationId xmlns:a16="http://schemas.microsoft.com/office/drawing/2014/main" id="{C49CD982-2EC1-4153-83DF-1EC5C4FB97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BAC010E5-17DF-4078-8678-D8F52B8873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C011E2C1-E625-4D78-8DF3-4756262D095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579F2DB-BBB3-4E41-85F8-28240E55DF5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FCD10-A365-474E-A2CE-EF049E29A8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187F19F-9917-43F9-BE88-FA32787A79A0}"/>
              </a:ext>
            </a:extLst>
          </p:cNvPr>
          <p:cNvSpPr>
            <a:spLocks xmlns:a="http://schemas.openxmlformats.org/drawingml/2006/main" noGrp="1"/>
          </p:cNvSpPr>
          <p:nvPr>
            <p:ph idx="1"/>
          </p:nvPr>
        </p:nvSpPr>
        <p:spPr>
          <a:xfrm xmlns:a="http://schemas.openxmlformats.org/drawingml/2006/main">
            <a:off x="3810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784F32A-F152-491C-AF34-FB3B93BBE379}"/>
              </a:ext>
            </a:extLst>
          </p:cNvPr>
          <p:cNvSpPr>
            <a:spLocks xmlns:a="http://schemas.openxmlformats.org/drawingml/2006/main" noGrp="1"/>
          </p:cNvSpPr>
          <p:nvPr>
            <p:ph idx="2"/>
          </p:nvPr>
        </p:nvSpPr>
        <p:spPr>
          <a:xfrm xmlns:a="http://schemas.openxmlformats.org/drawingml/2006/main">
            <a:off x="46482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Rectangle 4">
            <a:extLst xmlns:a="http://schemas.openxmlformats.org/drawingml/2006/main">
              <a:ext uri="{FF2B5EF4-FFF2-40B4-BE49-F238E27FC236}">
                <a16:creationId xmlns:a16="http://schemas.microsoft.com/office/drawing/2014/main" id="{6D830AB6-8A28-4ACC-8429-157D2F6580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170EE714-C7B4-4E8A-8EC7-B70C9A4302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14145AC3-D24C-43A8-9CD0-227F95DAA0B1}"/>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D6B05E2-D1E0-A14A-974D-C4645B5C109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8D08E5-C0C1-4E4C-883F-D8F5EB435C53}"/>
              </a:ext>
            </a:extLst>
          </p:cNvPr>
          <p:cNvSpPr>
            <a:spLocks xmlns:a="http://schemas.openxmlformats.org/drawingml/2006/main" noGrp="1"/>
          </p:cNvSpPr>
          <p:nvPr>
            <p:ph type="title" idx="0"/>
          </p:nvPr>
        </p:nvSpPr>
        <p:spPr>
          <a:xfrm xmlns:a="http://schemas.openxmlformats.org/drawingml/2006/main">
            <a:off x="540754" y="834475"/>
            <a:ext cx="8229600" cy="1143000"/>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1B6794-5E42-4FEA-81F6-CB62BBEE64CC}"/>
              </a:ext>
            </a:extLst>
          </p:cNvPr>
          <p:cNvSpPr>
            <a:spLocks xmlns:a="http://schemas.openxmlformats.org/drawingml/2006/main" noGrp="1"/>
          </p:cNvSpPr>
          <p:nvPr>
            <p:ph type="body" idx="1"/>
          </p:nvPr>
        </p:nvSpPr>
        <p:spPr>
          <a:xfrm xmlns:a="http://schemas.openxmlformats.org/drawingml/2006/main">
            <a:off x="540754" y="2094950"/>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F7B07DE-5DB1-4AF3-96F3-90329F6491A6}"/>
              </a:ext>
            </a:extLst>
          </p:cNvPr>
          <p:cNvSpPr>
            <a:spLocks xmlns:a="http://schemas.openxmlformats.org/drawingml/2006/main" noGrp="1"/>
          </p:cNvSpPr>
          <p:nvPr>
            <p:ph idx="2"/>
          </p:nvPr>
        </p:nvSpPr>
        <p:spPr>
          <a:xfrm xmlns:a="http://schemas.openxmlformats.org/drawingml/2006/main">
            <a:off x="540754" y="2734712"/>
            <a:ext cx="4040188"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AB9E131-AC7F-4C56-BE7A-70EF8C5DB2F2}"/>
              </a:ext>
            </a:extLst>
          </p:cNvPr>
          <p:cNvSpPr>
            <a:spLocks xmlns:a="http://schemas.openxmlformats.org/drawingml/2006/main" noGrp="1"/>
          </p:cNvSpPr>
          <p:nvPr>
            <p:ph type="body" idx="3"/>
          </p:nvPr>
        </p:nvSpPr>
        <p:spPr>
          <a:xfrm xmlns:a="http://schemas.openxmlformats.org/drawingml/2006/main">
            <a:off x="4728579" y="2094950"/>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98AC5A4-C9C5-4EC9-9E34-A68FD2C4F174}"/>
              </a:ext>
            </a:extLst>
          </p:cNvPr>
          <p:cNvSpPr>
            <a:spLocks xmlns:a="http://schemas.openxmlformats.org/drawingml/2006/main" noGrp="1"/>
          </p:cNvSpPr>
          <p:nvPr>
            <p:ph idx="4"/>
          </p:nvPr>
        </p:nvSpPr>
        <p:spPr>
          <a:xfrm xmlns:a="http://schemas.openxmlformats.org/drawingml/2006/main">
            <a:off x="4728579" y="2734712"/>
            <a:ext cx="4041775"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4">
            <a:extLst xmlns:a="http://schemas.openxmlformats.org/drawingml/2006/main">
              <a:ext uri="{FF2B5EF4-FFF2-40B4-BE49-F238E27FC236}">
                <a16:creationId xmlns:a16="http://schemas.microsoft.com/office/drawing/2014/main" id="{C3A97FCB-5709-4D17-8C7B-32AA10DBF5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8" name="Rectangle 5">
            <a:extLst xmlns:a="http://schemas.openxmlformats.org/drawingml/2006/main">
              <a:ext uri="{FF2B5EF4-FFF2-40B4-BE49-F238E27FC236}">
                <a16:creationId xmlns:a16="http://schemas.microsoft.com/office/drawing/2014/main" id="{DE036080-EA59-429E-A65A-25077B590C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Rectangle 6">
            <a:extLst xmlns:a="http://schemas.openxmlformats.org/drawingml/2006/main">
              <a:ext uri="{FF2B5EF4-FFF2-40B4-BE49-F238E27FC236}">
                <a16:creationId xmlns:a16="http://schemas.microsoft.com/office/drawing/2014/main" id="{F5765F59-955D-4ED0-B021-62C71CD6470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25E9514-10CB-424A-997B-3133D5EBEFB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47BCF5-0D5D-4B29-A09C-277BE6AD51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Rectangle 4">
            <a:extLst xmlns:a="http://schemas.openxmlformats.org/drawingml/2006/main">
              <a:ext uri="{FF2B5EF4-FFF2-40B4-BE49-F238E27FC236}">
                <a16:creationId xmlns:a16="http://schemas.microsoft.com/office/drawing/2014/main" id="{0FFBEC28-19E7-4F28-B227-EFB472615B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4" name="Rectangle 5">
            <a:extLst xmlns:a="http://schemas.openxmlformats.org/drawingml/2006/main">
              <a:ext uri="{FF2B5EF4-FFF2-40B4-BE49-F238E27FC236}">
                <a16:creationId xmlns:a16="http://schemas.microsoft.com/office/drawing/2014/main" id="{C43FF6E4-0AE1-41AF-B400-D57963AC6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Rectangle 6">
            <a:extLst xmlns:a="http://schemas.openxmlformats.org/drawingml/2006/main">
              <a:ext uri="{FF2B5EF4-FFF2-40B4-BE49-F238E27FC236}">
                <a16:creationId xmlns:a16="http://schemas.microsoft.com/office/drawing/2014/main" id="{56EB2B7B-44E3-4D6D-B411-0369C07F6A6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15F44A3-DF41-BC45-8D50-3E3E7CD7A537}"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Rectangle 4">
            <a:extLst xmlns:a="http://schemas.openxmlformats.org/drawingml/2006/main">
              <a:ext uri="{FF2B5EF4-FFF2-40B4-BE49-F238E27FC236}">
                <a16:creationId xmlns:a16="http://schemas.microsoft.com/office/drawing/2014/main" id="{7FAAB3D9-7E87-4C91-A156-1DEB485DCD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3" name="Rectangle 5">
            <a:extLst xmlns:a="http://schemas.openxmlformats.org/drawingml/2006/main">
              <a:ext uri="{FF2B5EF4-FFF2-40B4-BE49-F238E27FC236}">
                <a16:creationId xmlns:a16="http://schemas.microsoft.com/office/drawing/2014/main" id="{5ED68A7A-B7FF-4BE3-865F-3362EE2BC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Rectangle 6">
            <a:extLst xmlns:a="http://schemas.openxmlformats.org/drawingml/2006/main">
              <a:ext uri="{FF2B5EF4-FFF2-40B4-BE49-F238E27FC236}">
                <a16:creationId xmlns:a16="http://schemas.microsoft.com/office/drawing/2014/main" id="{837E636F-8210-4FFF-9FD6-5278800F7C2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BA675F84-6783-734C-BED8-10126B3C36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807FF3-2152-4B46-9B59-D603E7A4A16A}"/>
              </a:ext>
            </a:extLst>
          </p:cNvPr>
          <p:cNvSpPr>
            <a:spLocks xmlns:a="http://schemas.openxmlformats.org/drawingml/2006/main" noGrp="1"/>
          </p:cNvSpPr>
          <p:nvPr>
            <p:ph type="title" idx="0"/>
          </p:nvPr>
        </p:nvSpPr>
        <p:spPr>
          <a:xfrm xmlns:a="http://schemas.openxmlformats.org/drawingml/2006/main">
            <a:off x="448844" y="916445"/>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6599BF-B4BB-4C88-BC35-C50376F53928}"/>
              </a:ext>
            </a:extLst>
          </p:cNvPr>
          <p:cNvSpPr>
            <a:spLocks xmlns:a="http://schemas.openxmlformats.org/drawingml/2006/main" noGrp="1"/>
          </p:cNvSpPr>
          <p:nvPr>
            <p:ph idx="1"/>
          </p:nvPr>
        </p:nvSpPr>
        <p:spPr>
          <a:xfrm xmlns:a="http://schemas.openxmlformats.org/drawingml/2006/main">
            <a:off x="3566694" y="916446"/>
            <a:ext cx="5111750" cy="5048616"/>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E2ACA88-1AD3-4D56-AB89-90EFA79E7371}"/>
              </a:ext>
            </a:extLst>
          </p:cNvPr>
          <p:cNvSpPr>
            <a:spLocks xmlns:a="http://schemas.openxmlformats.org/drawingml/2006/main" noGrp="1"/>
          </p:cNvSpPr>
          <p:nvPr>
            <p:ph type="body" idx="2"/>
          </p:nvPr>
        </p:nvSpPr>
        <p:spPr>
          <a:xfrm xmlns:a="http://schemas.openxmlformats.org/drawingml/2006/main">
            <a:off x="448844" y="2078495"/>
            <a:ext cx="3008313" cy="4046287"/>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81D0D7AB-C1F3-4E5B-AEB4-16336F84D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B869F3D8-6EB4-4F71-97C9-78AC85827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4DDB736-9068-4F95-9E19-119E5764DB2F}"/>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F637E51-C70B-C94A-BECF-99D78F235191}"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CBE6F9-4A4F-471C-994D-BEFF4C81C62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02905F-DCF6-4053-A355-E593CE2ABD4A}"/>
              </a:ext>
            </a:extLst>
          </p:cNvPr>
          <p:cNvSpPr>
            <a:spLocks xmlns:a="http://schemas.openxmlformats.org/drawingml/2006/main" noGrp="1"/>
          </p:cNvSpPr>
          <p:nvPr>
            <p:ph type="pic" idx="1"/>
          </p:nvPr>
        </p:nvSpPr>
        <p:spPr>
          <a:xfrm xmlns:a="http://schemas.openxmlformats.org/drawingml/2006/main">
            <a:off x="1792288" y="935845"/>
            <a:ext cx="5486400" cy="3791729"/>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F14D4BF0-41DA-413F-AD56-49A767EF0E5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E65E0FB1-75E4-4D27-A8F1-1178F88CB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67F16A1E-7223-4ADA-8D23-E0F5C5CE09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9830EF26-2064-4AA6-B3B8-8026D49585B9}"/>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E4E131D9-E14C-C841-B84A-081687F5DAF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BEC508-6207-4976-86F8-8EADA13A83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54F6FA4-222C-4F6C-8831-2086676AE0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0975C10-8CBE-422F-BC7F-B59B680AB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D56E3FA0-F11C-4131-BBFA-428D8760D1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AFE3DD3-B11C-46FB-BE83-6079337C786D}"/>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3C8000B-9E22-1C46-AF2F-E6F8349AF53E}"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2AA0F27-CF13-4641-9317-275F79B88F49}"/>
              </a:ext>
            </a:extLst>
          </p:cNvPr>
          <p:cNvSpPr>
            <a:spLocks xmlns:a="http://schemas.openxmlformats.org/drawingml/2006/main" noGrp="1"/>
          </p:cNvSpPr>
          <p:nvPr>
            <p:ph type="title" idx="0"/>
          </p:nvPr>
        </p:nvSpPr>
        <p:spPr>
          <a:xfrm xmlns:a="http://schemas.openxmlformats.org/drawingml/2006/main">
            <a:off x="6667500" y="914400"/>
            <a:ext cx="2095500" cy="4953000"/>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913FB93-3690-4EEA-B261-6C0AE8454F1B}"/>
              </a:ext>
            </a:extLst>
          </p:cNvPr>
          <p:cNvSpPr>
            <a:spLocks xmlns:a="http://schemas.openxmlformats.org/drawingml/2006/main" noGrp="1"/>
          </p:cNvSpPr>
          <p:nvPr>
            <p:ph type="body" idx="1"/>
          </p:nvPr>
        </p:nvSpPr>
        <p:spPr>
          <a:xfrm xmlns:a="http://schemas.openxmlformats.org/drawingml/2006/main">
            <a:off x="381000" y="914400"/>
            <a:ext cx="6134100" cy="495300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E811AFD-8B52-4258-8190-3D8D9D467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277F300E-5893-4DAE-87E3-500C3A6E06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B4378CC4-0F99-430F-AAEA-A8A2A248F34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EC5F0B9-3D97-7A42-AEDD-5885432A0FF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fc82df99ca1640e3" /><Relationship Type="http://schemas.openxmlformats.org/officeDocument/2006/relationships/theme" Target="/ppt/slideMasters/theme/theme2.xml" Id="R8682a996dc8f4e39" /><Relationship Type="http://schemas.openxmlformats.org/officeDocument/2006/relationships/slideLayout" Target="/ppt/slideLayouts/slideLayout1.xml" Id="R3cc386b44cf74680" /><Relationship Type="http://schemas.openxmlformats.org/officeDocument/2006/relationships/slideLayout" Target="/ppt/slideLayouts/slideLayout2.xml" Id="R1c537fdf444640be" /><Relationship Type="http://schemas.openxmlformats.org/officeDocument/2006/relationships/slideLayout" Target="/ppt/slideLayouts/slideLayout3.xml" Id="Rae2e05c4db1e4599" /><Relationship Type="http://schemas.openxmlformats.org/officeDocument/2006/relationships/slideLayout" Target="/ppt/slideLayouts/slideLayout4.xml" Id="R8decb2320b7c41de" /><Relationship Type="http://schemas.openxmlformats.org/officeDocument/2006/relationships/slideLayout" Target="/ppt/slideLayouts/slideLayout5.xml" Id="Rf20940a534a44b29" /><Relationship Type="http://schemas.openxmlformats.org/officeDocument/2006/relationships/slideLayout" Target="/ppt/slideLayouts/slideLayout6.xml" Id="R7640b87871664e48" /><Relationship Type="http://schemas.openxmlformats.org/officeDocument/2006/relationships/slideLayout" Target="/ppt/slideLayouts/slideLayout7.xml" Id="R6b69fcbc87b043a5" /><Relationship Type="http://schemas.openxmlformats.org/officeDocument/2006/relationships/slideLayout" Target="/ppt/slideLayouts/slideLayout8.xml" Id="Re7952c0539464a51" /><Relationship Type="http://schemas.openxmlformats.org/officeDocument/2006/relationships/slideLayout" Target="/ppt/slideLayouts/slideLayout9.xml" Id="R9bf6c64751e34cbb" /><Relationship Type="http://schemas.openxmlformats.org/officeDocument/2006/relationships/slideLayout" Target="/ppt/slideLayouts/slideLayout10.xml" Id="R09b2c1c618964e01" /><Relationship Type="http://schemas.openxmlformats.org/officeDocument/2006/relationships/slideLayout" Target="/ppt/slideLayouts/slideLayout11.xml" Id="R6d94e95e54eb47ec"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33" name="Picture 7">
            <a:extLst xmlns:a="http://schemas.openxmlformats.org/drawingml/2006/main">
              <a:ext uri="{FF2B5EF4-FFF2-40B4-BE49-F238E27FC236}">
                <a16:creationId xmlns:a16="http://schemas.microsoft.com/office/drawing/2014/main" id="{94764662-52F0-4BAB-96DE-0275EC720B3A}"/>
              </a:ext>
            </a:extLst>
          </p:cNvPr>
          <p:cNvPicPr>
            <a:picLocks xmlns:a="http://schemas.openxmlformats.org/drawingml/2006/main" noChangeAspect="1"/>
          </p:cNvPicPr>
          <p:nvPr/>
        </p:nvPicPr>
        <p:blipFill>
          <a:blip xmlns:r="http://schemas.openxmlformats.org/officeDocument/2006/relationships" xmlns:a="http://schemas.openxmlformats.org/drawingml/2006/main" r:embed="Rfc82df99ca1640e3"/>
          <a:srcRect xmlns:a="http://schemas.openxmlformats.org/drawingml/2006/main" l="0" t="0" r="0" b="0"/>
          <a:stretch xmlns:a="http://schemas.openxmlformats.org/drawingml/2006/main">
            <a:fillRect l="0" t="0" r="0" b="0"/>
          </a:stretch>
        </p:blipFill>
        <p:spPr>
          <a:xfrm xmlns:a="http://schemas.openxmlformats.org/drawingml/2006/main">
            <a:off x="3175" y="0"/>
            <a:ext cx="9137650" cy="6858000"/>
          </a:xfrm>
          <a:prstGeom xmlns:a="http://schemas.openxmlformats.org/drawingml/2006/main" prst="rect">
            <a:avLst/>
          </a:prstGeom>
          <a:ln xmlns:a="http://schemas.openxmlformats.org/drawingml/2006/main">
            <a:noFill/>
          </a:ln>
        </p:spPr>
      </p:pic>
      <p:sp>
        <p:nvSpPr>
          <p:cNvPr id="1027" name="Rectangle 2">
            <a:extLst xmlns:a="http://schemas.openxmlformats.org/drawingml/2006/main">
              <a:ext uri="{FF2B5EF4-FFF2-40B4-BE49-F238E27FC236}">
                <a16:creationId xmlns:a16="http://schemas.microsoft.com/office/drawing/2014/main" id="{B7443329-56D9-4084-9702-0DEF1C2E7570}"/>
              </a:ext>
            </a:extLst>
          </p:cNvPr>
          <p:cNvSpPr>
            <a:spLocks xmlns:a="http://schemas.openxmlformats.org/drawingml/2006/main" noGrp="1"/>
          </p:cNvSpPr>
          <p:nvPr>
            <p:ph type="title" idx="0"/>
          </p:nvPr>
        </p:nvSpPr>
        <p:spPr>
          <a:xfrm xmlns:a="http://schemas.openxmlformats.org/drawingml/2006/main">
            <a:off x="749300" y="914400"/>
            <a:ext cx="7924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8" name="Rectangle 3">
            <a:extLst xmlns:a="http://schemas.openxmlformats.org/drawingml/2006/main">
              <a:ext uri="{FF2B5EF4-FFF2-40B4-BE49-F238E27FC236}">
                <a16:creationId xmlns:a16="http://schemas.microsoft.com/office/drawing/2014/main" id="{0DECAE6B-0022-4053-94AB-68D543CC2135}"/>
              </a:ext>
            </a:extLst>
          </p:cNvPr>
          <p:cNvSpPr>
            <a:spLocks xmlns:a="http://schemas.openxmlformats.org/drawingml/2006/main" noGrp="1"/>
          </p:cNvSpPr>
          <p:nvPr>
            <p:ph type="body" idx="1"/>
          </p:nvPr>
        </p:nvSpPr>
        <p:spPr>
          <a:xfrm xmlns:a="http://schemas.openxmlformats.org/drawingml/2006/main">
            <a:off x="749300" y="1981200"/>
            <a:ext cx="7924800" cy="38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on text regions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Rectangle 4">
            <a:extLst xmlns:a="http://schemas.openxmlformats.org/drawingml/2006/main">
              <a:ext uri="{FF2B5EF4-FFF2-40B4-BE49-F238E27FC236}">
                <a16:creationId xmlns:a16="http://schemas.microsoft.com/office/drawing/2014/main" id="{090FC530-1439-4B61-B68C-0B87E8621B4D}"/>
              </a:ext>
            </a:extLst>
          </p:cNvPr>
          <p:cNvSpPr>
            <a:spLocks xmlns:a="http://schemas.openxmlformats.org/drawingml/2006/main" noGrp="1"/>
          </p:cNvSpPr>
          <p:nvPr>
            <p:ph type="dt" idx="2"/>
          </p:nvPr>
        </p:nvSpPr>
        <p:spPr>
          <a:xfrm xmlns:a="http://schemas.openxmlformats.org/drawingml/2006/main">
            <a:off x="7315200" y="6299200"/>
            <a:ext cx="144780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lgn="r">
              <a:buNone/>
              <a:defRPr sz="900">
                <a:solidFill>
                  <a:srgbClr val="002B5E"/>
                </a:solidFill>
                <a:latin typeface="Georgia"/>
                <a:ea typeface="Georgia"/>
                <a:cs typeface="Georgia"/>
              </a:defRPr>
            </a:lvl1pPr>
          </a:lstStyle>
          <a:p xmlns:a="http://schemas.openxmlformats.org/drawingml/2006/main">
            <a:pPr>
              <a:buNone/>
            </a:pPr>
            <a:r>
              <a:t>19 Oct 2009</a:t>
            </a:r>
          </a:p>
        </p:txBody>
      </p:sp>
      <p:sp>
        <p:nvSpPr>
          <p:cNvPr id="1029" name="Rectangle 5">
            <a:extLst xmlns:a="http://schemas.openxmlformats.org/drawingml/2006/main">
              <a:ext uri="{FF2B5EF4-FFF2-40B4-BE49-F238E27FC236}">
                <a16:creationId xmlns:a16="http://schemas.microsoft.com/office/drawing/2014/main" id="{47F820D9-E544-4A69-A89B-E5DD861588E7}"/>
              </a:ext>
            </a:extLst>
          </p:cNvPr>
          <p:cNvSpPr>
            <a:spLocks xmlns:a="http://schemas.openxmlformats.org/drawingml/2006/main" noGrp="1"/>
          </p:cNvSpPr>
          <p:nvPr>
            <p:ph type="ftr" idx="3"/>
          </p:nvPr>
        </p:nvSpPr>
        <p:spPr>
          <a:xfrm xmlns:a="http://schemas.openxmlformats.org/drawingml/2006/main">
            <a:off x="749300" y="6299200"/>
            <a:ext cx="6223000" cy="558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buNone/>
              <a:defRPr sz="900">
                <a:solidFill>
                  <a:srgbClr val="002B5E"/>
                </a:solidFill>
                <a:latin typeface="Georgia"/>
                <a:ea typeface="Georgia"/>
                <a:cs typeface="Georgia"/>
              </a:defRPr>
            </a:lvl1pPr>
          </a:lstStyle>
          <a:p xmlns:a="http://schemas.openxmlformats.org/drawingml/2006/main">
            <a:pPr>
              <a:buNone/>
            </a:pPr>
            <a:endParaRPr/>
          </a:p>
        </p:txBody>
      </p:sp>
      <p:sp>
        <p:nvSpPr>
          <p:cNvPr id="1031" name="TextBox 8">
            <a:extLst xmlns:a="http://schemas.openxmlformats.org/drawingml/2006/main">
              <a:ext uri="{FF2B5EF4-FFF2-40B4-BE49-F238E27FC236}">
                <a16:creationId xmlns:a16="http://schemas.microsoft.com/office/drawing/2014/main" id="{136F2A4D-48D6-4760-A99B-D836B4A7783E}"/>
              </a:ext>
            </a:extLst>
          </p:cNvPr>
          <p:cNvSpPr>
            <a:spLocks xmlns:a="http://schemas.openxmlformats.org/drawingml/2006/main" noGrp="1"/>
          </p:cNvSpPr>
          <p:nvPr/>
        </p:nvSpPr>
        <p:spPr>
          <a:xfrm xmlns:a="http://schemas.openxmlformats.org/drawingml/2006/main">
            <a:off x="3835400" y="254000"/>
            <a:ext cx="4927600" cy="307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buNone/>
              <a:defRPr sz="2400">
                <a:solidFill>
                  <a:schemeClr val="tx1"/>
                </a:solidFill>
                <a:latin typeface="Arial"/>
                <a:ea typeface="Arial"/>
                <a:cs typeface="Arial"/>
              </a:defRPr>
            </a:lvl1pPr>
            <a:lvl2pPr marL="742950" indent="-285750">
              <a:buNone/>
              <a:defRPr sz="2400">
                <a:solidFill>
                  <a:schemeClr val="tx1"/>
                </a:solidFill>
                <a:latin typeface="Arial"/>
                <a:ea typeface="Arial"/>
                <a:cs typeface="Arial"/>
              </a:defRPr>
            </a:lvl2pPr>
            <a:lvl3pPr marL="1143000" indent="-228600">
              <a:buNone/>
              <a:defRPr sz="2400">
                <a:solidFill>
                  <a:schemeClr val="tx1"/>
                </a:solidFill>
                <a:latin typeface="Arial"/>
                <a:ea typeface="Arial"/>
                <a:cs typeface="Arial"/>
              </a:defRPr>
            </a:lvl3pPr>
            <a:lvl4pPr marL="1600200" indent="-228600">
              <a:buNone/>
              <a:defRPr sz="2400">
                <a:solidFill>
                  <a:schemeClr val="tx1"/>
                </a:solidFill>
                <a:latin typeface="Arial"/>
                <a:ea typeface="Arial"/>
                <a:cs typeface="Arial"/>
              </a:defRPr>
            </a:lvl4pPr>
            <a:lvl5pPr marL="2057400" indent="-228600">
              <a:buNone/>
              <a:defRPr sz="2400">
                <a:solidFill>
                  <a:schemeClr val="tx1"/>
                </a:solidFill>
                <a:latin typeface="Arial"/>
                <a:ea typeface="Arial"/>
                <a:cs typeface="Arial"/>
              </a:defRPr>
            </a:lvl5pPr>
            <a:lvl6pPr marL="2514600" indent="-228600">
              <a:spcBef>
                <a:spcPct val="0"/>
              </a:spcBef>
              <a:spcAft>
                <a:spcPct val="0"/>
              </a:spcAft>
              <a:buNone/>
              <a:defRPr sz="2400">
                <a:solidFill>
                  <a:schemeClr val="tx1"/>
                </a:solidFill>
                <a:latin typeface="Arial"/>
                <a:ea typeface="Arial"/>
                <a:cs typeface="Arial"/>
              </a:defRPr>
            </a:lvl6pPr>
            <a:lvl7pPr marL="2971800" indent="-228600">
              <a:spcBef>
                <a:spcPct val="0"/>
              </a:spcBef>
              <a:spcAft>
                <a:spcPct val="0"/>
              </a:spcAft>
              <a:buNone/>
              <a:defRPr sz="2400">
                <a:solidFill>
                  <a:schemeClr val="tx1"/>
                </a:solidFill>
                <a:latin typeface="Arial"/>
                <a:ea typeface="Arial"/>
                <a:cs typeface="Arial"/>
              </a:defRPr>
            </a:lvl7pPr>
            <a:lvl8pPr marL="3429000" indent="-228600">
              <a:spcBef>
                <a:spcPct val="0"/>
              </a:spcBef>
              <a:spcAft>
                <a:spcPct val="0"/>
              </a:spcAft>
              <a:buNone/>
              <a:defRPr sz="2400">
                <a:solidFill>
                  <a:schemeClr val="tx1"/>
                </a:solidFill>
                <a:latin typeface="Arial"/>
                <a:ea typeface="Arial"/>
                <a:cs typeface="Arial"/>
              </a:defRPr>
            </a:lvl8pPr>
            <a:lvl9pPr marL="3886200" indent="-228600">
              <a:spcBef>
                <a:spcPct val="0"/>
              </a:spcBef>
              <a:spcAft>
                <a:spcPct val="0"/>
              </a:spcAft>
              <a:buNone/>
              <a:defRPr sz="2400">
                <a:solidFill>
                  <a:schemeClr val="tx1"/>
                </a:solidFill>
                <a:latin typeface="Arial"/>
                <a:ea typeface="Arial"/>
                <a:cs typeface="Arial"/>
              </a:defRPr>
            </a:lvl9pPr>
          </a:lstStyle>
          <a:p xmlns:a="http://schemas.openxmlformats.org/drawingml/2006/main">
            <a:pPr algn="r">
              <a:buNone/>
            </a:pPr>
            <a:r>
              <a:rPr sz="1400" b="1">
                <a:solidFill>
                  <a:srgbClr val="002B5E"/>
                </a:solidFill>
                <a:latin typeface="Georgia"/>
                <a:ea typeface="Georgia"/>
                <a:cs typeface="Georgia"/>
              </a:rPr>
              <a:t>Chemical and Petroleum Engineering Department</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c386b44cf74680"/>
    <p:sldLayoutId xmlns:r="http://schemas.openxmlformats.org/officeDocument/2006/relationships" id="2147483650" r:id="R1c537fdf444640be"/>
    <p:sldLayoutId xmlns:r="http://schemas.openxmlformats.org/officeDocument/2006/relationships" id="2147483651" r:id="Rae2e05c4db1e4599"/>
    <p:sldLayoutId xmlns:r="http://schemas.openxmlformats.org/officeDocument/2006/relationships" id="2147483652" r:id="R8decb2320b7c41de"/>
    <p:sldLayoutId xmlns:r="http://schemas.openxmlformats.org/officeDocument/2006/relationships" id="2147483653" r:id="Rf20940a534a44b29"/>
    <p:sldLayoutId xmlns:r="http://schemas.openxmlformats.org/officeDocument/2006/relationships" id="2147483654" r:id="R7640b87871664e48"/>
    <p:sldLayoutId xmlns:r="http://schemas.openxmlformats.org/officeDocument/2006/relationships" id="2147483655" r:id="R6b69fcbc87b043a5"/>
    <p:sldLayoutId xmlns:r="http://schemas.openxmlformats.org/officeDocument/2006/relationships" id="2147483656" r:id="Re7952c0539464a51"/>
    <p:sldLayoutId xmlns:r="http://schemas.openxmlformats.org/officeDocument/2006/relationships" id="2147483657" r:id="R9bf6c64751e34cbb"/>
    <p:sldLayoutId xmlns:r="http://schemas.openxmlformats.org/officeDocument/2006/relationships" id="2147483658" r:id="R09b2c1c618964e01"/>
    <p:sldLayoutId xmlns:r="http://schemas.openxmlformats.org/officeDocument/2006/relationships" id="2147483659" r:id="R6d94e95e54eb47ec"/>
  </p:sldLayoutIdLst>
  <p:hf sldNum="0" hdr="0"/>
  <p:txStyles>
    <p:titleStyle>
      <a:lvl1pPr xmlns:a="http://schemas.openxmlformats.org/drawingml/2006/main" algn="l">
        <a:spcBef>
          <a:spcPct val="0"/>
        </a:spcBef>
        <a:spcAft>
          <a:spcPct val="0"/>
        </a:spcAft>
        <a:buNone/>
        <a:defRPr sz="3600" b="1">
          <a:solidFill>
            <a:srgbClr val="948151"/>
          </a:solidFill>
          <a:latin typeface="+mj-lt"/>
          <a:ea typeface="+mj-lt"/>
          <a:cs typeface="+mj-lt"/>
        </a:defRPr>
      </a:lvl1pPr>
      <a:lvl2pPr xmlns:a="http://schemas.openxmlformats.org/drawingml/2006/main" algn="l">
        <a:spcBef>
          <a:spcPct val="0"/>
        </a:spcBef>
        <a:spcAft>
          <a:spcPct val="0"/>
        </a:spcAft>
        <a:buNone/>
        <a:defRPr sz="3600" b="1">
          <a:solidFill>
            <a:srgbClr val="948151"/>
          </a:solidFill>
          <a:latin typeface="Georgia"/>
          <a:ea typeface="Georgia"/>
          <a:cs typeface="Georgia"/>
        </a:defRPr>
      </a:lvl2pPr>
      <a:lvl3pPr xmlns:a="http://schemas.openxmlformats.org/drawingml/2006/main" algn="l">
        <a:spcBef>
          <a:spcPct val="0"/>
        </a:spcBef>
        <a:spcAft>
          <a:spcPct val="0"/>
        </a:spcAft>
        <a:buNone/>
        <a:defRPr sz="3600" b="1">
          <a:solidFill>
            <a:srgbClr val="948151"/>
          </a:solidFill>
          <a:latin typeface="Georgia"/>
          <a:ea typeface="Georgia"/>
          <a:cs typeface="Georgia"/>
        </a:defRPr>
      </a:lvl3pPr>
      <a:lvl4pPr xmlns:a="http://schemas.openxmlformats.org/drawingml/2006/main" algn="l">
        <a:spcBef>
          <a:spcPct val="0"/>
        </a:spcBef>
        <a:spcAft>
          <a:spcPct val="0"/>
        </a:spcAft>
        <a:buNone/>
        <a:defRPr sz="3600" b="1">
          <a:solidFill>
            <a:srgbClr val="948151"/>
          </a:solidFill>
          <a:latin typeface="Georgia"/>
          <a:ea typeface="Georgia"/>
          <a:cs typeface="Georgia"/>
        </a:defRPr>
      </a:lvl4pPr>
      <a:lvl5pPr xmlns:a="http://schemas.openxmlformats.org/drawingml/2006/main" algn="l">
        <a:spcBef>
          <a:spcPct val="0"/>
        </a:spcBef>
        <a:spcAft>
          <a:spcPct val="0"/>
        </a:spcAft>
        <a:buNone/>
        <a:defRPr sz="3600" b="1">
          <a:solidFill>
            <a:srgbClr val="948151"/>
          </a:solidFill>
          <a:latin typeface="Georgia"/>
          <a:ea typeface="Georgia"/>
          <a:cs typeface="Georgia"/>
        </a:defRPr>
      </a:lvl5pPr>
      <a:lvl6pPr xmlns:a="http://schemas.openxmlformats.org/drawingml/2006/main" marL="457200" algn="l">
        <a:spcBef>
          <a:spcPct val="0"/>
        </a:spcBef>
        <a:spcAft>
          <a:spcPct val="0"/>
        </a:spcAft>
        <a:buNone/>
        <a:defRPr sz="4400">
          <a:solidFill>
            <a:srgbClr val="003E7E"/>
          </a:solidFill>
          <a:latin typeface="Georgia"/>
          <a:ea typeface="Georgia"/>
          <a:cs typeface="Georgia"/>
        </a:defRPr>
      </a:lvl6pPr>
      <a:lvl7pPr xmlns:a="http://schemas.openxmlformats.org/drawingml/2006/main" marL="914400" algn="l">
        <a:spcBef>
          <a:spcPct val="0"/>
        </a:spcBef>
        <a:spcAft>
          <a:spcPct val="0"/>
        </a:spcAft>
        <a:buNone/>
        <a:defRPr sz="4400">
          <a:solidFill>
            <a:srgbClr val="003E7E"/>
          </a:solidFill>
          <a:latin typeface="Georgia"/>
          <a:ea typeface="Georgia"/>
          <a:cs typeface="Georgia"/>
        </a:defRPr>
      </a:lvl7pPr>
      <a:lvl8pPr xmlns:a="http://schemas.openxmlformats.org/drawingml/2006/main" marL="1371600" algn="l">
        <a:spcBef>
          <a:spcPct val="0"/>
        </a:spcBef>
        <a:spcAft>
          <a:spcPct val="0"/>
        </a:spcAft>
        <a:buNone/>
        <a:defRPr sz="4400">
          <a:solidFill>
            <a:srgbClr val="003E7E"/>
          </a:solidFill>
          <a:latin typeface="Georgia"/>
          <a:ea typeface="Georgia"/>
          <a:cs typeface="Georgia"/>
        </a:defRPr>
      </a:lvl8pPr>
      <a:lvl9pPr xmlns:a="http://schemas.openxmlformats.org/drawingml/2006/main" marL="1828800" algn="l">
        <a:spcBef>
          <a:spcPct val="0"/>
        </a:spcBef>
        <a:spcAft>
          <a:spcPct val="0"/>
        </a:spcAft>
        <a:buNone/>
        <a:defRPr sz="4400">
          <a:solidFill>
            <a:srgbClr val="003E7E"/>
          </a:solidFill>
          <a:latin typeface="Georgia"/>
          <a:ea typeface="Georgia"/>
          <a:cs typeface="Georgia"/>
        </a:defRPr>
      </a:lvl9pPr>
    </p:titleStyle>
    <p:bodyStyle>
      <a:lvl1pPr xmlns:a="http://schemas.openxmlformats.org/drawingml/2006/main" marL="342900" indent="-342900" algn="l">
        <a:spcBef>
          <a:spcPct val="20000"/>
        </a:spcBef>
        <a:spcAft>
          <a:spcPts val="600"/>
        </a:spcAft>
        <a:buClr>
          <a:srgbClr val="000000"/>
        </a:buClr>
        <a:buChar char="•"/>
        <a:defRPr sz="3200">
          <a:solidFill>
            <a:srgbClr val="002B5E"/>
          </a:solidFill>
          <a:latin typeface="+mn-lt"/>
          <a:ea typeface="+mn-lt"/>
          <a:cs typeface="+mn-lt"/>
        </a:defRPr>
      </a:lvl1pPr>
      <a:lvl2pPr xmlns:a="http://schemas.openxmlformats.org/drawingml/2006/main" marL="742950" indent="-285750" algn="l">
        <a:spcBef>
          <a:spcPct val="20000"/>
        </a:spcBef>
        <a:spcAft>
          <a:spcPts val="1200"/>
        </a:spcAft>
        <a:buClr>
          <a:srgbClr val="000000"/>
        </a:buClr>
        <a:buChar char="–"/>
        <a:defRPr sz="2800">
          <a:solidFill>
            <a:srgbClr val="002B5E"/>
          </a:solidFill>
          <a:latin typeface="+mn-lt"/>
          <a:ea typeface="+mn-lt"/>
          <a:cs typeface="+mn-lt"/>
        </a:defRPr>
      </a:lvl2pPr>
      <a:lvl3pPr xmlns:a="http://schemas.openxmlformats.org/drawingml/2006/main" marL="1143000" indent="-228600" algn="l">
        <a:spcBef>
          <a:spcPct val="20000"/>
        </a:spcBef>
        <a:spcAft>
          <a:spcPts val="1200"/>
        </a:spcAft>
        <a:buClr>
          <a:srgbClr val="000000"/>
        </a:buClr>
        <a:buChar char="•"/>
        <a:defRPr sz="2400">
          <a:solidFill>
            <a:srgbClr val="002B5E"/>
          </a:solidFill>
          <a:latin typeface="+mn-lt"/>
          <a:ea typeface="+mn-lt"/>
          <a:cs typeface="+mn-lt"/>
        </a:defRPr>
      </a:lvl3pPr>
      <a:lvl4pPr xmlns:a="http://schemas.openxmlformats.org/drawingml/2006/main" marL="1600200" indent="-228600" algn="l">
        <a:spcBef>
          <a:spcPct val="20000"/>
        </a:spcBef>
        <a:spcAft>
          <a:spcPts val="1200"/>
        </a:spcAft>
        <a:buClr>
          <a:srgbClr val="000000"/>
        </a:buClr>
        <a:buChar char="–"/>
        <a:defRPr sz="2000">
          <a:solidFill>
            <a:srgbClr val="002B5E"/>
          </a:solidFill>
          <a:latin typeface="+mn-lt"/>
          <a:ea typeface="+mn-lt"/>
          <a:cs typeface="+mn-lt"/>
        </a:defRPr>
      </a:lvl4pPr>
      <a:lvl5pPr xmlns:a="http://schemas.openxmlformats.org/drawingml/2006/main" marL="2057400" indent="-228600" algn="l">
        <a:spcBef>
          <a:spcPct val="20000"/>
        </a:spcBef>
        <a:spcAft>
          <a:spcPts val="1200"/>
        </a:spcAft>
        <a:buClr>
          <a:srgbClr val="000000"/>
        </a:buClr>
        <a:buChar char="»"/>
        <a:defRPr sz="2000">
          <a:solidFill>
            <a:srgbClr val="002B5E"/>
          </a:solidFill>
          <a:latin typeface="+mn-lt"/>
          <a:ea typeface="+mn-lt"/>
          <a:cs typeface="+mn-lt"/>
        </a:defRPr>
      </a:lvl5pPr>
      <a:lvl6pPr xmlns:a="http://schemas.openxmlformats.org/drawingml/2006/main" marL="2514600" indent="-228600" algn="l">
        <a:spcBef>
          <a:spcPct val="20000"/>
        </a:spcBef>
        <a:spcAft>
          <a:spcPct val="0"/>
        </a:spcAft>
        <a:buChar char="»"/>
        <a:defRPr sz="2000">
          <a:solidFill>
            <a:srgbClr val="003E7E"/>
          </a:solidFill>
          <a:latin typeface="+mn-lt"/>
          <a:ea typeface="+mn-lt"/>
          <a:cs typeface="+mn-lt"/>
        </a:defRPr>
      </a:lvl6pPr>
      <a:lvl7pPr xmlns:a="http://schemas.openxmlformats.org/drawingml/2006/main" marL="2971800" indent="-228600" algn="l">
        <a:spcBef>
          <a:spcPct val="20000"/>
        </a:spcBef>
        <a:spcAft>
          <a:spcPct val="0"/>
        </a:spcAft>
        <a:buChar char="»"/>
        <a:defRPr sz="2000">
          <a:solidFill>
            <a:srgbClr val="003E7E"/>
          </a:solidFill>
          <a:latin typeface="+mn-lt"/>
          <a:ea typeface="+mn-lt"/>
          <a:cs typeface="+mn-lt"/>
        </a:defRPr>
      </a:lvl7pPr>
      <a:lvl8pPr xmlns:a="http://schemas.openxmlformats.org/drawingml/2006/main" marL="3429000" indent="-228600" algn="l">
        <a:spcBef>
          <a:spcPct val="20000"/>
        </a:spcBef>
        <a:spcAft>
          <a:spcPct val="0"/>
        </a:spcAft>
        <a:buChar char="»"/>
        <a:defRPr sz="2000">
          <a:solidFill>
            <a:srgbClr val="003E7E"/>
          </a:solidFill>
          <a:latin typeface="+mn-lt"/>
          <a:ea typeface="+mn-lt"/>
          <a:cs typeface="+mn-lt"/>
        </a:defRPr>
      </a:lvl8pPr>
      <a:lvl9pPr xmlns:a="http://schemas.openxmlformats.org/drawingml/2006/main" marL="3886200" indent="-228600" algn="l">
        <a:spcBef>
          <a:spcPct val="20000"/>
        </a:spcBef>
        <a:spcAft>
          <a:spcPct val="0"/>
        </a:spcAft>
        <a:buChar char="»"/>
        <a:defRPr sz="2000">
          <a:solidFill>
            <a:srgbClr val="003E7E"/>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5b7a1bedbfc40ba" /><Relationship Type="http://schemas.openxmlformats.org/officeDocument/2006/relationships/notesSlide" Target="/ppt/notesSlides/notesSlide1.xml" Id="Rea2b8cd5aee64c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31da9263d81411e" /><Relationship Type="http://schemas.openxmlformats.org/officeDocument/2006/relationships/notesSlide" Target="/ppt/notesSlides/notesSlide2.xml" Id="R5965261f05f34e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d45e8dfd97245a5" /><Relationship Type="http://schemas.openxmlformats.org/officeDocument/2006/relationships/notesSlide" Target="/ppt/notesSlides/notesSlide3.xml" Id="Rd524bf41097144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701201bd6c44af9" /><Relationship Type="http://schemas.openxmlformats.org/officeDocument/2006/relationships/notesSlide" Target="/ppt/notesSlides/notesSlide4.xml" Id="Re7e6b43f759f49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783de0a7a214217" /><Relationship Type="http://schemas.openxmlformats.org/officeDocument/2006/relationships/notesSlide" Target="/ppt/notesSlides/notesSlide5.xml" Id="Rf0e884c1516947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0b29ad505f54be2" /><Relationship Type="http://schemas.openxmlformats.org/officeDocument/2006/relationships/notesSlide" Target="/ppt/notesSlides/notesSlide6.xml" Id="Re49acf9b3eb74e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2982f85c5fc483a" /><Relationship Type="http://schemas.openxmlformats.org/officeDocument/2006/relationships/notesSlide" Target="/ppt/notesSlides/notesSlide7.xml" Id="Ra5b6ba09ea5640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d352105193343c1" /><Relationship Type="http://schemas.openxmlformats.org/officeDocument/2006/relationships/notesSlide" Target="/ppt/notesSlides/notesSlide8.xml" Id="R19a484735b3143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7b46f03ef05401a" /><Relationship Type="http://schemas.openxmlformats.org/officeDocument/2006/relationships/notesSlide" Target="/ppt/notesSlides/notesSlide9.xml" Id="R67204ee711e34a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610bda8fc9d4963" /><Relationship Type="http://schemas.openxmlformats.org/officeDocument/2006/relationships/notesSlide" Target="/ppt/notesSlides/notesSlide10.xml" Id="R191ebbb820094f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eef3e82c2094359" /><Relationship Type="http://schemas.openxmlformats.org/officeDocument/2006/relationships/notesSlide" Target="/ppt/notesSlides/notesSlide11.xml" Id="Rdd7f67a04b1045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5f5bd6b0a7a46f8" /><Relationship Type="http://schemas.openxmlformats.org/officeDocument/2006/relationships/chart" Target="/ppt/slides/charts/chart1.xml" Id="R90c4cd725cb245ae" /><Relationship Type="http://schemas.openxmlformats.org/officeDocument/2006/relationships/notesSlide" Target="/ppt/notesSlides/notesSlide12.xml" Id="R15e39f5893e846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6389b8a8c3b649cf" /><Relationship Type="http://schemas.openxmlformats.org/officeDocument/2006/relationships/chart" Target="/ppt/slides/charts/chart2.xml" Id="Raffe2917c5e54e04" /><Relationship Type="http://schemas.openxmlformats.org/officeDocument/2006/relationships/notesSlide" Target="/ppt/notesSlides/notesSlide13.xml" Id="R0025063bb6cd4e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837f44e911a4f80" /><Relationship Type="http://schemas.openxmlformats.org/officeDocument/2006/relationships/chart" Target="/ppt/slides/charts/chart3.xml" Id="R4d3ca73ab6a246f8" /><Relationship Type="http://schemas.openxmlformats.org/officeDocument/2006/relationships/notesSlide" Target="/ppt/notesSlides/notesSlide14.xml" Id="R4f90bf6d21604c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06e4a5e50ee4b71" /><Relationship Type="http://schemas.openxmlformats.org/officeDocument/2006/relationships/chart" Target="/ppt/slides/charts/chart4.xml" Id="Rc9d376c137294812" /><Relationship Type="http://schemas.openxmlformats.org/officeDocument/2006/relationships/chart" Target="/ppt/slides/charts/chart5.xml" Id="R9e1b89a916cb4859" /><Relationship Type="http://schemas.openxmlformats.org/officeDocument/2006/relationships/notesSlide" Target="/ppt/notesSlides/notesSlide15.xml" Id="R7d210068404a41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6285188d3c114682" /><Relationship Type="http://schemas.openxmlformats.org/officeDocument/2006/relationships/chart" Target="/ppt/slides/charts/chart6.xml" Id="R06971579b7ce42cd" /><Relationship Type="http://schemas.openxmlformats.org/officeDocument/2006/relationships/notesSlide" Target="/ppt/notesSlides/notesSlide16.xml" Id="R6a1b561b94c843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7168e94ac444940" /><Relationship Type="http://schemas.openxmlformats.org/officeDocument/2006/relationships/chart" Target="/ppt/slides/charts/chart7.xml" Id="R91f6d93f1b2e4e9c" /><Relationship Type="http://schemas.openxmlformats.org/officeDocument/2006/relationships/chart" Target="/ppt/slides/charts/chart8.xml" Id="R17d02e4d59fc4061" /><Relationship Type="http://schemas.openxmlformats.org/officeDocument/2006/relationships/notesSlide" Target="/ppt/notesSlides/notesSlide17.xml" Id="Ra6f2a7907f9f43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08e2ec8b5f834122" /><Relationship Type="http://schemas.openxmlformats.org/officeDocument/2006/relationships/notesSlide" Target="/ppt/notesSlides/notesSlide18.xml" Id="Rcddece77038048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84e168dc37014f3c" /><Relationship Type="http://schemas.openxmlformats.org/officeDocument/2006/relationships/notesSlide" Target="/ppt/notesSlides/notesSlide19.xml" Id="Rfeee2d7505e344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51f5f2549375463a" /><Relationship Type="http://schemas.openxmlformats.org/officeDocument/2006/relationships/notesSlide" Target="/ppt/notesSlides/notesSlide20.xml" Id="R0600ed8a7add4db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7ef8f1e293534eec" /><Relationship Type="http://schemas.openxmlformats.org/officeDocument/2006/relationships/notesSlide" Target="/ppt/notesSlides/notesSlide21.xml" Id="Rea4dbc7a6a464a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5fa6e33daf6d4c1d" /><Relationship Type="http://schemas.openxmlformats.org/officeDocument/2006/relationships/hyperlink" Target="https://doi.org/10.1016/j.jcp.2018.10.045" TargetMode="External" Id="R4028063b2eb44219" /><Relationship Type="http://schemas.openxmlformats.org/officeDocument/2006/relationships/hyperlink" Target="https://arxiv.org/abs/2102.04626" TargetMode="External" Id="Rb949ed1b34fa4b4d" /><Relationship Type="http://schemas.openxmlformats.org/officeDocument/2006/relationships/hyperlink" Target="https://doi.org/10.1137/20M1318043" TargetMode="External" Id="Rc7acb025256e452e" /><Relationship Type="http://schemas.openxmlformats.org/officeDocument/2006/relationships/hyperlink" Target="https://doi.org/10.1016/j.cma.2021.113938" TargetMode="External" Id="R3770b7c4daae4454" /><Relationship Type="http://schemas.openxmlformats.org/officeDocument/2006/relationships/hyperlink" Target="https://doi.org/10.1016/j.jcp.2020.109913" TargetMode="External" Id="R1d2fc31bec17412f" /><Relationship Type="http://schemas.openxmlformats.org/officeDocument/2006/relationships/hyperlink" Target="https://www.nature.com/articles/s42256-021-00302-5" TargetMode="External" Id="Red2fdb35db7e4f6e" /><Relationship Type="http://schemas.openxmlformats.org/officeDocument/2006/relationships/hyperlink" Target="https://arxiv.org/abs/2010.08895" TargetMode="External" Id="R07f6f1c4676b4094" /><Relationship Type="http://schemas.openxmlformats.org/officeDocument/2006/relationships/hyperlink" Target="https://github.com/aadams2006/Pitt-ML-MSE-Project/pull/6" TargetMode="External" Id="Re5fdfa2c949f4b9c" /><Relationship Type="http://schemas.openxmlformats.org/officeDocument/2006/relationships/notesSlide" Target="/ppt/notesSlides/notesSlide22.xml" Id="R58a02a83d97043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Held-out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0.122251174504</c:v>
                </c:pt>
                <c:pt idx="1">
                  <c:v>0.122413918793</c:v>
                </c:pt>
                <c:pt idx="2">
                  <c:v>0.211947087379</c:v>
                </c:pt>
                <c:pt idx="3">
                  <c:v>0.0669798898392</c:v>
                </c:pt>
                <c:pt idx="4">
                  <c:v>0.0649327549626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Bonded thickness at held-out concentrations</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scatterChart>
        <c:scatterStyle val="marker"/>
        <c:varyColors val="0"/>
        <c:ser>
          <c:idx val="0"/>
          <c:order val="0"/>
          <c:tx>
            <c:v>Observed</c:v>
          </c:tx>
          <c:spPr>
            <a:ln xmlns:a="http://schemas.openxmlformats.org/drawingml/2006/main" w="0">
              <a:noFill/>
            </a:ln>
          </c:spPr>
          <c:marker>
            <c:symbol val="circle"/>
            <c:size val="6"/>
            <c:spPr>
              <a:solidFill xmlns:a="http://schemas.openxmlformats.org/drawingml/2006/main">
                <a:srgbClr val="65717B"/>
              </a:solidFill>
            </c:spPr>
          </c:marker>
          <c:xVal>
            <c:numRef>
              <c:f>'Chart Data'!$A$2:$A$11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Data'!$B$2:$B$11</c:f>
              <c:numCache>
                <c:formatCode>0.0</c:formatCode>
                <c:ptCount val="10"/>
                <c:pt idx="0">
                  <c:v>0.55</c:v>
                </c:pt>
                <c:pt idx="1">
                  <c:v>0.56</c:v>
                </c:pt>
                <c:pt idx="2">
                  <c:v>0.57</c:v>
                </c:pt>
                <c:pt idx="3">
                  <c:v>0.56</c:v>
                </c:pt>
                <c:pt idx="4">
                  <c:v>0.55</c:v>
                </c:pt>
                <c:pt idx="5">
                  <c:v>0.55</c:v>
                </c:pt>
                <c:pt idx="6">
                  <c:v>0.5</c:v>
                </c:pt>
                <c:pt idx="7">
                  <c:v>0.53</c:v>
                </c:pt>
                <c:pt idx="8">
                  <c:v>0.52</c:v>
                </c:pt>
                <c:pt idx="9">
                  <c:v>0.51</c:v>
                </c:pt>
              </c:numCache>
            </c:numRef>
          </c:yVal>
        </c:ser>
        <c:ser>
          <c:idx val="1"/>
          <c:order val="1"/>
          <c:tx>
            <c:v>PINN</c:v>
          </c:tx>
          <c:spPr>
            <a:ln xmlns:a="http://schemas.openxmlformats.org/drawingml/2006/main" w="0">
              <a:noFill/>
            </a:ln>
          </c:spPr>
          <c:marker>
            <c:symbol val="diamond"/>
            <c:size val="6"/>
            <c:spPr>
              <a:solidFill xmlns:a="http://schemas.openxmlformats.org/drawingml/2006/main">
                <a:srgbClr val="B49A45"/>
              </a:solidFill>
            </c:spPr>
          </c:marker>
          <c:xVal>
            <c:numRef>
              <c:f>'Chart Data'!$C$2:$C$11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Data'!$D$2:$D$11</c:f>
              <c:numCache>
                <c:formatCode>0.0</c:formatCode>
                <c:ptCount val="10"/>
                <c:pt idx="0">
                  <c:v>0.56907463</c:v>
                </c:pt>
                <c:pt idx="1">
                  <c:v>0.5641197</c:v>
                </c:pt>
                <c:pt idx="2">
                  <c:v>0.5681376</c:v>
                </c:pt>
                <c:pt idx="3">
                  <c:v>0.72506624</c:v>
                </c:pt>
                <c:pt idx="4">
                  <c:v>0.7303391</c:v>
                </c:pt>
                <c:pt idx="5">
                  <c:v>0.74429506</c:v>
                </c:pt>
                <c:pt idx="6">
                  <c:v>1.3099606</c:v>
                </c:pt>
                <c:pt idx="7">
                  <c:v>1.2968558</c:v>
                </c:pt>
                <c:pt idx="8">
                  <c:v>1.3546778</c:v>
                </c:pt>
                <c:pt idx="9">
                  <c:v>1.8386797</c:v>
                </c:pt>
              </c:numCache>
            </c:numRef>
          </c:yVal>
        </c:ser>
        <c:ser>
          <c:idx val="2"/>
          <c:order val="2"/>
          <c:tx>
            <c:v>RF</c:v>
          </c:tx>
          <c:spPr>
            <a:ln xmlns:a="http://schemas.openxmlformats.org/drawingml/2006/main" w="0">
              <a:noFill/>
            </a:ln>
          </c:spPr>
          <c:marker>
            <c:symbol val="square"/>
            <c:size val="5"/>
            <c:spPr>
              <a:solidFill xmlns:a="http://schemas.openxmlformats.org/drawingml/2006/main">
                <a:srgbClr val="002B5E"/>
              </a:solidFill>
            </c:spPr>
          </c:marker>
          <c:xVal>
            <c:numRef>
              <c:f>'Chart Data'!$E$2:$E$11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Data'!$F$2:$F$11</c:f>
              <c:numCache>
                <c:formatCode>0.0</c:formatCode>
                <c:ptCount val="10"/>
                <c:pt idx="0">
                  <c:v>0.579423108466</c:v>
                </c:pt>
                <c:pt idx="1">
                  <c:v>0.580101441799</c:v>
                </c:pt>
                <c:pt idx="2">
                  <c:v>0.579423108466</c:v>
                </c:pt>
                <c:pt idx="3">
                  <c:v>0.579423108466</c:v>
                </c:pt>
                <c:pt idx="4">
                  <c:v>0.580101441799</c:v>
                </c:pt>
                <c:pt idx="5">
                  <c:v>0.580101441799</c:v>
                </c:pt>
                <c:pt idx="6">
                  <c:v>0.499368168591</c:v>
                </c:pt>
                <c:pt idx="7">
                  <c:v>0.499368168591</c:v>
                </c:pt>
                <c:pt idx="8">
                  <c:v>0.499368168591</c:v>
                </c:pt>
                <c:pt idx="9">
                  <c:v>0.570919464887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3"/>
        </c:scaling>
        <c:delete val="0"/>
        <c:axPos val="l"/>
        <c:majorGridlines>
          <c:spPr>
            <a:ln xmlns:a="http://schemas.openxmlformats.org/drawingml/2006/main" w="5715">
              <a:solidFill>
                <a:srgbClr val="E3E8ED"/>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
          <c:min val="2"/>
        </c:scaling>
        <c:delete val="0"/>
        <c:axPos val="b"/>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Recorded concentration</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holdout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0.0557184336452</c:v>
                </c:pt>
                <c:pt idx="1">
                  <c:v>0.0551370011058</c:v>
                </c:pt>
                <c:pt idx="2">
                  <c:v>0.0541327713898</c:v>
                </c:pt>
                <c:pt idx="3">
                  <c:v>0.0359033641316</c:v>
                </c:pt>
                <c:pt idx="4">
                  <c:v>0.0747828628055</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09"/>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PINN</c:v>
          </c:tx>
          <c:spPr>
            <a:ln xmlns:a="http://schemas.openxmlformats.org/drawingml/2006/main" w="0">
              <a:noFill/>
            </a:ln>
          </c:spPr>
          <c:marker>
            <c:symbol val="circle"/>
            <c:size val="4"/>
            <c:spPr>
              <a:solidFill xmlns:a="http://schemas.openxmlformats.org/drawingml/2006/main">
                <a:srgbClr val="B49A45"/>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0.59696734</c:v>
                </c:pt>
                <c:pt idx="1">
                  <c:v>0.5486745</c:v>
                </c:pt>
                <c:pt idx="2">
                  <c:v>0.34996343</c:v>
                </c:pt>
                <c:pt idx="3">
                  <c:v>0.48975813</c:v>
                </c:pt>
                <c:pt idx="4">
                  <c:v>0.59696734</c:v>
                </c:pt>
                <c:pt idx="5">
                  <c:v>0.49593437</c:v>
                </c:pt>
                <c:pt idx="6">
                  <c:v>0.60311306</c:v>
                </c:pt>
                <c:pt idx="7">
                  <c:v>0.5283603</c:v>
                </c:pt>
                <c:pt idx="8">
                  <c:v>0.60311306</c:v>
                </c:pt>
                <c:pt idx="9">
                  <c:v>0.5024233</c:v>
                </c:pt>
                <c:pt idx="10">
                  <c:v>0.5486745</c:v>
                </c:pt>
                <c:pt idx="11">
                  <c:v>0.49593437</c:v>
                </c:pt>
                <c:pt idx="12">
                  <c:v>0.546766</c:v>
                </c:pt>
                <c:pt idx="13">
                  <c:v>0.5486745</c:v>
                </c:pt>
                <c:pt idx="14">
                  <c:v>0.60311306</c:v>
                </c:pt>
                <c:pt idx="15">
                  <c:v>0.36521357</c:v>
                </c:pt>
                <c:pt idx="16">
                  <c:v>0.59696734</c:v>
                </c:pt>
                <c:pt idx="17">
                  <c:v>0.60311306</c:v>
                </c:pt>
                <c:pt idx="18">
                  <c:v>0.6356003</c:v>
                </c:pt>
                <c:pt idx="19">
                  <c:v>0.5450106</c:v>
                </c:pt>
                <c:pt idx="20">
                  <c:v>0.5370819</c:v>
                </c:pt>
                <c:pt idx="21">
                  <c:v>0.56144875</c:v>
                </c:pt>
                <c:pt idx="22">
                  <c:v>0.50907737</c:v>
                </c:pt>
                <c:pt idx="23">
                  <c:v>0.343968</c:v>
                </c:pt>
                <c:pt idx="24">
                  <c:v>0.50547767</c:v>
                </c:pt>
                <c:pt idx="25">
                  <c:v>0.6098168</c:v>
                </c:pt>
                <c:pt idx="26">
                  <c:v>0.59196347</c:v>
                </c:pt>
                <c:pt idx="27">
                  <c:v>0.52718467</c:v>
                </c:pt>
                <c:pt idx="28">
                  <c:v>0.5582989</c:v>
                </c:pt>
                <c:pt idx="29">
                  <c:v>0.6326119</c:v>
                </c:pt>
                <c:pt idx="30">
                  <c:v>0.5139351</c:v>
                </c:pt>
                <c:pt idx="31">
                  <c:v>0.552439</c:v>
                </c:pt>
                <c:pt idx="32">
                  <c:v>0.56615996</c:v>
                </c:pt>
                <c:pt idx="33">
                  <c:v>0.5166878</c:v>
                </c:pt>
                <c:pt idx="34">
                  <c:v>0.57790685</c:v>
                </c:pt>
                <c:pt idx="35">
                  <c:v>0.53585434</c:v>
                </c:pt>
                <c:pt idx="36">
                  <c:v>0.5123666</c:v>
                </c:pt>
                <c:pt idx="37">
                  <c:v>0.540307</c:v>
                </c:pt>
                <c:pt idx="38">
                  <c:v>0.5067889</c:v>
                </c:pt>
                <c:pt idx="39">
                  <c:v>0.5145946</c:v>
                </c:pt>
                <c:pt idx="40">
                  <c:v>0.56844705</c:v>
                </c:pt>
                <c:pt idx="41">
                  <c:v>0.5704627</c:v>
                </c:pt>
                <c:pt idx="42">
                  <c:v>0.37184486</c:v>
                </c:pt>
                <c:pt idx="43">
                  <c:v>0.595492</c:v>
                </c:pt>
                <c:pt idx="44">
                  <c:v>0.3755845</c:v>
                </c:pt>
                <c:pt idx="45">
                  <c:v>0.55729574</c:v>
                </c:pt>
                <c:pt idx="46">
                  <c:v>0.5595283</c:v>
                </c:pt>
                <c:pt idx="47">
                  <c:v>0.41618788</c:v>
                </c:pt>
                <c:pt idx="48">
                  <c:v>0.603833</c:v>
                </c:pt>
                <c:pt idx="49">
                  <c:v>0.39425188</c:v>
                </c:pt>
                <c:pt idx="50">
                  <c:v>0.5997098</c:v>
                </c:pt>
                <c:pt idx="51">
                  <c:v>0.5571774</c:v>
                </c:pt>
                <c:pt idx="52">
                  <c:v>0.5564956</c:v>
                </c:pt>
                <c:pt idx="53">
                  <c:v>0.51107764</c:v>
                </c:pt>
                <c:pt idx="54">
                  <c:v>0.4143212</c:v>
                </c:pt>
                <c:pt idx="55">
                  <c:v>0.5766692</c:v>
                </c:pt>
                <c:pt idx="56">
                  <c:v>0.56272614</c:v>
                </c:pt>
                <c:pt idx="57">
                  <c:v>0.5460838</c:v>
                </c:pt>
                <c:pt idx="58">
                  <c:v>0.5398583</c:v>
                </c:pt>
                <c:pt idx="59">
                  <c:v>0.5580388</c:v>
                </c:pt>
                <c:pt idx="60">
                  <c:v>0.5481931</c:v>
                </c:pt>
                <c:pt idx="61">
                  <c:v>0.5656163</c:v>
                </c:pt>
                <c:pt idx="62">
                  <c:v>0.5316548</c:v>
                </c:pt>
                <c:pt idx="63">
                  <c:v>0.5165249</c:v>
                </c:pt>
                <c:pt idx="64">
                  <c:v>0.5595182</c:v>
                </c:pt>
                <c:pt idx="65">
                  <c:v>0.36208704</c:v>
                </c:pt>
                <c:pt idx="66">
                  <c:v>0.5524334</c:v>
                </c:pt>
                <c:pt idx="67">
                  <c:v>0.47222742</c:v>
                </c:pt>
                <c:pt idx="68">
                  <c:v>0.5273232</c:v>
                </c:pt>
                <c:pt idx="69">
                  <c:v>0.57198775</c:v>
                </c:pt>
                <c:pt idx="70">
                  <c:v>0.5097155</c:v>
                </c:pt>
                <c:pt idx="71">
                  <c:v>0.4059473</c:v>
                </c:pt>
                <c:pt idx="72">
                  <c:v>0.36165175</c:v>
                </c:pt>
                <c:pt idx="73">
                  <c:v>0.5441243</c:v>
                </c:pt>
                <c:pt idx="74">
                  <c:v>0.6152657</c:v>
                </c:pt>
                <c:pt idx="75">
                  <c:v>0.5703117</c:v>
                </c:pt>
                <c:pt idx="76">
                  <c:v>0.51757437</c:v>
                </c:pt>
                <c:pt idx="77">
                  <c:v>0.5546082</c:v>
                </c:pt>
                <c:pt idx="78">
                  <c:v>0.57271194</c:v>
                </c:pt>
                <c:pt idx="79">
                  <c:v>0.36111122</c:v>
                </c:pt>
                <c:pt idx="80">
                  <c:v>0.5383311</c:v>
                </c:pt>
                <c:pt idx="81">
                  <c:v>0.56072354</c:v>
                </c:pt>
                <c:pt idx="82">
                  <c:v>0.525246</c:v>
                </c:pt>
                <c:pt idx="83">
                  <c:v>0.5754508</c:v>
                </c:pt>
                <c:pt idx="84">
                  <c:v>0.5475229</c:v>
                </c:pt>
                <c:pt idx="85">
                  <c:v>0.53858346</c:v>
                </c:pt>
                <c:pt idx="86">
                  <c:v>0.53884727</c:v>
                </c:pt>
                <c:pt idx="87">
                  <c:v>0.5266072</c:v>
                </c:pt>
                <c:pt idx="88">
                  <c:v>0.50878423</c:v>
                </c:pt>
                <c:pt idx="89">
                  <c:v>0.4466353</c:v>
                </c:pt>
                <c:pt idx="90">
                  <c:v>0.45149878</c:v>
                </c:pt>
                <c:pt idx="91">
                  <c:v>0.34461737</c:v>
                </c:pt>
                <c:pt idx="92">
                  <c:v>0.47793487</c:v>
                </c:pt>
                <c:pt idx="93">
                  <c:v>0.5675328</c:v>
                </c:pt>
                <c:pt idx="94">
                  <c:v>0.5718567</c:v>
                </c:pt>
                <c:pt idx="95">
                  <c:v>0.5542081</c:v>
                </c:pt>
                <c:pt idx="96">
                  <c:v>0.50970703</c:v>
                </c:pt>
                <c:pt idx="97">
                  <c:v>0.501267</c:v>
                </c:pt>
                <c:pt idx="98">
                  <c:v>0.46750587</c:v>
                </c:pt>
                <c:pt idx="99">
                  <c:v>0.40739208</c:v>
                </c:pt>
                <c:pt idx="100">
                  <c:v>0.36329666</c:v>
                </c:pt>
                <c:pt idx="101">
                  <c:v>0.5340791</c:v>
                </c:pt>
                <c:pt idx="102">
                  <c:v>0.63416725</c:v>
                </c:pt>
                <c:pt idx="103">
                  <c:v>0.5491251</c:v>
                </c:pt>
                <c:pt idx="104">
                  <c:v>0.5903047</c:v>
                </c:pt>
                <c:pt idx="105">
                  <c:v>0.433425</c:v>
                </c:pt>
                <c:pt idx="106">
                  <c:v>0.5062768</c:v>
                </c:pt>
                <c:pt idx="107">
                  <c:v>0.52567065</c:v>
                </c:pt>
                <c:pt idx="108">
                  <c:v>0.37356365</c:v>
                </c:pt>
                <c:pt idx="109">
                  <c:v>0.48010248</c:v>
                </c:pt>
                <c:pt idx="110">
                  <c:v>0.55518</c:v>
                </c:pt>
                <c:pt idx="111">
                  <c:v>0.513375</c:v>
                </c:pt>
                <c:pt idx="112">
                  <c:v>0.53191835</c:v>
                </c:pt>
                <c:pt idx="113">
                  <c:v>0.5682764</c:v>
                </c:pt>
                <c:pt idx="114">
                  <c:v>0.36433268</c:v>
                </c:pt>
                <c:pt idx="115">
                  <c:v>0.5343763</c:v>
                </c:pt>
                <c:pt idx="116">
                  <c:v>0.5404621</c:v>
                </c:pt>
                <c:pt idx="117">
                  <c:v>0.5390822</c:v>
                </c:pt>
                <c:pt idx="118">
                  <c:v>0.6064009</c:v>
                </c:pt>
                <c:pt idx="119">
                  <c:v>0.5109565</c:v>
                </c:pt>
                <c:pt idx="120">
                  <c:v>0.630664</c:v>
                </c:pt>
                <c:pt idx="121">
                  <c:v>0.3624343</c:v>
                </c:pt>
                <c:pt idx="122">
                  <c:v>0.5764871</c:v>
                </c:pt>
                <c:pt idx="123">
                  <c:v>0.5563527</c:v>
                </c:pt>
                <c:pt idx="124">
                  <c:v>0.5329247</c:v>
                </c:pt>
                <c:pt idx="125">
                  <c:v>0.5579428</c:v>
                </c:pt>
                <c:pt idx="126">
                  <c:v>0.5121247</c:v>
                </c:pt>
                <c:pt idx="127">
                  <c:v>0.44877568</c:v>
                </c:pt>
                <c:pt idx="128">
                  <c:v>0.37329012</c:v>
                </c:pt>
                <c:pt idx="129">
                  <c:v>0.56026417</c:v>
                </c:pt>
                <c:pt idx="130">
                  <c:v>0.55419606</c:v>
                </c:pt>
                <c:pt idx="131">
                  <c:v>0.5927572</c:v>
                </c:pt>
                <c:pt idx="132">
                  <c:v>0.6110346</c:v>
                </c:pt>
                <c:pt idx="133">
                  <c:v>0.5148594</c:v>
                </c:pt>
                <c:pt idx="134">
                  <c:v>0.47473273</c:v>
                </c:pt>
                <c:pt idx="135">
                  <c:v>0.6277075</c:v>
                </c:pt>
                <c:pt idx="136">
                  <c:v>0.5484341</c:v>
                </c:pt>
                <c:pt idx="137">
                  <c:v>0.5190001</c:v>
                </c:pt>
                <c:pt idx="138">
                  <c:v>0.38325247</c:v>
                </c:pt>
                <c:pt idx="139">
                  <c:v>0.50751513</c:v>
                </c:pt>
                <c:pt idx="140">
                  <c:v>0.5177406</c:v>
                </c:pt>
                <c:pt idx="141">
                  <c:v>0.40173277</c:v>
                </c:pt>
                <c:pt idx="142">
                  <c:v>0.6261041</c:v>
                </c:pt>
                <c:pt idx="143">
                  <c:v>0.6167446</c:v>
                </c:pt>
                <c:pt idx="144">
                  <c:v>0.5315027</c:v>
                </c:pt>
                <c:pt idx="145">
                  <c:v>0.5168186</c:v>
                </c:pt>
                <c:pt idx="146">
                  <c:v>0.501859</c:v>
                </c:pt>
                <c:pt idx="147">
                  <c:v>0.5253377</c:v>
                </c:pt>
                <c:pt idx="148">
                  <c:v>0.62950474</c:v>
                </c:pt>
                <c:pt idx="149">
                  <c:v>0.5478795</c:v>
                </c:pt>
                <c:pt idx="150">
                  <c:v>0.5704499</c:v>
                </c:pt>
                <c:pt idx="151">
                  <c:v>0.56248915</c:v>
                </c:pt>
                <c:pt idx="152">
                  <c:v>0.55152225</c:v>
                </c:pt>
                <c:pt idx="153">
                  <c:v>0.5570139</c:v>
                </c:pt>
                <c:pt idx="154">
                  <c:v>0.56267244</c:v>
                </c:pt>
                <c:pt idx="155">
                  <c:v>0.6154517</c:v>
                </c:pt>
                <c:pt idx="156">
                  <c:v>0.59457624</c:v>
                </c:pt>
                <c:pt idx="157">
                  <c:v>0.7741603</c:v>
                </c:pt>
                <c:pt idx="158">
                  <c:v>0.78898036</c:v>
                </c:pt>
                <c:pt idx="159">
                  <c:v>0.31024674</c:v>
                </c:pt>
                <c:pt idx="160">
                  <c:v>0.3109943</c:v>
                </c:pt>
                <c:pt idx="161">
                  <c:v>0.33040112</c:v>
                </c:pt>
                <c:pt idx="162">
                  <c:v>0.6162786</c:v>
                </c:pt>
                <c:pt idx="163">
                  <c:v>0.75064796</c:v>
                </c:pt>
                <c:pt idx="164">
                  <c:v>0.31977916</c:v>
                </c:pt>
                <c:pt idx="165">
                  <c:v>0.30681708</c:v>
                </c:pt>
                <c:pt idx="166">
                  <c:v>0.64002573</c:v>
                </c:pt>
                <c:pt idx="167">
                  <c:v>0.3188815</c:v>
                </c:pt>
                <c:pt idx="168">
                  <c:v>0.34968445</c:v>
                </c:pt>
                <c:pt idx="169">
                  <c:v>0.3102258</c:v>
                </c:pt>
                <c:pt idx="170">
                  <c:v>0.351761</c:v>
                </c:pt>
                <c:pt idx="171">
                  <c:v>0.98227185</c:v>
                </c:pt>
                <c:pt idx="172">
                  <c:v>0.31111902</c:v>
                </c:pt>
                <c:pt idx="173">
                  <c:v>0.5412023</c:v>
                </c:pt>
                <c:pt idx="174">
                  <c:v>0.320608</c:v>
                </c:pt>
                <c:pt idx="175">
                  <c:v>0.34373486</c:v>
                </c:pt>
                <c:pt idx="176">
                  <c:v>0.9369762</c:v>
                </c:pt>
                <c:pt idx="177">
                  <c:v>0.6574708</c:v>
                </c:pt>
                <c:pt idx="178">
                  <c:v>0.9585298</c:v>
                </c:pt>
                <c:pt idx="179">
                  <c:v>0.30756852</c:v>
                </c:pt>
                <c:pt idx="180">
                  <c:v>0.28737414</c:v>
                </c:pt>
                <c:pt idx="181">
                  <c:v>0.6264132</c:v>
                </c:pt>
                <c:pt idx="182">
                  <c:v>0.31119606</c:v>
                </c:pt>
                <c:pt idx="183">
                  <c:v>0.7657151</c:v>
                </c:pt>
                <c:pt idx="184">
                  <c:v>0.6432699</c:v>
                </c:pt>
                <c:pt idx="185">
                  <c:v>0.33270204</c:v>
                </c:pt>
                <c:pt idx="186">
                  <c:v>0.45352426</c:v>
                </c:pt>
                <c:pt idx="187">
                  <c:v>0.58496237</c:v>
                </c:pt>
                <c:pt idx="188">
                  <c:v>0.5745471</c:v>
                </c:pt>
                <c:pt idx="189">
                  <c:v>0.3837499</c:v>
                </c:pt>
                <c:pt idx="190">
                  <c:v>0.91348404</c:v>
                </c:pt>
                <c:pt idx="191">
                  <c:v>0.31157997</c:v>
                </c:pt>
                <c:pt idx="192">
                  <c:v>1.007314</c:v>
                </c:pt>
                <c:pt idx="193">
                  <c:v>0.3410277</c:v>
                </c:pt>
                <c:pt idx="194">
                  <c:v>0.3231</c:v>
                </c:pt>
                <c:pt idx="195">
                  <c:v>0.6441148</c:v>
                </c:pt>
                <c:pt idx="196">
                  <c:v>0.75160974</c:v>
                </c:pt>
                <c:pt idx="197">
                  <c:v>0.679096</c:v>
                </c:pt>
                <c:pt idx="198">
                  <c:v>0.3170719</c:v>
                </c:pt>
                <c:pt idx="199">
                  <c:v>0.30580547</c:v>
                </c:pt>
                <c:pt idx="200">
                  <c:v>1.0678182</c:v>
                </c:pt>
                <c:pt idx="201">
                  <c:v>1.0109125</c:v>
                </c:pt>
                <c:pt idx="202">
                  <c:v>0.9420595</c:v>
                </c:pt>
                <c:pt idx="203">
                  <c:v>0.32290617</c:v>
                </c:pt>
                <c:pt idx="204">
                  <c:v>0.75941753</c:v>
                </c:pt>
                <c:pt idx="205">
                  <c:v>0.44870865</c:v>
                </c:pt>
                <c:pt idx="206">
                  <c:v>0.66289204</c:v>
                </c:pt>
                <c:pt idx="207">
                  <c:v>0.63752294</c:v>
                </c:pt>
                <c:pt idx="208">
                  <c:v>0.29120874</c:v>
                </c:pt>
                <c:pt idx="209">
                  <c:v>0.3695116</c:v>
                </c:pt>
                <c:pt idx="210">
                  <c:v>0.35971785</c:v>
                </c:pt>
                <c:pt idx="211">
                  <c:v>0.72831947</c:v>
                </c:pt>
                <c:pt idx="212">
                  <c:v>0.3184255</c:v>
                </c:pt>
                <c:pt idx="213">
                  <c:v>0.4530694</c:v>
                </c:pt>
                <c:pt idx="214">
                  <c:v>0.6370243</c:v>
                </c:pt>
                <c:pt idx="215">
                  <c:v>0.77186275</c:v>
                </c:pt>
                <c:pt idx="216">
                  <c:v>0.3430235</c:v>
                </c:pt>
                <c:pt idx="217">
                  <c:v>0.9738897</c:v>
                </c:pt>
                <c:pt idx="218">
                  <c:v>0.291375</c:v>
                </c:pt>
                <c:pt idx="219">
                  <c:v>0.58704054</c:v>
                </c:pt>
                <c:pt idx="220">
                  <c:v>0.77597976</c:v>
                </c:pt>
                <c:pt idx="221">
                  <c:v>0.6383151</c:v>
                </c:pt>
                <c:pt idx="222">
                  <c:v>0.97503173</c:v>
                </c:pt>
                <c:pt idx="223">
                  <c:v>0.3477485</c:v>
                </c:pt>
                <c:pt idx="224">
                  <c:v>0.4793764</c:v>
                </c:pt>
                <c:pt idx="225">
                  <c:v>1.0771691</c:v>
                </c:pt>
                <c:pt idx="226">
                  <c:v>0.59222627</c:v>
                </c:pt>
                <c:pt idx="227">
                  <c:v>0.94769806</c:v>
                </c:pt>
                <c:pt idx="228">
                  <c:v>0.34086427</c:v>
                </c:pt>
                <c:pt idx="229">
                  <c:v>0.35237104</c:v>
                </c:pt>
                <c:pt idx="230">
                  <c:v>0.35577932</c:v>
                </c:pt>
                <c:pt idx="231">
                  <c:v>0.9534315</c:v>
                </c:pt>
                <c:pt idx="232">
                  <c:v>0.46525842</c:v>
                </c:pt>
                <c:pt idx="233">
                  <c:v>0.35236156</c:v>
                </c:pt>
                <c:pt idx="234">
                  <c:v>0.34490296</c:v>
                </c:pt>
                <c:pt idx="235">
                  <c:v>0.34955132</c:v>
                </c:pt>
                <c:pt idx="236">
                  <c:v>0.3583921</c:v>
                </c:pt>
                <c:pt idx="237">
                  <c:v>0.5988566</c:v>
                </c:pt>
                <c:pt idx="238">
                  <c:v>0.46222463</c:v>
                </c:pt>
                <c:pt idx="239">
                  <c:v>0.6217774</c:v>
                </c:pt>
                <c:pt idx="240">
                  <c:v>0.38397256</c:v>
                </c:pt>
                <c:pt idx="241">
                  <c:v>0.76098293</c:v>
                </c:pt>
                <c:pt idx="242">
                  <c:v>1.0141757</c:v>
                </c:pt>
                <c:pt idx="243">
                  <c:v>0.650197</c:v>
                </c:pt>
                <c:pt idx="244">
                  <c:v>0.9551995</c:v>
                </c:pt>
                <c:pt idx="245">
                  <c:v>0.34681362</c:v>
                </c:pt>
                <c:pt idx="246">
                  <c:v>0.38354787</c:v>
                </c:pt>
                <c:pt idx="247">
                  <c:v>0.4808741</c:v>
                </c:pt>
                <c:pt idx="248">
                  <c:v>0.65980554</c:v>
                </c:pt>
                <c:pt idx="249">
                  <c:v>0.31123573</c:v>
                </c:pt>
                <c:pt idx="250">
                  <c:v>0.7033042</c:v>
                </c:pt>
                <c:pt idx="251">
                  <c:v>0.9533628</c:v>
                </c:pt>
                <c:pt idx="252">
                  <c:v>0.3558592</c:v>
                </c:pt>
                <c:pt idx="253">
                  <c:v>0.3496911</c:v>
                </c:pt>
                <c:pt idx="254">
                  <c:v>0.30542633</c:v>
                </c:pt>
                <c:pt idx="255">
                  <c:v>0.3588816</c:v>
                </c:pt>
                <c:pt idx="256">
                  <c:v>0.7471549</c:v>
                </c:pt>
                <c:pt idx="257">
                  <c:v>0.32473254</c:v>
                </c:pt>
                <c:pt idx="258">
                  <c:v>0.33307484</c:v>
                </c:pt>
                <c:pt idx="259">
                  <c:v>0.5835719</c:v>
                </c:pt>
                <c:pt idx="260">
                  <c:v>0.3424254</c:v>
                </c:pt>
                <c:pt idx="261">
                  <c:v>0.9292843</c:v>
                </c:pt>
                <c:pt idx="262">
                  <c:v>1.0724971</c:v>
                </c:pt>
                <c:pt idx="263">
                  <c:v>0.31916717</c:v>
                </c:pt>
                <c:pt idx="264">
                  <c:v>0.9684102</c:v>
                </c:pt>
                <c:pt idx="265">
                  <c:v>0.37723765</c:v>
                </c:pt>
                <c:pt idx="266">
                  <c:v>0.30652437</c:v>
                </c:pt>
                <c:pt idx="267">
                  <c:v>0.33780083</c:v>
                </c:pt>
                <c:pt idx="268">
                  <c:v>0.6459459</c:v>
                </c:pt>
                <c:pt idx="269">
                  <c:v>0.34110057</c:v>
                </c:pt>
                <c:pt idx="270">
                  <c:v>0.34647325</c:v>
                </c:pt>
                <c:pt idx="271">
                  <c:v>0.9465083</c:v>
                </c:pt>
                <c:pt idx="272">
                  <c:v>0.33993295</c:v>
                </c:pt>
                <c:pt idx="273">
                  <c:v>0.32076746</c:v>
                </c:pt>
                <c:pt idx="274">
                  <c:v>0.652499</c:v>
                </c:pt>
                <c:pt idx="275">
                  <c:v>0.78674674</c:v>
                </c:pt>
                <c:pt idx="276">
                  <c:v>0.459445</c:v>
                </c:pt>
                <c:pt idx="277">
                  <c:v>1.007115</c:v>
                </c:pt>
                <c:pt idx="278">
                  <c:v>0.3052634</c:v>
                </c:pt>
                <c:pt idx="279">
                  <c:v>0.9558534</c:v>
                </c:pt>
                <c:pt idx="280">
                  <c:v>0.37651128</c:v>
                </c:pt>
                <c:pt idx="281">
                  <c:v>0.35903123</c:v>
                </c:pt>
                <c:pt idx="282">
                  <c:v>0.33037373</c:v>
                </c:pt>
                <c:pt idx="283">
                  <c:v>0.610466</c:v>
                </c:pt>
                <c:pt idx="284">
                  <c:v>0.3232443</c:v>
                </c:pt>
                <c:pt idx="285">
                  <c:v>0.9446252</c:v>
                </c:pt>
                <c:pt idx="286">
                  <c:v>0.31168887</c:v>
                </c:pt>
                <c:pt idx="287">
                  <c:v>0.9593959</c:v>
                </c:pt>
                <c:pt idx="288">
                  <c:v>0.77599174</c:v>
                </c:pt>
                <c:pt idx="289">
                  <c:v>0.7835766</c:v>
                </c:pt>
                <c:pt idx="290">
                  <c:v>0.98326313</c:v>
                </c:pt>
                <c:pt idx="291">
                  <c:v>0.35219797</c:v>
                </c:pt>
                <c:pt idx="292">
                  <c:v>0.64109665</c:v>
                </c:pt>
                <c:pt idx="293">
                  <c:v>0.6156904</c:v>
                </c:pt>
                <c:pt idx="294">
                  <c:v>0.4540681</c:v>
                </c:pt>
                <c:pt idx="295">
                  <c:v>0.61018616</c:v>
                </c:pt>
                <c:pt idx="296">
                  <c:v>0.29005507</c:v>
                </c:pt>
                <c:pt idx="297">
                  <c:v>0.6186749</c:v>
                </c:pt>
                <c:pt idx="298">
                  <c:v>1.0652497</c:v>
                </c:pt>
                <c:pt idx="299">
                  <c:v>0.31727868</c:v>
                </c:pt>
                <c:pt idx="300">
                  <c:v>1.0096625</c:v>
                </c:pt>
                <c:pt idx="301">
                  <c:v>0.9922262</c:v>
                </c:pt>
                <c:pt idx="302">
                  <c:v>1.0669067</c:v>
                </c:pt>
                <c:pt idx="303">
                  <c:v>0.5878344</c:v>
                </c:pt>
                <c:pt idx="304">
                  <c:v>0.3233569</c:v>
                </c:pt>
                <c:pt idx="305">
                  <c:v>0.64815897</c:v>
                </c:pt>
                <c:pt idx="306">
                  <c:v>0.34889483</c:v>
                </c:pt>
                <c:pt idx="307">
                  <c:v>1.065837</c:v>
                </c:pt>
                <c:pt idx="308">
                  <c:v>0.7337007</c:v>
                </c:pt>
                <c:pt idx="309">
                  <c:v>0.76663357</c:v>
                </c:pt>
                <c:pt idx="310">
                  <c:v>0.76842755</c:v>
                </c:pt>
                <c:pt idx="311">
                  <c:v>0.3236134</c:v>
                </c:pt>
                <c:pt idx="312">
                  <c:v>0.96590346</c:v>
                </c:pt>
                <c:pt idx="313">
                  <c:v>0.5768023</c:v>
                </c:pt>
                <c:pt idx="314">
                  <c:v>0.7715338</c:v>
                </c:pt>
                <c:pt idx="315">
                  <c:v>0.43557128</c:v>
                </c:pt>
                <c:pt idx="316">
                  <c:v>0.31301898</c:v>
                </c:pt>
                <c:pt idx="317">
                  <c:v>0.34000894</c:v>
                </c:pt>
                <c:pt idx="318">
                  <c:v>0.52354103</c:v>
                </c:pt>
                <c:pt idx="319">
                  <c:v>0.3656894</c:v>
                </c:pt>
                <c:pt idx="320">
                  <c:v>0.36236158</c:v>
                </c:pt>
                <c:pt idx="321">
                  <c:v>0.36522284</c:v>
                </c:pt>
                <c:pt idx="322">
                  <c:v>0.33678728</c:v>
                </c:pt>
                <c:pt idx="323">
                  <c:v>0.4194828</c:v>
                </c:pt>
                <c:pt idx="324">
                  <c:v>0.68816143</c:v>
                </c:pt>
                <c:pt idx="325">
                  <c:v>0.38991833</c:v>
                </c:pt>
                <c:pt idx="326">
                  <c:v>0.3347279</c:v>
                </c:pt>
                <c:pt idx="327">
                  <c:v>0.42288673</c:v>
                </c:pt>
                <c:pt idx="328">
                  <c:v>0.3497838</c:v>
                </c:pt>
                <c:pt idx="329">
                  <c:v>0.6827942</c:v>
                </c:pt>
                <c:pt idx="330">
                  <c:v>0.700203</c:v>
                </c:pt>
                <c:pt idx="331">
                  <c:v>0.6470103</c:v>
                </c:pt>
                <c:pt idx="332">
                  <c:v>0.3725699</c:v>
                </c:pt>
                <c:pt idx="333">
                  <c:v>0.3525314</c:v>
                </c:pt>
                <c:pt idx="334">
                  <c:v>0.43070814</c:v>
                </c:pt>
                <c:pt idx="335">
                  <c:v>0.4864721</c:v>
                </c:pt>
                <c:pt idx="336">
                  <c:v>0.511518</c:v>
                </c:pt>
                <c:pt idx="337">
                  <c:v>0.34670308</c:v>
                </c:pt>
                <c:pt idx="338">
                  <c:v>0.36607543</c:v>
                </c:pt>
                <c:pt idx="339">
                  <c:v>0.6994619</c:v>
                </c:pt>
                <c:pt idx="340">
                  <c:v>0.4179744</c:v>
                </c:pt>
                <c:pt idx="341">
                  <c:v>0.44083545</c:v>
                </c:pt>
                <c:pt idx="342">
                  <c:v>0.5244096</c:v>
                </c:pt>
                <c:pt idx="343">
                  <c:v>0.37827122</c:v>
                </c:pt>
                <c:pt idx="344">
                  <c:v>0.59573793</c:v>
                </c:pt>
                <c:pt idx="345">
                  <c:v>0.6950214</c:v>
                </c:pt>
                <c:pt idx="346">
                  <c:v>0.6560379</c:v>
                </c:pt>
                <c:pt idx="347">
                  <c:v>0.59686655</c:v>
                </c:pt>
                <c:pt idx="348">
                  <c:v>0.5130307</c:v>
                </c:pt>
                <c:pt idx="349">
                  <c:v>0.47737253</c:v>
                </c:pt>
                <c:pt idx="350">
                  <c:v>0.41293952</c:v>
                </c:pt>
                <c:pt idx="351">
                  <c:v>0.4723819</c:v>
                </c:pt>
                <c:pt idx="352">
                  <c:v>0.35474285</c:v>
                </c:pt>
                <c:pt idx="353">
                  <c:v>0.57865036</c:v>
                </c:pt>
                <c:pt idx="354">
                  <c:v>0.3137741</c:v>
                </c:pt>
                <c:pt idx="355">
                  <c:v>0.50100124</c:v>
                </c:pt>
                <c:pt idx="356">
                  <c:v>0.488815</c:v>
                </c:pt>
                <c:pt idx="357">
                  <c:v>0.3996847</c:v>
                </c:pt>
                <c:pt idx="358">
                  <c:v>0.31842723</c:v>
                </c:pt>
                <c:pt idx="359">
                  <c:v>0.57578486</c:v>
                </c:pt>
                <c:pt idx="360">
                  <c:v>0.67859983</c:v>
                </c:pt>
                <c:pt idx="361">
                  <c:v>0.3596772</c:v>
                </c:pt>
                <c:pt idx="362">
                  <c:v>0.49663055</c:v>
                </c:pt>
                <c:pt idx="363">
                  <c:v>0.579651</c:v>
                </c:pt>
                <c:pt idx="364">
                  <c:v>0.3642018</c:v>
                </c:pt>
                <c:pt idx="365">
                  <c:v>0.36218116</c:v>
                </c:pt>
                <c:pt idx="366">
                  <c:v>0.4344419</c:v>
                </c:pt>
                <c:pt idx="367">
                  <c:v>0.3679419</c:v>
                </c:pt>
                <c:pt idx="368">
                  <c:v>0.48839122</c:v>
                </c:pt>
                <c:pt idx="369">
                  <c:v>0.411723</c:v>
                </c:pt>
                <c:pt idx="370">
                  <c:v>0.48370638</c:v>
                </c:pt>
                <c:pt idx="371">
                  <c:v>0.447876</c:v>
                </c:pt>
                <c:pt idx="372">
                  <c:v>0.64193434</c:v>
                </c:pt>
                <c:pt idx="373">
                  <c:v>0.5928801</c:v>
                </c:pt>
                <c:pt idx="374">
                  <c:v>0.31532806</c:v>
                </c:pt>
                <c:pt idx="375">
                  <c:v>0.33741632</c:v>
                </c:pt>
                <c:pt idx="376">
                  <c:v>0.6977405</c:v>
                </c:pt>
                <c:pt idx="377">
                  <c:v>0.48406675</c:v>
                </c:pt>
                <c:pt idx="378">
                  <c:v>0.37086657</c:v>
                </c:pt>
                <c:pt idx="379">
                  <c:v>0.35969812</c:v>
                </c:pt>
                <c:pt idx="380">
                  <c:v>0.36877814</c:v>
                </c:pt>
                <c:pt idx="381">
                  <c:v>0.28132913</c:v>
                </c:pt>
                <c:pt idx="382">
                  <c:v>0.6773597</c:v>
                </c:pt>
                <c:pt idx="383">
                  <c:v>0.57918113</c:v>
                </c:pt>
                <c:pt idx="384">
                  <c:v>0.6999698</c:v>
                </c:pt>
                <c:pt idx="385">
                  <c:v>0.5226618</c:v>
                </c:pt>
                <c:pt idx="386">
                  <c:v>0.4836642</c:v>
                </c:pt>
                <c:pt idx="387">
                  <c:v>0.4288426</c:v>
                </c:pt>
                <c:pt idx="388">
                  <c:v>0.40661183</c:v>
                </c:pt>
                <c:pt idx="389">
                  <c:v>0.64879215</c:v>
                </c:pt>
                <c:pt idx="390">
                  <c:v>0.48021147</c:v>
                </c:pt>
                <c:pt idx="391">
                  <c:v>0.36241472</c:v>
                </c:pt>
                <c:pt idx="392">
                  <c:v>0.5779122</c:v>
                </c:pt>
                <c:pt idx="393">
                  <c:v>0.5860346</c:v>
                </c:pt>
                <c:pt idx="394">
                  <c:v>0.396014</c:v>
                </c:pt>
                <c:pt idx="395">
                  <c:v>0.52984065</c:v>
                </c:pt>
                <c:pt idx="396">
                  <c:v>0.37765622</c:v>
                </c:pt>
                <c:pt idx="397">
                  <c:v>0.36290056</c:v>
                </c:pt>
                <c:pt idx="398">
                  <c:v>0.7012997</c:v>
                </c:pt>
                <c:pt idx="399">
                  <c:v>0.40052631</c:v>
                </c:pt>
                <c:pt idx="400">
                  <c:v>0.59317833</c:v>
                </c:pt>
                <c:pt idx="401">
                  <c:v>0.48788726</c:v>
                </c:pt>
                <c:pt idx="402">
                  <c:v>0.701642</c:v>
                </c:pt>
                <c:pt idx="403">
                  <c:v>0.43362615</c:v>
                </c:pt>
                <c:pt idx="404">
                  <c:v>0.69226325</c:v>
                </c:pt>
                <c:pt idx="405">
                  <c:v>0.4195461</c:v>
                </c:pt>
                <c:pt idx="406">
                  <c:v>0.3751683</c:v>
                </c:pt>
                <c:pt idx="407">
                  <c:v>0.28370476</c:v>
                </c:pt>
                <c:pt idx="408">
                  <c:v>0.31667742</c:v>
                </c:pt>
                <c:pt idx="409">
                  <c:v>0.4768279</c:v>
                </c:pt>
                <c:pt idx="410">
                  <c:v>0.41890925</c:v>
                </c:pt>
                <c:pt idx="411">
                  <c:v>0.49107105</c:v>
                </c:pt>
                <c:pt idx="412">
                  <c:v>0.36234123</c:v>
                </c:pt>
                <c:pt idx="413">
                  <c:v>0.42006925</c:v>
                </c:pt>
                <c:pt idx="414">
                  <c:v>0.52180654</c:v>
                </c:pt>
                <c:pt idx="415">
                  <c:v>0.4382403</c:v>
                </c:pt>
                <c:pt idx="416">
                  <c:v>0.6423948</c:v>
                </c:pt>
                <c:pt idx="417">
                  <c:v>0.40586782</c:v>
                </c:pt>
                <c:pt idx="418">
                  <c:v>0.64076847</c:v>
                </c:pt>
                <c:pt idx="419">
                  <c:v>0.69483125</c:v>
                </c:pt>
                <c:pt idx="420">
                  <c:v>0.48336902</c:v>
                </c:pt>
                <c:pt idx="421">
                  <c:v>0.38525006</c:v>
                </c:pt>
                <c:pt idx="422">
                  <c:v>0.52682966</c:v>
                </c:pt>
                <c:pt idx="423">
                  <c:v>0.53079504</c:v>
                </c:pt>
                <c:pt idx="424">
                  <c:v>0.4771477</c:v>
                </c:pt>
                <c:pt idx="425">
                  <c:v>0.4854418</c:v>
                </c:pt>
                <c:pt idx="426">
                  <c:v>0.35822105</c:v>
                </c:pt>
                <c:pt idx="427">
                  <c:v>0.44347787</c:v>
                </c:pt>
                <c:pt idx="428">
                  <c:v>0.6761816</c:v>
                </c:pt>
                <c:pt idx="429">
                  <c:v>0.32096356</c:v>
                </c:pt>
                <c:pt idx="430">
                  <c:v>0.43640015</c:v>
                </c:pt>
                <c:pt idx="431">
                  <c:v>0.4375609</c:v>
                </c:pt>
                <c:pt idx="432">
                  <c:v>0.635301</c:v>
                </c:pt>
                <c:pt idx="433">
                  <c:v>0.49560255</c:v>
                </c:pt>
                <c:pt idx="434">
                  <c:v>0.36516857</c:v>
                </c:pt>
                <c:pt idx="435">
                  <c:v>0.505248</c:v>
                </c:pt>
                <c:pt idx="436">
                  <c:v>0.6824544</c:v>
                </c:pt>
                <c:pt idx="437">
                  <c:v>0.494264</c:v>
                </c:pt>
                <c:pt idx="438">
                  <c:v>0.5264088</c:v>
                </c:pt>
                <c:pt idx="439">
                  <c:v>0.64534205</c:v>
                </c:pt>
                <c:pt idx="440">
                  <c:v>0.6765501</c:v>
                </c:pt>
                <c:pt idx="441">
                  <c:v>0.35764533</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Random forest</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Random forest</c:v>
          </c:tx>
          <c:spPr>
            <a:ln xmlns:a="http://schemas.openxmlformats.org/drawingml/2006/main" w="0">
              <a:noFill/>
            </a:ln>
          </c:spPr>
          <c:marker>
            <c:symbol val="circle"/>
            <c:size val="4"/>
            <c:spPr>
              <a:solidFill xmlns:a="http://schemas.openxmlformats.org/drawingml/2006/main">
                <a:srgbClr val="002B5E"/>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0.579989220459</c:v>
                </c:pt>
                <c:pt idx="1">
                  <c:v>0.517343098542</c:v>
                </c:pt>
                <c:pt idx="2">
                  <c:v>0.351453495572</c:v>
                </c:pt>
                <c:pt idx="3">
                  <c:v>0.464141960963</c:v>
                </c:pt>
                <c:pt idx="4">
                  <c:v>0.579989220459</c:v>
                </c:pt>
                <c:pt idx="5">
                  <c:v>0.465177640485</c:v>
                </c:pt>
                <c:pt idx="6">
                  <c:v>0.583002601472</c:v>
                </c:pt>
                <c:pt idx="7">
                  <c:v>0.495375381999</c:v>
                </c:pt>
                <c:pt idx="8">
                  <c:v>0.583002601472</c:v>
                </c:pt>
                <c:pt idx="9">
                  <c:v>0.657037417254</c:v>
                </c:pt>
                <c:pt idx="10">
                  <c:v>0.517343098542</c:v>
                </c:pt>
                <c:pt idx="11">
                  <c:v>0.465177640485</c:v>
                </c:pt>
                <c:pt idx="12">
                  <c:v>0.517387025561</c:v>
                </c:pt>
                <c:pt idx="13">
                  <c:v>0.517343098542</c:v>
                </c:pt>
                <c:pt idx="14">
                  <c:v>0.583002601472</c:v>
                </c:pt>
                <c:pt idx="15">
                  <c:v>0.361024363696</c:v>
                </c:pt>
                <c:pt idx="16">
                  <c:v>0.579989220459</c:v>
                </c:pt>
                <c:pt idx="17">
                  <c:v>0.583002601472</c:v>
                </c:pt>
                <c:pt idx="18">
                  <c:v>0.574730780496</c:v>
                </c:pt>
                <c:pt idx="19">
                  <c:v>0.507271854839</c:v>
                </c:pt>
                <c:pt idx="20">
                  <c:v>0.538628936</c:v>
                </c:pt>
                <c:pt idx="21">
                  <c:v>0.569471514379</c:v>
                </c:pt>
                <c:pt idx="22">
                  <c:v>0.522139120132</c:v>
                </c:pt>
                <c:pt idx="23">
                  <c:v>0.34814878376</c:v>
                </c:pt>
                <c:pt idx="24">
                  <c:v>0.475256109473</c:v>
                </c:pt>
                <c:pt idx="25">
                  <c:v>0.614037500261</c:v>
                </c:pt>
                <c:pt idx="26">
                  <c:v>0.592463403833</c:v>
                </c:pt>
                <c:pt idx="27">
                  <c:v>0.583593454722</c:v>
                </c:pt>
                <c:pt idx="28">
                  <c:v>0.558194899855</c:v>
                </c:pt>
                <c:pt idx="29">
                  <c:v>0.614816945826</c:v>
                </c:pt>
                <c:pt idx="30">
                  <c:v>0.541493326899</c:v>
                </c:pt>
                <c:pt idx="31">
                  <c:v>0.591877465741</c:v>
                </c:pt>
                <c:pt idx="32">
                  <c:v>0.646859864555</c:v>
                </c:pt>
                <c:pt idx="33">
                  <c:v>0.502377802513</c:v>
                </c:pt>
                <c:pt idx="34">
                  <c:v>0.614921267876</c:v>
                </c:pt>
                <c:pt idx="35">
                  <c:v>0.538795058696</c:v>
                </c:pt>
                <c:pt idx="36">
                  <c:v>0.505669864244</c:v>
                </c:pt>
                <c:pt idx="37">
                  <c:v>0.585432394158</c:v>
                </c:pt>
                <c:pt idx="38">
                  <c:v>0.502746005059</c:v>
                </c:pt>
                <c:pt idx="39">
                  <c:v>0.464565782214</c:v>
                </c:pt>
                <c:pt idx="40">
                  <c:v>0.577569344833</c:v>
                </c:pt>
                <c:pt idx="41">
                  <c:v>0.576896140386</c:v>
                </c:pt>
                <c:pt idx="42">
                  <c:v>0.380012261785</c:v>
                </c:pt>
                <c:pt idx="43">
                  <c:v>0.583930142119</c:v>
                </c:pt>
                <c:pt idx="44">
                  <c:v>0.374741173706</c:v>
                </c:pt>
                <c:pt idx="45">
                  <c:v>0.563311086707</c:v>
                </c:pt>
                <c:pt idx="46">
                  <c:v>0.570258316725</c:v>
                </c:pt>
                <c:pt idx="47">
                  <c:v>0.373437618075</c:v>
                </c:pt>
                <c:pt idx="48">
                  <c:v>0.587842874542</c:v>
                </c:pt>
                <c:pt idx="49">
                  <c:v>0.34522664437</c:v>
                </c:pt>
                <c:pt idx="50">
                  <c:v>0.62424545477</c:v>
                </c:pt>
                <c:pt idx="51">
                  <c:v>0.563319371466</c:v>
                </c:pt>
                <c:pt idx="52">
                  <c:v>0.563280523727</c:v>
                </c:pt>
                <c:pt idx="53">
                  <c:v>0.501433837475</c:v>
                </c:pt>
                <c:pt idx="54">
                  <c:v>0.352259691262</c:v>
                </c:pt>
                <c:pt idx="55">
                  <c:v>0.596160164139</c:v>
                </c:pt>
                <c:pt idx="56">
                  <c:v>0.559284984217</c:v>
                </c:pt>
                <c:pt idx="57">
                  <c:v>0.545557538995</c:v>
                </c:pt>
                <c:pt idx="58">
                  <c:v>0.593242116247</c:v>
                </c:pt>
                <c:pt idx="59">
                  <c:v>0.570129499926</c:v>
                </c:pt>
                <c:pt idx="60">
                  <c:v>0.541765222404</c:v>
                </c:pt>
                <c:pt idx="61">
                  <c:v>0.575647270488</c:v>
                </c:pt>
                <c:pt idx="62">
                  <c:v>0.515471270183</c:v>
                </c:pt>
                <c:pt idx="63">
                  <c:v>0.515897311157</c:v>
                </c:pt>
                <c:pt idx="64">
                  <c:v>0.570324989506</c:v>
                </c:pt>
                <c:pt idx="65">
                  <c:v>0.350447386704</c:v>
                </c:pt>
                <c:pt idx="66">
                  <c:v>0.548075436636</c:v>
                </c:pt>
                <c:pt idx="67">
                  <c:v>0.457198850656</c:v>
                </c:pt>
                <c:pt idx="68">
                  <c:v>0.565501291491</c:v>
                </c:pt>
                <c:pt idx="69">
                  <c:v>0.578051641983</c:v>
                </c:pt>
                <c:pt idx="70">
                  <c:v>0.51830192114</c:v>
                </c:pt>
                <c:pt idx="71">
                  <c:v>0.465583044206</c:v>
                </c:pt>
                <c:pt idx="72">
                  <c:v>0.34361596991</c:v>
                </c:pt>
                <c:pt idx="73">
                  <c:v>0.509767140823</c:v>
                </c:pt>
                <c:pt idx="74">
                  <c:v>0.611175415745</c:v>
                </c:pt>
                <c:pt idx="75">
                  <c:v>0.578095384323</c:v>
                </c:pt>
                <c:pt idx="76">
                  <c:v>0.537453335607</c:v>
                </c:pt>
                <c:pt idx="77">
                  <c:v>0.558266729937</c:v>
                </c:pt>
                <c:pt idx="78">
                  <c:v>0.596611610929</c:v>
                </c:pt>
                <c:pt idx="79">
                  <c:v>0.362309070487</c:v>
                </c:pt>
                <c:pt idx="80">
                  <c:v>0.505976524363</c:v>
                </c:pt>
                <c:pt idx="81">
                  <c:v>0.568852379063</c:v>
                </c:pt>
                <c:pt idx="82">
                  <c:v>0.527142304681</c:v>
                </c:pt>
                <c:pt idx="83">
                  <c:v>0.651556516338</c:v>
                </c:pt>
                <c:pt idx="84">
                  <c:v>0.543861143429</c:v>
                </c:pt>
                <c:pt idx="85">
                  <c:v>0.586792949811</c:v>
                </c:pt>
                <c:pt idx="86">
                  <c:v>0.515717493912</c:v>
                </c:pt>
                <c:pt idx="87">
                  <c:v>0.475621679728</c:v>
                </c:pt>
                <c:pt idx="88">
                  <c:v>0.503094532312</c:v>
                </c:pt>
                <c:pt idx="89">
                  <c:v>0.464857502709</c:v>
                </c:pt>
                <c:pt idx="90">
                  <c:v>0.462213994938</c:v>
                </c:pt>
                <c:pt idx="91">
                  <c:v>0.360717230351</c:v>
                </c:pt>
                <c:pt idx="92">
                  <c:v>0.523781787159</c:v>
                </c:pt>
                <c:pt idx="93">
                  <c:v>0.57476877915</c:v>
                </c:pt>
                <c:pt idx="94">
                  <c:v>0.578505068729</c:v>
                </c:pt>
                <c:pt idx="95">
                  <c:v>0.66456736765</c:v>
                </c:pt>
                <c:pt idx="96">
                  <c:v>0.519618536722</c:v>
                </c:pt>
                <c:pt idx="97">
                  <c:v>0.652002619868</c:v>
                </c:pt>
                <c:pt idx="98">
                  <c:v>0.459754734623</c:v>
                </c:pt>
                <c:pt idx="99">
                  <c:v>0.387102633353</c:v>
                </c:pt>
                <c:pt idx="100">
                  <c:v>0.354620938486</c:v>
                </c:pt>
                <c:pt idx="101">
                  <c:v>0.520155651317</c:v>
                </c:pt>
                <c:pt idx="102">
                  <c:v>0.629738467822</c:v>
                </c:pt>
                <c:pt idx="103">
                  <c:v>0.567603348253</c:v>
                </c:pt>
                <c:pt idx="104">
                  <c:v>0.665479999834</c:v>
                </c:pt>
                <c:pt idx="105">
                  <c:v>0.455538428963</c:v>
                </c:pt>
                <c:pt idx="106">
                  <c:v>0.633935966923</c:v>
                </c:pt>
                <c:pt idx="107">
                  <c:v>0.492568272281</c:v>
                </c:pt>
                <c:pt idx="108">
                  <c:v>0.395080219277</c:v>
                </c:pt>
                <c:pt idx="109">
                  <c:v>0.469802298541</c:v>
                </c:pt>
                <c:pt idx="110">
                  <c:v>0.568675563341</c:v>
                </c:pt>
                <c:pt idx="111">
                  <c:v>0.517110198715</c:v>
                </c:pt>
                <c:pt idx="112">
                  <c:v>0.51931961633</c:v>
                </c:pt>
                <c:pt idx="113">
                  <c:v>0.589892315197</c:v>
                </c:pt>
                <c:pt idx="114">
                  <c:v>0.365279812432</c:v>
                </c:pt>
                <c:pt idx="115">
                  <c:v>0.590696281943</c:v>
                </c:pt>
                <c:pt idx="116">
                  <c:v>0.537192917544</c:v>
                </c:pt>
                <c:pt idx="117">
                  <c:v>0.592663647248</c:v>
                </c:pt>
                <c:pt idx="118">
                  <c:v>0.615137860608</c:v>
                </c:pt>
                <c:pt idx="119">
                  <c:v>0.512013016945</c:v>
                </c:pt>
                <c:pt idx="120">
                  <c:v>0.557319229923</c:v>
                </c:pt>
                <c:pt idx="121">
                  <c:v>0.37574453242</c:v>
                </c:pt>
                <c:pt idx="122">
                  <c:v>0.578310173601</c:v>
                </c:pt>
                <c:pt idx="123">
                  <c:v>0.558328199422</c:v>
                </c:pt>
                <c:pt idx="124">
                  <c:v>0.515884399828</c:v>
                </c:pt>
                <c:pt idx="125">
                  <c:v>0.585299359802</c:v>
                </c:pt>
                <c:pt idx="126">
                  <c:v>0.509256710447</c:v>
                </c:pt>
                <c:pt idx="127">
                  <c:v>0.459963672942</c:v>
                </c:pt>
                <c:pt idx="128">
                  <c:v>0.372296997622</c:v>
                </c:pt>
                <c:pt idx="129">
                  <c:v>0.57800502906</c:v>
                </c:pt>
                <c:pt idx="130">
                  <c:v>0.551178360384</c:v>
                </c:pt>
                <c:pt idx="131">
                  <c:v>0.603131701689</c:v>
                </c:pt>
                <c:pt idx="132">
                  <c:v>0.612991654635</c:v>
                </c:pt>
                <c:pt idx="133">
                  <c:v>0.501603821421</c:v>
                </c:pt>
                <c:pt idx="134">
                  <c:v>0.465034877329</c:v>
                </c:pt>
                <c:pt idx="135">
                  <c:v>0.571941954698</c:v>
                </c:pt>
                <c:pt idx="136">
                  <c:v>0.516480861168</c:v>
                </c:pt>
                <c:pt idx="137">
                  <c:v>0.508656876064</c:v>
                </c:pt>
                <c:pt idx="138">
                  <c:v>0.375678569983</c:v>
                </c:pt>
                <c:pt idx="139">
                  <c:v>0.51560308951</c:v>
                </c:pt>
                <c:pt idx="140">
                  <c:v>0.511162176356</c:v>
                </c:pt>
                <c:pt idx="141">
                  <c:v>0.354416930492</c:v>
                </c:pt>
                <c:pt idx="142">
                  <c:v>0.599192359733</c:v>
                </c:pt>
                <c:pt idx="143">
                  <c:v>0.560187584324</c:v>
                </c:pt>
                <c:pt idx="144">
                  <c:v>0.519200135779</c:v>
                </c:pt>
                <c:pt idx="145">
                  <c:v>0.515090613789</c:v>
                </c:pt>
                <c:pt idx="146">
                  <c:v>0.47285370554</c:v>
                </c:pt>
                <c:pt idx="147">
                  <c:v>0.532619377662</c:v>
                </c:pt>
                <c:pt idx="148">
                  <c:v>0.602475015165</c:v>
                </c:pt>
                <c:pt idx="149">
                  <c:v>0.549219752899</c:v>
                </c:pt>
                <c:pt idx="150">
                  <c:v>0.662751866499</c:v>
                </c:pt>
                <c:pt idx="151">
                  <c:v>0.572162923023</c:v>
                </c:pt>
                <c:pt idx="152">
                  <c:v>0.549916524302</c:v>
                </c:pt>
                <c:pt idx="153">
                  <c:v>0.567660145513</c:v>
                </c:pt>
                <c:pt idx="154">
                  <c:v>0.562092200551</c:v>
                </c:pt>
                <c:pt idx="155">
                  <c:v>0.667387459266</c:v>
                </c:pt>
                <c:pt idx="156">
                  <c:v>0.686803707874</c:v>
                </c:pt>
                <c:pt idx="157">
                  <c:v>0.71171638873</c:v>
                </c:pt>
                <c:pt idx="158">
                  <c:v>0.722471951337</c:v>
                </c:pt>
                <c:pt idx="159">
                  <c:v>0.38011523797</c:v>
                </c:pt>
                <c:pt idx="160">
                  <c:v>0.379826417018</c:v>
                </c:pt>
                <c:pt idx="161">
                  <c:v>0.354533478919</c:v>
                </c:pt>
                <c:pt idx="162">
                  <c:v>0.656780700345</c:v>
                </c:pt>
                <c:pt idx="163">
                  <c:v>0.703908734497</c:v>
                </c:pt>
                <c:pt idx="164">
                  <c:v>0.347035296464</c:v>
                </c:pt>
                <c:pt idx="165">
                  <c:v>0.387627213088</c:v>
                </c:pt>
                <c:pt idx="166">
                  <c:v>0.675543605485</c:v>
                </c:pt>
                <c:pt idx="167">
                  <c:v>0.365178225774</c:v>
                </c:pt>
                <c:pt idx="168">
                  <c:v>0.25067889148</c:v>
                </c:pt>
                <c:pt idx="169">
                  <c:v>0.3833148098</c:v>
                </c:pt>
                <c:pt idx="170">
                  <c:v>0.315229485561</c:v>
                </c:pt>
                <c:pt idx="171">
                  <c:v>0.991541520141</c:v>
                </c:pt>
                <c:pt idx="172">
                  <c:v>0.38695842231</c:v>
                </c:pt>
                <c:pt idx="173">
                  <c:v>0.637430032507</c:v>
                </c:pt>
                <c:pt idx="174">
                  <c:v>0.337577247926</c:v>
                </c:pt>
                <c:pt idx="175">
                  <c:v>0.313610972915</c:v>
                </c:pt>
                <c:pt idx="176">
                  <c:v>0.945804356438</c:v>
                </c:pt>
                <c:pt idx="177">
                  <c:v>0.680411981273</c:v>
                </c:pt>
                <c:pt idx="178">
                  <c:v>0.965680458861</c:v>
                </c:pt>
                <c:pt idx="179">
                  <c:v>0.358228690634</c:v>
                </c:pt>
                <c:pt idx="180">
                  <c:v>0.330304288062</c:v>
                </c:pt>
                <c:pt idx="181">
                  <c:v>0.665202212332</c:v>
                </c:pt>
                <c:pt idx="182">
                  <c:v>0.339097378383</c:v>
                </c:pt>
                <c:pt idx="183">
                  <c:v>0.694480939</c:v>
                </c:pt>
                <c:pt idx="184">
                  <c:v>0.672763819255</c:v>
                </c:pt>
                <c:pt idx="185">
                  <c:v>0.253272381162</c:v>
                </c:pt>
                <c:pt idx="186">
                  <c:v>0.446913203087</c:v>
                </c:pt>
                <c:pt idx="187">
                  <c:v>0.648855807574</c:v>
                </c:pt>
                <c:pt idx="188">
                  <c:v>0.58285419099</c:v>
                </c:pt>
                <c:pt idx="189">
                  <c:v>0.30471979294</c:v>
                </c:pt>
                <c:pt idx="190">
                  <c:v>0.943559101003</c:v>
                </c:pt>
                <c:pt idx="191">
                  <c:v>0.36363858845</c:v>
                </c:pt>
                <c:pt idx="192">
                  <c:v>1.06193796682</c:v>
                </c:pt>
                <c:pt idx="193">
                  <c:v>0.323002090787</c:v>
                </c:pt>
                <c:pt idx="194">
                  <c:v>0.342278873628</c:v>
                </c:pt>
                <c:pt idx="195">
                  <c:v>0.675886435627</c:v>
                </c:pt>
                <c:pt idx="196">
                  <c:v>0.699139853234</c:v>
                </c:pt>
                <c:pt idx="197">
                  <c:v>0.69021333998</c:v>
                </c:pt>
                <c:pt idx="198">
                  <c:v>0.381718359682</c:v>
                </c:pt>
                <c:pt idx="199">
                  <c:v>0.38470865471</c:v>
                </c:pt>
                <c:pt idx="200">
                  <c:v>1.06296103617</c:v>
                </c:pt>
                <c:pt idx="201">
                  <c:v>1.01682822433</c:v>
                </c:pt>
                <c:pt idx="202">
                  <c:v>0.968075963213</c:v>
                </c:pt>
                <c:pt idx="203">
                  <c:v>0.274241982703</c:v>
                </c:pt>
                <c:pt idx="204">
                  <c:v>0.713373471512</c:v>
                </c:pt>
                <c:pt idx="205">
                  <c:v>0.426757775251</c:v>
                </c:pt>
                <c:pt idx="206">
                  <c:v>0.703729936702</c:v>
                </c:pt>
                <c:pt idx="207">
                  <c:v>0.675856725806</c:v>
                </c:pt>
                <c:pt idx="208">
                  <c:v>0.320716377272</c:v>
                </c:pt>
                <c:pt idx="209">
                  <c:v>0.279710717233</c:v>
                </c:pt>
                <c:pt idx="210">
                  <c:v>0.265930331835</c:v>
                </c:pt>
                <c:pt idx="211">
                  <c:v>0.695128920448</c:v>
                </c:pt>
                <c:pt idx="212">
                  <c:v>0.266867141806</c:v>
                </c:pt>
                <c:pt idx="213">
                  <c:v>0.443278976957</c:v>
                </c:pt>
                <c:pt idx="214">
                  <c:v>0.675748600607</c:v>
                </c:pt>
                <c:pt idx="215">
                  <c:v>0.713047586041</c:v>
                </c:pt>
                <c:pt idx="216">
                  <c:v>0.289249259603</c:v>
                </c:pt>
                <c:pt idx="217">
                  <c:v>0.980014694115</c:v>
                </c:pt>
                <c:pt idx="218">
                  <c:v>0.305917139222</c:v>
                </c:pt>
                <c:pt idx="219">
                  <c:v>0.683449791656</c:v>
                </c:pt>
                <c:pt idx="220">
                  <c:v>0.701062741226</c:v>
                </c:pt>
                <c:pt idx="221">
                  <c:v>0.646480329032</c:v>
                </c:pt>
                <c:pt idx="222">
                  <c:v>0.988782097082</c:v>
                </c:pt>
                <c:pt idx="223">
                  <c:v>0.250364616562</c:v>
                </c:pt>
                <c:pt idx="224">
                  <c:v>0.445674130446</c:v>
                </c:pt>
                <c:pt idx="225">
                  <c:v>1.03458660137</c:v>
                </c:pt>
                <c:pt idx="226">
                  <c:v>0.649078545694</c:v>
                </c:pt>
                <c:pt idx="227">
                  <c:v>0.95003067546</c:v>
                </c:pt>
                <c:pt idx="228">
                  <c:v>0.338691305364</c:v>
                </c:pt>
                <c:pt idx="229">
                  <c:v>0.315779420528</c:v>
                </c:pt>
                <c:pt idx="230">
                  <c:v>0.268447831555</c:v>
                </c:pt>
                <c:pt idx="231">
                  <c:v>0.965593678972</c:v>
                </c:pt>
                <c:pt idx="232">
                  <c:v>0.430831965699</c:v>
                </c:pt>
                <c:pt idx="233">
                  <c:v>0.252974750338</c:v>
                </c:pt>
                <c:pt idx="234">
                  <c:v>0.33050468824</c:v>
                </c:pt>
                <c:pt idx="235">
                  <c:v>0.319425813561</c:v>
                </c:pt>
                <c:pt idx="236">
                  <c:v>0.271485481856</c:v>
                </c:pt>
                <c:pt idx="237">
                  <c:v>0.606640663211</c:v>
                </c:pt>
                <c:pt idx="238">
                  <c:v>0.389598732453</c:v>
                </c:pt>
                <c:pt idx="239">
                  <c:v>0.662906378925</c:v>
                </c:pt>
                <c:pt idx="240">
                  <c:v>0.265210367011</c:v>
                </c:pt>
                <c:pt idx="241">
                  <c:v>0.746333456291</c:v>
                </c:pt>
                <c:pt idx="242">
                  <c:v>1.0089320757</c:v>
                </c:pt>
                <c:pt idx="243">
                  <c:v>0.674906652965</c:v>
                </c:pt>
                <c:pt idx="244">
                  <c:v>0.956741782242</c:v>
                </c:pt>
                <c:pt idx="245">
                  <c:v>0.331915429461</c:v>
                </c:pt>
                <c:pt idx="246">
                  <c:v>0.292176179473</c:v>
                </c:pt>
                <c:pt idx="247">
                  <c:v>0.401758685411</c:v>
                </c:pt>
                <c:pt idx="248">
                  <c:v>0.650940100407</c:v>
                </c:pt>
                <c:pt idx="249">
                  <c:v>0.383995298876</c:v>
                </c:pt>
                <c:pt idx="250">
                  <c:v>0.692965828351</c:v>
                </c:pt>
                <c:pt idx="251">
                  <c:v>0.966203555896</c:v>
                </c:pt>
                <c:pt idx="252">
                  <c:v>0.358937259816</c:v>
                </c:pt>
                <c:pt idx="253">
                  <c:v>0.345302643741</c:v>
                </c:pt>
                <c:pt idx="254">
                  <c:v>0.3860444091</c:v>
                </c:pt>
                <c:pt idx="255">
                  <c:v>0.268881620871</c:v>
                </c:pt>
                <c:pt idx="256">
                  <c:v>0.701043883326</c:v>
                </c:pt>
                <c:pt idx="257">
                  <c:v>0.390687359198</c:v>
                </c:pt>
                <c:pt idx="258">
                  <c:v>0.259799933682</c:v>
                </c:pt>
                <c:pt idx="259">
                  <c:v>0.682693084837</c:v>
                </c:pt>
                <c:pt idx="260">
                  <c:v>0.325409768583</c:v>
                </c:pt>
                <c:pt idx="261">
                  <c:v>0.952439484706</c:v>
                </c:pt>
                <c:pt idx="262">
                  <c:v>1.06615466695</c:v>
                </c:pt>
                <c:pt idx="263">
                  <c:v>0.379036312467</c:v>
                </c:pt>
                <c:pt idx="264">
                  <c:v>0.978055841749</c:v>
                </c:pt>
                <c:pt idx="265">
                  <c:v>0.271728659736</c:v>
                </c:pt>
                <c:pt idx="266">
                  <c:v>0.359879075299</c:v>
                </c:pt>
                <c:pt idx="267">
                  <c:v>0.332828401866</c:v>
                </c:pt>
                <c:pt idx="268">
                  <c:v>0.647510791722</c:v>
                </c:pt>
                <c:pt idx="269">
                  <c:v>0.251994142388</c:v>
                </c:pt>
                <c:pt idx="270">
                  <c:v>0.254142856021</c:v>
                </c:pt>
                <c:pt idx="271">
                  <c:v>0.957042245518</c:v>
                </c:pt>
                <c:pt idx="272">
                  <c:v>0.349097660933</c:v>
                </c:pt>
                <c:pt idx="273">
                  <c:v>0.277341382545</c:v>
                </c:pt>
                <c:pt idx="274">
                  <c:v>0.697861330126</c:v>
                </c:pt>
                <c:pt idx="275">
                  <c:v>0.705583577033</c:v>
                </c:pt>
                <c:pt idx="276">
                  <c:v>0.442197488106</c:v>
                </c:pt>
                <c:pt idx="277">
                  <c:v>1.02846125779</c:v>
                </c:pt>
                <c:pt idx="278">
                  <c:v>0.384854996817</c:v>
                </c:pt>
                <c:pt idx="279">
                  <c:v>0.955341946658</c:v>
                </c:pt>
                <c:pt idx="280">
                  <c:v>0.281902015675</c:v>
                </c:pt>
                <c:pt idx="281">
                  <c:v>0.331285056011</c:v>
                </c:pt>
                <c:pt idx="282">
                  <c:v>0.255912720548</c:v>
                </c:pt>
                <c:pt idx="283">
                  <c:v>0.661613288121</c:v>
                </c:pt>
                <c:pt idx="284">
                  <c:v>0.347823166872</c:v>
                </c:pt>
                <c:pt idx="285">
                  <c:v>0.988388404388</c:v>
                </c:pt>
                <c:pt idx="286">
                  <c:v>0.353810674167</c:v>
                </c:pt>
                <c:pt idx="287">
                  <c:v>0.958974650213</c:v>
                </c:pt>
                <c:pt idx="288">
                  <c:v>0.700532441522</c:v>
                </c:pt>
                <c:pt idx="289">
                  <c:v>0.705992408541</c:v>
                </c:pt>
                <c:pt idx="290">
                  <c:v>0.997371139121</c:v>
                </c:pt>
                <c:pt idx="291">
                  <c:v>0.439992425432</c:v>
                </c:pt>
                <c:pt idx="292">
                  <c:v>0.672083900509</c:v>
                </c:pt>
                <c:pt idx="293">
                  <c:v>0.694952026977</c:v>
                </c:pt>
                <c:pt idx="294">
                  <c:v>0.427845978133</c:v>
                </c:pt>
                <c:pt idx="295">
                  <c:v>0.614975875254</c:v>
                </c:pt>
                <c:pt idx="296">
                  <c:v>0.306158616645</c:v>
                </c:pt>
                <c:pt idx="297">
                  <c:v>0.641347133334</c:v>
                </c:pt>
                <c:pt idx="298">
                  <c:v>1.05756501824</c:v>
                </c:pt>
                <c:pt idx="299">
                  <c:v>0.352715126396</c:v>
                </c:pt>
                <c:pt idx="300">
                  <c:v>1.0178940864</c:v>
                </c:pt>
                <c:pt idx="301">
                  <c:v>0.993394505936</c:v>
                </c:pt>
                <c:pt idx="302">
                  <c:v>1.06675456976</c:v>
                </c:pt>
                <c:pt idx="303">
                  <c:v>0.605300981179</c:v>
                </c:pt>
                <c:pt idx="304">
                  <c:v>0.352306566332</c:v>
                </c:pt>
                <c:pt idx="305">
                  <c:v>0.649074953718</c:v>
                </c:pt>
                <c:pt idx="306">
                  <c:v>0.315933047491</c:v>
                </c:pt>
                <c:pt idx="307">
                  <c:v>1.06802498393</c:v>
                </c:pt>
                <c:pt idx="308">
                  <c:v>0.68559111593</c:v>
                </c:pt>
                <c:pt idx="309">
                  <c:v>0.716253338386</c:v>
                </c:pt>
                <c:pt idx="310">
                  <c:v>0.749429020052</c:v>
                </c:pt>
                <c:pt idx="311">
                  <c:v>0.260942797779</c:v>
                </c:pt>
                <c:pt idx="312">
                  <c:v>0.972587626214</c:v>
                </c:pt>
                <c:pt idx="313">
                  <c:v>0.606365223232</c:v>
                </c:pt>
                <c:pt idx="314">
                  <c:v>0.699211981979</c:v>
                </c:pt>
                <c:pt idx="315">
                  <c:v>0.382152577648</c:v>
                </c:pt>
                <c:pt idx="316">
                  <c:v>0.335126783162</c:v>
                </c:pt>
                <c:pt idx="317">
                  <c:v>0.279561820132</c:v>
                </c:pt>
                <c:pt idx="318">
                  <c:v>0.470603392917</c:v>
                </c:pt>
                <c:pt idx="319">
                  <c:v>0.423547617616</c:v>
                </c:pt>
                <c:pt idx="320">
                  <c:v>0.424763371848</c:v>
                </c:pt>
                <c:pt idx="321">
                  <c:v>0.444691457392</c:v>
                </c:pt>
                <c:pt idx="322">
                  <c:v>0.450481964351</c:v>
                </c:pt>
                <c:pt idx="323">
                  <c:v>0.406047511703</c:v>
                </c:pt>
                <c:pt idx="324">
                  <c:v>0.63765217695</c:v>
                </c:pt>
                <c:pt idx="325">
                  <c:v>0.398689197196</c:v>
                </c:pt>
                <c:pt idx="326">
                  <c:v>0.451186635844</c:v>
                </c:pt>
                <c:pt idx="327">
                  <c:v>0.4225639866</c:v>
                </c:pt>
                <c:pt idx="328">
                  <c:v>0.3783080014</c:v>
                </c:pt>
                <c:pt idx="329">
                  <c:v>0.640891716467</c:v>
                </c:pt>
                <c:pt idx="330">
                  <c:v>0.740990538827</c:v>
                </c:pt>
                <c:pt idx="331">
                  <c:v>0.666808499733</c:v>
                </c:pt>
                <c:pt idx="332">
                  <c:v>0.390528361528</c:v>
                </c:pt>
                <c:pt idx="333">
                  <c:v>0.207470521797</c:v>
                </c:pt>
                <c:pt idx="334">
                  <c:v>0.343487080557</c:v>
                </c:pt>
                <c:pt idx="335">
                  <c:v>0.556684801546</c:v>
                </c:pt>
                <c:pt idx="336">
                  <c:v>0.529496124986</c:v>
                </c:pt>
                <c:pt idx="337">
                  <c:v>0.358794968673</c:v>
                </c:pt>
                <c:pt idx="338">
                  <c:v>0.421373285712</c:v>
                </c:pt>
                <c:pt idx="339">
                  <c:v>0.742555799013</c:v>
                </c:pt>
                <c:pt idx="340">
                  <c:v>0.455279772698</c:v>
                </c:pt>
                <c:pt idx="341">
                  <c:v>0.337415970489</c:v>
                </c:pt>
                <c:pt idx="342">
                  <c:v>0.468876518597</c:v>
                </c:pt>
                <c:pt idx="343">
                  <c:v>0.395602692249</c:v>
                </c:pt>
                <c:pt idx="344">
                  <c:v>0.61971103177</c:v>
                </c:pt>
                <c:pt idx="345">
                  <c:v>0.700589580346</c:v>
                </c:pt>
                <c:pt idx="346">
                  <c:v>0.647506051706</c:v>
                </c:pt>
                <c:pt idx="347">
                  <c:v>0.627335468726</c:v>
                </c:pt>
                <c:pt idx="348">
                  <c:v>0.463530272339</c:v>
                </c:pt>
                <c:pt idx="349">
                  <c:v>0.565474937734</c:v>
                </c:pt>
                <c:pt idx="350">
                  <c:v>0.455314077067</c:v>
                </c:pt>
                <c:pt idx="351">
                  <c:v>0.531660428077</c:v>
                </c:pt>
                <c:pt idx="352">
                  <c:v>0.395608813081</c:v>
                </c:pt>
                <c:pt idx="353">
                  <c:v>0.638440535717</c:v>
                </c:pt>
                <c:pt idx="354">
                  <c:v>0.350872306351</c:v>
                </c:pt>
                <c:pt idx="355">
                  <c:v>0.470825365658</c:v>
                </c:pt>
                <c:pt idx="356">
                  <c:v>0.580233731611</c:v>
                </c:pt>
                <c:pt idx="357">
                  <c:v>0.400535119735</c:v>
                </c:pt>
                <c:pt idx="358">
                  <c:v>0.38969161619</c:v>
                </c:pt>
                <c:pt idx="359">
                  <c:v>0.624152844364</c:v>
                </c:pt>
                <c:pt idx="360">
                  <c:v>0.642973414167</c:v>
                </c:pt>
                <c:pt idx="361">
                  <c:v>0.416016294137</c:v>
                </c:pt>
                <c:pt idx="362">
                  <c:v>0.615752820614</c:v>
                </c:pt>
                <c:pt idx="363">
                  <c:v>0.640326018853</c:v>
                </c:pt>
                <c:pt idx="364">
                  <c:v>0.392598857769</c:v>
                </c:pt>
                <c:pt idx="365">
                  <c:v>0.386784279959</c:v>
                </c:pt>
                <c:pt idx="366">
                  <c:v>0.458345461151</c:v>
                </c:pt>
                <c:pt idx="367">
                  <c:v>0.391915828108</c:v>
                </c:pt>
                <c:pt idx="368">
                  <c:v>0.564736217149</c:v>
                </c:pt>
                <c:pt idx="369">
                  <c:v>0.401588125551</c:v>
                </c:pt>
                <c:pt idx="370">
                  <c:v>0.424643706089</c:v>
                </c:pt>
                <c:pt idx="371">
                  <c:v>0.358084233368</c:v>
                </c:pt>
                <c:pt idx="372">
                  <c:v>0.639546138547</c:v>
                </c:pt>
                <c:pt idx="373">
                  <c:v>0.614247315366</c:v>
                </c:pt>
                <c:pt idx="374">
                  <c:v>0.371090438004</c:v>
                </c:pt>
                <c:pt idx="375">
                  <c:v>0.455473811542</c:v>
                </c:pt>
                <c:pt idx="376">
                  <c:v>0.710643615223</c:v>
                </c:pt>
                <c:pt idx="377">
                  <c:v>0.569953280835</c:v>
                </c:pt>
                <c:pt idx="378">
                  <c:v>0.387595425392</c:v>
                </c:pt>
                <c:pt idx="379">
                  <c:v>0.420438644949</c:v>
                </c:pt>
                <c:pt idx="380">
                  <c:v>0.396933203255</c:v>
                </c:pt>
                <c:pt idx="381">
                  <c:v>0.383705783822</c:v>
                </c:pt>
                <c:pt idx="382">
                  <c:v>0.638346965062</c:v>
                </c:pt>
                <c:pt idx="383">
                  <c:v>0.634864491801</c:v>
                </c:pt>
                <c:pt idx="384">
                  <c:v>0.735773616689</c:v>
                </c:pt>
                <c:pt idx="385">
                  <c:v>0.59661062287</c:v>
                </c:pt>
                <c:pt idx="386">
                  <c:v>0.575103707256</c:v>
                </c:pt>
                <c:pt idx="387">
                  <c:v>0.371311321614</c:v>
                </c:pt>
                <c:pt idx="388">
                  <c:v>0.462936683087</c:v>
                </c:pt>
                <c:pt idx="389">
                  <c:v>0.643557687334</c:v>
                </c:pt>
                <c:pt idx="390">
                  <c:v>0.554268825152</c:v>
                </c:pt>
                <c:pt idx="391">
                  <c:v>0.409195706056</c:v>
                </c:pt>
                <c:pt idx="392">
                  <c:v>0.628940377495</c:v>
                </c:pt>
                <c:pt idx="393">
                  <c:v>0.642594514824</c:v>
                </c:pt>
                <c:pt idx="394">
                  <c:v>0.441445704483</c:v>
                </c:pt>
                <c:pt idx="395">
                  <c:v>0.598026107597</c:v>
                </c:pt>
                <c:pt idx="396">
                  <c:v>0.420691321065</c:v>
                </c:pt>
                <c:pt idx="397">
                  <c:v>0.413520009994</c:v>
                </c:pt>
                <c:pt idx="398">
                  <c:v>0.775016168793</c:v>
                </c:pt>
                <c:pt idx="399">
                  <c:v>0.337959617976</c:v>
                </c:pt>
                <c:pt idx="400">
                  <c:v>0.616352045253</c:v>
                </c:pt>
                <c:pt idx="401">
                  <c:v>0.569886549644</c:v>
                </c:pt>
                <c:pt idx="402">
                  <c:v>0.73458935373</c:v>
                </c:pt>
                <c:pt idx="403">
                  <c:v>0.425732186892</c:v>
                </c:pt>
                <c:pt idx="404">
                  <c:v>0.694090882733</c:v>
                </c:pt>
                <c:pt idx="405">
                  <c:v>0.4196126096</c:v>
                </c:pt>
                <c:pt idx="406">
                  <c:v>0.434660234582</c:v>
                </c:pt>
                <c:pt idx="407">
                  <c:v>0.386731421968</c:v>
                </c:pt>
                <c:pt idx="408">
                  <c:v>0.354670564305</c:v>
                </c:pt>
                <c:pt idx="409">
                  <c:v>0.549635152026</c:v>
                </c:pt>
                <c:pt idx="410">
                  <c:v>0.416343075766</c:v>
                </c:pt>
                <c:pt idx="411">
                  <c:v>0.560529055044</c:v>
                </c:pt>
                <c:pt idx="412">
                  <c:v>0.413893716415</c:v>
                </c:pt>
                <c:pt idx="413">
                  <c:v>0.277148831021</c:v>
                </c:pt>
                <c:pt idx="414">
                  <c:v>0.593891128257</c:v>
                </c:pt>
                <c:pt idx="415">
                  <c:v>0.341554361435</c:v>
                </c:pt>
                <c:pt idx="416">
                  <c:v>0.627410822314</c:v>
                </c:pt>
                <c:pt idx="417">
                  <c:v>0.34036828193</c:v>
                </c:pt>
                <c:pt idx="418">
                  <c:v>0.632990088869</c:v>
                </c:pt>
                <c:pt idx="419">
                  <c:v>0.70184486825</c:v>
                </c:pt>
                <c:pt idx="420">
                  <c:v>0.563238732998</c:v>
                </c:pt>
                <c:pt idx="421">
                  <c:v>0.398075060382</c:v>
                </c:pt>
                <c:pt idx="422">
                  <c:v>0.602179516355</c:v>
                </c:pt>
                <c:pt idx="423">
                  <c:v>0.502794633466</c:v>
                </c:pt>
                <c:pt idx="424">
                  <c:v>0.533498664653</c:v>
                </c:pt>
                <c:pt idx="425">
                  <c:v>0.553800289041</c:v>
                </c:pt>
                <c:pt idx="426">
                  <c:v>0.398327593939</c:v>
                </c:pt>
                <c:pt idx="427">
                  <c:v>0.343593780404</c:v>
                </c:pt>
                <c:pt idx="428">
                  <c:v>0.646518908568</c:v>
                </c:pt>
                <c:pt idx="429">
                  <c:v>0.369147487697</c:v>
                </c:pt>
                <c:pt idx="430">
                  <c:v>0.457971612175</c:v>
                </c:pt>
                <c:pt idx="431">
                  <c:v>0.356276214516</c:v>
                </c:pt>
                <c:pt idx="432">
                  <c:v>0.637938849221</c:v>
                </c:pt>
                <c:pt idx="433">
                  <c:v>0.459011183031</c:v>
                </c:pt>
                <c:pt idx="434">
                  <c:v>0.389557136118</c:v>
                </c:pt>
                <c:pt idx="435">
                  <c:v>0.571442615994</c:v>
                </c:pt>
                <c:pt idx="436">
                  <c:v>0.638851257887</c:v>
                </c:pt>
                <c:pt idx="437">
                  <c:v>0.456577820038</c:v>
                </c:pt>
                <c:pt idx="438">
                  <c:v>0.601403034204</c:v>
                </c:pt>
                <c:pt idx="439">
                  <c:v>0.668564070408</c:v>
                </c:pt>
                <c:pt idx="440">
                  <c:v>0.629102129893</c:v>
                </c:pt>
                <c:pt idx="441">
                  <c:v>0.422944868315</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Training rows with negative concentration partial derivative</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barChart>
        <c:barDir val="col"/>
        <c:grouping val="clustered"/>
        <c:varyColors val="0"/>
        <c:ser>
          <c:idx val="0"/>
          <c:order val="0"/>
          <c:tx>
            <c:v>Default</c:v>
          </c:tx>
          <c:spPr>
            <a:solidFill xmlns:a="http://schemas.openxmlformats.org/drawingml/2006/main">
              <a:srgbClr val="6F8FAE"/>
            </a:solidFill>
          </c:spPr>
          <c:invertIfNegative val="0"/>
          <c:cat>
            <c:strRef>
              <c:f>'Chart Data'!$A$2:$A$5</c:f>
              <c:strCache>
                <c:ptCount val="4"/>
                <c:pt idx="0">
                  <c:v>Pooled</c:v>
                </c:pt>
                <c:pt idx="1">
                  <c:v>η = 0.377 cP</c:v>
                </c:pt>
                <c:pt idx="2">
                  <c:v>η = 0.423 cP</c:v>
                </c:pt>
                <c:pt idx="3">
                  <c:v>η = 0.68 cP</c:v>
                </c:pt>
              </c:strCache>
            </c:strRef>
          </c:cat>
          <c:val>
            <c:numRef>
              <c:f>'Chart Data'!$B$2:$B$5</c:f>
              <c:numCache>
                <c:formatCode>0%</c:formatCode>
                <c:ptCount val="4"/>
                <c:pt idx="0">
                  <c:v>0.434405308831</c:v>
                </c:pt>
                <c:pt idx="1">
                  <c:v>0.86553030303</c:v>
                </c:pt>
                <c:pt idx="2">
                  <c:v>0.231689088191</c:v>
                </c:pt>
                <c:pt idx="3">
                  <c:v>0.313648293963</c:v>
                </c:pt>
              </c:numCache>
            </c:numRef>
          </c:val>
        </c:ser>
        <c:ser>
          <c:idx val="1"/>
          <c:order val="1"/>
          <c:tx>
            <c:v>Concentration penalty</c:v>
          </c:tx>
          <c:spPr>
            <a:solidFill xmlns:a="http://schemas.openxmlformats.org/drawingml/2006/main">
              <a:srgbClr val="B49A45"/>
            </a:solidFill>
          </c:spPr>
          <c:invertIfNegative val="0"/>
          <c:cat>
            <c:strRef>
              <c:f>'Chart Data'!$C$2:$C$5</c:f>
              <c:strCache>
                <c:ptCount val="4"/>
                <c:pt idx="0">
                  <c:v>Pooled</c:v>
                </c:pt>
                <c:pt idx="1">
                  <c:v>η = 0.377 cP</c:v>
                </c:pt>
                <c:pt idx="2">
                  <c:v>η = 0.423 cP</c:v>
                </c:pt>
                <c:pt idx="3">
                  <c:v>η = 0.68 cP</c:v>
                </c:pt>
              </c:strCache>
            </c:strRef>
          </c:cat>
          <c:val>
            <c:numRef>
              <c:f>'Chart Data'!$D$2:$D$5</c:f>
              <c:numCache>
                <c:formatCode>0%</c:formatCode>
                <c:ptCount val="4"/>
                <c:pt idx="0">
                  <c:v>0.409903011741</c:v>
                </c:pt>
                <c:pt idx="1">
                  <c:v>0.823863636364</c:v>
                </c:pt>
                <c:pt idx="2">
                  <c:v>0.206278026906</c:v>
                </c:pt>
                <c:pt idx="3">
                  <c:v>0.301837270341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3E8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Measured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Data'!$B$2:$B$47</c:f>
              <c:numCache>
                <c:formatCode>0.0</c:formatCode>
                <c:ptCount val="46"/>
                <c:pt idx="0">
                  <c:v>2.83287467538</c:v>
                </c:pt>
                <c:pt idx="1">
                  <c:v>2.76290178056</c:v>
                </c:pt>
                <c:pt idx="2">
                  <c:v>2.67926566202</c:v>
                </c:pt>
                <c:pt idx="3">
                  <c:v>2.58123505522</c:v>
                </c:pt>
                <c:pt idx="4">
                  <c:v>2.46818465013</c:v>
                </c:pt>
                <c:pt idx="5">
                  <c:v>2.33910255217</c:v>
                </c:pt>
                <c:pt idx="6">
                  <c:v>2.19285808493</c:v>
                </c:pt>
                <c:pt idx="7">
                  <c:v>2.02818154817</c:v>
                </c:pt>
                <c:pt idx="8">
                  <c:v>1.84310115374</c:v>
                </c:pt>
                <c:pt idx="9">
                  <c:v>1.63398746361</c:v>
                </c:pt>
                <c:pt idx="10">
                  <c:v>1.39414784365</c:v>
                </c:pt>
                <c:pt idx="11">
                  <c:v>1.11198204664</c:v>
                </c:pt>
                <c:pt idx="12">
                  <c:v>0.769203282558</c:v>
                </c:pt>
                <c:pt idx="13">
                  <c:v>0.349289969233</c:v>
                </c:pt>
                <c:pt idx="14">
                  <c:v>-0.0591419769408</c:v>
                </c:pt>
                <c:pt idx="15">
                  <c:v>-0.190571192575</c:v>
                </c:pt>
                <c:pt idx="16">
                  <c:v>-0.323096552196</c:v>
                </c:pt>
                <c:pt idx="17">
                  <c:v>-0.544964085446</c:v>
                </c:pt>
                <c:pt idx="18">
                  <c:v>-0.537269507216</c:v>
                </c:pt>
                <c:pt idx="19">
                  <c:v>-0.519809685275</c:v>
                </c:pt>
                <c:pt idx="20">
                  <c:v>-0.576016927764</c:v>
                </c:pt>
                <c:pt idx="21">
                  <c:v>-0.598481132499</c:v>
                </c:pt>
                <c:pt idx="22">
                  <c:v>-0.622395119995</c:v>
                </c:pt>
                <c:pt idx="23">
                  <c:v>-0.647526316351</c:v>
                </c:pt>
                <c:pt idx="24">
                  <c:v>-0.655802352283</c:v>
                </c:pt>
                <c:pt idx="25">
                  <c:v>-0.667343152346</c:v>
                </c:pt>
                <c:pt idx="26">
                  <c:v>-0.680855304156</c:v>
                </c:pt>
                <c:pt idx="27">
                  <c:v>-0.691282454496</c:v>
                </c:pt>
                <c:pt idx="28">
                  <c:v>-0.701847578261</c:v>
                </c:pt>
                <c:pt idx="29">
                  <c:v>-0.711096866112</c:v>
                </c:pt>
                <c:pt idx="30">
                  <c:v>-0.71964433085</c:v>
                </c:pt>
                <c:pt idx="31">
                  <c:v>-0.728542511994</c:v>
                </c:pt>
                <c:pt idx="32">
                  <c:v>-0.73708544208</c:v>
                </c:pt>
                <c:pt idx="33">
                  <c:v>-0.745301410646</c:v>
                </c:pt>
                <c:pt idx="34">
                  <c:v>-0.753136088039</c:v>
                </c:pt>
                <c:pt idx="35">
                  <c:v>-0.760555893271</c:v>
                </c:pt>
                <c:pt idx="36">
                  <c:v>-0.767680355725</c:v>
                </c:pt>
                <c:pt idx="37">
                  <c:v>-0.774464203947</c:v>
                </c:pt>
                <c:pt idx="38">
                  <c:v>-0.780922546509</c:v>
                </c:pt>
                <c:pt idx="39">
                  <c:v>-0.787101028315</c:v>
                </c:pt>
                <c:pt idx="40">
                  <c:v>-0.793032943945</c:v>
                </c:pt>
                <c:pt idx="41">
                  <c:v>-0.798740564293</c:v>
                </c:pt>
                <c:pt idx="42">
                  <c:v>-0.804212300201</c:v>
                </c:pt>
                <c:pt idx="43">
                  <c:v>-0.809437306789</c:v>
                </c:pt>
                <c:pt idx="44">
                  <c:v>-0.814419129838</c:v>
                </c:pt>
                <c:pt idx="45">
                  <c:v>-0.819169373128</c:v>
                </c:pt>
              </c:numCache>
            </c:numRef>
          </c:yVal>
        </c:ser>
        <c:ser>
          <c:idx val="1"/>
          <c:order val="1"/>
          <c:tx>
            <c:v>Validation data loss</c:v>
          </c:tx>
          <c:spPr>
            <a:ln xmlns:a="http://schemas.openxmlformats.org/drawingml/2006/main" w="19050">
              <a:solidFill>
                <a:srgbClr val="B49A45"/>
              </a:solidFill>
            </a:ln>
          </c:spPr>
          <c:marker>
            <c:symbol val="none"/>
          </c:marker>
          <c:xVal>
            <c:numRef>
              <c:f>'Chart Data'!$C$2:$C$47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Data'!$D$2:$D$47</c:f>
              <c:numCache>
                <c:formatCode>0.0</c:formatCode>
                <c:ptCount val="46"/>
                <c:pt idx="0">
                  <c:v>3.05674531361</c:v>
                </c:pt>
                <c:pt idx="1">
                  <c:v>3.0068535539</c:v>
                </c:pt>
                <c:pt idx="2">
                  <c:v>2.94666765781</c:v>
                </c:pt>
                <c:pt idx="3">
                  <c:v>2.8746313154</c:v>
                </c:pt>
                <c:pt idx="4">
                  <c:v>2.78941505341</c:v>
                </c:pt>
                <c:pt idx="5">
                  <c:v>2.68923881801</c:v>
                </c:pt>
                <c:pt idx="6">
                  <c:v>2.57169060326</c:v>
                </c:pt>
                <c:pt idx="7">
                  <c:v>2.43342226953</c:v>
                </c:pt>
                <c:pt idx="8">
                  <c:v>2.26964456973</c:v>
                </c:pt>
                <c:pt idx="9">
                  <c:v>2.07384429735</c:v>
                </c:pt>
                <c:pt idx="10">
                  <c:v>1.83753090256</c:v>
                </c:pt>
                <c:pt idx="11">
                  <c:v>1.54882297169</c:v>
                </c:pt>
                <c:pt idx="12">
                  <c:v>1.18801762455</c:v>
                </c:pt>
                <c:pt idx="13">
                  <c:v>0.720257037824</c:v>
                </c:pt>
                <c:pt idx="14">
                  <c:v>0.147911712574</c:v>
                </c:pt>
                <c:pt idx="15">
                  <c:v>-0.0958712163934</c:v>
                </c:pt>
                <c:pt idx="16">
                  <c:v>-0.0558843011408</c:v>
                </c:pt>
                <c:pt idx="17">
                  <c:v>0.110967949436</c:v>
                </c:pt>
                <c:pt idx="18">
                  <c:v>0.28340574798</c:v>
                </c:pt>
                <c:pt idx="19">
                  <c:v>0.293037133276</c:v>
                </c:pt>
                <c:pt idx="20">
                  <c:v>0.213528963655</c:v>
                </c:pt>
                <c:pt idx="21">
                  <c:v>0.155888796644</c:v>
                </c:pt>
                <c:pt idx="22">
                  <c:v>0.144490282202</c:v>
                </c:pt>
                <c:pt idx="23">
                  <c:v>0.157430369913</c:v>
                </c:pt>
                <c:pt idx="24">
                  <c:v>0.157797936317</c:v>
                </c:pt>
                <c:pt idx="25">
                  <c:v>0.131753723288</c:v>
                </c:pt>
                <c:pt idx="26">
                  <c:v>0.101976157092</c:v>
                </c:pt>
                <c:pt idx="27">
                  <c:v>0.0898627304637</c:v>
                </c:pt>
                <c:pt idx="28">
                  <c:v>0.0938199827103</c:v>
                </c:pt>
                <c:pt idx="29">
                  <c:v>0.0993946957778</c:v>
                </c:pt>
                <c:pt idx="30">
                  <c:v>0.0960119810565</c:v>
                </c:pt>
                <c:pt idx="31">
                  <c:v>0.0853134246656</c:v>
                </c:pt>
                <c:pt idx="32">
                  <c:v>0.0745776356011</c:v>
                </c:pt>
                <c:pt idx="33">
                  <c:v>0.0672588918208</c:v>
                </c:pt>
                <c:pt idx="34">
                  <c:v>0.0616844283963</c:v>
                </c:pt>
                <c:pt idx="35">
                  <c:v>0.0553214656592</c:v>
                </c:pt>
                <c:pt idx="36">
                  <c:v>0.0481091529082</c:v>
                </c:pt>
                <c:pt idx="37">
                  <c:v>0.041600579728</c:v>
                </c:pt>
                <c:pt idx="38">
                  <c:v>0.0364340643231</c:v>
                </c:pt>
                <c:pt idx="39">
                  <c:v>0.0317609675074</c:v>
                </c:pt>
                <c:pt idx="40">
                  <c:v>0.0265958293485</c:v>
                </c:pt>
                <c:pt idx="41">
                  <c:v>0.0209111996797</c:v>
                </c:pt>
                <c:pt idx="42">
                  <c:v>0.0153147830571</c:v>
                </c:pt>
                <c:pt idx="43">
                  <c:v>0.0101682523238</c:v>
                </c:pt>
                <c:pt idx="44">
                  <c:v>0.0053383935299</c:v>
                </c:pt>
                <c:pt idx="45">
                  <c:v>0.00059527974686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226"/>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Data'!$B$2:$B$62</c:f>
              <c:numCache>
                <c:formatCode>0.0</c:formatCode>
                <c:ptCount val="61"/>
                <c:pt idx="0">
                  <c:v>1.38587295481</c:v>
                </c:pt>
                <c:pt idx="1">
                  <c:v>-0.0298479425762</c:v>
                </c:pt>
                <c:pt idx="2">
                  <c:v>-0.331439646698</c:v>
                </c:pt>
                <c:pt idx="3">
                  <c:v>-0.434109379299</c:v>
                </c:pt>
                <c:pt idx="4">
                  <c:v>-0.482306932696</c:v>
                </c:pt>
                <c:pt idx="5">
                  <c:v>-0.522060510413</c:v>
                </c:pt>
                <c:pt idx="6">
                  <c:v>-0.557997779439</c:v>
                </c:pt>
                <c:pt idx="7">
                  <c:v>-0.591128996674</c:v>
                </c:pt>
                <c:pt idx="8">
                  <c:v>-0.622066900526</c:v>
                </c:pt>
                <c:pt idx="9">
                  <c:v>-0.651226617861</c:v>
                </c:pt>
                <c:pt idx="10">
                  <c:v>-0.678982904649</c:v>
                </c:pt>
                <c:pt idx="11">
                  <c:v>-0.705659450921</c:v>
                </c:pt>
                <c:pt idx="12">
                  <c:v>-0.731400276582</c:v>
                </c:pt>
                <c:pt idx="13">
                  <c:v>-0.756140597533</c:v>
                </c:pt>
                <c:pt idx="14">
                  <c:v>-0.779680798649</c:v>
                </c:pt>
                <c:pt idx="15">
                  <c:v>-0.801816512169</c:v>
                </c:pt>
                <c:pt idx="16">
                  <c:v>-0.822386882299</c:v>
                </c:pt>
                <c:pt idx="17">
                  <c:v>-0.841309536833</c:v>
                </c:pt>
                <c:pt idx="18">
                  <c:v>-0.858583901345</c:v>
                </c:pt>
                <c:pt idx="19">
                  <c:v>-0.874292186662</c:v>
                </c:pt>
                <c:pt idx="20">
                  <c:v>-0.888572285786</c:v>
                </c:pt>
                <c:pt idx="21">
                  <c:v>-0.901568283119</c:v>
                </c:pt>
                <c:pt idx="22">
                  <c:v>-0.913400811733</c:v>
                </c:pt>
                <c:pt idx="23">
                  <c:v>-0.924174653346</c:v>
                </c:pt>
                <c:pt idx="24">
                  <c:v>-0.933964119646</c:v>
                </c:pt>
                <c:pt idx="25">
                  <c:v>-0.942831004571</c:v>
                </c:pt>
                <c:pt idx="26">
                  <c:v>-0.950834143462</c:v>
                </c:pt>
                <c:pt idx="27">
                  <c:v>-0.958038698366</c:v>
                </c:pt>
                <c:pt idx="28">
                  <c:v>-0.964497157644</c:v>
                </c:pt>
                <c:pt idx="29">
                  <c:v>-0.970281403191</c:v>
                </c:pt>
                <c:pt idx="30">
                  <c:v>-0.975463157387</c:v>
                </c:pt>
                <c:pt idx="31">
                  <c:v>-0.980112261778</c:v>
                </c:pt>
                <c:pt idx="32">
                  <c:v>-0.984286818243</c:v>
                </c:pt>
                <c:pt idx="33">
                  <c:v>-0.988055721361</c:v>
                </c:pt>
                <c:pt idx="34">
                  <c:v>-0.991475534036</c:v>
                </c:pt>
                <c:pt idx="35">
                  <c:v>-0.994593973427</c:v>
                </c:pt>
                <c:pt idx="36">
                  <c:v>-0.997453917726</c:v>
                </c:pt>
                <c:pt idx="37">
                  <c:v>-1.00009196317</c:v>
                </c:pt>
                <c:pt idx="38">
                  <c:v>-1.00253846306</c:v>
                </c:pt>
                <c:pt idx="39">
                  <c:v>-1.00482527946</c:v>
                </c:pt>
                <c:pt idx="40">
                  <c:v>-1.0069724281</c:v>
                </c:pt>
                <c:pt idx="41">
                  <c:v>-1.00899306416</c:v>
                </c:pt>
                <c:pt idx="42">
                  <c:v>-1.01090802728</c:v>
                </c:pt>
                <c:pt idx="43">
                  <c:v>-1.01272870099</c:v>
                </c:pt>
                <c:pt idx="44">
                  <c:v>-1.01446627092</c:v>
                </c:pt>
                <c:pt idx="45">
                  <c:v>-1.01613626149</c:v>
                </c:pt>
                <c:pt idx="46">
                  <c:v>-1.01774062775</c:v>
                </c:pt>
                <c:pt idx="47">
                  <c:v>-1.01929207945</c:v>
                </c:pt>
                <c:pt idx="48">
                  <c:v>-1.02079359073</c:v>
                </c:pt>
                <c:pt idx="49">
                  <c:v>-1.02224578086</c:v>
                </c:pt>
                <c:pt idx="50">
                  <c:v>-1.02366405902</c:v>
                </c:pt>
                <c:pt idx="51">
                  <c:v>-1.02505160683</c:v>
                </c:pt>
                <c:pt idx="52">
                  <c:v>-1.02640728886</c:v>
                </c:pt>
                <c:pt idx="53">
                  <c:v>-1.0277352069</c:v>
                </c:pt>
                <c:pt idx="54">
                  <c:v>-1.0290400051</c:v>
                </c:pt>
                <c:pt idx="55">
                  <c:v>-1.03032330128</c:v>
                </c:pt>
                <c:pt idx="56">
                  <c:v>-1.03159721154</c:v>
                </c:pt>
                <c:pt idx="57">
                  <c:v>-1.03286125801</c:v>
                </c:pt>
                <c:pt idx="58">
                  <c:v>-1.03410886815</c:v>
                </c:pt>
                <c:pt idx="59">
                  <c:v>-1.03534908581</c:v>
                </c:pt>
                <c:pt idx="60">
                  <c:v>-1.03652953153</c:v>
                </c:pt>
              </c:numCache>
            </c:numRef>
          </c:yVal>
        </c:ser>
        <c:ser>
          <c:idx val="1"/>
          <c:order val="1"/>
          <c:tx>
            <c:v>Validation data loss</c:v>
          </c:tx>
          <c:spPr>
            <a:ln xmlns:a="http://schemas.openxmlformats.org/drawingml/2006/main" w="19050">
              <a:solidFill>
                <a:srgbClr val="B49A45"/>
              </a:solidFill>
            </a:ln>
          </c:spPr>
          <c:marker>
            <c:symbol val="none"/>
          </c:marker>
          <c:xVal>
            <c:numRef>
              <c:f>'Chart Data'!$C$2:$C$62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Data'!$D$2:$D$62</c:f>
              <c:numCache>
                <c:formatCode>0.0</c:formatCode>
                <c:ptCount val="61"/>
                <c:pt idx="0">
                  <c:v>1.43649748729</c:v>
                </c:pt>
                <c:pt idx="1">
                  <c:v>-0.0213647818458</c:v>
                </c:pt>
                <c:pt idx="2">
                  <c:v>-0.235734924155</c:v>
                </c:pt>
                <c:pt idx="3">
                  <c:v>-0.344864837142</c:v>
                </c:pt>
                <c:pt idx="4">
                  <c:v>-0.402064097887</c:v>
                </c:pt>
                <c:pt idx="5">
                  <c:v>-0.443153247084</c:v>
                </c:pt>
                <c:pt idx="6">
                  <c:v>-0.480316866362</c:v>
                </c:pt>
                <c:pt idx="7">
                  <c:v>-0.513301006972</c:v>
                </c:pt>
                <c:pt idx="8">
                  <c:v>-0.54558729274</c:v>
                </c:pt>
                <c:pt idx="9">
                  <c:v>-0.577725715105</c:v>
                </c:pt>
                <c:pt idx="10">
                  <c:v>-0.609379361922</c:v>
                </c:pt>
                <c:pt idx="11">
                  <c:v>-0.640037334897</c:v>
                </c:pt>
                <c:pt idx="12">
                  <c:v>-0.669157562696</c:v>
                </c:pt>
                <c:pt idx="13">
                  <c:v>-0.696378341948</c:v>
                </c:pt>
                <c:pt idx="14">
                  <c:v>-0.721416195141</c:v>
                </c:pt>
                <c:pt idx="15">
                  <c:v>-0.744158251703</c:v>
                </c:pt>
                <c:pt idx="16">
                  <c:v>-0.764510519544</c:v>
                </c:pt>
                <c:pt idx="17">
                  <c:v>-0.782402233627</c:v>
                </c:pt>
                <c:pt idx="18">
                  <c:v>-0.797949477142</c:v>
                </c:pt>
                <c:pt idx="19">
                  <c:v>-0.811321881746</c:v>
                </c:pt>
                <c:pt idx="20">
                  <c:v>-0.822840430509</c:v>
                </c:pt>
                <c:pt idx="21">
                  <c:v>-0.832730213863</c:v>
                </c:pt>
                <c:pt idx="22">
                  <c:v>-0.841316452565</c:v>
                </c:pt>
                <c:pt idx="23">
                  <c:v>-0.848794504171</c:v>
                </c:pt>
                <c:pt idx="24">
                  <c:v>-0.855375532356</c:v>
                </c:pt>
                <c:pt idx="25">
                  <c:v>-0.861189800493</c:v>
                </c:pt>
                <c:pt idx="26">
                  <c:v>-0.866404303432</c:v>
                </c:pt>
                <c:pt idx="27">
                  <c:v>-0.871102044556</c:v>
                </c:pt>
                <c:pt idx="28">
                  <c:v>-0.875369312096</c:v>
                </c:pt>
                <c:pt idx="29">
                  <c:v>-0.879252258123</c:v>
                </c:pt>
                <c:pt idx="30">
                  <c:v>-0.882880548336</c:v>
                </c:pt>
                <c:pt idx="31">
                  <c:v>-0.886307381854</c:v>
                </c:pt>
                <c:pt idx="32">
                  <c:v>-0.889450899259</c:v>
                </c:pt>
                <c:pt idx="33">
                  <c:v>-0.89249403985</c:v>
                </c:pt>
                <c:pt idx="34">
                  <c:v>-0.89539113287</c:v>
                </c:pt>
                <c:pt idx="35">
                  <c:v>-0.898142986534</c:v>
                </c:pt>
                <c:pt idx="36">
                  <c:v>-0.90091604567</c:v>
                </c:pt>
                <c:pt idx="37">
                  <c:v>-0.903599903286</c:v>
                </c:pt>
                <c:pt idx="38">
                  <c:v>-0.906170339915</c:v>
                </c:pt>
                <c:pt idx="39">
                  <c:v>-0.908777009458</c:v>
                </c:pt>
                <c:pt idx="40">
                  <c:v>-0.911282913931</c:v>
                </c:pt>
                <c:pt idx="41">
                  <c:v>-0.913727034347</c:v>
                </c:pt>
                <c:pt idx="42">
                  <c:v>-0.916076900323</c:v>
                </c:pt>
                <c:pt idx="43">
                  <c:v>-0.918537631775</c:v>
                </c:pt>
                <c:pt idx="44">
                  <c:v>-0.920820732076</c:v>
                </c:pt>
                <c:pt idx="45">
                  <c:v>-0.922990679325</c:v>
                </c:pt>
                <c:pt idx="46">
                  <c:v>-0.92518138276</c:v>
                </c:pt>
                <c:pt idx="47">
                  <c:v>-0.927401616681</c:v>
                </c:pt>
                <c:pt idx="48">
                  <c:v>-0.92948268268</c:v>
                </c:pt>
                <c:pt idx="49">
                  <c:v>-0.931534410334</c:v>
                </c:pt>
                <c:pt idx="50">
                  <c:v>-0.933579437628</c:v>
                </c:pt>
                <c:pt idx="51">
                  <c:v>-0.935497199341</c:v>
                </c:pt>
                <c:pt idx="52">
                  <c:v>-0.937438987947</c:v>
                </c:pt>
                <c:pt idx="53">
                  <c:v>-0.939355361946</c:v>
                </c:pt>
                <c:pt idx="54">
                  <c:v>-0.941245068963</c:v>
                </c:pt>
                <c:pt idx="55">
                  <c:v>-0.943016788008</c:v>
                </c:pt>
                <c:pt idx="56">
                  <c:v>-0.944909816825</c:v>
                </c:pt>
                <c:pt idx="57">
                  <c:v>-0.946557308867</c:v>
                </c:pt>
                <c:pt idx="58">
                  <c:v>-0.948313416131</c:v>
                </c:pt>
                <c:pt idx="59">
                  <c:v>-0.950063010346</c:v>
                </c:pt>
                <c:pt idx="60">
                  <c:v>-0.951739412599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footer-date">
            <a:extLst xmlns:a="http://schemas.openxmlformats.org/drawingml/2006/main">
              <a:ext uri="{FF2B5EF4-FFF2-40B4-BE49-F238E27FC236}">
                <a16:creationId xmlns:a16="http://schemas.microsoft.com/office/drawing/2014/main" id="{DB862365-F539-4E57-9DCA-8BC7D04FAB07}"/>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2AB2696F-1C25-4360-8059-376764574B1C}"/>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a:t>
            </a:r>
          </a:p>
        </p:txBody>
      </p:sp>
      <p:sp>
        <p:nvSpPr>
          <p:cNvPr id="3" name="cover-title">
            <a:extLst xmlns:a="http://schemas.openxmlformats.org/drawingml/2006/main">
              <a:ext uri="{FF2B5EF4-FFF2-40B4-BE49-F238E27FC236}">
                <a16:creationId xmlns:a16="http://schemas.microsoft.com/office/drawing/2014/main" id="{C08CB2DB-7813-4741-A92A-9FBFF2F5E7E0}"/>
              </a:ext>
            </a:extLst>
          </p:cNvPr>
          <p:cNvSpPr>
            <a:spLocks xmlns:a="http://schemas.openxmlformats.org/drawingml/2006/main" noGrp="1"/>
          </p:cNvSpPr>
          <p:nvPr/>
        </p:nvSpPr>
        <p:spPr>
          <a:xfrm xmlns:a="http://schemas.openxmlformats.org/drawingml/2006/main">
            <a:off x="742950" y="1466850"/>
            <a:ext cx="7658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Physics-Informed Neural Network</a:t>
            </a:r>
          </a:p>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Research Update</a:t>
            </a:r>
          </a:p>
        </p:txBody>
      </p:sp>
      <p:sp>
        <p:nvSpPr>
          <p:cNvPr id="4" name="divider">
            <a:extLst xmlns:a="http://schemas.openxmlformats.org/drawingml/2006/main">
              <a:ext uri="{FF2B5EF4-FFF2-40B4-BE49-F238E27FC236}">
                <a16:creationId xmlns:a16="http://schemas.microsoft.com/office/drawing/2014/main" id="{D13A50AD-2800-497D-9BA9-0900901660CA}"/>
              </a:ext>
            </a:extLst>
          </p:cNvPr>
          <p:cNvSpPr>
            <a:spLocks xmlns:a="http://schemas.openxmlformats.org/drawingml/2006/main" noGrp="1"/>
          </p:cNvSpPr>
          <p:nvPr/>
        </p:nvSpPr>
        <p:spPr>
          <a:xfrm xmlns:a="http://schemas.openxmlformats.org/drawingml/2006/main">
            <a:off x="1952625" y="2781300"/>
            <a:ext cx="5238750" cy="0"/>
          </a:xfrm>
          <a:prstGeom xmlns:a="http://schemas.openxmlformats.org/drawingml/2006/main" prst="line">
            <a:avLst/>
          </a:prstGeom>
          <a:noFill xmlns:a="http://schemas.openxmlformats.org/drawingml/2006/main"/>
          <a:ln xmlns:a="http://schemas.openxmlformats.org/drawingml/2006/main" w="19050">
            <a:solidFill>
              <a:srgbClr val="948151"/>
            </a:solidFill>
            <a:prstDash val="solid"/>
          </a:ln>
        </p:spPr>
      </p:sp>
      <p:sp>
        <p:nvSpPr>
          <p:cNvPr id="5" name="cover-subtitle">
            <a:extLst xmlns:a="http://schemas.openxmlformats.org/drawingml/2006/main">
              <a:ext uri="{FF2B5EF4-FFF2-40B4-BE49-F238E27FC236}">
                <a16:creationId xmlns:a16="http://schemas.microsoft.com/office/drawing/2014/main" id="{2C4043E8-42DB-4F46-AF5F-EFE50C826990}"/>
              </a:ext>
            </a:extLst>
          </p:cNvPr>
          <p:cNvSpPr>
            <a:spLocks xmlns:a="http://schemas.openxmlformats.org/drawingml/2006/main" noGrp="1"/>
          </p:cNvSpPr>
          <p:nvPr/>
        </p:nvSpPr>
        <p:spPr>
          <a:xfrm xmlns:a="http://schemas.openxmlformats.org/drawingml/2006/main">
            <a:off x="1390650" y="3009900"/>
            <a:ext cx="6362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650" b="0" i="0">
                <a:solidFill>
                  <a:srgbClr val="002B5E"/>
                </a:solidFill>
                <a:latin typeface="Arial"/>
                <a:ea typeface="Arial"/>
                <a:cs typeface="Arial"/>
              </a:defRPr>
            </a:pPr>
            <a:r>
              <a:rPr sz="1650" b="0" i="0">
                <a:solidFill>
                  <a:srgbClr val="002B5E"/>
                </a:solidFill>
                <a:latin typeface="Arial"/>
                <a:ea typeface="Arial"/>
                <a:cs typeface="Arial"/>
              </a:rPr>
              <a:t>Implementation, initial testing, and next experiments</a:t>
            </a:r>
          </a:p>
        </p:txBody>
      </p:sp>
      <p:sp>
        <p:nvSpPr>
          <p:cNvPr id="6" name="Rectangle 5">
            <a:extLst xmlns:a="http://schemas.openxmlformats.org/drawingml/2006/main">
              <a:ext uri="{FF2B5EF4-FFF2-40B4-BE49-F238E27FC236}">
                <a16:creationId xmlns:a16="http://schemas.microsoft.com/office/drawing/2014/main" id="{D9309C42-2D64-4EE5-8746-FF314421DF2C}"/>
              </a:ext>
            </a:extLst>
          </p:cNvPr>
          <p:cNvSpPr>
            <a:spLocks xmlns:a="http://schemas.openxmlformats.org/drawingml/2006/main" noGrp="1"/>
          </p:cNvSpPr>
          <p:nvPr/>
        </p:nvSpPr>
        <p:spPr>
          <a:xfrm xmlns:a="http://schemas.openxmlformats.org/drawingml/2006/main">
            <a:off x="1666875" y="39814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003E7E"/>
                </a:solidFill>
                <a:latin typeface="Arial"/>
                <a:ea typeface="Arial"/>
                <a:cs typeface="Arial"/>
              </a:defRPr>
            </a:pPr>
            <a:r>
              <a:rPr sz="1425" b="1" i="0">
                <a:solidFill>
                  <a:srgbClr val="003E7E"/>
                </a:solidFill>
                <a:latin typeface="Arial"/>
                <a:ea typeface="Arial"/>
                <a:cs typeface="Arial"/>
              </a:rPr>
              <a:t>Bonded thickness prediction in PDMS dip coating</a:t>
            </a:r>
          </a:p>
        </p:txBody>
      </p:sp>
      <p:sp>
        <p:nvSpPr>
          <p:cNvPr id="7" name="Rectangle 6">
            <a:extLst xmlns:a="http://schemas.openxmlformats.org/drawingml/2006/main">
              <a:ext uri="{FF2B5EF4-FFF2-40B4-BE49-F238E27FC236}">
                <a16:creationId xmlns:a16="http://schemas.microsoft.com/office/drawing/2014/main" id="{95E88F13-7A93-4507-8850-AD7E7B56FDC3}"/>
              </a:ext>
            </a:extLst>
          </p:cNvPr>
          <p:cNvSpPr>
            <a:spLocks xmlns:a="http://schemas.openxmlformats.org/drawingml/2006/main" noGrp="1"/>
          </p:cNvSpPr>
          <p:nvPr/>
        </p:nvSpPr>
        <p:spPr>
          <a:xfrm xmlns:a="http://schemas.openxmlformats.org/drawingml/2006/main">
            <a:off x="3333750" y="4838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Alexander Adams</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Li Lab</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October 14, 2026</a:t>
            </a:r>
          </a:p>
        </p:txBody>
      </p:sp>
    </p:spTree>
    <p:extLst>
      <p:ext uri="{BB962C8B-B14F-4D97-AF65-F5344CB8AC3E}">
        <p14:creationId xmlns:p14="http://schemas.microsoft.com/office/powerpoint/2010/main" val="13828018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PINN implementation and initial findings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BB5C5BF-9FCE-4CA8-82D3-5D3E7BEAD005}"/>
              </a:ext>
            </a:extLst>
          </p:cNvPr>
          <p:cNvSpPr>
            <a:spLocks xmlns:a="http://schemas.openxmlformats.org/drawingml/2006/main" noGrp="1"/>
          </p:cNvSpPr>
          <p:nvPr/>
        </p:nvSpPr>
        <p:spPr>
          <a:xfrm xmlns:a="http://schemas.openxmlformats.org/drawingml/2006/main">
            <a:off x="704850" y="16859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IMPLEMENTED</a:t>
            </a:r>
          </a:p>
        </p:txBody>
      </p:sp>
      <p:sp>
        <p:nvSpPr>
          <p:cNvPr id="14" name="content-5">
            <a:extLst xmlns:a="http://schemas.openxmlformats.org/drawingml/2006/main">
              <a:ext uri="{FF2B5EF4-FFF2-40B4-BE49-F238E27FC236}">
                <a16:creationId xmlns:a16="http://schemas.microsoft.com/office/drawing/2014/main" id="{46DD505C-F41A-45FB-8BF3-3C2E805D5183}"/>
              </a:ext>
            </a:extLst>
          </p:cNvPr>
          <p:cNvSpPr>
            <a:spLocks xmlns:a="http://schemas.openxmlformats.org/drawingml/2006/main" noGrp="1"/>
          </p:cNvSpPr>
          <p:nvPr/>
        </p:nvSpPr>
        <p:spPr>
          <a:xfrm xmlns:a="http://schemas.openxmlformats.org/drawingml/2006/main">
            <a:off x="704850" y="202882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Compact PyTorch model predicts bonded thickness with an explicit physical bound.</a:t>
            </a:r>
          </a:p>
        </p:txBody>
      </p:sp>
      <p:sp>
        <p:nvSpPr>
          <p:cNvPr id="15" name="content-6">
            <a:extLst xmlns:a="http://schemas.openxmlformats.org/drawingml/2006/main">
              <a:ext uri="{FF2B5EF4-FFF2-40B4-BE49-F238E27FC236}">
                <a16:creationId xmlns:a16="http://schemas.microsoft.com/office/drawing/2014/main" id="{B75361AF-C4A5-47B5-BD8D-DBCEDDA5FEA1}"/>
              </a:ext>
            </a:extLst>
          </p:cNvPr>
          <p:cNvSpPr>
            <a:spLocks xmlns:a="http://schemas.openxmlformats.org/drawingml/2006/main" noGrp="1"/>
          </p:cNvSpPr>
          <p:nvPr/>
        </p:nvSpPr>
        <p:spPr>
          <a:xfrm xmlns:a="http://schemas.openxmlformats.org/drawingml/2006/main">
            <a:off x="704850" y="2876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Five models share each split, including two neural ablations and tree baselines.</a:t>
            </a:r>
          </a:p>
        </p:txBody>
      </p:sp>
      <p:sp>
        <p:nvSpPr>
          <p:cNvPr id="16" name="content-7">
            <a:extLst xmlns:a="http://schemas.openxmlformats.org/drawingml/2006/main">
              <a:ext uri="{FF2B5EF4-FFF2-40B4-BE49-F238E27FC236}">
                <a16:creationId xmlns:a16="http://schemas.microsoft.com/office/drawing/2014/main" id="{30602EC8-BE4B-45AC-AEC5-5239171D5BDE}"/>
              </a:ext>
            </a:extLst>
          </p:cNvPr>
          <p:cNvSpPr>
            <a:spLocks xmlns:a="http://schemas.openxmlformats.org/drawingml/2006/main" noGrp="1"/>
          </p:cNvSpPr>
          <p:nvPr/>
        </p:nvSpPr>
        <p:spPr>
          <a:xfrm xmlns:a="http://schemas.openxmlformats.org/drawingml/2006/main">
            <a:off x="704850" y="3724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Versioned runs preserve source, data identity, checkpoints, and per-model results.</a:t>
            </a:r>
          </a:p>
        </p:txBody>
      </p:sp>
      <p:sp>
        <p:nvSpPr>
          <p:cNvPr id="17" name="content-8">
            <a:extLst xmlns:a="http://schemas.openxmlformats.org/drawingml/2006/main">
              <a:ext uri="{FF2B5EF4-FFF2-40B4-BE49-F238E27FC236}">
                <a16:creationId xmlns:a16="http://schemas.microsoft.com/office/drawing/2014/main" id="{4E0B50EA-0190-4F28-ADB5-5C2E0E7B0FF9}"/>
              </a:ext>
            </a:extLst>
          </p:cNvPr>
          <p:cNvSpPr>
            <a:spLocks xmlns:a="http://schemas.openxmlformats.org/drawingml/2006/main" noGrp="1"/>
          </p:cNvSpPr>
          <p:nvPr/>
        </p:nvSpPr>
        <p:spPr>
          <a:xfrm xmlns:a="http://schemas.openxmlformats.org/drawingml/2006/main">
            <a:off x="5048250" y="16859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INITIAL FINDINGS</a:t>
            </a:r>
          </a:p>
        </p:txBody>
      </p:sp>
      <p:sp>
        <p:nvSpPr>
          <p:cNvPr id="18" name="content-9">
            <a:extLst xmlns:a="http://schemas.openxmlformats.org/drawingml/2006/main">
              <a:ext uri="{FF2B5EF4-FFF2-40B4-BE49-F238E27FC236}">
                <a16:creationId xmlns:a16="http://schemas.microsoft.com/office/drawing/2014/main" id="{61C8F862-E017-41F0-A917-3866C05ED77D}"/>
              </a:ext>
            </a:extLst>
          </p:cNvPr>
          <p:cNvSpPr>
            <a:spLocks xmlns:a="http://schemas.openxmlformats.org/drawingml/2006/main" noGrp="1"/>
          </p:cNvSpPr>
          <p:nvPr/>
        </p:nvSpPr>
        <p:spPr>
          <a:xfrm xmlns:a="http://schemas.openxmlformats.org/drawingml/2006/main">
            <a:off x="5048250" y="202882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Measured holdout: PINN RMSE 0.1223 nm. Gradient boosting performs best at 0.0649 nm.</a:t>
            </a:r>
          </a:p>
        </p:txBody>
      </p:sp>
      <p:sp>
        <p:nvSpPr>
          <p:cNvPr id="19" name="content-10">
            <a:extLst xmlns:a="http://schemas.openxmlformats.org/drawingml/2006/main">
              <a:ext uri="{FF2B5EF4-FFF2-40B4-BE49-F238E27FC236}">
                <a16:creationId xmlns:a16="http://schemas.microsoft.com/office/drawing/2014/main" id="{331B1CC4-19E3-4AA4-8724-24AEFAF8DF51}"/>
              </a:ext>
            </a:extLst>
          </p:cNvPr>
          <p:cNvSpPr>
            <a:spLocks xmlns:a="http://schemas.openxmlformats.org/drawingml/2006/main" noGrp="1"/>
          </p:cNvSpPr>
          <p:nvPr/>
        </p:nvSpPr>
        <p:spPr>
          <a:xfrm xmlns:a="http://schemas.openxmlformats.org/drawingml/2006/main">
            <a:off x="5048250" y="2876550"/>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holdout: PINN RMSE 0.0557 nm and R² 0.905. Random forest remains stronger.</a:t>
            </a:r>
          </a:p>
        </p:txBody>
      </p:sp>
      <p:sp>
        <p:nvSpPr>
          <p:cNvPr id="20" name="content-11">
            <a:extLst xmlns:a="http://schemas.openxmlformats.org/drawingml/2006/main">
              <a:ext uri="{FF2B5EF4-FFF2-40B4-BE49-F238E27FC236}">
                <a16:creationId xmlns:a16="http://schemas.microsoft.com/office/drawing/2014/main" id="{03364452-D8DD-408A-B061-94928CBE47C6}"/>
              </a:ext>
            </a:extLst>
          </p:cNvPr>
          <p:cNvSpPr>
            <a:spLocks xmlns:a="http://schemas.openxmlformats.org/drawingml/2006/main" noGrp="1"/>
          </p:cNvSpPr>
          <p:nvPr/>
        </p:nvSpPr>
        <p:spPr>
          <a:xfrm xmlns:a="http://schemas.openxmlformats.org/drawingml/2006/main">
            <a:off x="5048250" y="37242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 guarantees physical plausibility. Initial tests have not established an accuracy benefit.</a:t>
            </a:r>
          </a:p>
        </p:txBody>
      </p:sp>
      <p:sp>
        <p:nvSpPr>
          <p:cNvPr id="21" name="content-12">
            <a:extLst xmlns:a="http://schemas.openxmlformats.org/drawingml/2006/main">
              <a:ext uri="{FF2B5EF4-FFF2-40B4-BE49-F238E27FC236}">
                <a16:creationId xmlns:a16="http://schemas.microsoft.com/office/drawing/2014/main" id="{64CF4A14-D302-44A8-A1E8-E205EA9301D4}"/>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Current scope: constrained inference from measured film state</a:t>
            </a:r>
          </a:p>
        </p:txBody>
      </p:sp>
    </p:spTree>
    <p:extLst>
      <p:ext uri="{BB962C8B-B14F-4D97-AF65-F5344CB8AC3E}">
        <p14:creationId xmlns:p14="http://schemas.microsoft.com/office/powerpoint/2010/main" val="13828018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Implementation changes from v0.1 to v0.2</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33788444-49AE-4C0E-9308-84900373B1C1}"/>
              </a:ext>
            </a:extLst>
          </p:cNvPr>
          <p:cNvGraphicFramePr/>
          <p:nvPr/>
        </p:nvGraphicFramePr>
        <p:xfrm>
          <a:off xmlns:a="http://schemas.openxmlformats.org/drawingml/2006/main" x="571500" y="1676400"/>
          <a:ext xmlns:a="http://schemas.openxmlformats.org/drawingml/2006/main" cx="8001000" cy="3705225"/>
        </p:xfrm>
        <a:graphic xmlns:a="http://schemas.openxmlformats.org/drawingml/2006/main">
          <a:graphicData uri="http://schemas.openxmlformats.org/drawingml/2006/table">
            <a:tbl>
              <a:tblPr/>
              <a:tblGrid>
                <a:gridCol w="1428750"/>
                <a:gridCol w="4057650"/>
                <a:gridCol w="2514600"/>
              </a:tblGrid>
              <a:tr h="617538">
                <a:tc>
                  <a:txBody>
                    <a:bodyPr>
                      <a:noAutofit/>
                    </a:bodyPr>
                    <a:lstStyle/>
                    <a:p>
                      <a:pPr algn="l"/>
                      <a:r>
                        <a:rPr sz="1275" b="1">
                          <a:solidFill>
                            <a:srgbClr val="FFFFFF"/>
                          </a:solidFill>
                          <a:latin typeface="Arial"/>
                          <a:ea typeface="Arial"/>
                          <a:cs typeface="Arial"/>
                        </a:rPr>
                        <a:t>Stage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Reason</a:t>
                      </a:r>
                    </a:p>
                  </a:txBody>
                  <a:tcPr marL="85725" marR="85725" marT="76200" marB="76200" anchor="ctr">
                    <a:solidFill>
                      <a:srgbClr val="002B5E"/>
                    </a:solidFill>
                  </a:tcPr>
                </a:tc>
              </a:tr>
              <a:tr h="617538">
                <a:tc>
                  <a:txBody>
                    <a:bodyPr>
                      <a:noAutofit/>
                    </a:bodyPr>
                    <a:lstStyle/>
                    <a:p>
                      <a:pPr algn="l"/>
                      <a:r>
                        <a:rPr sz="1275" b="1">
                          <a:solidFill>
                            <a:srgbClr val="263645"/>
                          </a:solidFill>
                          <a:latin typeface="Arial"/>
                          <a:ea typeface="Arial"/>
                          <a:cs typeface="Arial"/>
                        </a:rPr>
                        <a:t>v0.1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58 measured rows, three inputs</a:t>
                      </a:r>
                    </a:p>
                    <a:p>
                      <a:pPr algn="ctr"/>
                      <a:r>
                        <a:rPr sz="1275" b="0">
                          <a:solidFill>
                            <a:srgbClr val="263645"/>
                          </a:solidFill>
                          <a:latin typeface="Arial"/>
                          <a:ea typeface="Arial"/>
                          <a:cs typeface="Arial"/>
                        </a:rPr>
                        <a:t>Bounded tanh network and curvature prior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Establish a transparent</a:t>
                      </a:r>
                    </a:p>
                    <a:p>
                      <a:pPr algn="ctr"/>
                      <a:r>
                        <a:rPr sz="1275" b="0">
                          <a:solidFill>
                            <a:srgbClr val="263645"/>
                          </a:solidFill>
                          <a:latin typeface="Arial"/>
                          <a:ea typeface="Arial"/>
                          <a:cs typeface="Arial"/>
                        </a:rPr>
                        <a:t>experimental baseline</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v0.1 evaluation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Grouped holdout and high-concentration test</a:t>
                      </a:r>
                    </a:p>
                    <a:p>
                      <a:pPr algn="ctr"/>
                      <a:r>
                        <a:rPr sz="1275" b="0">
                          <a:solidFill>
                            <a:srgbClr val="263645"/>
                          </a:solidFill>
                          <a:latin typeface="Arial"/>
                          <a:ea typeface="Arial"/>
                          <a:cs typeface="Arial"/>
                        </a:rPr>
                        <a:t>Bounded NN, standard NN, RF, and GB</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Separate accuracy, bounds,</a:t>
                      </a:r>
                    </a:p>
                    <a:p>
                      <a:pPr algn="ctr"/>
                      <a:r>
                        <a:rPr sz="1275" b="0">
                          <a:solidFill>
                            <a:srgbClr val="263645"/>
                          </a:solidFill>
                          <a:latin typeface="Arial"/>
                          <a:ea typeface="Arial"/>
                          <a:cs typeface="Arial"/>
                        </a:rPr>
                        <a:t>and extrapolation behavior</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synthetic study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Seven inputs and audited 3k source</a:t>
                      </a:r>
                    </a:p>
                    <a:p>
                      <a:pPr algn="ctr"/>
                      <a:r>
                        <a:rPr sz="1275" b="0">
                          <a:solidFill>
                            <a:srgbClr val="263645"/>
                          </a:solidFill>
                          <a:latin typeface="Arial"/>
                          <a:ea typeface="Arial"/>
                          <a:cs typeface="Arial"/>
                        </a:rPr>
                        <a:t>Concentration-monotonicity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optimization at larger scale</a:t>
                      </a:r>
                    </a:p>
                    <a:p>
                      <a:pPr algn="ctr"/>
                      <a:r>
                        <a:rPr sz="1275" b="0">
                          <a:solidFill>
                            <a:srgbClr val="263645"/>
                          </a:solidFill>
                          <a:latin typeface="Arial"/>
                          <a:ea typeface="Arial"/>
                          <a:cs typeface="Arial"/>
                        </a:rPr>
                        <a:t>without claiming new experiments</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v0.2 physics support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Measured-velocity curvature</a:t>
                      </a:r>
                    </a:p>
                    <a:p>
                      <a:pPr algn="ctr"/>
                      <a:r>
                        <a:rPr sz="1275" b="0">
                          <a:solidFill>
                            <a:srgbClr val="263645"/>
                          </a:solidFill>
                          <a:latin typeface="Arial"/>
                          <a:ea typeface="Arial"/>
                          <a:cs typeface="Arial"/>
                        </a:rPr>
                        <a:t>Gated LLD mobile-layer residual</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Prepare all four slide constraints</a:t>
                      </a:r>
                    </a:p>
                    <a:p>
                      <a:pPr algn="ctr"/>
                      <a:r>
                        <a:rPr sz="1275" b="0">
                          <a:solidFill>
                            <a:srgbClr val="263645"/>
                          </a:solidFill>
                          <a:latin typeface="Arial"/>
                          <a:ea typeface="Arial"/>
                          <a:cs typeface="Arial"/>
                        </a:rPr>
                        <a:t>with explicit activation requirements</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provenance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Dated run register and source snapshots</a:t>
                      </a:r>
                    </a:p>
                    <a:p>
                      <a:pPr algn="ctr"/>
                      <a:r>
                        <a:rPr sz="1275" b="0">
                          <a:solidFill>
                            <a:srgbClr val="263645"/>
                          </a:solidFill>
                          <a:latin typeface="Arial"/>
                          <a:ea typeface="Arial"/>
                          <a:cs typeface="Arial"/>
                        </a:rPr>
                        <a:t>Published code, data, results, and checkpoints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Make each experiment</a:t>
                      </a:r>
                    </a:p>
                    <a:p>
                      <a:pPr algn="ctr"/>
                      <a:r>
                        <a:rPr sz="1275" b="0">
                          <a:solidFill>
                            <a:srgbClr val="263645"/>
                          </a:solidFill>
                          <a:latin typeface="Arial"/>
                          <a:ea typeface="Arial"/>
                          <a:cs typeface="Arial"/>
                        </a:rPr>
                        <a:t>reviewable and reproducible</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0781F20A-63AC-488E-80B5-A7604E897922}"/>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Five archived runs cover the measured baseline, extrapolation, and synthetic ablation</a:t>
            </a:r>
          </a:p>
        </p:txBody>
      </p:sp>
    </p:spTree>
    <p:extLst>
      <p:ext uri="{BB962C8B-B14F-4D97-AF65-F5344CB8AC3E}">
        <p14:creationId xmlns:p14="http://schemas.microsoft.com/office/powerpoint/2010/main" val="13828018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and synthetic data audits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E9562688-BBC5-4788-9C48-6D41749420C3}"/>
              </a:ext>
            </a:extLst>
          </p:cNvPr>
          <p:cNvSpPr>
            <a:spLocks xmlns:a="http://schemas.openxmlformats.org/drawingml/2006/main" noGrp="1"/>
          </p:cNvSpPr>
          <p:nvPr/>
        </p:nvSpPr>
        <p:spPr>
          <a:xfrm xmlns:a="http://schemas.openxmlformats.org/drawingml/2006/main">
            <a:off x="704850"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BASELINE</a:t>
            </a:r>
          </a:p>
        </p:txBody>
      </p:sp>
      <p:sp>
        <p:nvSpPr>
          <p:cNvPr id="14" name="content-5">
            <a:extLst xmlns:a="http://schemas.openxmlformats.org/drawingml/2006/main">
              <a:ext uri="{FF2B5EF4-FFF2-40B4-BE49-F238E27FC236}">
                <a16:creationId xmlns:a16="http://schemas.microsoft.com/office/drawing/2014/main" id="{E12579C4-72E1-4580-8927-3929670FD747}"/>
              </a:ext>
            </a:extLst>
          </p:cNvPr>
          <p:cNvSpPr>
            <a:spLocks xmlns:a="http://schemas.openxmlformats.org/drawingml/2006/main" noGrp="1"/>
          </p:cNvSpPr>
          <p:nvPr/>
        </p:nvSpPr>
        <p:spPr>
          <a:xfrm xmlns:a="http://schemas.openxmlformats.org/drawingml/2006/main">
            <a:off x="704850" y="2028825"/>
            <a:ext cx="2571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48151"/>
                </a:solidFill>
                <a:latin typeface="Arial"/>
                <a:ea typeface="Arial"/>
                <a:cs typeface="Arial"/>
              </a:defRPr>
            </a:defPPr>
          </a:lstStyle>
          <a:p xmlns:a="http://schemas.openxmlformats.org/drawingml/2006/main">
            <a:pPr algn="l">
              <a:defRPr sz="3150" b="1">
                <a:solidFill>
                  <a:srgbClr val="948151"/>
                </a:solidFill>
                <a:latin typeface="Arial"/>
                <a:ea typeface="Arial"/>
                <a:cs typeface="Arial"/>
              </a:defRPr>
            </a:pPr>
            <a:r>
              <a:rPr sz="3150" b="1">
                <a:solidFill>
                  <a:srgbClr val="948151"/>
                </a:solidFill>
                <a:latin typeface="Arial"/>
                <a:ea typeface="Arial"/>
                <a:cs typeface="Arial"/>
              </a:rPr>
              <a:t>58</a:t>
            </a:r>
          </a:p>
        </p:txBody>
      </p:sp>
      <p:sp>
        <p:nvSpPr>
          <p:cNvPr id="15" name="content-6">
            <a:extLst xmlns:a="http://schemas.openxmlformats.org/drawingml/2006/main">
              <a:ext uri="{FF2B5EF4-FFF2-40B4-BE49-F238E27FC236}">
                <a16:creationId xmlns:a16="http://schemas.microsoft.com/office/drawing/2014/main" id="{69E8DEA5-43B5-4343-A295-71B2DDB1D0EB}"/>
              </a:ext>
            </a:extLst>
          </p:cNvPr>
          <p:cNvSpPr>
            <a:spLocks xmlns:a="http://schemas.openxmlformats.org/drawingml/2006/main" noGrp="1"/>
          </p:cNvSpPr>
          <p:nvPr/>
        </p:nvSpPr>
        <p:spPr>
          <a:xfrm xmlns:a="http://schemas.openxmlformats.org/drawingml/2006/main">
            <a:off x="704850" y="27241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645"/>
                </a:solidFill>
                <a:latin typeface="Arial"/>
                <a:ea typeface="Arial"/>
                <a:cs typeface="Arial"/>
              </a:defRPr>
            </a:defPPr>
          </a:lstStyle>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Hexane observations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16 concentration levels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Three predictors and one target</a:t>
            </a:r>
          </a:p>
        </p:txBody>
      </p:sp>
      <p:sp>
        <p:nvSpPr>
          <p:cNvPr id="16" name="content-7">
            <a:extLst xmlns:a="http://schemas.openxmlformats.org/drawingml/2006/main">
              <a:ext uri="{FF2B5EF4-FFF2-40B4-BE49-F238E27FC236}">
                <a16:creationId xmlns:a16="http://schemas.microsoft.com/office/drawing/2014/main" id="{C85F91A1-6F39-49A8-9AFF-9902D046B47A}"/>
              </a:ext>
            </a:extLst>
          </p:cNvPr>
          <p:cNvSpPr>
            <a:spLocks xmlns:a="http://schemas.openxmlformats.org/drawingml/2006/main" noGrp="1"/>
          </p:cNvSpPr>
          <p:nvPr/>
        </p:nvSpPr>
        <p:spPr>
          <a:xfrm xmlns:a="http://schemas.openxmlformats.org/drawingml/2006/main">
            <a:off x="704850" y="4095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All 58 rows pass the numerical</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thickness-bound checks.</a:t>
            </a:r>
          </a:p>
        </p:txBody>
      </p:sp>
      <p:sp>
        <p:nvSpPr>
          <p:cNvPr id="17" name="content-8">
            <a:extLst xmlns:a="http://schemas.openxmlformats.org/drawingml/2006/main">
              <a:ext uri="{FF2B5EF4-FFF2-40B4-BE49-F238E27FC236}">
                <a16:creationId xmlns:a16="http://schemas.microsoft.com/office/drawing/2014/main" id="{30502415-E2E6-4941-9B06-3D50C7B134EE}"/>
              </a:ext>
            </a:extLst>
          </p:cNvPr>
          <p:cNvSpPr>
            <a:spLocks xmlns:a="http://schemas.openxmlformats.org/drawingml/2006/main" noGrp="1"/>
          </p:cNvSpPr>
          <p:nvPr/>
        </p:nvSpPr>
        <p:spPr>
          <a:xfrm xmlns:a="http://schemas.openxmlformats.org/drawingml/2006/main">
            <a:off x="4733925"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SOURCE</a:t>
            </a:r>
          </a:p>
        </p:txBody>
      </p:sp>
      <p:graphicFrame>
        <p:nvGraphicFramePr>
          <p:cNvPr id="18" name="">
            <a:extLst xmlns:a="http://schemas.openxmlformats.org/drawingml/2006/main">
              <a:ext uri="{FF2B5EF4-FFF2-40B4-BE49-F238E27FC236}">
                <a16:creationId xmlns:a16="http://schemas.microsoft.com/office/drawing/2014/main" id="{17F7962B-3538-4785-A2F5-660C498AC125}"/>
              </a:ext>
            </a:extLst>
          </p:cNvPr>
          <p:cNvGraphicFramePr/>
          <p:nvPr/>
        </p:nvGraphicFramePr>
        <p:xfrm>
          <a:off xmlns:a="http://schemas.openxmlformats.org/drawingml/2006/main" x="4733925" y="2038350"/>
          <a:ext xmlns:a="http://schemas.openxmlformats.org/drawingml/2006/main" cx="3705225" cy="3143250"/>
        </p:xfrm>
        <a:graphic xmlns:a="http://schemas.openxmlformats.org/drawingml/2006/main">
          <a:graphicData uri="http://schemas.openxmlformats.org/drawingml/2006/table">
            <a:tbl>
              <a:tblPr/>
              <a:tblGrid>
                <a:gridCol w="2647950"/>
                <a:gridCol w="1057275"/>
              </a:tblGrid>
              <a:tr h="449036">
                <a:tc>
                  <a:txBody>
                    <a:bodyPr>
                      <a:noAutofit/>
                    </a:bodyPr>
                    <a:lstStyle/>
                    <a:p>
                      <a:pPr algn="l"/>
                      <a:r>
                        <a:rPr sz="1350" b="1">
                          <a:solidFill>
                            <a:srgbClr val="FFFFFF"/>
                          </a:solidFill>
                          <a:latin typeface="Arial"/>
                          <a:ea typeface="Arial"/>
                          <a:cs typeface="Arial"/>
                        </a:rPr>
                        <a:t>Audit check</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Rows</a:t>
                      </a:r>
                    </a:p>
                  </a:txBody>
                  <a:tcPr marL="85725" marR="85725" marT="76200" marB="76200" anchor="ctr">
                    <a:solidFill>
                      <a:srgbClr val="002B5E"/>
                    </a:solidFill>
                  </a:tcPr>
                </a:tc>
              </a:tr>
              <a:tr h="449036">
                <a:tc>
                  <a:txBody>
                    <a:bodyPr>
                      <a:noAutofit/>
                    </a:bodyPr>
                    <a:lstStyle/>
                    <a:p>
                      <a:pPr algn="l"/>
                      <a:r>
                        <a:rPr sz="1350" b="1">
                          <a:solidFill>
                            <a:srgbClr val="263645"/>
                          </a:solidFill>
                          <a:latin typeface="Arial"/>
                          <a:ea typeface="Arial"/>
                          <a:cs typeface="Arial"/>
                        </a:rPr>
                        <a:t>Raw combined source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3,000</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Nonpositive concentration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182</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Nonpositive 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6</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Bonded greater than total</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113</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Unique excluded rows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192</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Retained rows</a:t>
                      </a:r>
                    </a:p>
                  </a:txBody>
                  <a:tcPr marL="85725" marR="85725" marT="76200" marB="76200" anchor="ctr">
                    <a:solidFill>
                      <a:srgbClr val="F3ECD6"/>
                    </a:solidFill>
                  </a:tcPr>
                </a:tc>
                <a:tc>
                  <a:txBody>
                    <a:bodyPr>
                      <a:noAutofit/>
                    </a:bodyPr>
                    <a:lstStyle/>
                    <a:p>
                      <a:pPr algn="ctr"/>
                      <a:r>
                        <a:rPr sz="1350" b="1">
                          <a:solidFill>
                            <a:srgbClr val="263645"/>
                          </a:solidFill>
                          <a:latin typeface="Arial"/>
                          <a:ea typeface="Arial"/>
                          <a:cs typeface="Arial"/>
                        </a:rPr>
                        <a:t>2,808</a:t>
                      </a:r>
                    </a:p>
                  </a:txBody>
                  <a:tcPr marL="85725" marR="85725" marT="76200" marB="76200" anchor="ctr">
                    <a:solidFill>
                      <a:srgbClr val="F3ECD6"/>
                    </a:solidFill>
                  </a:tcPr>
                </a:tc>
              </a:tr>
            </a:tbl>
          </a:graphicData>
        </a:graphic>
      </p:graphicFrame>
      <p:sp>
        <p:nvSpPr>
          <p:cNvPr id="19" name="content-9">
            <a:extLst xmlns:a="http://schemas.openxmlformats.org/drawingml/2006/main">
              <a:ext uri="{FF2B5EF4-FFF2-40B4-BE49-F238E27FC236}">
                <a16:creationId xmlns:a16="http://schemas.microsoft.com/office/drawing/2014/main" id="{5F72DC5D-A87B-46EA-938F-B644E452C54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Exclusion reasons overlap. Preserve the raw source and original row IDs</a:t>
            </a:r>
          </a:p>
        </p:txBody>
      </p:sp>
    </p:spTree>
    <p:extLst>
      <p:ext uri="{BB962C8B-B14F-4D97-AF65-F5344CB8AC3E}">
        <p14:creationId xmlns:p14="http://schemas.microsoft.com/office/powerpoint/2010/main" val="13828018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Feature choices and preprocessing</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DC5E403-935B-4F0A-AC25-5A7BC8CB49F2}"/>
              </a:ext>
            </a:extLst>
          </p:cNvPr>
          <p:cNvGraphicFramePr/>
          <p:nvPr/>
        </p:nvGraphicFramePr>
        <p:xfrm>
          <a:off xmlns:a="http://schemas.openxmlformats.org/drawingml/2006/main" x="571500" y="1685925"/>
          <a:ext xmlns:a="http://schemas.openxmlformats.org/drawingml/2006/main" cx="8001000" cy="3286125"/>
        </p:xfrm>
        <a:graphic xmlns:a="http://schemas.openxmlformats.org/drawingml/2006/main">
          <a:graphicData uri="http://schemas.openxmlformats.org/drawingml/2006/table">
            <a:tbl>
              <a:tblPr/>
              <a:tblGrid>
                <a:gridCol w="2038350"/>
                <a:gridCol w="2762250"/>
                <a:gridCol w="3200400"/>
              </a:tblGrid>
              <a:tr h="547688">
                <a:tc>
                  <a:txBody>
                    <a:bodyPr>
                      <a:noAutofit/>
                    </a:bodyPr>
                    <a:lstStyle/>
                    <a:p>
                      <a:pPr algn="l"/>
                      <a:r>
                        <a:rPr sz="1350" b="1">
                          <a:solidFill>
                            <a:srgbClr val="FFFFFF"/>
                          </a:solidFill>
                          <a:latin typeface="Arial"/>
                          <a:ea typeface="Arial"/>
                          <a:cs typeface="Arial"/>
                        </a:rPr>
                        <a:t>Feature group</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Measured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Synthetic run</a:t>
                      </a:r>
                    </a:p>
                  </a:txBody>
                  <a:tcPr marL="85725" marR="85725" marT="76200" marB="76200" anchor="ctr">
                    <a:solidFill>
                      <a:srgbClr val="002B5E"/>
                    </a:solidFill>
                  </a:tcPr>
                </a:tc>
              </a:tr>
              <a:tr h="547688">
                <a:tc>
                  <a:txBody>
                    <a:bodyPr>
                      <a:noAutofit/>
                    </a:bodyPr>
                    <a:lstStyle/>
                    <a:p>
                      <a:pPr algn="l"/>
                      <a:r>
                        <a:rPr sz="1350" b="1">
                          <a:solidFill>
                            <a:srgbClr val="263645"/>
                          </a:solidFill>
                          <a:latin typeface="Arial"/>
                          <a:ea typeface="Arial"/>
                          <a:cs typeface="Arial"/>
                        </a:rPr>
                        <a:t>Film and process state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Concentration</a:t>
                      </a:r>
                    </a:p>
                    <a:p>
                      <a:pPr algn="ctr"/>
                      <a:r>
                        <a:rPr sz="1350" b="0">
                          <a:solidFill>
                            <a:srgbClr val="263645"/>
                          </a:solidFill>
                          <a:latin typeface="Arial"/>
                          <a:ea typeface="Arial"/>
                          <a:cs typeface="Arial"/>
                        </a:rPr>
                        <a:t>Uncoated layer</a:t>
                      </a:r>
                    </a:p>
                    <a:p>
                      <a:pPr algn="ctr"/>
                      <a:r>
                        <a:rPr sz="1350" b="0">
                          <a:solidFill>
                            <a:srgbClr val="263645"/>
                          </a:solidFill>
                          <a:latin typeface="Arial"/>
                          <a:ea typeface="Arial"/>
                          <a:cs typeface="Arial"/>
                        </a:rPr>
                        <a:t>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Same three measured-state inputs</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Solvent descriptors</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Unavailable in the</a:t>
                      </a:r>
                    </a:p>
                    <a:p>
                      <a:pPr algn="ctr"/>
                      <a:r>
                        <a:rPr sz="1350" b="0">
                          <a:solidFill>
                            <a:srgbClr val="263645"/>
                          </a:solidFill>
                          <a:latin typeface="Arial"/>
                          <a:ea typeface="Arial"/>
                          <a:cs typeface="Arial"/>
                        </a:rPr>
                        <a:t>four-column workbook</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Polarity, viscosity</a:t>
                      </a:r>
                    </a:p>
                    <a:p>
                      <a:pPr algn="ctr"/>
                      <a:r>
                        <a:rPr sz="1350" b="0">
                          <a:solidFill>
                            <a:srgbClr val="263645"/>
                          </a:solidFill>
                          <a:latin typeface="Arial"/>
                          <a:ea typeface="Arial"/>
                          <a:cs typeface="Arial"/>
                        </a:rPr>
                        <a:t>Boiling point, surface tension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Concentration transform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Input scaling</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Output</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2DCC5EE3-BFC2-4CFA-AF72-88F451592D63}"/>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Confirm concentration units and measurement timing before mechanistic interpretation</a:t>
            </a:r>
          </a:p>
        </p:txBody>
      </p:sp>
    </p:spTree>
    <p:extLst>
      <p:ext uri="{BB962C8B-B14F-4D97-AF65-F5344CB8AC3E}">
        <p14:creationId xmlns:p14="http://schemas.microsoft.com/office/powerpoint/2010/main" val="13828018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footer-date">
            <a:extLst xmlns:a="http://schemas.openxmlformats.org/drawingml/2006/main">
              <a:ext uri="{FF2B5EF4-FFF2-40B4-BE49-F238E27FC236}">
                <a16:creationId xmlns:a16="http://schemas.microsoft.com/office/drawing/2014/main" id="{CF76D794-37A7-4946-ACF3-71D6C474783E}"/>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8217F89D-A0F8-482A-A1A3-133A94B36F0D}"/>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6</a:t>
            </a:r>
          </a:p>
        </p:txBody>
      </p:sp>
      <p:sp>
        <p:nvSpPr>
          <p:cNvPr id="3" name="slide-title">
            <a:extLst xmlns:a="http://schemas.openxmlformats.org/drawingml/2006/main">
              <a:ext uri="{FF2B5EF4-FFF2-40B4-BE49-F238E27FC236}">
                <a16:creationId xmlns:a16="http://schemas.microsoft.com/office/drawing/2014/main" id="{24018924-7AE9-47BE-9E63-143943C8EEE3}"/>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Compact network and bounded bonded thickness</a:t>
            </a:r>
          </a:p>
        </p:txBody>
      </p:sp>
      <p:sp>
        <p:nvSpPr>
          <p:cNvPr id="4" name="divider">
            <a:extLst xmlns:a="http://schemas.openxmlformats.org/drawingml/2006/main">
              <a:ext uri="{FF2B5EF4-FFF2-40B4-BE49-F238E27FC236}">
                <a16:creationId xmlns:a16="http://schemas.microsoft.com/office/drawing/2014/main" id="{0A96379B-B546-488F-AC98-A8EF29E31FBD}"/>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5" name="Rectangle 4">
            <a:extLst xmlns:a="http://schemas.openxmlformats.org/drawingml/2006/main">
              <a:ext uri="{FF2B5EF4-FFF2-40B4-BE49-F238E27FC236}">
                <a16:creationId xmlns:a16="http://schemas.microsoft.com/office/drawing/2014/main" id="{FB5EAE18-3C6E-4F72-BBA4-42AEC603C65C}"/>
              </a:ext>
            </a:extLst>
          </p:cNvPr>
          <p:cNvSpPr>
            <a:spLocks xmlns:a="http://schemas.openxmlformats.org/drawingml/2006/main" noGrp="1"/>
          </p:cNvSpPr>
          <p:nvPr/>
        </p:nvSpPr>
        <p:spPr>
          <a:xfrm xmlns:a="http://schemas.openxmlformats.org/drawingml/2006/main">
            <a:off x="666750" y="16573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875" b="1" i="0">
                <a:solidFill>
                  <a:srgbClr val="948151"/>
                </a:solidFill>
                <a:latin typeface="Arial"/>
                <a:ea typeface="Arial"/>
                <a:cs typeface="Arial"/>
              </a:defRPr>
            </a:pPr>
            <a:r>
              <a:rPr sz="1875" b="1" i="0">
                <a:solidFill>
                  <a:srgbClr val="948151"/>
                </a:solidFill>
                <a:latin typeface="Arial"/>
                <a:ea typeface="Arial"/>
                <a:cs typeface="Arial"/>
              </a:rPr>
              <a:t>ĥB = hT × sigmoid(fθ(x))</a:t>
            </a:r>
          </a:p>
        </p:txBody>
      </p:sp>
      <p:sp>
        <p:nvSpPr>
          <p:cNvPr id="6" name="Rectangle 5">
            <a:extLst xmlns:a="http://schemas.openxmlformats.org/drawingml/2006/main">
              <a:ext uri="{FF2B5EF4-FFF2-40B4-BE49-F238E27FC236}">
                <a16:creationId xmlns:a16="http://schemas.microsoft.com/office/drawing/2014/main" id="{826C97BC-B332-4768-9D0A-0482813AD0B8}"/>
              </a:ext>
            </a:extLst>
          </p:cNvPr>
          <p:cNvSpPr>
            <a:spLocks xmlns:a="http://schemas.openxmlformats.org/drawingml/2006/main" noGrp="1"/>
          </p:cNvSpPr>
          <p:nvPr/>
        </p:nvSpPr>
        <p:spPr>
          <a:xfrm xmlns:a="http://schemas.openxmlformats.org/drawingml/2006/main">
            <a:off x="876300" y="2857500"/>
            <a:ext cx="1219200" cy="685800"/>
          </a:xfrm>
          <a:prstGeom xmlns:a="http://schemas.openxmlformats.org/drawingml/2006/main" prst="rect">
            <a:avLst/>
          </a:prstGeom>
          <a:solidFill xmlns:a="http://schemas.openxmlformats.org/drawingml/2006/main">
            <a:srgbClr val="E7EEF4"/>
          </a:solidFill>
          <a:ln xmlns:a="http://schemas.openxmlformats.org/drawingml/2006/main" w="13335">
            <a:solidFill>
              <a:srgbClr val="6F8FAE"/>
            </a:solidFill>
            <a:prstDash val="solid"/>
          </a:ln>
        </p:spPr>
      </p:sp>
      <p:sp>
        <p:nvSpPr>
          <p:cNvPr id="7" name="Rectangle 6">
            <a:extLst xmlns:a="http://schemas.openxmlformats.org/drawingml/2006/main">
              <a:ext uri="{FF2B5EF4-FFF2-40B4-BE49-F238E27FC236}">
                <a16:creationId xmlns:a16="http://schemas.microsoft.com/office/drawing/2014/main" id="{3E40A558-39C2-4641-8C45-B6205D3A62AC}"/>
              </a:ext>
            </a:extLst>
          </p:cNvPr>
          <p:cNvSpPr>
            <a:spLocks xmlns:a="http://schemas.openxmlformats.org/drawingml/2006/main" noGrp="1"/>
          </p:cNvSpPr>
          <p:nvPr/>
        </p:nvSpPr>
        <p:spPr>
          <a:xfrm xmlns:a="http://schemas.openxmlformats.org/drawingml/2006/main">
            <a:off x="1000125" y="300990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3 or 7</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inputs</a:t>
            </a:r>
          </a:p>
        </p:txBody>
      </p:sp>
      <p:sp>
        <p:nvSpPr>
          <p:cNvPr id="8" name="Rectangle 7">
            <a:extLst xmlns:a="http://schemas.openxmlformats.org/drawingml/2006/main">
              <a:ext uri="{FF2B5EF4-FFF2-40B4-BE49-F238E27FC236}">
                <a16:creationId xmlns:a16="http://schemas.microsoft.com/office/drawing/2014/main" id="{1600DCEA-29A9-4388-8B18-84EE0EA04870}"/>
              </a:ext>
            </a:extLst>
          </p:cNvPr>
          <p:cNvSpPr>
            <a:spLocks xmlns:a="http://schemas.openxmlformats.org/drawingml/2006/main" noGrp="1"/>
          </p:cNvSpPr>
          <p:nvPr/>
        </p:nvSpPr>
        <p:spPr>
          <a:xfrm xmlns:a="http://schemas.openxmlformats.org/drawingml/2006/main">
            <a:off x="2724150" y="2857500"/>
            <a:ext cx="1428750" cy="685800"/>
          </a:xfrm>
          <a:prstGeom xmlns:a="http://schemas.openxmlformats.org/drawingml/2006/main" prst="rect">
            <a:avLst/>
          </a:prstGeom>
          <a:solidFill xmlns:a="http://schemas.openxmlformats.org/drawingml/2006/main">
            <a:srgbClr val="F3ECD6"/>
          </a:solidFill>
          <a:ln xmlns:a="http://schemas.openxmlformats.org/drawingml/2006/main" w="13335">
            <a:solidFill>
              <a:srgbClr val="B49A45"/>
            </a:solidFill>
            <a:prstDash val="solid"/>
          </a:ln>
        </p:spPr>
      </p:sp>
      <p:sp>
        <p:nvSpPr>
          <p:cNvPr id="9" name="Rectangle 8">
            <a:extLst xmlns:a="http://schemas.openxmlformats.org/drawingml/2006/main">
              <a:ext uri="{FF2B5EF4-FFF2-40B4-BE49-F238E27FC236}">
                <a16:creationId xmlns:a16="http://schemas.microsoft.com/office/drawing/2014/main" id="{87704CB8-997F-42DF-A5EB-0233641C95DB}"/>
              </a:ext>
            </a:extLst>
          </p:cNvPr>
          <p:cNvSpPr>
            <a:spLocks xmlns:a="http://schemas.openxmlformats.org/drawingml/2006/main" noGrp="1"/>
          </p:cNvSpPr>
          <p:nvPr/>
        </p:nvSpPr>
        <p:spPr>
          <a:xfrm xmlns:a="http://schemas.openxmlformats.org/drawingml/2006/main">
            <a:off x="2857500" y="300990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16 + 16</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tanh</a:t>
            </a:r>
          </a:p>
        </p:txBody>
      </p:sp>
      <p:sp>
        <p:nvSpPr>
          <p:cNvPr id="10" name="Rectangle 9">
            <a:extLst xmlns:a="http://schemas.openxmlformats.org/drawingml/2006/main">
              <a:ext uri="{FF2B5EF4-FFF2-40B4-BE49-F238E27FC236}">
                <a16:creationId xmlns:a16="http://schemas.microsoft.com/office/drawing/2014/main" id="{8734C580-2DB8-4F31-895D-5F3D2071568A}"/>
              </a:ext>
            </a:extLst>
          </p:cNvPr>
          <p:cNvSpPr>
            <a:spLocks xmlns:a="http://schemas.openxmlformats.org/drawingml/2006/main" noGrp="1"/>
          </p:cNvSpPr>
          <p:nvPr/>
        </p:nvSpPr>
        <p:spPr>
          <a:xfrm xmlns:a="http://schemas.openxmlformats.org/drawingml/2006/main">
            <a:off x="2724150" y="4362450"/>
            <a:ext cx="142875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002B5E"/>
            </a:solidFill>
            <a:prstDash val="solid"/>
          </a:ln>
        </p:spPr>
      </p:sp>
      <p:sp>
        <p:nvSpPr>
          <p:cNvPr id="11" name="Rectangle 10">
            <a:extLst xmlns:a="http://schemas.openxmlformats.org/drawingml/2006/main">
              <a:ext uri="{FF2B5EF4-FFF2-40B4-BE49-F238E27FC236}">
                <a16:creationId xmlns:a16="http://schemas.microsoft.com/office/drawing/2014/main" id="{3CD824CD-9C99-4200-B998-BC23930371B4}"/>
              </a:ext>
            </a:extLst>
          </p:cNvPr>
          <p:cNvSpPr>
            <a:spLocks xmlns:a="http://schemas.openxmlformats.org/drawingml/2006/main" noGrp="1"/>
          </p:cNvSpPr>
          <p:nvPr/>
        </p:nvSpPr>
        <p:spPr>
          <a:xfrm xmlns:a="http://schemas.openxmlformats.org/drawingml/2006/main">
            <a:off x="2857500" y="451485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Bounded</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bonded hB</a:t>
            </a:r>
          </a:p>
        </p:txBody>
      </p:sp>
      <p:sp>
        <p:nvSpPr>
          <p:cNvPr id="12" name="Rectangle 11">
            <a:extLst xmlns:a="http://schemas.openxmlformats.org/drawingml/2006/main">
              <a:ext uri="{FF2B5EF4-FFF2-40B4-BE49-F238E27FC236}">
                <a16:creationId xmlns:a16="http://schemas.microsoft.com/office/drawing/2014/main" id="{4E5EB609-2D49-47D1-BC60-9ACADBD1E3B5}"/>
              </a:ext>
            </a:extLst>
          </p:cNvPr>
          <p:cNvSpPr>
            <a:spLocks xmlns:a="http://schemas.openxmlformats.org/drawingml/2006/main" noGrp="1"/>
          </p:cNvSpPr>
          <p:nvPr/>
        </p:nvSpPr>
        <p:spPr>
          <a:xfrm xmlns:a="http://schemas.openxmlformats.org/drawingml/2006/main">
            <a:off x="876300" y="4362450"/>
            <a:ext cx="121920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B49A45"/>
            </a:solidFill>
            <a:prstDash val="dash"/>
          </a:ln>
        </p:spPr>
      </p:sp>
      <p:sp>
        <p:nvSpPr>
          <p:cNvPr id="13" name="Rectangle 12">
            <a:extLst xmlns:a="http://schemas.openxmlformats.org/drawingml/2006/main">
              <a:ext uri="{FF2B5EF4-FFF2-40B4-BE49-F238E27FC236}">
                <a16:creationId xmlns:a16="http://schemas.microsoft.com/office/drawing/2014/main" id="{6DA9103C-6092-45CE-B330-24A2725E06E7}"/>
              </a:ext>
            </a:extLst>
          </p:cNvPr>
          <p:cNvSpPr>
            <a:spLocks xmlns:a="http://schemas.openxmlformats.org/drawingml/2006/main" noGrp="1"/>
          </p:cNvSpPr>
          <p:nvPr/>
        </p:nvSpPr>
        <p:spPr>
          <a:xfrm xmlns:a="http://schemas.openxmlformats.org/drawingml/2006/main">
            <a:off x="1000125" y="451485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Derivative</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penalties</a:t>
            </a:r>
          </a:p>
        </p:txBody>
      </p:sp>
      <p:cxnSp>
        <p:nvCxnSpPr>
          <p:cNvPr id="34" name="Straight Arrow Connector 33">
            <a:extLst xmlns:a="http://schemas.openxmlformats.org/drawingml/2006/main">
              <a:ext uri="{FF2B5EF4-FFF2-40B4-BE49-F238E27FC236}">
                <a16:creationId xmlns:a16="http://schemas.microsoft.com/office/drawing/2014/main" id="{EAA8D7A9-1071-4987-ADB4-47420DC22D0D}"/>
              </a:ext>
            </a:extLst>
          </p:cNvPr>
          <p:cNvCxnSpPr>
            <a:stCxn xmlns:a="http://schemas.openxmlformats.org/drawingml/2006/main" id="6" idx="3"/>
            <a:endCxn xmlns:a="http://schemas.openxmlformats.org/drawingml/2006/main" id="8" idx="1"/>
          </p:cNvCxnSpPr>
          <p:nvPr/>
        </p:nvCxnSpPr>
        <p:spPr>
          <a:xfrm xmlns:a="http://schemas.openxmlformats.org/drawingml/2006/main">
            <a:off x="2095500" y="3200400"/>
            <a:ext cx="628650" cy="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5" name="Straight Arrow Connector 34">
            <a:extLst xmlns:a="http://schemas.openxmlformats.org/drawingml/2006/main">
              <a:ext uri="{FF2B5EF4-FFF2-40B4-BE49-F238E27FC236}">
                <a16:creationId xmlns:a16="http://schemas.microsoft.com/office/drawing/2014/main" id="{8F7962ED-4E4D-417E-A356-00EA745FEE5C}"/>
              </a:ext>
            </a:extLst>
          </p:cNvPr>
          <p:cNvCxnSpPr>
            <a:stCxn xmlns:a="http://schemas.openxmlformats.org/drawingml/2006/main" id="8" idx="2"/>
            <a:endCxn xmlns:a="http://schemas.openxmlformats.org/drawingml/2006/main" id="10" idx="0"/>
          </p:cNvCxnSpPr>
          <p:nvPr/>
        </p:nvCxnSpPr>
        <p:spPr>
          <a:xfrm xmlns:a="http://schemas.openxmlformats.org/drawingml/2006/main">
            <a:off x="3438525" y="3543300"/>
            <a:ext cx="0" cy="81915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6" name="Connector: Elbow 35">
            <a:extLst xmlns:a="http://schemas.openxmlformats.org/drawingml/2006/main">
              <a:ext uri="{FF2B5EF4-FFF2-40B4-BE49-F238E27FC236}">
                <a16:creationId xmlns:a16="http://schemas.microsoft.com/office/drawing/2014/main" id="{AF6537E2-A2C5-46A8-B7CB-F65BEA9567EF}"/>
              </a:ext>
            </a:extLst>
          </p:cNvPr>
          <p:cNvCxnSpPr>
            <a:stCxn xmlns:a="http://schemas.openxmlformats.org/drawingml/2006/main" id="12" idx="3"/>
            <a:endCxn xmlns:a="http://schemas.openxmlformats.org/drawingml/2006/main" id="8" idx="1"/>
          </p:cNvCxnSpPr>
          <p:nvPr/>
        </p:nvCxnSpPr>
        <p:spPr>
          <a:xfrm xmlns:a="http://schemas.openxmlformats.org/drawingml/2006/main" flipV="1">
            <a:off x="2095500" y="3200400"/>
            <a:ext cx="628650" cy="1504950"/>
          </a:xfrm>
          <a:prstGeom xmlns:a="http://schemas.openxmlformats.org/drawingml/2006/main" prst="bentConnector3">
            <a:avLst>
              <a:gd name="adj1" fmla="val 50000"/>
            </a:avLst>
          </a:prstGeom>
          <a:ln xmlns:a="http://schemas.openxmlformats.org/drawingml/2006/main" w="19050">
            <a:solidFill>
              <a:srgbClr val="B49A45"/>
            </a:solidFill>
            <a:prstDash val="dash"/>
            <a:tailEnd type="triangle" w="sm" len="sm"/>
          </a:ln>
        </p:spPr>
      </p:cxnSp>
      <p:sp>
        <p:nvSpPr>
          <p:cNvPr id="17" name="Rectangle 16">
            <a:extLst xmlns:a="http://schemas.openxmlformats.org/drawingml/2006/main">
              <a:ext uri="{FF2B5EF4-FFF2-40B4-BE49-F238E27FC236}">
                <a16:creationId xmlns:a16="http://schemas.microsoft.com/office/drawing/2014/main" id="{4708052E-8B54-4960-93F8-494E8EFA8AF3}"/>
              </a:ext>
            </a:extLst>
          </p:cNvPr>
          <p:cNvSpPr>
            <a:spLocks xmlns:a="http://schemas.openxmlformats.org/drawingml/2006/main" noGrp="1"/>
          </p:cNvSpPr>
          <p:nvPr/>
        </p:nvSpPr>
        <p:spPr>
          <a:xfrm xmlns:a="http://schemas.openxmlformats.org/drawingml/2006/main">
            <a:off x="5334000" y="23241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NETWORK DETAILS</a:t>
            </a:r>
          </a:p>
        </p:txBody>
      </p:sp>
      <p:sp>
        <p:nvSpPr>
          <p:cNvPr id="18" name="Rectangle 17">
            <a:extLst xmlns:a="http://schemas.openxmlformats.org/drawingml/2006/main">
              <a:ext uri="{FF2B5EF4-FFF2-40B4-BE49-F238E27FC236}">
                <a16:creationId xmlns:a16="http://schemas.microsoft.com/office/drawing/2014/main" id="{96D72E43-7F64-4535-9365-A9B8FAC0747F}"/>
              </a:ext>
            </a:extLst>
          </p:cNvPr>
          <p:cNvSpPr>
            <a:spLocks xmlns:a="http://schemas.openxmlformats.org/drawingml/2006/main" noGrp="1"/>
          </p:cNvSpPr>
          <p:nvPr/>
        </p:nvSpPr>
        <p:spPr>
          <a:xfrm xmlns:a="http://schemas.openxmlformats.org/drawingml/2006/main">
            <a:off x="5295900" y="26860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Two hidden layers, 16 units each</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One output logit</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353 parameters with three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417 parameters with seven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Tanh supports second derivatives</a:t>
            </a:r>
          </a:p>
        </p:txBody>
      </p:sp>
      <p:sp>
        <p:nvSpPr>
          <p:cNvPr id="19" name="Rectangle 18">
            <a:extLst xmlns:a="http://schemas.openxmlformats.org/drawingml/2006/main">
              <a:ext uri="{FF2B5EF4-FFF2-40B4-BE49-F238E27FC236}">
                <a16:creationId xmlns:a16="http://schemas.microsoft.com/office/drawing/2014/main" id="{8E844AF4-0B56-4FDD-B1FD-5D723EC590B8}"/>
              </a:ext>
            </a:extLst>
          </p:cNvPr>
          <p:cNvSpPr>
            <a:spLocks xmlns:a="http://schemas.openxmlformats.org/drawingml/2006/main" noGrp="1"/>
          </p:cNvSpPr>
          <p:nvPr/>
        </p:nvSpPr>
        <p:spPr>
          <a:xfrm xmlns:a="http://schemas.openxmlformats.org/drawingml/2006/main">
            <a:off x="5334000" y="5219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PHYSICAL OUTPUT</a:t>
            </a:r>
          </a:p>
        </p:txBody>
      </p:sp>
      <p:sp>
        <p:nvSpPr>
          <p:cNvPr id="20" name="Rectangle 19">
            <a:extLst xmlns:a="http://schemas.openxmlformats.org/drawingml/2006/main">
              <a:ext uri="{FF2B5EF4-FFF2-40B4-BE49-F238E27FC236}">
                <a16:creationId xmlns:a16="http://schemas.microsoft.com/office/drawing/2014/main" id="{951FF5F5-8727-4E13-902F-1923331131FD}"/>
              </a:ext>
            </a:extLst>
          </p:cNvPr>
          <p:cNvSpPr>
            <a:spLocks xmlns:a="http://schemas.openxmlformats.org/drawingml/2006/main" noGrp="1"/>
          </p:cNvSpPr>
          <p:nvPr/>
        </p:nvSpPr>
        <p:spPr>
          <a:xfrm xmlns:a="http://schemas.openxmlformats.org/drawingml/2006/main">
            <a:off x="5314950" y="552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350" b="0" i="0">
                <a:solidFill>
                  <a:srgbClr val="263645"/>
                </a:solidFill>
                <a:latin typeface="Arial"/>
                <a:ea typeface="Arial"/>
                <a:cs typeface="Arial"/>
              </a:defRPr>
            </a:pPr>
            <a:r>
              <a:rPr sz="1350" b="0" i="0">
                <a:solidFill>
                  <a:srgbClr val="263645"/>
                </a:solidFill>
                <a:latin typeface="Arial"/>
                <a:ea typeface="Arial"/>
                <a:cs typeface="Arial"/>
              </a:rPr>
              <a:t>0 ≤ ĥB ≤ measured hT</a:t>
            </a:r>
          </a:p>
          <a:p xmlns:a="http://schemas.openxmlformats.org/drawingml/2006/main">
            <a:pPr algn="l">
              <a:lnSpc>
                <a:spcPct val="105000"/>
              </a:lnSpc>
              <a:buNone/>
              <a:defRPr sz="1350" b="0" i="0">
                <a:solidFill>
                  <a:srgbClr val="263645"/>
                </a:solidFill>
                <a:latin typeface="Arial"/>
                <a:ea typeface="Arial"/>
                <a:cs typeface="Arial"/>
              </a:defRPr>
            </a:pPr>
            <a:r>
              <a:rPr sz="1350" b="0" i="0">
                <a:solidFill>
                  <a:srgbClr val="263645"/>
                </a:solidFill>
                <a:latin typeface="Arial"/>
                <a:ea typeface="Arial"/>
                <a:cs typeface="Arial"/>
              </a:rPr>
              <a:t>Raw total thickness defines the bound</a:t>
            </a:r>
          </a:p>
        </p:txBody>
      </p:sp>
    </p:spTree>
    <p:extLst>
      <p:ext uri="{BB962C8B-B14F-4D97-AF65-F5344CB8AC3E}">
        <p14:creationId xmlns:p14="http://schemas.microsoft.com/office/powerpoint/2010/main" val="13828018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7</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Loss terms and initial coefficients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57C23B88-8098-480B-A943-65582EA53B45}"/>
              </a:ext>
            </a:extLst>
          </p:cNvPr>
          <p:cNvSpPr>
            <a:spLocks xmlns:a="http://schemas.openxmlformats.org/drawingml/2006/main" noGrp="1"/>
          </p:cNvSpPr>
          <p:nvPr/>
        </p:nvSpPr>
        <p:spPr>
          <a:xfrm xmlns:a="http://schemas.openxmlformats.org/drawingml/2006/main">
            <a:off x="704850" y="1666875"/>
            <a:ext cx="7734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48151"/>
                </a:solidFill>
                <a:latin typeface="Arial"/>
                <a:ea typeface="Arial"/>
                <a:cs typeface="Arial"/>
              </a:defRPr>
            </a:defPPr>
          </a:lstStyle>
          <a:p xmlns:a="http://schemas.openxmlformats.org/drawingml/2006/main">
            <a:pPr algn="ctr">
              <a:defRPr sz="1875" b="1">
                <a:solidFill>
                  <a:srgbClr val="948151"/>
                </a:solidFill>
                <a:latin typeface="Arial"/>
                <a:ea typeface="Arial"/>
                <a:cs typeface="Arial"/>
              </a:defRPr>
            </a:pPr>
            <a:r>
              <a:rPr sz="1875" b="1">
                <a:solidFill>
                  <a:srgbClr val="948151"/>
                </a:solidFill>
                <a:latin typeface="Arial"/>
                <a:ea typeface="Arial"/>
                <a:cs typeface="Arial"/>
              </a:rPr>
              <a:t>L = Ldata + λs Lsmooth + λm Lmono + λv Lvelocity + λh LLLD</a:t>
            </a:r>
          </a:p>
        </p:txBody>
      </p:sp>
      <p:graphicFrame>
        <p:nvGraphicFramePr>
          <p:cNvPr id="14" name="">
            <a:extLst xmlns:a="http://schemas.openxmlformats.org/drawingml/2006/main">
              <a:ext uri="{FF2B5EF4-FFF2-40B4-BE49-F238E27FC236}">
                <a16:creationId xmlns:a16="http://schemas.microsoft.com/office/drawing/2014/main" id="{8B3048D3-E9F3-4BF0-BB8A-D084CE9A29E3}"/>
              </a:ext>
            </a:extLst>
          </p:cNvPr>
          <p:cNvGraphicFramePr/>
          <p:nvPr/>
        </p:nvGraphicFramePr>
        <p:xfrm>
          <a:off xmlns:a="http://schemas.openxmlformats.org/drawingml/2006/main" x="571500" y="2324100"/>
          <a:ext xmlns:a="http://schemas.openxmlformats.org/drawingml/2006/main" cx="8001000" cy="3133725"/>
        </p:xfrm>
        <a:graphic xmlns:a="http://schemas.openxmlformats.org/drawingml/2006/main">
          <a:graphicData uri="http://schemas.openxmlformats.org/drawingml/2006/table">
            <a:tbl>
              <a:tblPr/>
              <a:tblGrid>
                <a:gridCol w="1476375"/>
                <a:gridCol w="4810125"/>
                <a:gridCol w="1714500"/>
              </a:tblGrid>
              <a:tr h="522288">
                <a:tc>
                  <a:txBody>
                    <a:bodyPr>
                      <a:noAutofit/>
                    </a:bodyPr>
                    <a:lstStyle/>
                    <a:p>
                      <a:pPr algn="l"/>
                      <a:r>
                        <a:rPr sz="1275" b="1">
                          <a:solidFill>
                            <a:srgbClr val="FFFFFF"/>
                          </a:solidFill>
                          <a:latin typeface="Arial"/>
                          <a:ea typeface="Arial"/>
                          <a:cs typeface="Arial"/>
                        </a:rPr>
                        <a:t>Term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Definition or behavior</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coefficient</a:t>
                      </a:r>
                    </a:p>
                  </a:txBody>
                  <a:tcPr marL="85725" marR="85725" marT="76200" marB="76200" anchor="ctr">
                    <a:solidFill>
                      <a:srgbClr val="002B5E"/>
                    </a:solidFill>
                  </a:tcPr>
                </a:tc>
              </a:tr>
              <a:tr h="522288">
                <a:tc>
                  <a:txBody>
                    <a:bodyPr>
                      <a:noAutofit/>
                    </a:bodyPr>
                    <a:lstStyle/>
                    <a:p>
                      <a:pPr algn="l"/>
                      <a:r>
                        <a:rPr sz="1275" b="1">
                          <a:solidFill>
                            <a:srgbClr val="263645"/>
                          </a:solidFill>
                          <a:latin typeface="Arial"/>
                          <a:ea typeface="Arial"/>
                          <a:cs typeface="Arial"/>
                        </a:rPr>
                        <a:t>Data</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Mean squared error in bonded thickness</a:t>
                      </a:r>
                    </a:p>
                    <a:p>
                      <a:pPr algn="ctr"/>
                      <a:r>
                        <a:rPr sz="1275" b="0">
                          <a:solidFill>
                            <a:srgbClr val="263645"/>
                          </a:solidFill>
                          <a:latin typeface="Arial"/>
                          <a:ea typeface="Arial"/>
                          <a:cs typeface="Arial"/>
                        </a:rPr>
                        <a:t>Normalize by training target standard deviation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Mean squared diagonal second derivative</a:t>
                      </a:r>
                    </a:p>
                    <a:p>
                      <a:pPr algn="ctr"/>
                      <a:r>
                        <a:rPr sz="1275" b="0">
                          <a:solidFill>
                            <a:srgbClr val="263645"/>
                          </a:solidFill>
                          <a:latin typeface="Arial"/>
                          <a:ea typeface="Arial"/>
                          <a:cs typeface="Arial"/>
                        </a:rPr>
                        <a:t>With respect to standardized transformed inputs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Monotonicity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Penalize partial derivatives with the wrong sign</a:t>
                      </a:r>
                    </a:p>
                    <a:p>
                      <a:pPr algn="ctr"/>
                      <a:r>
                        <a:rPr sz="1275" b="0">
                          <a:solidFill>
                            <a:srgbClr val="263645"/>
                          </a:solidFill>
                          <a:latin typeface="Arial"/>
                          <a:ea typeface="Arial"/>
                          <a:cs typeface="Arial"/>
                        </a:rPr>
                        <a:t>Separate positive-concentration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default</a:t>
                      </a:r>
                    </a:p>
                    <a:p>
                      <a:pPr algn="ctr"/>
                      <a:r>
                        <a:rPr sz="1275" b="0">
                          <a:solidFill>
                            <a:srgbClr val="263645"/>
                          </a:solidFill>
                          <a:latin typeface="Arial"/>
                          <a:ea typeface="Arial"/>
                          <a:cs typeface="Arial"/>
                        </a:rPr>
                        <a:t>0.01 ablation</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Second derivative with respect to</a:t>
                      </a:r>
                    </a:p>
                    <a:p>
                      <a:pPr algn="ctr"/>
                      <a:r>
                        <a:rPr sz="1275" b="0">
                          <a:solidFill>
                            <a:srgbClr val="263645"/>
                          </a:solidFill>
                          <a:latin typeface="Arial"/>
                          <a:ea typeface="Arial"/>
                          <a:cs typeface="Arial"/>
                        </a:rPr>
                        <a:t>measured withdrawal velocity input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LLD residual</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Compare predicted dry mobile thickness</a:t>
                      </a:r>
                    </a:p>
                    <a:p>
                      <a:pPr algn="ctr"/>
                      <a:r>
                        <a:rPr sz="1275" b="0">
                          <a:solidFill>
                            <a:srgbClr val="263645"/>
                          </a:solidFill>
                          <a:latin typeface="Arial"/>
                          <a:ea typeface="Arial"/>
                          <a:cs typeface="Arial"/>
                        </a:rPr>
                        <a:t>with the eligible hydrodynamic estimate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FFFFF"/>
                    </a:solidFill>
                  </a:tcPr>
                </a:tc>
              </a:tr>
            </a:tbl>
          </a:graphicData>
        </a:graphic>
      </p:graphicFrame>
      <p:sp>
        <p:nvSpPr>
          <p:cNvPr id="15" name="content-5">
            <a:extLst xmlns:a="http://schemas.openxmlformats.org/drawingml/2006/main">
              <a:ext uri="{FF2B5EF4-FFF2-40B4-BE49-F238E27FC236}">
                <a16:creationId xmlns:a16="http://schemas.microsoft.com/office/drawing/2014/main" id="{CF8DB722-5C85-4316-8137-15D2C6784434}"/>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hard thickness bound comes from the output transform, not a penalty weight</a:t>
            </a:r>
          </a:p>
        </p:txBody>
      </p:sp>
    </p:spTree>
    <p:extLst>
      <p:ext uri="{BB962C8B-B14F-4D97-AF65-F5344CB8AC3E}">
        <p14:creationId xmlns:p14="http://schemas.microsoft.com/office/powerpoint/2010/main" val="13828018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Status of the four proposed physics constraints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2D606CCD-8764-4B40-AAB6-3620676A421F}"/>
              </a:ext>
            </a:extLst>
          </p:cNvPr>
          <p:cNvGraphicFramePr/>
          <p:nvPr/>
        </p:nvGraphicFramePr>
        <p:xfrm>
          <a:off xmlns:a="http://schemas.openxmlformats.org/drawingml/2006/main" x="571500" y="1714500"/>
          <a:ext xmlns:a="http://schemas.openxmlformats.org/drawingml/2006/main" cx="8001000" cy="3295650"/>
        </p:xfrm>
        <a:graphic xmlns:a="http://schemas.openxmlformats.org/drawingml/2006/main">
          <a:graphicData uri="http://schemas.openxmlformats.org/drawingml/2006/table">
            <a:tbl>
              <a:tblPr/>
              <a:tblGrid>
                <a:gridCol w="1952625"/>
                <a:gridCol w="2952750"/>
                <a:gridCol w="3095625"/>
              </a:tblGrid>
              <a:tr h="659130">
                <a:tc>
                  <a:txBody>
                    <a:bodyPr>
                      <a:noAutofit/>
                    </a:bodyPr>
                    <a:lstStyle/>
                    <a:p>
                      <a:pPr algn="l"/>
                      <a:r>
                        <a:rPr sz="1275" b="1">
                          <a:solidFill>
                            <a:srgbClr val="FFFFFF"/>
                          </a:solidFill>
                          <a:latin typeface="Arial"/>
                          <a:ea typeface="Arial"/>
                          <a:cs typeface="Arial"/>
                        </a:rPr>
                        <a:t>Constraint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Current status</a:t>
                      </a:r>
                    </a:p>
                  </a:txBody>
                  <a:tcPr marL="85725" marR="85725" marT="76200" marB="76200" anchor="ctr">
                    <a:solidFill>
                      <a:srgbClr val="002B5E"/>
                    </a:solidFill>
                  </a:tcPr>
                </a:tc>
              </a:tr>
              <a:tr h="659130">
                <a:tc>
                  <a:txBody>
                    <a:bodyPr>
                      <a:noAutofit/>
                    </a:bodyPr>
                    <a:lstStyle/>
                    <a:p>
                      <a:pPr algn="l"/>
                      <a:r>
                        <a:rPr sz="1275" b="1">
                          <a:solidFill>
                            <a:srgbClr val="263645"/>
                          </a:solidFill>
                          <a:latin typeface="Arial"/>
                          <a:ea typeface="Arial"/>
                          <a:cs typeface="Arial"/>
                        </a:rPr>
                        <a:t>Bonded ≤ total</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Sigmoid output multiplied</a:t>
                      </a:r>
                    </a:p>
                    <a:p>
                      <a:pPr algn="ctr"/>
                      <a:r>
                        <a:rPr sz="1275" b="0">
                          <a:solidFill>
                            <a:srgbClr val="263645"/>
                          </a:solidFill>
                          <a:latin typeface="Arial"/>
                          <a:ea typeface="Arial"/>
                          <a:cs typeface="Arial"/>
                        </a:rPr>
                        <a:t>by measured total thickness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ACTIVE</a:t>
                      </a:r>
                    </a:p>
                    <a:p>
                      <a:pPr algn="ctr"/>
                      <a:r>
                        <a:rPr sz="1275" b="0">
                          <a:solidFill>
                            <a:srgbClr val="263645"/>
                          </a:solidFill>
                          <a:latin typeface="Arial"/>
                          <a:ea typeface="Arial"/>
                          <a:cs typeface="Arial"/>
                        </a:rPr>
                        <a:t>Hard guarantee</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Velocity smoothness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Penalty on 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AVAILABLE</a:t>
                      </a:r>
                    </a:p>
                    <a:p>
                      <a:pPr algn="ctr"/>
                      <a:r>
                        <a:rPr sz="1275" b="0">
                          <a:solidFill>
                            <a:srgbClr val="263645"/>
                          </a:solidFill>
                          <a:latin typeface="Arial"/>
                          <a:ea typeface="Arial"/>
                          <a:cs typeface="Arial"/>
                        </a:rPr>
                        <a:t>No measured velocity in current tables</a:t>
                      </a:r>
                    </a:p>
                  </a:txBody>
                  <a:tcPr marL="85725" marR="85725" marT="76200" marB="76200" anchor="ctr">
                    <a:solidFill>
                      <a:srgbClr val="F7F5EF"/>
                    </a:solidFill>
                  </a:tcPr>
                </a:tc>
              </a:tr>
              <a:tr h="659130">
                <a:tc>
                  <a:txBody>
                    <a:bodyPr>
                      <a:noAutofit/>
                    </a:bodyPr>
                    <a:lstStyle/>
                    <a:p>
                      <a:pPr algn="l"/>
                      <a:r>
                        <a:rPr sz="1275" b="1">
                          <a:solidFill>
                            <a:srgbClr val="263645"/>
                          </a:solidFill>
                          <a:latin typeface="Arial"/>
                          <a:ea typeface="Arial"/>
                          <a:cs typeface="Arial"/>
                        </a:rPr>
                        <a:t>Monotonic trends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Configurable derivative-sign loss</a:t>
                      </a:r>
                    </a:p>
                    <a:p>
                      <a:pPr algn="ctr"/>
                      <a:r>
                        <a:rPr sz="1275" b="0">
                          <a:solidFill>
                            <a:srgbClr val="263645"/>
                          </a:solidFill>
                          <a:latin typeface="Arial"/>
                          <a:ea typeface="Arial"/>
                          <a:cs typeface="Arial"/>
                        </a:rPr>
                        <a:t>Training-only trend diagnostics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TESTED FOR CONCENTRATION</a:t>
                      </a:r>
                    </a:p>
                    <a:p>
                      <a:pPr algn="ctr"/>
                      <a:r>
                        <a:rPr sz="1275" b="0">
                          <a:solidFill>
                            <a:srgbClr val="263645"/>
                          </a:solidFill>
                          <a:latin typeface="Arial"/>
                          <a:ea typeface="Arial"/>
                          <a:cs typeface="Arial"/>
                        </a:rPr>
                        <a:t>Viscosity remains unconstrained</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Hydrodynamic scaling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LLD residual on the dry mobile layer</a:t>
                      </a:r>
                    </a:p>
                    <a:p>
                      <a:pPr algn="ctr"/>
                      <a:r>
                        <a:rPr sz="1275" b="0">
                          <a:solidFill>
                            <a:srgbClr val="263645"/>
                          </a:solidFill>
                          <a:latin typeface="Arial"/>
                          <a:ea typeface="Arial"/>
                          <a:cs typeface="Arial"/>
                        </a:rPr>
                        <a:t>Explicit regime and conversion checks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AVAILABLE</a:t>
                      </a:r>
                    </a:p>
                    <a:p>
                      <a:pPr algn="ctr"/>
                      <a:r>
                        <a:rPr sz="1275" b="0">
                          <a:solidFill>
                            <a:srgbClr val="263645"/>
                          </a:solidFill>
                          <a:latin typeface="Arial"/>
                          <a:ea typeface="Arial"/>
                          <a:cs typeface="Arial"/>
                        </a:rPr>
                        <a:t>Required physical measurements missing</a:t>
                      </a:r>
                    </a:p>
                  </a:txBody>
                  <a:tcPr marL="85725" marR="85725" marT="76200" marB="76200" anchor="ctr">
                    <a:solidFill>
                      <a:srgbClr val="F7F5EF"/>
                    </a:solidFill>
                  </a:tcPr>
                </a:tc>
              </a:tr>
            </a:tbl>
          </a:graphicData>
        </a:graphic>
      </p:graphicFrame>
      <p:sp>
        <p:nvSpPr>
          <p:cNvPr id="14" name="content-4">
            <a:extLst xmlns:a="http://schemas.openxmlformats.org/drawingml/2006/main">
              <a:ext uri="{FF2B5EF4-FFF2-40B4-BE49-F238E27FC236}">
                <a16:creationId xmlns:a16="http://schemas.microsoft.com/office/drawing/2014/main" id="{8ED908E5-7C63-4DD7-A8B7-49048E6C541B}"/>
              </a:ext>
            </a:extLst>
          </p:cNvPr>
          <p:cNvSpPr>
            <a:spLocks xmlns:a="http://schemas.openxmlformats.org/drawingml/2006/main" noGrp="1"/>
          </p:cNvSpPr>
          <p:nvPr/>
        </p:nvSpPr>
        <p:spPr>
          <a:xfrm xmlns:a="http://schemas.openxmlformats.org/drawingml/2006/main">
            <a:off x="742950" y="5219700"/>
            <a:ext cx="766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The general curvature prior smooths the recorded inputs. It does not demonstrate smoothness in an unmeasured velocity.</a:t>
            </a:r>
          </a:p>
        </p:txBody>
      </p:sp>
      <p:sp>
        <p:nvSpPr>
          <p:cNvPr id="15" name="content-5">
            <a:extLst xmlns:a="http://schemas.openxmlformats.org/drawingml/2006/main">
              <a:ext uri="{FF2B5EF4-FFF2-40B4-BE49-F238E27FC236}">
                <a16:creationId xmlns:a16="http://schemas.microsoft.com/office/drawing/2014/main" id="{B2DEA99E-83DF-4565-A61D-5FA0C271E4E7}"/>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Implemented support and experimentally justified activation are separate decisions</a:t>
            </a:r>
          </a:p>
        </p:txBody>
      </p:sp>
    </p:spTree>
    <p:extLst>
      <p:ext uri="{BB962C8B-B14F-4D97-AF65-F5344CB8AC3E}">
        <p14:creationId xmlns:p14="http://schemas.microsoft.com/office/powerpoint/2010/main" val="13828018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Hydrodynamic residual and activation requirements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F1845D63-A9D8-4F71-9204-D2F6004A46E1}"/>
              </a:ext>
            </a:extLst>
          </p:cNvPr>
          <p:cNvSpPr>
            <a:spLocks xmlns:a="http://schemas.openxmlformats.org/drawingml/2006/main" noGrp="1"/>
          </p:cNvSpPr>
          <p:nvPr/>
        </p:nvSpPr>
        <p:spPr>
          <a:xfrm xmlns:a="http://schemas.openxmlformats.org/drawingml/2006/main">
            <a:off x="723900" y="1752600"/>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48151"/>
                </a:solidFill>
                <a:latin typeface="Arial"/>
                <a:ea typeface="Arial"/>
                <a:cs typeface="Arial"/>
              </a:defRPr>
            </a:defPPr>
          </a:lstStyle>
          <a:p xmlns:a="http://schemas.openxmlformats.org/drawingml/2006/main">
            <a:pPr algn="l">
              <a:defRPr sz="2025" b="1">
                <a:solidFill>
                  <a:srgbClr val="948151"/>
                </a:solidFill>
                <a:latin typeface="Arial"/>
                <a:ea typeface="Arial"/>
                <a:cs typeface="Arial"/>
              </a:defRPr>
            </a:pPr>
            <a:r>
              <a:rPr sz="2025" b="1">
                <a:solidFill>
                  <a:srgbClr val="948151"/>
                </a:solidFill>
                <a:latin typeface="Arial"/>
                <a:ea typeface="Arial"/>
                <a:cs typeface="Arial"/>
              </a:rPr>
              <a:t>Ca = ηU / γ</a:t>
            </a:r>
          </a:p>
        </p:txBody>
      </p:sp>
      <p:sp>
        <p:nvSpPr>
          <p:cNvPr id="14" name="content-5">
            <a:extLst xmlns:a="http://schemas.openxmlformats.org/drawingml/2006/main">
              <a:ext uri="{FF2B5EF4-FFF2-40B4-BE49-F238E27FC236}">
                <a16:creationId xmlns:a16="http://schemas.microsoft.com/office/drawing/2014/main" id="{1E7D6BC6-5031-4240-8FAF-E34E14F4E8E7}"/>
              </a:ext>
            </a:extLst>
          </p:cNvPr>
          <p:cNvSpPr>
            <a:spLocks xmlns:a="http://schemas.openxmlformats.org/drawingml/2006/main" noGrp="1"/>
          </p:cNvSpPr>
          <p:nvPr/>
        </p:nvSpPr>
        <p:spPr>
          <a:xfrm xmlns:a="http://schemas.openxmlformats.org/drawingml/2006/main">
            <a:off x="723900" y="23145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48151"/>
                </a:solidFill>
                <a:latin typeface="Arial"/>
                <a:ea typeface="Arial"/>
                <a:cs typeface="Arial"/>
              </a:defRPr>
            </a:defPPr>
          </a:lstStyle>
          <a:p xmlns:a="http://schemas.openxmlformats.org/drawingml/2006/main">
            <a:pPr algn="l">
              <a:defRPr sz="2025" b="1">
                <a:solidFill>
                  <a:srgbClr val="948151"/>
                </a:solidFill>
                <a:latin typeface="Arial"/>
                <a:ea typeface="Arial"/>
                <a:cs typeface="Arial"/>
              </a:defRPr>
            </a:pPr>
            <a:r>
              <a:rPr sz="2025" b="1">
                <a:solidFill>
                  <a:srgbClr val="948151"/>
                </a:solidFill>
                <a:latin typeface="Arial"/>
                <a:ea typeface="Arial"/>
                <a:cs typeface="Arial"/>
              </a:rPr>
              <a:t>hwet = 0.9458 √(γ / ρg) Ca^(2/3)</a:t>
            </a:r>
          </a:p>
        </p:txBody>
      </p:sp>
      <p:sp>
        <p:nvSpPr>
          <p:cNvPr id="15" name="content-6">
            <a:extLst xmlns:a="http://schemas.openxmlformats.org/drawingml/2006/main">
              <a:ext uri="{FF2B5EF4-FFF2-40B4-BE49-F238E27FC236}">
                <a16:creationId xmlns:a16="http://schemas.microsoft.com/office/drawing/2014/main" id="{9662AFC9-1301-4C11-B6CF-A4055E56438C}"/>
              </a:ext>
            </a:extLst>
          </p:cNvPr>
          <p:cNvSpPr>
            <a:spLocks xmlns:a="http://schemas.openxmlformats.org/drawingml/2006/main" noGrp="1"/>
          </p:cNvSpPr>
          <p:nvPr/>
        </p:nvSpPr>
        <p:spPr>
          <a:xfrm xmlns:a="http://schemas.openxmlformats.org/drawingml/2006/main">
            <a:off x="723900" y="29813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2B5E"/>
                </a:solidFill>
                <a:latin typeface="Arial"/>
                <a:ea typeface="Arial"/>
                <a:cs typeface="Arial"/>
              </a:defRPr>
            </a:defPPr>
          </a:lstStyle>
          <a:p xmlns:a="http://schemas.openxmlformats.org/drawingml/2006/main">
            <a:pPr algn="l">
              <a:defRPr sz="1800" b="1">
                <a:solidFill>
                  <a:srgbClr val="002B5E"/>
                </a:solidFill>
                <a:latin typeface="Arial"/>
                <a:ea typeface="Arial"/>
                <a:cs typeface="Arial"/>
              </a:defRPr>
            </a:pPr>
            <a:r>
              <a:rPr sz="1800" b="1">
                <a:solidFill>
                  <a:srgbClr val="002B5E"/>
                </a:solidFill>
                <a:latin typeface="Arial"/>
                <a:ea typeface="Arial"/>
                <a:cs typeface="Arial"/>
              </a:rPr>
              <a:t>LLLD = mean[((hT − ĥB − fdry hwet) / sy)²]</a:t>
            </a:r>
          </a:p>
        </p:txBody>
      </p:sp>
      <p:sp>
        <p:nvSpPr>
          <p:cNvPr id="16" name="content-7">
            <a:extLst xmlns:a="http://schemas.openxmlformats.org/drawingml/2006/main">
              <a:ext uri="{FF2B5EF4-FFF2-40B4-BE49-F238E27FC236}">
                <a16:creationId xmlns:a16="http://schemas.microsoft.com/office/drawing/2014/main" id="{A565C35F-C65A-4744-B490-4581E4E1382E}"/>
              </a:ext>
            </a:extLst>
          </p:cNvPr>
          <p:cNvSpPr>
            <a:spLocks xmlns:a="http://schemas.openxmlformats.org/drawingml/2006/main" noGrp="1"/>
          </p:cNvSpPr>
          <p:nvPr/>
        </p:nvSpPr>
        <p:spPr>
          <a:xfrm xmlns:a="http://schemas.openxmlformats.org/drawingml/2006/main">
            <a:off x="723900" y="36957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INPUTS</a:t>
            </a:r>
          </a:p>
        </p:txBody>
      </p:sp>
      <p:sp>
        <p:nvSpPr>
          <p:cNvPr id="17" name="content-8">
            <a:extLst xmlns:a="http://schemas.openxmlformats.org/drawingml/2006/main">
              <a:ext uri="{FF2B5EF4-FFF2-40B4-BE49-F238E27FC236}">
                <a16:creationId xmlns:a16="http://schemas.microsoft.com/office/drawing/2014/main" id="{F8246BF6-A3E3-4E7E-923D-C0B75B82E166}"/>
              </a:ext>
            </a:extLst>
          </p:cNvPr>
          <p:cNvSpPr>
            <a:spLocks xmlns:a="http://schemas.openxmlformats.org/drawingml/2006/main" noGrp="1"/>
          </p:cNvSpPr>
          <p:nvPr/>
        </p:nvSpPr>
        <p:spPr>
          <a:xfrm xmlns:a="http://schemas.openxmlformats.org/drawingml/2006/main">
            <a:off x="723900" y="4067175"/>
            <a:ext cx="3838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Velocity, solution viscosity, surface tension,</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solution density</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Independent wet-to-dry conversion factor</a:t>
            </a:r>
          </a:p>
        </p:txBody>
      </p:sp>
      <p:sp>
        <p:nvSpPr>
          <p:cNvPr id="18" name="content-9">
            <a:extLst xmlns:a="http://schemas.openxmlformats.org/drawingml/2006/main">
              <a:ext uri="{FF2B5EF4-FFF2-40B4-BE49-F238E27FC236}">
                <a16:creationId xmlns:a16="http://schemas.microsoft.com/office/drawing/2014/main" id="{B5197B10-E81D-42AC-81CB-929C5965CADA}"/>
              </a:ext>
            </a:extLst>
          </p:cNvPr>
          <p:cNvSpPr>
            <a:spLocks xmlns:a="http://schemas.openxmlformats.org/drawingml/2006/main" noGrp="1"/>
          </p:cNvSpPr>
          <p:nvPr/>
        </p:nvSpPr>
        <p:spPr>
          <a:xfrm xmlns:a="http://schemas.openxmlformats.org/drawingml/2006/main">
            <a:off x="5048250" y="36957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VALIDITY CHECKS</a:t>
            </a:r>
          </a:p>
        </p:txBody>
      </p:sp>
      <p:sp>
        <p:nvSpPr>
          <p:cNvPr id="19" name="content-10">
            <a:extLst xmlns:a="http://schemas.openxmlformats.org/drawingml/2006/main">
              <a:ext uri="{FF2B5EF4-FFF2-40B4-BE49-F238E27FC236}">
                <a16:creationId xmlns:a16="http://schemas.microsoft.com/office/drawing/2014/main" id="{CCDE4CAC-EA27-4DE0-A535-6031DA0E380D}"/>
              </a:ext>
            </a:extLst>
          </p:cNvPr>
          <p:cNvSpPr>
            <a:spLocks xmlns:a="http://schemas.openxmlformats.org/drawingml/2006/main" noGrp="1"/>
          </p:cNvSpPr>
          <p:nvPr/>
        </p:nvSpPr>
        <p:spPr>
          <a:xfrm xmlns:a="http://schemas.openxmlformats.org/drawingml/2006/main">
            <a:off x="5048250" y="4067175"/>
            <a:ext cx="3419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Flat-plate, Newtonian, eligible regime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Explicit per-row applicability flag</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Positive inputs and Ca &lt; 0.01</a:t>
            </a:r>
          </a:p>
        </p:txBody>
      </p:sp>
      <p:sp>
        <p:nvSpPr>
          <p:cNvPr id="20" name="content-11">
            <a:extLst xmlns:a="http://schemas.openxmlformats.org/drawingml/2006/main">
              <a:ext uri="{FF2B5EF4-FFF2-40B4-BE49-F238E27FC236}">
                <a16:creationId xmlns:a16="http://schemas.microsoft.com/office/drawing/2014/main" id="{EE7B44A9-FBC0-4822-9831-70CBCCDEF95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residual regularizes the mobile layer. Bonded adsorption needs separate physics</a:t>
            </a:r>
          </a:p>
        </p:txBody>
      </p:sp>
    </p:spTree>
    <p:extLst>
      <p:ext uri="{BB962C8B-B14F-4D97-AF65-F5344CB8AC3E}">
        <p14:creationId xmlns:p14="http://schemas.microsoft.com/office/powerpoint/2010/main" val="13828018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configuration and matched baselines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53A91EE3-BF13-4BAE-A1F2-9FDF92F741AF}"/>
              </a:ext>
            </a:extLst>
          </p:cNvPr>
          <p:cNvGraphicFramePr/>
          <p:nvPr/>
        </p:nvGraphicFramePr>
        <p:xfrm>
          <a:off xmlns:a="http://schemas.openxmlformats.org/drawingml/2006/main" x="571500" y="1695450"/>
          <a:ext xmlns:a="http://schemas.openxmlformats.org/drawingml/2006/main" cx="4152900" cy="3743325"/>
        </p:xfrm>
        <a:graphic xmlns:a="http://schemas.openxmlformats.org/drawingml/2006/main">
          <a:graphicData uri="http://schemas.openxmlformats.org/drawingml/2006/table">
            <a:tbl>
              <a:tblPr/>
              <a:tblGrid>
                <a:gridCol w="2152650"/>
                <a:gridCol w="2000250"/>
              </a:tblGrid>
              <a:tr h="374333">
                <a:tc>
                  <a:txBody>
                    <a:bodyPr>
                      <a:noAutofit/>
                    </a:bodyPr>
                    <a:lstStyle/>
                    <a:p>
                      <a:pPr algn="l"/>
                      <a:r>
                        <a:rPr sz="1275" b="1">
                          <a:solidFill>
                            <a:srgbClr val="FFFFFF"/>
                          </a:solidFill>
                          <a:latin typeface="Arial"/>
                          <a:ea typeface="Arial"/>
                          <a:cs typeface="Arial"/>
                        </a:rPr>
                        <a:t>Setting</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choice</a:t>
                      </a:r>
                    </a:p>
                  </a:txBody>
                  <a:tcPr marL="85725" marR="85725" marT="76200" marB="76200" anchor="ctr">
                    <a:solidFill>
                      <a:srgbClr val="002B5E"/>
                    </a:solidFill>
                  </a:tcPr>
                </a:tc>
              </a:tr>
              <a:tr h="374333">
                <a:tc>
                  <a:txBody>
                    <a:bodyPr>
                      <a:noAutofit/>
                    </a:bodyPr>
                    <a:lstStyle/>
                    <a:p>
                      <a:pPr algn="l"/>
                      <a:r>
                        <a:rPr sz="1275" b="1">
                          <a:solidFill>
                            <a:srgbClr val="263645"/>
                          </a:solidFill>
                          <a:latin typeface="Arial"/>
                          <a:ea typeface="Arial"/>
                          <a:cs typeface="Arial"/>
                        </a:rPr>
                        <a:t>Optimizer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Adam</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Learning rate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Weight decay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0.0001</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Maximum epochs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1,500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Validation patience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150 epochs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Gradient clipping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Norm = 10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Derivative sample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Up to 256 training rows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Initialization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Xavier / zero biases</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Reproducibility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Seed 42, CPU</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93DB21FC-A2D5-4AB0-A024-00E4712FA1EA}"/>
              </a:ext>
            </a:extLst>
          </p:cNvPr>
          <p:cNvSpPr>
            <a:spLocks xmlns:a="http://schemas.openxmlformats.org/drawingml/2006/main" noGrp="1"/>
          </p:cNvSpPr>
          <p:nvPr/>
        </p:nvSpPr>
        <p:spPr>
          <a:xfrm xmlns:a="http://schemas.openxmlformats.org/drawingml/2006/main">
            <a:off x="5124450" y="170497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NEURAL COMPARISONS</a:t>
            </a:r>
          </a:p>
        </p:txBody>
      </p:sp>
      <p:sp>
        <p:nvSpPr>
          <p:cNvPr id="15" name="content-5">
            <a:extLst xmlns:a="http://schemas.openxmlformats.org/drawingml/2006/main">
              <a:ext uri="{FF2B5EF4-FFF2-40B4-BE49-F238E27FC236}">
                <a16:creationId xmlns:a16="http://schemas.microsoft.com/office/drawing/2014/main" id="{181E9A7E-B09D-47D9-9CB7-80280A62683F}"/>
              </a:ext>
            </a:extLst>
          </p:cNvPr>
          <p:cNvSpPr>
            <a:spLocks xmlns:a="http://schemas.openxmlformats.org/drawingml/2006/main" noGrp="1"/>
          </p:cNvSpPr>
          <p:nvPr/>
        </p:nvSpPr>
        <p:spPr>
          <a:xfrm xmlns:a="http://schemas.openxmlformats.org/drawingml/2006/main">
            <a:off x="5124450" y="2057400"/>
            <a:ext cx="3295650" cy="501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PINN: hard bound plus curvature regularization.</a:t>
            </a:r>
          </a:p>
        </p:txBody>
      </p:sp>
      <p:sp>
        <p:nvSpPr>
          <p:cNvPr id="16" name="content-6">
            <a:extLst xmlns:a="http://schemas.openxmlformats.org/drawingml/2006/main">
              <a:ext uri="{FF2B5EF4-FFF2-40B4-BE49-F238E27FC236}">
                <a16:creationId xmlns:a16="http://schemas.microsoft.com/office/drawing/2014/main" id="{60A2DABA-F38E-4582-82E5-7F992A754154}"/>
              </a:ext>
            </a:extLst>
          </p:cNvPr>
          <p:cNvSpPr>
            <a:spLocks xmlns:a="http://schemas.openxmlformats.org/drawingml/2006/main" noGrp="1"/>
          </p:cNvSpPr>
          <p:nvPr/>
        </p:nvSpPr>
        <p:spPr>
          <a:xfrm xmlns:a="http://schemas.openxmlformats.org/drawingml/2006/main">
            <a:off x="5124450" y="260604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Bounded NN: same output bound, with physics penalties off.</a:t>
            </a:r>
          </a:p>
        </p:txBody>
      </p:sp>
      <p:sp>
        <p:nvSpPr>
          <p:cNvPr id="17" name="content-7">
            <a:extLst xmlns:a="http://schemas.openxmlformats.org/drawingml/2006/main">
              <a:ext uri="{FF2B5EF4-FFF2-40B4-BE49-F238E27FC236}">
                <a16:creationId xmlns:a16="http://schemas.microsoft.com/office/drawing/2014/main" id="{860F8D63-C40D-404B-9FA6-AB0C8CAE9BEB}"/>
              </a:ext>
            </a:extLst>
          </p:cNvPr>
          <p:cNvSpPr>
            <a:spLocks xmlns:a="http://schemas.openxmlformats.org/drawingml/2006/main" noGrp="1"/>
          </p:cNvSpPr>
          <p:nvPr/>
        </p:nvSpPr>
        <p:spPr>
          <a:xfrm xmlns:a="http://schemas.openxmlformats.org/drawingml/2006/main">
            <a:off x="5124450" y="337185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Standard NN: same hidden layers and optimizer, with a linear output.</a:t>
            </a:r>
          </a:p>
        </p:txBody>
      </p:sp>
      <p:sp>
        <p:nvSpPr>
          <p:cNvPr id="18" name="content-8">
            <a:extLst xmlns:a="http://schemas.openxmlformats.org/drawingml/2006/main">
              <a:ext uri="{FF2B5EF4-FFF2-40B4-BE49-F238E27FC236}">
                <a16:creationId xmlns:a16="http://schemas.microsoft.com/office/drawing/2014/main" id="{55AD3960-36A9-4F0E-A183-7BF4B7DDB1F7}"/>
              </a:ext>
            </a:extLst>
          </p:cNvPr>
          <p:cNvSpPr>
            <a:spLocks xmlns:a="http://schemas.openxmlformats.org/drawingml/2006/main" noGrp="1"/>
          </p:cNvSpPr>
          <p:nvPr/>
        </p:nvSpPr>
        <p:spPr>
          <a:xfrm xmlns:a="http://schemas.openxmlformats.org/drawingml/2006/main">
            <a:off x="5124450" y="45434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TREE BASELINES</a:t>
            </a:r>
          </a:p>
        </p:txBody>
      </p:sp>
      <p:sp>
        <p:nvSpPr>
          <p:cNvPr id="19" name="content-9">
            <a:extLst xmlns:a="http://schemas.openxmlformats.org/drawingml/2006/main">
              <a:ext uri="{FF2B5EF4-FFF2-40B4-BE49-F238E27FC236}">
                <a16:creationId xmlns:a16="http://schemas.microsoft.com/office/drawing/2014/main" id="{F5998740-F3F6-4909-B2E1-3A1152A76DA3}"/>
              </a:ext>
            </a:extLst>
          </p:cNvPr>
          <p:cNvSpPr>
            <a:spLocks xmlns:a="http://schemas.openxmlformats.org/drawingml/2006/main" noGrp="1"/>
          </p:cNvSpPr>
          <p:nvPr/>
        </p:nvSpPr>
        <p:spPr>
          <a:xfrm xmlns:a="http://schemas.openxmlformats.org/drawingml/2006/main">
            <a:off x="5124450" y="4905375"/>
            <a:ext cx="3295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RF: 300 trees, minimum leaf size 2</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GB: 100 trees, depth 2, learning rate 0.05</a:t>
            </a:r>
          </a:p>
        </p:txBody>
      </p:sp>
      <p:sp>
        <p:nvSpPr>
          <p:cNvPr id="20" name="content-10">
            <a:extLst xmlns:a="http://schemas.openxmlformats.org/drawingml/2006/main">
              <a:ext uri="{FF2B5EF4-FFF2-40B4-BE49-F238E27FC236}">
                <a16:creationId xmlns:a16="http://schemas.microsoft.com/office/drawing/2014/main" id="{768C6C04-F442-441B-81D0-06DD16CBE76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Validation chooses neural checkpoints. Fixed tree settings receive no test-driven tuning</a:t>
            </a:r>
          </a:p>
        </p:txBody>
      </p:sp>
    </p:spTree>
    <p:extLst>
      <p:ext uri="{BB962C8B-B14F-4D97-AF65-F5344CB8AC3E}">
        <p14:creationId xmlns:p14="http://schemas.microsoft.com/office/powerpoint/2010/main" val="13828018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Evaluation splits and interpretation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A1647F7F-BE6D-405F-960C-EAEA4E35004B}"/>
              </a:ext>
            </a:extLst>
          </p:cNvPr>
          <p:cNvGraphicFramePr/>
          <p:nvPr/>
        </p:nvGraphicFramePr>
        <p:xfrm>
          <a:off xmlns:a="http://schemas.openxmlformats.org/drawingml/2006/main" x="571500" y="1724025"/>
          <a:ext xmlns:a="http://schemas.openxmlformats.org/drawingml/2006/main" cx="8001000" cy="2047875"/>
        </p:xfrm>
        <a:graphic xmlns:a="http://schemas.openxmlformats.org/drawingml/2006/main">
          <a:graphicData uri="http://schemas.openxmlformats.org/drawingml/2006/table">
            <a:tbl>
              <a:tblPr/>
              <a:tblGrid>
                <a:gridCol w="4343400"/>
                <a:gridCol w="1219200"/>
                <a:gridCol w="1219200"/>
                <a:gridCol w="1219200"/>
              </a:tblGrid>
              <a:tr h="511969">
                <a:tc>
                  <a:txBody>
                    <a:bodyPr>
                      <a:noAutofit/>
                    </a:bodyPr>
                    <a:lstStyle/>
                    <a:p>
                      <a:pPr algn="l"/>
                      <a:r>
                        <a:rPr sz="1500"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Training</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Validation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Test</a:t>
                      </a:r>
                    </a:p>
                  </a:txBody>
                  <a:tcPr marL="85725" marR="85725" marT="76200" marB="76200" anchor="ctr">
                    <a:solidFill>
                      <a:srgbClr val="002B5E"/>
                    </a:solidFill>
                  </a:tcPr>
                </a:tc>
              </a:tr>
              <a:tr h="511969">
                <a:tc>
                  <a:txBody>
                    <a:bodyPr>
                      <a:noAutofit/>
                    </a:bodyPr>
                    <a:lstStyle/>
                    <a:p>
                      <a:pPr algn="l"/>
                      <a:r>
                        <a:rPr sz="1500" b="1">
                          <a:solidFill>
                            <a:srgbClr val="263645"/>
                          </a:solidFill>
                          <a:latin typeface="Arial"/>
                          <a:ea typeface="Arial"/>
                          <a:cs typeface="Arial"/>
                        </a:rPr>
                        <a:t>Measured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28</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18</a:t>
                      </a:r>
                    </a:p>
                  </a:txBody>
                  <a:tcPr marL="85725" marR="85725" marT="76200" marB="76200" anchor="ctr">
                    <a:solidFill>
                      <a:srgbClr val="FFFFFF"/>
                    </a:solidFill>
                  </a:tcPr>
                </a:tc>
              </a:tr>
              <a:tr h="511969">
                <a:tc>
                  <a:txBody>
                    <a:bodyPr>
                      <a:noAutofit/>
                    </a:bodyPr>
                    <a:lstStyle/>
                    <a:p>
                      <a:pPr algn="l"/>
                      <a:r>
                        <a:rPr sz="1500" b="1">
                          <a:solidFill>
                            <a:srgbClr val="263645"/>
                          </a:solidFill>
                          <a:latin typeface="Arial"/>
                          <a:ea typeface="Arial"/>
                          <a:cs typeface="Arial"/>
                        </a:rPr>
                        <a:t>Measured high-concentration holdout</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36</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10</a:t>
                      </a:r>
                    </a:p>
                  </a:txBody>
                  <a:tcPr marL="85725" marR="85725" marT="76200" marB="76200" anchor="ctr">
                    <a:solidFill>
                      <a:srgbClr val="F7F5EF"/>
                    </a:solidFill>
                  </a:tcPr>
                </a:tc>
              </a:tr>
              <a:tr h="511969">
                <a:tc>
                  <a:txBody>
                    <a:bodyPr>
                      <a:noAutofit/>
                    </a:bodyPr>
                    <a:lstStyle/>
                    <a:p>
                      <a:pPr algn="l"/>
                      <a:r>
                        <a:rPr sz="1500" b="1">
                          <a:solidFill>
                            <a:srgbClr val="263645"/>
                          </a:solidFill>
                          <a:latin typeface="Arial"/>
                          <a:ea typeface="Arial"/>
                          <a:cs typeface="Arial"/>
                        </a:rPr>
                        <a:t>Synthetic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1,959</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407</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442</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85C07B5E-74EC-48F8-9D19-3BB62753E15B}"/>
              </a:ext>
            </a:extLst>
          </p:cNvPr>
          <p:cNvSpPr>
            <a:spLocks xmlns:a="http://schemas.openxmlformats.org/drawingml/2006/main" noGrp="1"/>
          </p:cNvSpPr>
          <p:nvPr/>
        </p:nvSpPr>
        <p:spPr>
          <a:xfrm xmlns:a="http://schemas.openxmlformats.org/drawingml/2006/main">
            <a:off x="714375" y="4048125"/>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GENERALIZATION</a:t>
            </a:r>
          </a:p>
        </p:txBody>
      </p:sp>
      <p:sp>
        <p:nvSpPr>
          <p:cNvPr id="15" name="content-5">
            <a:extLst xmlns:a="http://schemas.openxmlformats.org/drawingml/2006/main">
              <a:ext uri="{FF2B5EF4-FFF2-40B4-BE49-F238E27FC236}">
                <a16:creationId xmlns:a16="http://schemas.microsoft.com/office/drawing/2014/main" id="{B7ABF168-4EB8-41E9-BBF8-32F907800A23}"/>
              </a:ext>
            </a:extLst>
          </p:cNvPr>
          <p:cNvSpPr>
            <a:spLocks xmlns:a="http://schemas.openxmlformats.org/drawingml/2006/main" noGrp="1"/>
          </p:cNvSpPr>
          <p:nvPr/>
        </p:nvSpPr>
        <p:spPr>
          <a:xfrm xmlns:a="http://schemas.openxmlformats.org/drawingml/2006/main">
            <a:off x="714375" y="4391025"/>
            <a:ext cx="3762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Hold out entire concentration levels.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extrapolation test reserves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3, 5, 7, and 10 in recorded units.</a:t>
            </a:r>
          </a:p>
        </p:txBody>
      </p:sp>
      <p:sp>
        <p:nvSpPr>
          <p:cNvPr id="16" name="content-6">
            <a:extLst xmlns:a="http://schemas.openxmlformats.org/drawingml/2006/main">
              <a:ext uri="{FF2B5EF4-FFF2-40B4-BE49-F238E27FC236}">
                <a16:creationId xmlns:a16="http://schemas.microsoft.com/office/drawing/2014/main" id="{2C45B233-1C16-41C3-9CE4-DAC7E9848EB4}"/>
              </a:ext>
            </a:extLst>
          </p:cNvPr>
          <p:cNvSpPr>
            <a:spLocks xmlns:a="http://schemas.openxmlformats.org/drawingml/2006/main" noGrp="1"/>
          </p:cNvSpPr>
          <p:nvPr/>
        </p:nvSpPr>
        <p:spPr>
          <a:xfrm xmlns:a="http://schemas.openxmlformats.org/drawingml/2006/main">
            <a:off x="5029200" y="4048125"/>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GENERALIZATION</a:t>
            </a:r>
          </a:p>
        </p:txBody>
      </p:sp>
      <p:sp>
        <p:nvSpPr>
          <p:cNvPr id="17" name="content-7">
            <a:extLst xmlns:a="http://schemas.openxmlformats.org/drawingml/2006/main">
              <a:ext uri="{FF2B5EF4-FFF2-40B4-BE49-F238E27FC236}">
                <a16:creationId xmlns:a16="http://schemas.microsoft.com/office/drawing/2014/main" id="{B295547E-028E-4F81-83B8-CE3E0804A3D5}"/>
              </a:ext>
            </a:extLst>
          </p:cNvPr>
          <p:cNvSpPr>
            <a:spLocks xmlns:a="http://schemas.openxmlformats.org/drawingml/2006/main" noGrp="1"/>
          </p:cNvSpPr>
          <p:nvPr/>
        </p:nvSpPr>
        <p:spPr>
          <a:xfrm xmlns:a="http://schemas.openxmlformats.org/drawingml/2006/main">
            <a:off x="5029200" y="4391025"/>
            <a:ext cx="3419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IDs are unavailable.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Exact concentration grouping cannot</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prove independent source experiments.</a:t>
            </a:r>
          </a:p>
        </p:txBody>
      </p:sp>
      <p:sp>
        <p:nvSpPr>
          <p:cNvPr id="18" name="content-8">
            <a:extLst xmlns:a="http://schemas.openxmlformats.org/drawingml/2006/main">
              <a:ext uri="{FF2B5EF4-FFF2-40B4-BE49-F238E27FC236}">
                <a16:creationId xmlns:a16="http://schemas.microsoft.com/office/drawing/2014/main" id="{EC166C5B-27DF-4FF2-99B0-2B4681427E18}"/>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Compare models within each shared split. Do not compare scores across protocols</a:t>
            </a:r>
          </a:p>
        </p:txBody>
      </p:sp>
    </p:spTree>
    <p:extLst>
      <p:ext uri="{BB962C8B-B14F-4D97-AF65-F5344CB8AC3E}">
        <p14:creationId xmlns:p14="http://schemas.microsoft.com/office/powerpoint/2010/main" val="138280187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Initial measured-data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96B82963-6FCE-4A54-BAFB-6F94EE5156FB}"/>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58 observations, three inputs, 18 held-out rows</a:t>
            </a:r>
          </a:p>
        </p:txBody>
      </p:sp>
      <p:graphicFrame>
        <p:nvGraphicFramePr>
          <p:cNvPr id="14" name="Chart">
            <a:extLst xmlns:a="http://schemas.openxmlformats.org/drawingml/2006/main">
              <a:ext uri="{FF2B5EF4-FFF2-40B4-BE49-F238E27FC236}">
                <a16:creationId xmlns:a16="http://schemas.microsoft.com/office/drawing/2014/main" id="{657BFCC9-DDF1-46B4-A83B-BF6CA1EA7768}"/>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90c4cd725cb245ae"/>
          </a:graphicData>
        </a:graphic>
      </p:graphicFrame>
      <p:graphicFrame>
        <p:nvGraphicFramePr>
          <p:cNvPr id="15" name="">
            <a:extLst xmlns:a="http://schemas.openxmlformats.org/drawingml/2006/main">
              <a:ext uri="{FF2B5EF4-FFF2-40B4-BE49-F238E27FC236}">
                <a16:creationId xmlns:a16="http://schemas.microsoft.com/office/drawing/2014/main" id="{0E28D59B-D7FA-4F42-9319-74C7780B8BC6}"/>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0.1223</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-0.392</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0.1224</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-0.395</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0.2119</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-3.183</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0.0670</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0.582</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0.0649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0.607</a:t>
                      </a:r>
                    </a:p>
                  </a:txBody>
                  <a:tcPr marL="85725" marR="85725" marT="76200" marB="76200" anchor="ctr">
                    <a:solidFill>
                      <a:srgbClr val="F3ECD6"/>
                    </a:solidFill>
                  </a:tcPr>
                </a:tc>
              </a:tr>
            </a:tbl>
          </a:graphicData>
        </a:graphic>
      </p:graphicFrame>
      <p:sp>
        <p:nvSpPr>
          <p:cNvPr id="16" name="content-5">
            <a:extLst xmlns:a="http://schemas.openxmlformats.org/drawingml/2006/main">
              <a:ext uri="{FF2B5EF4-FFF2-40B4-BE49-F238E27FC236}">
                <a16:creationId xmlns:a16="http://schemas.microsoft.com/office/drawing/2014/main" id="{C388A246-ABEF-47A3-AA2F-150E40443D9D}"/>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0.1117 nm. All models: 0% observed bound violations.</a:t>
            </a:r>
          </a:p>
        </p:txBody>
      </p:sp>
      <p:sp>
        <p:nvSpPr>
          <p:cNvPr id="17" name="content-6">
            <a:extLst xmlns:a="http://schemas.openxmlformats.org/drawingml/2006/main">
              <a:ext uri="{FF2B5EF4-FFF2-40B4-BE49-F238E27FC236}">
                <a16:creationId xmlns:a16="http://schemas.microsoft.com/office/drawing/2014/main" id="{2F968156-4309-4257-B8ED-AE37663C1CED}"/>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Gradient boosting and random forest outperform the initial neural models</a:t>
            </a:r>
          </a:p>
        </p:txBody>
      </p:sp>
    </p:spTree>
    <p:extLst>
      <p:ext uri="{BB962C8B-B14F-4D97-AF65-F5344CB8AC3E}">
        <p14:creationId xmlns:p14="http://schemas.microsoft.com/office/powerpoint/2010/main" val="138280187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high-concentration extrapolation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6A0A9766-7A37-44CB-A5F1-521824282CA8}"/>
              </a:ext>
            </a:extLst>
          </p:cNvPr>
          <p:cNvGraphicFramePr/>
          <p:nvPr/>
        </p:nvGraphicFramePr>
        <p:xfrm>
          <a:off xmlns:a="http://schemas.openxmlformats.org/drawingml/2006/main" x="523875" y="2028825"/>
          <a:ext xmlns:a="http://schemas.openxmlformats.org/drawingml/2006/main" cx="4743450" cy="3276600"/>
        </p:xfrm>
        <a:graphic xmlns:a="http://schemas.openxmlformats.org/drawingml/2006/main">
          <a:graphicData uri="http://schemas.openxmlformats.org/drawingml/2006/chart">
            <c:chart xmlns:r="http://schemas.openxmlformats.org/officeDocument/2006/relationships" xmlns:c="http://schemas.openxmlformats.org/drawingml/2006/chart" r:id="Raffe2917c5e54e04"/>
          </a:graphicData>
        </a:graphic>
      </p:graphicFrame>
      <p:graphicFrame>
        <p:nvGraphicFramePr>
          <p:cNvPr id="14" name="">
            <a:extLst xmlns:a="http://schemas.openxmlformats.org/drawingml/2006/main">
              <a:ext uri="{FF2B5EF4-FFF2-40B4-BE49-F238E27FC236}">
                <a16:creationId xmlns:a16="http://schemas.microsoft.com/office/drawing/2014/main" id="{193D6C06-4BD2-49D0-8B5E-1DA21B59AA67}"/>
              </a:ext>
            </a:extLst>
          </p:cNvPr>
          <p:cNvGraphicFramePr/>
          <p:nvPr/>
        </p:nvGraphicFramePr>
        <p:xfrm>
          <a:off xmlns:a="http://schemas.openxmlformats.org/drawingml/2006/main" x="5476875" y="2143125"/>
          <a:ext xmlns:a="http://schemas.openxmlformats.org/drawingml/2006/main" cx="3095625" cy="2724150"/>
        </p:xfrm>
        <a:graphic xmlns:a="http://schemas.openxmlformats.org/drawingml/2006/main">
          <a:graphicData uri="http://schemas.openxmlformats.org/drawingml/2006/table">
            <a:tbl>
              <a:tblPr/>
              <a:tblGrid>
                <a:gridCol w="2028825"/>
                <a:gridCol w="1066800"/>
              </a:tblGrid>
              <a:tr h="454025">
                <a:tc>
                  <a:txBody>
                    <a:bodyPr>
                      <a:noAutofit/>
                    </a:bodyPr>
                    <a:lstStyle/>
                    <a:p>
                      <a:pPr algn="l"/>
                      <a:r>
                        <a:rPr sz="1275"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RMSE (nm)</a:t>
                      </a:r>
                    </a:p>
                  </a:txBody>
                  <a:tcPr marL="85725" marR="85725" marT="76200" marB="76200" anchor="ctr">
                    <a:solidFill>
                      <a:srgbClr val="002B5E"/>
                    </a:solidFill>
                  </a:tcPr>
                </a:tc>
              </a:tr>
              <a:tr h="454025">
                <a:tc>
                  <a:txBody>
                    <a:bodyPr>
                      <a:noAutofit/>
                    </a:bodyPr>
                    <a:lstStyle/>
                    <a:p>
                      <a:pPr algn="l"/>
                      <a:r>
                        <a:rPr sz="1275"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0.6168</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0.6115</a:t>
                      </a:r>
                    </a:p>
                  </a:txBody>
                  <a:tcPr marL="85725" marR="85725" marT="76200" marB="76200" anchor="ctr">
                    <a:solidFill>
                      <a:srgbClr val="F7F5EF"/>
                    </a:solidFill>
                  </a:tcPr>
                </a:tc>
              </a:tr>
              <a:tr h="454025">
                <a:tc>
                  <a:txBody>
                    <a:bodyPr>
                      <a:noAutofit/>
                    </a:bodyPr>
                    <a:lstStyle/>
                    <a:p>
                      <a:pPr algn="l"/>
                      <a:r>
                        <a:rPr sz="1275"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0.1042</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75" b="1">
                          <a:solidFill>
                            <a:srgbClr val="263645"/>
                          </a:solidFill>
                          <a:latin typeface="Arial"/>
                          <a:ea typeface="Arial"/>
                          <a:cs typeface="Arial"/>
                        </a:rPr>
                        <a:t>0.0294</a:t>
                      </a:r>
                    </a:p>
                  </a:txBody>
                  <a:tcPr marL="85725" marR="85725" marT="76200" marB="76200" anchor="ctr">
                    <a:solidFill>
                      <a:srgbClr val="F3ECD6"/>
                    </a:solidFill>
                  </a:tcPr>
                </a:tc>
              </a:tr>
              <a:tr h="454025">
                <a:tc>
                  <a:txBody>
                    <a:bodyPr>
                      <a:noAutofit/>
                    </a:bodyPr>
                    <a:lstStyle/>
                    <a:p>
                      <a:pPr algn="l"/>
                      <a:r>
                        <a:rPr sz="1275"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0.0296</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2A573253-0BC4-436C-858D-F64D27CB7972}"/>
              </a:ext>
            </a:extLst>
          </p:cNvPr>
          <p:cNvSpPr>
            <a:spLocks xmlns:a="http://schemas.openxmlformats.org/drawingml/2006/main" noGrp="1"/>
          </p:cNvSpPr>
          <p:nvPr/>
        </p:nvSpPr>
        <p:spPr>
          <a:xfrm xmlns:a="http://schemas.openxmlformats.org/drawingml/2006/main">
            <a:off x="5505450" y="4981575"/>
            <a:ext cx="3067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263645"/>
                </a:solidFill>
                <a:latin typeface="Arial"/>
                <a:ea typeface="Arial"/>
                <a:cs typeface="Arial"/>
              </a:defRPr>
            </a:defPPr>
          </a:lstStyle>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10 measured test rows</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All models have negative R²</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PINN R² = −759.817</a:t>
            </a:r>
          </a:p>
        </p:txBody>
      </p:sp>
      <p:sp>
        <p:nvSpPr>
          <p:cNvPr id="16" name="content-5">
            <a:extLst xmlns:a="http://schemas.openxmlformats.org/drawingml/2006/main">
              <a:ext uri="{FF2B5EF4-FFF2-40B4-BE49-F238E27FC236}">
                <a16:creationId xmlns:a16="http://schemas.microsoft.com/office/drawing/2014/main" id="{7ADD11C3-C0A2-4980-A499-EBB30D6319C2}"/>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PINN satisfies the bound while its error grows at unseen high concentrations</a:t>
            </a:r>
          </a:p>
        </p:txBody>
      </p:sp>
    </p:spTree>
    <p:extLst>
      <p:ext uri="{BB962C8B-B14F-4D97-AF65-F5344CB8AC3E}">
        <p14:creationId xmlns:p14="http://schemas.microsoft.com/office/powerpoint/2010/main" val="13828018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Seven-input synthetic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04107992-64A2-48ED-BD0E-3B7460459199}"/>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2,808 retained rows, seven inputs, 442 held-out rows</a:t>
            </a:r>
          </a:p>
        </p:txBody>
      </p:sp>
      <p:graphicFrame>
        <p:nvGraphicFramePr>
          <p:cNvPr id="14" name="Chart">
            <a:extLst xmlns:a="http://schemas.openxmlformats.org/drawingml/2006/main">
              <a:ext uri="{FF2B5EF4-FFF2-40B4-BE49-F238E27FC236}">
                <a16:creationId xmlns:a16="http://schemas.microsoft.com/office/drawing/2014/main" id="{507CA0A5-D9AD-479E-BA9E-27CE6D5760D9}"/>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4d3ca73ab6a246f8"/>
          </a:graphicData>
        </a:graphic>
      </p:graphicFrame>
      <p:graphicFrame>
        <p:nvGraphicFramePr>
          <p:cNvPr id="15" name="">
            <a:extLst xmlns:a="http://schemas.openxmlformats.org/drawingml/2006/main">
              <a:ext uri="{FF2B5EF4-FFF2-40B4-BE49-F238E27FC236}">
                <a16:creationId xmlns:a16="http://schemas.microsoft.com/office/drawing/2014/main" id="{FD310804-3B89-4D8B-B65B-121DBDC86B85}"/>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0.0557</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0.905</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0.0551</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0.907</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0.0541</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0.911</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0.0359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0.961</a:t>
                      </a:r>
                    </a:p>
                  </a:txBody>
                  <a:tcPr marL="85725" marR="85725" marT="76200" marB="76200" anchor="ctr">
                    <a:solidFill>
                      <a:srgbClr val="F3ECD6"/>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0.0748</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0.829</a:t>
                      </a:r>
                    </a:p>
                  </a:txBody>
                  <a:tcPr marL="85725" marR="85725" marT="76200" marB="76200" anchor="ctr">
                    <a:solidFill>
                      <a:srgbClr val="FFFFFF"/>
                    </a:solidFill>
                  </a:tcPr>
                </a:tc>
              </a:tr>
            </a:tbl>
          </a:graphicData>
        </a:graphic>
      </p:graphicFrame>
      <p:sp>
        <p:nvSpPr>
          <p:cNvPr id="16" name="content-5">
            <a:extLst xmlns:a="http://schemas.openxmlformats.org/drawingml/2006/main">
              <a:ext uri="{FF2B5EF4-FFF2-40B4-BE49-F238E27FC236}">
                <a16:creationId xmlns:a16="http://schemas.microsoft.com/office/drawing/2014/main" id="{4931B50B-3581-4DA6-87A4-FB14B8610CA1}"/>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0.0436 nm. All models: 0% observed bound violations.</a:t>
            </a:r>
          </a:p>
        </p:txBody>
      </p:sp>
      <p:sp>
        <p:nvSpPr>
          <p:cNvPr id="17" name="content-6">
            <a:extLst xmlns:a="http://schemas.openxmlformats.org/drawingml/2006/main">
              <a:ext uri="{FF2B5EF4-FFF2-40B4-BE49-F238E27FC236}">
                <a16:creationId xmlns:a16="http://schemas.microsoft.com/office/drawing/2014/main" id="{B5B7B5F0-E0B4-4BA3-A32C-B8B634CF0F9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Synthetic PINN R² reaches 0.905. Random forest still gives the lowest error</a:t>
            </a:r>
          </a:p>
        </p:txBody>
      </p:sp>
    </p:spTree>
    <p:extLst>
      <p:ext uri="{BB962C8B-B14F-4D97-AF65-F5344CB8AC3E}">
        <p14:creationId xmlns:p14="http://schemas.microsoft.com/office/powerpoint/2010/main" val="1382801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Synthetic holdout parity: PINN and random forest</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9623E172-10DC-4A29-8244-3DA8F898B86C}"/>
              </a:ext>
            </a:extLst>
          </p:cNvPr>
          <p:cNvGraphicFramePr/>
          <p:nvPr/>
        </p:nvGraphicFramePr>
        <p:xfrm>
          <a:off xmlns:a="http://schemas.openxmlformats.org/drawingml/2006/main" x="4381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c9d376c137294812"/>
          </a:graphicData>
        </a:graphic>
      </p:graphicFrame>
      <p:graphicFrame>
        <p:nvGraphicFramePr>
          <p:cNvPr id="14" name="Chart">
            <a:extLst xmlns:a="http://schemas.openxmlformats.org/drawingml/2006/main">
              <a:ext uri="{FF2B5EF4-FFF2-40B4-BE49-F238E27FC236}">
                <a16:creationId xmlns:a16="http://schemas.microsoft.com/office/drawing/2014/main" id="{B31216CF-8675-43EA-92BB-0666A48471B4}"/>
              </a:ext>
            </a:extLst>
          </p:cNvPr>
          <p:cNvGraphicFramePr/>
          <p:nvPr/>
        </p:nvGraphicFramePr>
        <p:xfrm>
          <a:off xmlns:a="http://schemas.openxmlformats.org/drawingml/2006/main" x="47053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9e1b89a916cb4859"/>
          </a:graphicData>
        </a:graphic>
      </p:graphicFrame>
      <p:sp>
        <p:nvSpPr>
          <p:cNvPr id="15" name="content-4">
            <a:extLst xmlns:a="http://schemas.openxmlformats.org/drawingml/2006/main">
              <a:ext uri="{FF2B5EF4-FFF2-40B4-BE49-F238E27FC236}">
                <a16:creationId xmlns:a16="http://schemas.microsoft.com/office/drawing/2014/main" id="{12D81646-D3B5-4076-9DDF-A67D2F69FF15}"/>
              </a:ext>
            </a:extLst>
          </p:cNvPr>
          <p:cNvSpPr>
            <a:spLocks xmlns:a="http://schemas.openxmlformats.org/drawingml/2006/main" noGrp="1"/>
          </p:cNvSpPr>
          <p:nvPr/>
        </p:nvSpPr>
        <p:spPr>
          <a:xfrm xmlns:a="http://schemas.openxmlformats.org/drawingml/2006/main">
            <a:off x="838200" y="52768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948151"/>
                </a:solidFill>
                <a:latin typeface="Arial"/>
                <a:ea typeface="Arial"/>
                <a:cs typeface="Arial"/>
              </a:defRPr>
            </a:defPPr>
          </a:lstStyle>
          <a:p xmlns:a="http://schemas.openxmlformats.org/drawingml/2006/main">
            <a:pPr algn="ctr">
              <a:defRPr sz="1575" b="1">
                <a:solidFill>
                  <a:srgbClr val="948151"/>
                </a:solidFill>
                <a:latin typeface="Arial"/>
                <a:ea typeface="Arial"/>
                <a:cs typeface="Arial"/>
              </a:defRPr>
            </a:pPr>
            <a:r>
              <a:rPr sz="1575" b="1">
                <a:solidFill>
                  <a:srgbClr val="948151"/>
                </a:solidFill>
                <a:latin typeface="Arial"/>
                <a:ea typeface="Arial"/>
                <a:cs typeface="Arial"/>
              </a:rPr>
              <a:t>RMSE = 0.0557 nm</a:t>
            </a:r>
          </a:p>
        </p:txBody>
      </p:sp>
      <p:sp>
        <p:nvSpPr>
          <p:cNvPr id="16" name="content-5">
            <a:extLst xmlns:a="http://schemas.openxmlformats.org/drawingml/2006/main">
              <a:ext uri="{FF2B5EF4-FFF2-40B4-BE49-F238E27FC236}">
                <a16:creationId xmlns:a16="http://schemas.microsoft.com/office/drawing/2014/main" id="{79FC42DC-857B-4105-AF29-AEEA3E2507E3}"/>
              </a:ext>
            </a:extLst>
          </p:cNvPr>
          <p:cNvSpPr>
            <a:spLocks xmlns:a="http://schemas.openxmlformats.org/drawingml/2006/main" noGrp="1"/>
          </p:cNvSpPr>
          <p:nvPr/>
        </p:nvSpPr>
        <p:spPr>
          <a:xfrm xmlns:a="http://schemas.openxmlformats.org/drawingml/2006/main">
            <a:off x="5105400" y="52768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002B5E"/>
                </a:solidFill>
                <a:latin typeface="Arial"/>
                <a:ea typeface="Arial"/>
                <a:cs typeface="Arial"/>
              </a:defRPr>
            </a:defPPr>
          </a:lstStyle>
          <a:p xmlns:a="http://schemas.openxmlformats.org/drawingml/2006/main">
            <a:pPr algn="ctr">
              <a:defRPr sz="1575" b="1">
                <a:solidFill>
                  <a:srgbClr val="002B5E"/>
                </a:solidFill>
                <a:latin typeface="Arial"/>
                <a:ea typeface="Arial"/>
                <a:cs typeface="Arial"/>
              </a:defRPr>
            </a:pPr>
            <a:r>
              <a:rPr sz="1575" b="1">
                <a:solidFill>
                  <a:srgbClr val="002B5E"/>
                </a:solidFill>
                <a:latin typeface="Arial"/>
                <a:ea typeface="Arial"/>
                <a:cs typeface="Arial"/>
              </a:rPr>
              <a:t>RMSE = 0.0359 nm</a:t>
            </a:r>
          </a:p>
        </p:txBody>
      </p:sp>
      <p:sp>
        <p:nvSpPr>
          <p:cNvPr id="17" name="content-6">
            <a:extLst xmlns:a="http://schemas.openxmlformats.org/drawingml/2006/main">
              <a:ext uri="{FF2B5EF4-FFF2-40B4-BE49-F238E27FC236}">
                <a16:creationId xmlns:a16="http://schemas.microsoft.com/office/drawing/2014/main" id="{940854E4-AE18-43C8-8FD9-4BFB3ED798E3}"/>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Both plots use all 442 identical test rows and matching axes</a:t>
            </a:r>
          </a:p>
        </p:txBody>
      </p:sp>
    </p:spTree>
    <p:extLst>
      <p:ext uri="{BB962C8B-B14F-4D97-AF65-F5344CB8AC3E}">
        <p14:creationId xmlns:p14="http://schemas.microsoft.com/office/powerpoint/2010/main" val="1382801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Concentration-monotonicity ablation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7E2B45CA-46DD-405D-A513-8D37AE72DF75}"/>
              </a:ext>
            </a:extLst>
          </p:cNvPr>
          <p:cNvGraphicFramePr/>
          <p:nvPr/>
        </p:nvGraphicFramePr>
        <p:xfrm>
          <a:off xmlns:a="http://schemas.openxmlformats.org/drawingml/2006/main" x="571500" y="1762125"/>
          <a:ext xmlns:a="http://schemas.openxmlformats.org/drawingml/2006/main" cx="8001000" cy="1485900"/>
        </p:xfrm>
        <a:graphic xmlns:a="http://schemas.openxmlformats.org/drawingml/2006/main">
          <a:graphicData uri="http://schemas.openxmlformats.org/drawingml/2006/table">
            <a:tbl>
              <a:tblPr/>
              <a:tblGrid>
                <a:gridCol w="2962275"/>
                <a:gridCol w="1362075"/>
                <a:gridCol w="1362075"/>
                <a:gridCol w="2314575"/>
              </a:tblGrid>
              <a:tr h="495300">
                <a:tc>
                  <a:txBody>
                    <a:bodyPr>
                      <a:noAutofit/>
                    </a:bodyPr>
                    <a:lstStyle/>
                    <a:p>
                      <a:pPr algn="l"/>
                      <a:r>
                        <a:rPr sz="1350" b="1">
                          <a:solidFill>
                            <a:srgbClr val="FFFFFF"/>
                          </a:solidFill>
                          <a:latin typeface="Arial"/>
                          <a:ea typeface="Arial"/>
                          <a:cs typeface="Arial"/>
                        </a:rPr>
                        <a:t>PINN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R²</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Negative local</a:t>
                      </a:r>
                    </a:p>
                    <a:p>
                      <a:pPr algn="ctr"/>
                      <a:r>
                        <a:rPr sz="1350" b="1">
                          <a:solidFill>
                            <a:srgbClr val="FFFFFF"/>
                          </a:solidFill>
                          <a:latin typeface="Arial"/>
                          <a:ea typeface="Arial"/>
                          <a:cs typeface="Arial"/>
                        </a:rPr>
                        <a:t>concentration slope</a:t>
                      </a:r>
                    </a:p>
                  </a:txBody>
                  <a:tcPr marL="85725" marR="85725" marT="76200" marB="76200" anchor="ctr">
                    <a:solidFill>
                      <a:srgbClr val="002B5E"/>
                    </a:solidFill>
                  </a:tcPr>
                </a:tc>
              </a:tr>
              <a:tr h="495300">
                <a:tc>
                  <a:txBody>
                    <a:bodyPr>
                      <a:noAutofit/>
                    </a:bodyPr>
                    <a:lstStyle/>
                    <a:p>
                      <a:pPr algn="l"/>
                      <a:r>
                        <a:rPr sz="1350" b="1">
                          <a:solidFill>
                            <a:srgbClr val="263645"/>
                          </a:solidFill>
                          <a:latin typeface="Arial"/>
                          <a:ea typeface="Arial"/>
                          <a:cs typeface="Arial"/>
                        </a:rPr>
                        <a:t>Default curvature prior</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0.055718</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0.905199</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43.44%</a:t>
                      </a:r>
                    </a:p>
                  </a:txBody>
                  <a:tcPr marL="85725" marR="85725" marT="76200" marB="76200" anchor="ctr">
                    <a:solidFill>
                      <a:srgbClr val="FFFFFF"/>
                    </a:solidFill>
                  </a:tcPr>
                </a:tc>
              </a:tr>
              <a:tr h="495300">
                <a:tc>
                  <a:txBody>
                    <a:bodyPr>
                      <a:noAutofit/>
                    </a:bodyPr>
                    <a:lstStyle/>
                    <a:p>
                      <a:pPr algn="l"/>
                      <a:r>
                        <a:rPr sz="1350" b="1">
                          <a:solidFill>
                            <a:srgbClr val="263645"/>
                          </a:solidFill>
                          <a:latin typeface="Arial"/>
                          <a:ea typeface="Arial"/>
                          <a:cs typeface="Arial"/>
                        </a:rPr>
                        <a:t>Positive concentration penalty</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0.056009</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0.904208</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40.99%</a:t>
                      </a:r>
                    </a:p>
                  </a:txBody>
                  <a:tcPr marL="85725" marR="85725" marT="76200" marB="76200" anchor="ctr">
                    <a:solidFill>
                      <a:srgbClr val="F7F5EF"/>
                    </a:solidFill>
                  </a:tcPr>
                </a:tc>
              </a:tr>
            </a:tbl>
          </a:graphicData>
        </a:graphic>
      </p:graphicFrame>
      <p:graphicFrame>
        <p:nvGraphicFramePr>
          <p:cNvPr id="14" name="Chart">
            <a:extLst xmlns:a="http://schemas.openxmlformats.org/drawingml/2006/main">
              <a:ext uri="{FF2B5EF4-FFF2-40B4-BE49-F238E27FC236}">
                <a16:creationId xmlns:a16="http://schemas.microsoft.com/office/drawing/2014/main" id="{759C38F1-7859-4434-86E6-6B80762CC98A}"/>
              </a:ext>
            </a:extLst>
          </p:cNvPr>
          <p:cNvGraphicFramePr/>
          <p:nvPr/>
        </p:nvGraphicFramePr>
        <p:xfrm>
          <a:off xmlns:a="http://schemas.openxmlformats.org/drawingml/2006/main" x="771525" y="3524250"/>
          <a:ext xmlns:a="http://schemas.openxmlformats.org/drawingml/2006/main" cx="7543800" cy="1924050"/>
        </p:xfrm>
        <a:graphic xmlns:a="http://schemas.openxmlformats.org/drawingml/2006/main">
          <a:graphicData uri="http://schemas.openxmlformats.org/drawingml/2006/chart">
            <c:chart xmlns:r="http://schemas.openxmlformats.org/officeDocument/2006/relationships" xmlns:c="http://schemas.openxmlformats.org/drawingml/2006/chart" r:id="R06971579b7ce42cd"/>
          </a:graphicData>
        </a:graphic>
      </p:graphicFrame>
      <p:sp>
        <p:nvSpPr>
          <p:cNvPr id="15" name="content-4">
            <a:extLst xmlns:a="http://schemas.openxmlformats.org/drawingml/2006/main">
              <a:ext uri="{FF2B5EF4-FFF2-40B4-BE49-F238E27FC236}">
                <a16:creationId xmlns:a16="http://schemas.microsoft.com/office/drawing/2014/main" id="{653ABA02-438C-4397-92F4-09B68B144DC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penalty reduces some negative slopes but slightly worsens held-out error</a:t>
            </a:r>
          </a:p>
        </p:txBody>
      </p:sp>
    </p:spTree>
    <p:extLst>
      <p:ext uri="{BB962C8B-B14F-4D97-AF65-F5344CB8AC3E}">
        <p14:creationId xmlns:p14="http://schemas.microsoft.com/office/powerpoint/2010/main" val="138280187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17</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histories and selected checkpoints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4350F95F-2BC3-44BF-91AF-85EBB5B3D92D}"/>
              </a:ext>
            </a:extLst>
          </p:cNvPr>
          <p:cNvGraphicFramePr/>
          <p:nvPr/>
        </p:nvGraphicFramePr>
        <p:xfrm>
          <a:off xmlns:a="http://schemas.openxmlformats.org/drawingml/2006/main" x="457200"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91f6d93f1b2e4e9c"/>
          </a:graphicData>
        </a:graphic>
      </p:graphicFrame>
      <p:graphicFrame>
        <p:nvGraphicFramePr>
          <p:cNvPr id="14" name="Chart">
            <a:extLst xmlns:a="http://schemas.openxmlformats.org/drawingml/2006/main">
              <a:ext uri="{FF2B5EF4-FFF2-40B4-BE49-F238E27FC236}">
                <a16:creationId xmlns:a16="http://schemas.microsoft.com/office/drawing/2014/main" id="{98066B73-B42B-4BF7-9D62-4290DE1069FF}"/>
              </a:ext>
            </a:extLst>
          </p:cNvPr>
          <p:cNvGraphicFramePr/>
          <p:nvPr/>
        </p:nvGraphicFramePr>
        <p:xfrm>
          <a:off xmlns:a="http://schemas.openxmlformats.org/drawingml/2006/main" x="4733925"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17d02e4d59fc4061"/>
          </a:graphicData>
        </a:graphic>
      </p:graphicFrame>
      <p:sp>
        <p:nvSpPr>
          <p:cNvPr id="15" name="content-4">
            <a:extLst xmlns:a="http://schemas.openxmlformats.org/drawingml/2006/main">
              <a:ext uri="{FF2B5EF4-FFF2-40B4-BE49-F238E27FC236}">
                <a16:creationId xmlns:a16="http://schemas.microsoft.com/office/drawing/2014/main" id="{29902CE3-9B10-4029-ADBB-3C54DE109E4E}"/>
              </a:ext>
            </a:extLst>
          </p:cNvPr>
          <p:cNvSpPr>
            <a:spLocks xmlns:a="http://schemas.openxmlformats.org/drawingml/2006/main" noGrp="1"/>
          </p:cNvSpPr>
          <p:nvPr/>
        </p:nvSpPr>
        <p:spPr>
          <a:xfrm xmlns:a="http://schemas.openxmlformats.org/drawingml/2006/main">
            <a:off x="790575"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76</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stopped at epoch 226</a:t>
            </a:r>
          </a:p>
        </p:txBody>
      </p:sp>
      <p:sp>
        <p:nvSpPr>
          <p:cNvPr id="16" name="content-5">
            <a:extLst xmlns:a="http://schemas.openxmlformats.org/drawingml/2006/main">
              <a:ext uri="{FF2B5EF4-FFF2-40B4-BE49-F238E27FC236}">
                <a16:creationId xmlns:a16="http://schemas.microsoft.com/office/drawing/2014/main" id="{76D08F79-DC64-4F85-AB72-C43D34E5B9A6}"/>
              </a:ext>
            </a:extLst>
          </p:cNvPr>
          <p:cNvSpPr>
            <a:spLocks xmlns:a="http://schemas.openxmlformats.org/drawingml/2006/main" noGrp="1"/>
          </p:cNvSpPr>
          <p:nvPr/>
        </p:nvSpPr>
        <p:spPr>
          <a:xfrm xmlns:a="http://schemas.openxmlformats.org/drawingml/2006/main">
            <a:off x="5067300"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1,500</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reached the configured limit</a:t>
            </a:r>
          </a:p>
        </p:txBody>
      </p:sp>
      <p:sp>
        <p:nvSpPr>
          <p:cNvPr id="17" name="content-6">
            <a:extLst xmlns:a="http://schemas.openxmlformats.org/drawingml/2006/main">
              <a:ext uri="{FF2B5EF4-FFF2-40B4-BE49-F238E27FC236}">
                <a16:creationId xmlns:a16="http://schemas.microsoft.com/office/drawing/2014/main" id="{A0B65AD5-745C-4727-B60C-283EC9C1F94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A validation-based optimization-budget study remains a next step</a:t>
            </a:r>
          </a:p>
        </p:txBody>
      </p:sp>
    </p:spTree>
    <p:extLst>
      <p:ext uri="{BB962C8B-B14F-4D97-AF65-F5344CB8AC3E}">
        <p14:creationId xmlns:p14="http://schemas.microsoft.com/office/powerpoint/2010/main" val="138280187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Architecture choices from the literature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F4F42F4C-9785-406D-9523-1663617C7B53}"/>
              </a:ext>
            </a:extLst>
          </p:cNvPr>
          <p:cNvGraphicFramePr/>
          <p:nvPr/>
        </p:nvGraphicFramePr>
        <p:xfrm>
          <a:off xmlns:a="http://schemas.openxmlformats.org/drawingml/2006/main" x="571500" y="1752600"/>
          <a:ext xmlns:a="http://schemas.openxmlformats.org/drawingml/2006/main" cx="8001000" cy="3543300"/>
        </p:xfrm>
        <a:graphic xmlns:a="http://schemas.openxmlformats.org/drawingml/2006/main">
          <a:graphicData uri="http://schemas.openxmlformats.org/drawingml/2006/table">
            <a:tbl>
              <a:tblPr/>
              <a:tblGrid>
                <a:gridCol w="2209800"/>
                <a:gridCol w="2219325"/>
                <a:gridCol w="3571875"/>
              </a:tblGrid>
              <a:tr h="590550">
                <a:tc>
                  <a:txBody>
                    <a:bodyPr>
                      <a:noAutofit/>
                    </a:bodyPr>
                    <a:lstStyle/>
                    <a:p>
                      <a:pPr algn="l"/>
                      <a:r>
                        <a:rPr sz="1275" b="1">
                          <a:solidFill>
                            <a:srgbClr val="FFFFFF"/>
                          </a:solidFill>
                          <a:latin typeface="Arial"/>
                          <a:ea typeface="Arial"/>
                          <a:cs typeface="Arial"/>
                        </a:rPr>
                        <a:t>Architecture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Relevant work</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Decision for this project</a:t>
                      </a:r>
                    </a:p>
                  </a:txBody>
                  <a:tcPr marL="85725" marR="85725" marT="76200" marB="76200" anchor="ctr">
                    <a:solidFill>
                      <a:srgbClr val="002B5E"/>
                    </a:solidFill>
                  </a:tcPr>
                </a:tc>
              </a:tr>
              <a:tr h="590550">
                <a:tc>
                  <a:txBody>
                    <a:bodyPr>
                      <a:noAutofit/>
                    </a:bodyPr>
                    <a:lstStyle/>
                    <a:p>
                      <a:pPr algn="l"/>
                      <a:r>
                        <a:rPr sz="1275" b="1">
                          <a:solidFill>
                            <a:srgbClr val="263645"/>
                          </a:solidFill>
                          <a:latin typeface="Arial"/>
                          <a:ea typeface="Arial"/>
                          <a:cs typeface="Arial"/>
                        </a:rPr>
                        <a:t>Compact tanh MLP</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Raissi et al., 2019</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Initial backbone for differentiable</a:t>
                      </a:r>
                    </a:p>
                    <a:p>
                      <a:pPr algn="ctr"/>
                      <a:r>
                        <a:rPr sz="1275" b="0">
                          <a:solidFill>
                            <a:srgbClr val="263645"/>
                          </a:solidFill>
                          <a:latin typeface="Arial"/>
                          <a:ea typeface="Arial"/>
                          <a:cs typeface="Arial"/>
                        </a:rPr>
                        <a:t>small-data constrained regression</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Modified or gated MLP</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Gradient pathologies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Next candidate if diagnostics show</a:t>
                      </a:r>
                    </a:p>
                    <a:p>
                      <a:pPr algn="ctr"/>
                      <a:r>
                        <a:rPr sz="1275" b="0">
                          <a:solidFill>
                            <a:srgbClr val="263645"/>
                          </a:solidFill>
                          <a:latin typeface="Arial"/>
                          <a:ea typeface="Arial"/>
                          <a:cs typeface="Arial"/>
                        </a:rPr>
                        <a:t>conflicting loss gradients</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Fourier-feature 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Eigenvector bias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only with evidence of multiscale</a:t>
                      </a:r>
                    </a:p>
                    <a:p>
                      <a:pPr algn="ctr"/>
                      <a:r>
                        <a:rPr sz="1275" b="0">
                          <a:solidFill>
                            <a:srgbClr val="263645"/>
                          </a:solidFill>
                          <a:latin typeface="Arial"/>
                          <a:ea typeface="Arial"/>
                          <a:cs typeface="Arial"/>
                        </a:rPr>
                        <a:t>response rather than measurement noise</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Bayesian PINN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Yang et al., 2021</a:t>
                      </a:r>
                    </a:p>
                    <a:p>
                      <a:pPr algn="ctr"/>
                      <a:r>
                        <a:rPr sz="1275" b="0">
                          <a:solidFill>
                            <a:srgbClr val="263645"/>
                          </a:solidFill>
                          <a:latin typeface="Arial"/>
                          <a:ea typeface="Arial"/>
                          <a:cs typeface="Arial"/>
                        </a:rPr>
                        <a:t>B-PINNs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Consider after auditing replicate noise</a:t>
                      </a:r>
                    </a:p>
                    <a:p>
                      <a:pPr algn="ctr"/>
                      <a:r>
                        <a:rPr sz="1275" b="0">
                          <a:solidFill>
                            <a:srgbClr val="263645"/>
                          </a:solidFill>
                          <a:latin typeface="Arial"/>
                          <a:ea typeface="Arial"/>
                          <a:cs typeface="Arial"/>
                        </a:rPr>
                        <a:t>and checking uncertainty calibration</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DeepONet / FNO</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Lu et al., 2021</a:t>
                      </a:r>
                    </a:p>
                    <a:p>
                      <a:pPr algn="ctr"/>
                      <a:r>
                        <a:rPr sz="1275" b="0">
                          <a:solidFill>
                            <a:srgbClr val="263645"/>
                          </a:solidFill>
                          <a:latin typeface="Arial"/>
                          <a:ea typeface="Arial"/>
                          <a:cs typeface="Arial"/>
                        </a:rPr>
                        <a:t>Li et al., ICLR 2021</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Defer until trajectories, profiles,</a:t>
                      </a:r>
                    </a:p>
                    <a:p>
                      <a:pPr algn="ctr"/>
                      <a:r>
                        <a:rPr sz="1275" b="0">
                          <a:solidFill>
                            <a:srgbClr val="263645"/>
                          </a:solidFill>
                          <a:latin typeface="Arial"/>
                          <a:ea typeface="Arial"/>
                          <a:cs typeface="Arial"/>
                        </a:rPr>
                        <a:t>or families of field solutions exist</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CC1C0B8D-90A2-494E-85F5-71A8F06434DA}"/>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current scalar table supports a compact network before operator-learning models</a:t>
            </a:r>
          </a:p>
        </p:txBody>
      </p:sp>
    </p:spTree>
    <p:extLst>
      <p:ext uri="{BB962C8B-B14F-4D97-AF65-F5344CB8AC3E}">
        <p14:creationId xmlns:p14="http://schemas.microsoft.com/office/powerpoint/2010/main" val="13828018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Recorded experiments and reproducibility</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951E2AFF-6111-43D3-900C-BBF25A9FCA7A}"/>
              </a:ext>
            </a:extLst>
          </p:cNvPr>
          <p:cNvGraphicFramePr/>
          <p:nvPr/>
        </p:nvGraphicFramePr>
        <p:xfrm>
          <a:off xmlns:a="http://schemas.openxmlformats.org/drawingml/2006/main" x="571500" y="1771650"/>
          <a:ext xmlns:a="http://schemas.openxmlformats.org/drawingml/2006/main" cx="8001000" cy="2847975"/>
        </p:xfrm>
        <a:graphic xmlns:a="http://schemas.openxmlformats.org/drawingml/2006/main">
          <a:graphicData uri="http://schemas.openxmlformats.org/drawingml/2006/table">
            <a:tbl>
              <a:tblPr/>
              <a:tblGrid>
                <a:gridCol w="3257550"/>
                <a:gridCol w="952500"/>
                <a:gridCol w="2257425"/>
                <a:gridCol w="1533525"/>
              </a:tblGrid>
              <a:tr h="474663">
                <a:tc>
                  <a:txBody>
                    <a:bodyPr>
                      <a:noAutofit/>
                    </a:bodyPr>
                    <a:lstStyle/>
                    <a:p>
                      <a:pPr algn="l"/>
                      <a:r>
                        <a:rPr sz="1275"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Version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Start, Oct 11 (EDT)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PINN RMSE</a:t>
                      </a:r>
                    </a:p>
                  </a:txBody>
                  <a:tcPr marL="85725" marR="85725" marT="76200" marB="76200" anchor="ctr">
                    <a:solidFill>
                      <a:srgbClr val="002B5E"/>
                    </a:solidFill>
                  </a:tcPr>
                </a:tc>
              </a:tr>
              <a:tr h="474663">
                <a:tc>
                  <a:txBody>
                    <a:bodyPr>
                      <a:noAutofit/>
                    </a:bodyPr>
                    <a:lstStyle/>
                    <a:p>
                      <a:pPr algn="l"/>
                      <a:r>
                        <a:rPr sz="1275" b="1">
                          <a:solidFill>
                            <a:srgbClr val="263645"/>
                          </a:solidFill>
                          <a:latin typeface="Arial"/>
                          <a:ea typeface="Arial"/>
                          <a:cs typeface="Arial"/>
                        </a:rPr>
                        <a:t>Measured grouped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extrapolation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0.616773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grouped benchmark</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11:42:34</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0.055718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grouped rerun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11:44:41</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11:45:28</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0.056009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DABA40B0-66E2-43B3-A760-5798E1FEEFD7}"/>
              </a:ext>
            </a:extLst>
          </p:cNvPr>
          <p:cNvSpPr>
            <a:spLocks xmlns:a="http://schemas.openxmlformats.org/drawingml/2006/main" noGrp="1"/>
          </p:cNvSpPr>
          <p:nvPr/>
        </p:nvSpPr>
        <p:spPr>
          <a:xfrm xmlns:a="http://schemas.openxmlformats.org/drawingml/2006/main">
            <a:off x="733425" y="4962525"/>
            <a:ext cx="7677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Each new run stores execution times, per-model settings and results, exact source/configuration, data and artifact hashes, split IDs, and saved checkpoints.</a:t>
            </a:r>
          </a:p>
        </p:txBody>
      </p:sp>
      <p:sp>
        <p:nvSpPr>
          <p:cNvPr id="15" name="content-5">
            <a:extLst xmlns:a="http://schemas.openxmlformats.org/drawingml/2006/main">
              <a:ext uri="{FF2B5EF4-FFF2-40B4-BE49-F238E27FC236}">
                <a16:creationId xmlns:a16="http://schemas.microsoft.com/office/drawing/2014/main" id="{BFBB44CD-FED9-4A81-A48A-52F05193273A}"/>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Ten integrity tests passed. All 111 archived artifacts match their published Git bytes</a:t>
            </a:r>
          </a:p>
        </p:txBody>
      </p:sp>
    </p:spTree>
    <p:extLst>
      <p:ext uri="{BB962C8B-B14F-4D97-AF65-F5344CB8AC3E}">
        <p14:creationId xmlns:p14="http://schemas.microsoft.com/office/powerpoint/2010/main" val="138280187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What initial testing establishes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7FDAFD39-1B34-42BB-BA9E-BB89055A9DE9}"/>
              </a:ext>
            </a:extLst>
          </p:cNvPr>
          <p:cNvSpPr>
            <a:spLocks xmlns:a="http://schemas.openxmlformats.org/drawingml/2006/main" noGrp="1"/>
          </p:cNvSpPr>
          <p:nvPr/>
        </p:nvSpPr>
        <p:spPr>
          <a:xfrm xmlns:a="http://schemas.openxmlformats.org/drawingml/2006/main">
            <a:off x="723900" y="17145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SUPPORTED FINDINGS</a:t>
            </a:r>
          </a:p>
        </p:txBody>
      </p:sp>
      <p:sp>
        <p:nvSpPr>
          <p:cNvPr id="14" name="content-5">
            <a:extLst xmlns:a="http://schemas.openxmlformats.org/drawingml/2006/main">
              <a:ext uri="{FF2B5EF4-FFF2-40B4-BE49-F238E27FC236}">
                <a16:creationId xmlns:a16="http://schemas.microsoft.com/office/drawing/2014/main" id="{FF010B57-2C6D-4FA6-92BE-EF98E5C3F1A3}"/>
              </a:ext>
            </a:extLst>
          </p:cNvPr>
          <p:cNvSpPr>
            <a:spLocks xmlns:a="http://schemas.openxmlformats.org/drawingml/2006/main" noGrp="1"/>
          </p:cNvSpPr>
          <p:nvPr/>
        </p:nvSpPr>
        <p:spPr>
          <a:xfrm xmlns:a="http://schemas.openxmlformats.org/drawingml/2006/main">
            <a:off x="723900" y="2114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bounded architecture guarantees physically valid thickness predictions for valid totals.</a:t>
            </a:r>
          </a:p>
        </p:txBody>
      </p:sp>
      <p:sp>
        <p:nvSpPr>
          <p:cNvPr id="15" name="content-6">
            <a:extLst xmlns:a="http://schemas.openxmlformats.org/drawingml/2006/main">
              <a:ext uri="{FF2B5EF4-FFF2-40B4-BE49-F238E27FC236}">
                <a16:creationId xmlns:a16="http://schemas.microsoft.com/office/drawing/2014/main" id="{C6401643-4297-4FE8-9F23-522FF877E87D}"/>
              </a:ext>
            </a:extLst>
          </p:cNvPr>
          <p:cNvSpPr>
            <a:spLocks xmlns:a="http://schemas.openxmlformats.org/drawingml/2006/main" noGrp="1"/>
          </p:cNvSpPr>
          <p:nvPr/>
        </p:nvSpPr>
        <p:spPr>
          <a:xfrm xmlns:a="http://schemas.openxmlformats.org/drawingml/2006/main">
            <a:off x="723900" y="2962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measured PINN trails tree models on the initial concentration-group holdout.</a:t>
            </a:r>
          </a:p>
        </p:txBody>
      </p:sp>
      <p:sp>
        <p:nvSpPr>
          <p:cNvPr id="16" name="content-7">
            <a:extLst xmlns:a="http://schemas.openxmlformats.org/drawingml/2006/main">
              <a:ext uri="{FF2B5EF4-FFF2-40B4-BE49-F238E27FC236}">
                <a16:creationId xmlns:a16="http://schemas.microsoft.com/office/drawing/2014/main" id="{E8BE7494-DCC6-435F-B8DA-FBF1D87F6030}"/>
              </a:ext>
            </a:extLst>
          </p:cNvPr>
          <p:cNvSpPr>
            <a:spLocks xmlns:a="http://schemas.openxmlformats.org/drawingml/2006/main" noGrp="1"/>
          </p:cNvSpPr>
          <p:nvPr/>
        </p:nvSpPr>
        <p:spPr>
          <a:xfrm xmlns:a="http://schemas.openxmlformats.org/drawingml/2006/main">
            <a:off x="723900" y="381000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synthetic PINN fits the represented distribution, while random forest remains stronger.</a:t>
            </a:r>
          </a:p>
        </p:txBody>
      </p:sp>
      <p:sp>
        <p:nvSpPr>
          <p:cNvPr id="17" name="content-8">
            <a:extLst xmlns:a="http://schemas.openxmlformats.org/drawingml/2006/main">
              <a:ext uri="{FF2B5EF4-FFF2-40B4-BE49-F238E27FC236}">
                <a16:creationId xmlns:a16="http://schemas.microsoft.com/office/drawing/2014/main" id="{027ED323-5501-4E25-B215-1554007D6389}"/>
              </a:ext>
            </a:extLst>
          </p:cNvPr>
          <p:cNvSpPr>
            <a:spLocks xmlns:a="http://schemas.openxmlformats.org/drawingml/2006/main" noGrp="1"/>
          </p:cNvSpPr>
          <p:nvPr/>
        </p:nvSpPr>
        <p:spPr>
          <a:xfrm xmlns:a="http://schemas.openxmlformats.org/drawingml/2006/main">
            <a:off x="5048250" y="17145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LIMITS ON INTERPRETATION</a:t>
            </a:r>
          </a:p>
        </p:txBody>
      </p:sp>
      <p:sp>
        <p:nvSpPr>
          <p:cNvPr id="18" name="content-9">
            <a:extLst xmlns:a="http://schemas.openxmlformats.org/drawingml/2006/main">
              <a:ext uri="{FF2B5EF4-FFF2-40B4-BE49-F238E27FC236}">
                <a16:creationId xmlns:a16="http://schemas.microsoft.com/office/drawing/2014/main" id="{609753CD-A7AD-4EB6-AE59-E95BD5045A0A}"/>
              </a:ext>
            </a:extLst>
          </p:cNvPr>
          <p:cNvSpPr>
            <a:spLocks xmlns:a="http://schemas.openxmlformats.org/drawingml/2006/main" noGrp="1"/>
          </p:cNvSpPr>
          <p:nvPr/>
        </p:nvSpPr>
        <p:spPr>
          <a:xfrm xmlns:a="http://schemas.openxmlformats.org/drawingml/2006/main">
            <a:off x="5048250" y="211455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Total thickness is a measured input. Recipe-only prediction needs a separate model design.</a:t>
            </a:r>
          </a:p>
        </p:txBody>
      </p:sp>
      <p:sp>
        <p:nvSpPr>
          <p:cNvPr id="19" name="content-10">
            <a:extLst xmlns:a="http://schemas.openxmlformats.org/drawingml/2006/main">
              <a:ext uri="{FF2B5EF4-FFF2-40B4-BE49-F238E27FC236}">
                <a16:creationId xmlns:a16="http://schemas.microsoft.com/office/drawing/2014/main" id="{1AA986EB-8AC6-4E8B-957B-9FAA49AD911F}"/>
              </a:ext>
            </a:extLst>
          </p:cNvPr>
          <p:cNvSpPr>
            <a:spLocks xmlns:a="http://schemas.openxmlformats.org/drawingml/2006/main" noGrp="1"/>
          </p:cNvSpPr>
          <p:nvPr/>
        </p:nvSpPr>
        <p:spPr>
          <a:xfrm xmlns:a="http://schemas.openxmlformats.org/drawingml/2006/main">
            <a:off x="5048250" y="2962275"/>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provenance and independent experimental batches remain unresolved.</a:t>
            </a:r>
          </a:p>
        </p:txBody>
      </p:sp>
      <p:sp>
        <p:nvSpPr>
          <p:cNvPr id="20" name="content-11">
            <a:extLst xmlns:a="http://schemas.openxmlformats.org/drawingml/2006/main">
              <a:ext uri="{FF2B5EF4-FFF2-40B4-BE49-F238E27FC236}">
                <a16:creationId xmlns:a16="http://schemas.microsoft.com/office/drawing/2014/main" id="{C6597157-6776-40F1-A6BB-23F2F2ADC49D}"/>
              </a:ext>
            </a:extLst>
          </p:cNvPr>
          <p:cNvSpPr>
            <a:spLocks xmlns:a="http://schemas.openxmlformats.org/drawingml/2006/main" noGrp="1"/>
          </p:cNvSpPr>
          <p:nvPr/>
        </p:nvSpPr>
        <p:spPr>
          <a:xfrm xmlns:a="http://schemas.openxmlformats.org/drawingml/2006/main">
            <a:off x="5048250" y="381000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No calibrated uncertainty, governing PDE, or identified adsorption mechanism is established.</a:t>
            </a:r>
          </a:p>
        </p:txBody>
      </p:sp>
      <p:sp>
        <p:nvSpPr>
          <p:cNvPr id="21" name="content-12">
            <a:extLst xmlns:a="http://schemas.openxmlformats.org/drawingml/2006/main">
              <a:ext uri="{FF2B5EF4-FFF2-40B4-BE49-F238E27FC236}">
                <a16:creationId xmlns:a16="http://schemas.microsoft.com/office/drawing/2014/main" id="{79335E2F-4AFA-4686-B169-D05BD517A80E}"/>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Physics plausibility and predictive accuracy require separate evidence</a:t>
            </a:r>
          </a:p>
        </p:txBody>
      </p:sp>
    </p:spTree>
    <p:extLst>
      <p:ext uri="{BB962C8B-B14F-4D97-AF65-F5344CB8AC3E}">
        <p14:creationId xmlns:p14="http://schemas.microsoft.com/office/powerpoint/2010/main" val="13828018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Next experiments and decision criteria</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C806B7D-68AB-44D5-8F60-DF36DDEFA810}"/>
              </a:ext>
            </a:extLst>
          </p:cNvPr>
          <p:cNvGraphicFramePr/>
          <p:nvPr/>
        </p:nvGraphicFramePr>
        <p:xfrm>
          <a:off xmlns:a="http://schemas.openxmlformats.org/drawingml/2006/main" x="571500" y="1733550"/>
          <a:ext xmlns:a="http://schemas.openxmlformats.org/drawingml/2006/main" cx="8001000" cy="3390900"/>
        </p:xfrm>
        <a:graphic xmlns:a="http://schemas.openxmlformats.org/drawingml/2006/main">
          <a:graphicData uri="http://schemas.openxmlformats.org/drawingml/2006/table">
            <a:tbl>
              <a:tblPr/>
              <a:tblGrid>
                <a:gridCol w="1666875"/>
                <a:gridCol w="4105275"/>
                <a:gridCol w="2228850"/>
              </a:tblGrid>
              <a:tr h="565150">
                <a:tc>
                  <a:txBody>
                    <a:bodyPr>
                      <a:noAutofit/>
                    </a:bodyPr>
                    <a:lstStyle/>
                    <a:p>
                      <a:pPr algn="l"/>
                      <a:r>
                        <a:rPr sz="1275" b="1">
                          <a:solidFill>
                            <a:srgbClr val="FFFFFF"/>
                          </a:solidFill>
                          <a:latin typeface="Arial"/>
                          <a:ea typeface="Arial"/>
                          <a:cs typeface="Arial"/>
                        </a:rPr>
                        <a:t>Workstream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Next action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Evidence to proceed</a:t>
                      </a:r>
                    </a:p>
                  </a:txBody>
                  <a:tcPr marL="85725" marR="85725" marT="76200" marB="76200" anchor="ctr">
                    <a:solidFill>
                      <a:srgbClr val="002B5E"/>
                    </a:solidFill>
                  </a:tcPr>
                </a:tc>
              </a:tr>
              <a:tr h="565150">
                <a:tc>
                  <a:txBody>
                    <a:bodyPr>
                      <a:noAutofit/>
                    </a:bodyPr>
                    <a:lstStyle/>
                    <a:p>
                      <a:pPr algn="l"/>
                      <a:r>
                        <a:rPr sz="1275" b="1">
                          <a:solidFill>
                            <a:srgbClr val="263645"/>
                          </a:solidFill>
                          <a:latin typeface="Arial"/>
                          <a:ea typeface="Arial"/>
                          <a:cs typeface="Arial"/>
                        </a:rPr>
                        <a:t>Data and units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Confirm units and measurement timing</a:t>
                      </a:r>
                    </a:p>
                    <a:p>
                      <a:pPr algn="ctr"/>
                      <a:r>
                        <a:rPr sz="1275" b="0">
                          <a:solidFill>
                            <a:srgbClr val="263645"/>
                          </a:solidFill>
                          <a:latin typeface="Arial"/>
                          <a:ea typeface="Arial"/>
                          <a:cs typeface="Arial"/>
                        </a:rPr>
                        <a:t>Add batch IDs and replicate error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Verified units and</a:t>
                      </a:r>
                    </a:p>
                    <a:p>
                      <a:pPr algn="ctr"/>
                      <a:r>
                        <a:rPr sz="1275" b="0">
                          <a:solidFill>
                            <a:srgbClr val="263645"/>
                          </a:solidFill>
                          <a:latin typeface="Arial"/>
                          <a:ea typeface="Arial"/>
                          <a:cs typeface="Arial"/>
                        </a:rPr>
                        <a:t>independent groups</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Missing physics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 velocity, rheology and density</a:t>
                      </a:r>
                    </a:p>
                    <a:p>
                      <a:pPr algn="ctr"/>
                      <a:r>
                        <a:rPr sz="1275" b="0">
                          <a:solidFill>
                            <a:srgbClr val="263645"/>
                          </a:solidFill>
                          <a:latin typeface="Arial"/>
                          <a:ea typeface="Arial"/>
                          <a:cs typeface="Arial"/>
                        </a:rPr>
                        <a:t>Validate regime and dry conversion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Eligible regime and</a:t>
                      </a:r>
                    </a:p>
                    <a:p>
                      <a:pPr algn="ctr"/>
                      <a:r>
                        <a:rPr sz="1275" b="0">
                          <a:solidFill>
                            <a:srgbClr val="263645"/>
                          </a:solidFill>
                          <a:latin typeface="Arial"/>
                          <a:ea typeface="Arial"/>
                          <a:cs typeface="Arial"/>
                        </a:rPr>
                        <a:t>independent dry conversion</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Validation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Repeat seeds and grouped experimental CV</a:t>
                      </a:r>
                    </a:p>
                    <a:p>
                      <a:pPr algn="ctr"/>
                      <a:r>
                        <a:rPr sz="1275" b="0">
                          <a:solidFill>
                            <a:srgbClr val="263645"/>
                          </a:solidFill>
                          <a:latin typeface="Arial"/>
                          <a:ea typeface="Arial"/>
                          <a:cs typeface="Arial"/>
                        </a:rPr>
                        <a:t>Reserve new independent test experiments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Stable error on an</a:t>
                      </a:r>
                    </a:p>
                    <a:p>
                      <a:pPr algn="ctr"/>
                      <a:r>
                        <a:rPr sz="1275" b="0">
                          <a:solidFill>
                            <a:srgbClr val="263645"/>
                          </a:solidFill>
                          <a:latin typeface="Arial"/>
                          <a:ea typeface="Arial"/>
                          <a:cs typeface="Arial"/>
                        </a:rPr>
                        <a:t>untouched measured test</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Architecture and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Test compact adsorption or saturation priors</a:t>
                      </a:r>
                    </a:p>
                    <a:p>
                      <a:pPr algn="ctr"/>
                      <a:r>
                        <a:rPr sz="1275" b="0">
                          <a:solidFill>
                            <a:srgbClr val="263645"/>
                          </a:solidFill>
                          <a:latin typeface="Arial"/>
                          <a:ea typeface="Arial"/>
                          <a:cs typeface="Arial"/>
                        </a:rPr>
                        <a:t>Tune only on training/validation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Gain over bounded NN</a:t>
                      </a:r>
                    </a:p>
                    <a:p>
                      <a:pPr algn="ctr"/>
                      <a:r>
                        <a:rPr sz="1275" b="0">
                          <a:solidFill>
                            <a:srgbClr val="263645"/>
                          </a:solidFill>
                          <a:latin typeface="Arial"/>
                          <a:ea typeface="Arial"/>
                          <a:cs typeface="Arial"/>
                        </a:rPr>
                        <a:t>with a frozen test</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Data efficiency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Augment after splitting measured parents</a:t>
                      </a:r>
                    </a:p>
                    <a:p>
                      <a:pPr algn="ctr"/>
                      <a:r>
                        <a:rPr sz="1275" b="0">
                          <a:solidFill>
                            <a:srgbClr val="263645"/>
                          </a:solidFill>
                          <a:latin typeface="Arial"/>
                          <a:ea typeface="Arial"/>
                          <a:cs typeface="Arial"/>
                        </a:rPr>
                        <a:t>Use fixed measured-test learning curves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Gain on measured tests</a:t>
                      </a:r>
                    </a:p>
                    <a:p>
                      <a:pPr algn="ctr"/>
                      <a:r>
                        <a:rPr sz="1275" b="0">
                          <a:solidFill>
                            <a:srgbClr val="263645"/>
                          </a:solidFill>
                          <a:latin typeface="Arial"/>
                          <a:ea typeface="Arial"/>
                          <a:cs typeface="Arial"/>
                        </a:rPr>
                        <a:t>with known training parents</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F5982902-9EC4-4534-8404-C86B20FDF3B6}"/>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Immediate priority: validate measurements and splits before stronger physics claims</a:t>
            </a:r>
          </a:p>
        </p:txBody>
      </p:sp>
    </p:spTree>
    <p:extLst>
      <p:ext uri="{BB962C8B-B14F-4D97-AF65-F5344CB8AC3E}">
        <p14:creationId xmlns:p14="http://schemas.microsoft.com/office/powerpoint/2010/main" val="138280187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References and archived evidence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4233F4CE-02A7-4E58-AAA7-087FCAB4871F}"/>
              </a:ext>
            </a:extLst>
          </p:cNvPr>
          <p:cNvSpPr>
            <a:spLocks xmlns:a="http://schemas.openxmlformats.org/drawingml/2006/main" noGrp="1"/>
          </p:cNvSpPr>
          <p:nvPr/>
        </p:nvSpPr>
        <p:spPr>
          <a:xfrm xmlns:a="http://schemas.openxmlformats.org/drawingml/2006/main">
            <a:off x="714375" y="1695450"/>
            <a:ext cx="766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PHYSICS-INFORMED ARCHITECTURES</a:t>
            </a:r>
          </a:p>
        </p:txBody>
      </p:sp>
      <p:sp>
        <p:nvSpPr>
          <p:cNvPr id="14" name="content-5">
            <a:extLst xmlns:a="http://schemas.openxmlformats.org/drawingml/2006/main">
              <a:ext uri="{FF2B5EF4-FFF2-40B4-BE49-F238E27FC236}">
                <a16:creationId xmlns:a16="http://schemas.microsoft.com/office/drawing/2014/main" id="{0A54FEC2-C74D-4E1E-9FBF-571CB467A0E6}"/>
              </a:ext>
            </a:extLst>
          </p:cNvPr>
          <p:cNvSpPr>
            <a:spLocks xmlns:a="http://schemas.openxmlformats.org/drawingml/2006/main" noGrp="1"/>
          </p:cNvSpPr>
          <p:nvPr/>
        </p:nvSpPr>
        <p:spPr>
          <a:xfrm xmlns:a="http://schemas.openxmlformats.org/drawingml/2006/main">
            <a:off x="714375" y="20669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4028063b2eb44219"/>
              </a:rPr>
              <a:t>Raissi, Perdikaris &amp; Karniadakis (2019)</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Physics-informed neural networks, JCP</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10.1016/j.jcp.2018.10.045</a:t>
            </a:r>
          </a:p>
        </p:txBody>
      </p:sp>
      <p:sp>
        <p:nvSpPr>
          <p:cNvPr id="15" name="content-6">
            <a:extLst xmlns:a="http://schemas.openxmlformats.org/drawingml/2006/main">
              <a:ext uri="{FF2B5EF4-FFF2-40B4-BE49-F238E27FC236}">
                <a16:creationId xmlns:a16="http://schemas.microsoft.com/office/drawing/2014/main" id="{4077F7B7-1F5E-4711-96DC-6FB862D5048B}"/>
              </a:ext>
            </a:extLst>
          </p:cNvPr>
          <p:cNvSpPr>
            <a:spLocks xmlns:a="http://schemas.openxmlformats.org/drawingml/2006/main" noGrp="1"/>
          </p:cNvSpPr>
          <p:nvPr/>
        </p:nvSpPr>
        <p:spPr>
          <a:xfrm xmlns:a="http://schemas.openxmlformats.org/drawingml/2006/main">
            <a:off x="714375" y="28479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b949ed1b34fa4b4d"/>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Hard constraints for inverse design</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2102.04626</a:t>
            </a:r>
          </a:p>
        </p:txBody>
      </p:sp>
      <p:sp>
        <p:nvSpPr>
          <p:cNvPr id="16" name="content-7">
            <a:extLst xmlns:a="http://schemas.openxmlformats.org/drawingml/2006/main">
              <a:ext uri="{FF2B5EF4-FFF2-40B4-BE49-F238E27FC236}">
                <a16:creationId xmlns:a16="http://schemas.microsoft.com/office/drawing/2014/main" id="{2588D087-7C2F-45DC-8929-129238CA8C1B}"/>
              </a:ext>
            </a:extLst>
          </p:cNvPr>
          <p:cNvSpPr>
            <a:spLocks xmlns:a="http://schemas.openxmlformats.org/drawingml/2006/main" noGrp="1"/>
          </p:cNvSpPr>
          <p:nvPr/>
        </p:nvSpPr>
        <p:spPr>
          <a:xfrm xmlns:a="http://schemas.openxmlformats.org/drawingml/2006/main">
            <a:off x="714375" y="36290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c7acb025256e452e"/>
              </a:rPr>
              <a:t>Wang, Teng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Gradient flow pathologies in PINNs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10.1137/20M1318043</a:t>
            </a:r>
          </a:p>
        </p:txBody>
      </p:sp>
      <p:sp>
        <p:nvSpPr>
          <p:cNvPr id="17" name="content-8">
            <a:extLst xmlns:a="http://schemas.openxmlformats.org/drawingml/2006/main">
              <a:ext uri="{FF2B5EF4-FFF2-40B4-BE49-F238E27FC236}">
                <a16:creationId xmlns:a16="http://schemas.microsoft.com/office/drawing/2014/main" id="{70170B01-5459-4A65-BDB3-952D20D294CB}"/>
              </a:ext>
            </a:extLst>
          </p:cNvPr>
          <p:cNvSpPr>
            <a:spLocks xmlns:a="http://schemas.openxmlformats.org/drawingml/2006/main" noGrp="1"/>
          </p:cNvSpPr>
          <p:nvPr/>
        </p:nvSpPr>
        <p:spPr>
          <a:xfrm xmlns:a="http://schemas.openxmlformats.org/drawingml/2006/main">
            <a:off x="714375" y="44100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3770b7c4daae4454"/>
              </a:rPr>
              <a:t>Wang, Wang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Fourier-feature eigenvector bias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10.1016/j.cma.2021.113938</a:t>
            </a:r>
          </a:p>
        </p:txBody>
      </p:sp>
      <p:sp>
        <p:nvSpPr>
          <p:cNvPr id="18" name="content-9">
            <a:extLst xmlns:a="http://schemas.openxmlformats.org/drawingml/2006/main">
              <a:ext uri="{FF2B5EF4-FFF2-40B4-BE49-F238E27FC236}">
                <a16:creationId xmlns:a16="http://schemas.microsoft.com/office/drawing/2014/main" id="{03E2251D-BFC2-451F-86D3-E508945842CB}"/>
              </a:ext>
            </a:extLst>
          </p:cNvPr>
          <p:cNvSpPr>
            <a:spLocks xmlns:a="http://schemas.openxmlformats.org/drawingml/2006/main" noGrp="1"/>
          </p:cNvSpPr>
          <p:nvPr/>
        </p:nvSpPr>
        <p:spPr>
          <a:xfrm xmlns:a="http://schemas.openxmlformats.org/drawingml/2006/main">
            <a:off x="5010150" y="20669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1d2fc31bec17412f"/>
              </a:rPr>
              <a:t>Yang, Meng &amp; Karniadakis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B-PINNs for noisy forward/inverse problems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10.1016/j.jcp.2020.109913</a:t>
            </a:r>
          </a:p>
        </p:txBody>
      </p:sp>
      <p:sp>
        <p:nvSpPr>
          <p:cNvPr id="19" name="content-10">
            <a:extLst xmlns:a="http://schemas.openxmlformats.org/drawingml/2006/main">
              <a:ext uri="{FF2B5EF4-FFF2-40B4-BE49-F238E27FC236}">
                <a16:creationId xmlns:a16="http://schemas.microsoft.com/office/drawing/2014/main" id="{0E630B74-66A3-4B29-8244-C9DEE263A13E}"/>
              </a:ext>
            </a:extLst>
          </p:cNvPr>
          <p:cNvSpPr>
            <a:spLocks xmlns:a="http://schemas.openxmlformats.org/drawingml/2006/main" noGrp="1"/>
          </p:cNvSpPr>
          <p:nvPr/>
        </p:nvSpPr>
        <p:spPr>
          <a:xfrm xmlns:a="http://schemas.openxmlformats.org/drawingml/2006/main">
            <a:off x="5010150" y="284797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ed2fdb35db7e4f6e"/>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DeepONet, Nature Machine Intelligence</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10.1038/s42256-021-00302-5</a:t>
            </a:r>
          </a:p>
        </p:txBody>
      </p:sp>
      <p:sp>
        <p:nvSpPr>
          <p:cNvPr id="20" name="content-11">
            <a:extLst xmlns:a="http://schemas.openxmlformats.org/drawingml/2006/main">
              <a:ext uri="{FF2B5EF4-FFF2-40B4-BE49-F238E27FC236}">
                <a16:creationId xmlns:a16="http://schemas.microsoft.com/office/drawing/2014/main" id="{7F4EA7D4-6D8A-4454-B934-9B1D5B99F804}"/>
              </a:ext>
            </a:extLst>
          </p:cNvPr>
          <p:cNvSpPr>
            <a:spLocks xmlns:a="http://schemas.openxmlformats.org/drawingml/2006/main" noGrp="1"/>
          </p:cNvSpPr>
          <p:nvPr/>
        </p:nvSpPr>
        <p:spPr>
          <a:xfrm xmlns:a="http://schemas.openxmlformats.org/drawingml/2006/main">
            <a:off x="5010150" y="36290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07f6f1c4676b4094"/>
              </a:rPr>
              <a:t>Li et al. (ICLR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 Neural Operator</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2010.08895</a:t>
            </a:r>
          </a:p>
        </p:txBody>
      </p:sp>
      <p:sp>
        <p:nvSpPr>
          <p:cNvPr id="21" name="content-12">
            <a:extLst xmlns:a="http://schemas.openxmlformats.org/drawingml/2006/main">
              <a:ext uri="{FF2B5EF4-FFF2-40B4-BE49-F238E27FC236}">
                <a16:creationId xmlns:a16="http://schemas.microsoft.com/office/drawing/2014/main" id="{B0C6754C-9502-4040-A882-C2AAF3F878B4}"/>
              </a:ext>
            </a:extLst>
          </p:cNvPr>
          <p:cNvSpPr>
            <a:spLocks xmlns:a="http://schemas.openxmlformats.org/drawingml/2006/main" noGrp="1"/>
          </p:cNvSpPr>
          <p:nvPr/>
        </p:nvSpPr>
        <p:spPr>
          <a:xfrm xmlns:a="http://schemas.openxmlformats.org/drawingml/2006/main">
            <a:off x="5010150" y="4514850"/>
            <a:ext cx="3514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CODE AND RESULTS</a:t>
            </a:r>
          </a:p>
        </p:txBody>
      </p:sp>
      <p:sp>
        <p:nvSpPr>
          <p:cNvPr id="22" name="content-13">
            <a:extLst xmlns:a="http://schemas.openxmlformats.org/drawingml/2006/main">
              <a:ext uri="{FF2B5EF4-FFF2-40B4-BE49-F238E27FC236}">
                <a16:creationId xmlns:a16="http://schemas.microsoft.com/office/drawing/2014/main" id="{45208AB4-FD0D-4F8B-AD5A-9EFF99E67B07}"/>
              </a:ext>
            </a:extLst>
          </p:cNvPr>
          <p:cNvSpPr>
            <a:spLocks xmlns:a="http://schemas.openxmlformats.org/drawingml/2006/main" noGrp="1"/>
          </p:cNvSpPr>
          <p:nvPr/>
        </p:nvSpPr>
        <p:spPr>
          <a:xfrm xmlns:a="http://schemas.openxmlformats.org/drawingml/2006/main">
            <a:off x="5010150" y="4838700"/>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2B5E"/>
                </a:solidFill>
                <a:latin typeface="Arial"/>
                <a:ea typeface="Arial"/>
                <a:cs typeface="Arial"/>
              </a:defRPr>
            </a:defPPr>
          </a:lstStyle>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GitHub: aadams2006 / Pitt-ML-MSE-Project</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PINN folder and experiment register</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hlinkClick xmlns:r="http://schemas.openxmlformats.org/officeDocument/2006/relationships" r:id="Re5fdfa2c949f4b9c"/>
              </a:rPr>
              <a:t>Draft pull request #6</a:t>
            </a:r>
          </a:p>
        </p:txBody>
      </p:sp>
      <p:sp>
        <p:nvSpPr>
          <p:cNvPr id="23" name="content-14">
            <a:extLst xmlns:a="http://schemas.openxmlformats.org/drawingml/2006/main">
              <a:ext uri="{FF2B5EF4-FFF2-40B4-BE49-F238E27FC236}">
                <a16:creationId xmlns:a16="http://schemas.microsoft.com/office/drawing/2014/main" id="{59A604E1-A363-46EC-896F-3866CECAEB9D}"/>
              </a:ext>
            </a:extLst>
          </p:cNvPr>
          <p:cNvSpPr>
            <a:spLocks xmlns:a="http://schemas.openxmlformats.org/drawingml/2006/main" noGrp="1"/>
          </p:cNvSpPr>
          <p:nvPr/>
        </p:nvSpPr>
        <p:spPr>
          <a:xfrm xmlns:a="http://schemas.openxmlformats.org/drawingml/2006/main">
            <a:off x="714375" y="5895975"/>
            <a:ext cx="7705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5717B"/>
                </a:solidFill>
                <a:latin typeface="Arial"/>
                <a:ea typeface="Arial"/>
                <a:cs typeface="Arial"/>
              </a:defRPr>
            </a:defPPr>
          </a:lstStyle>
          <a:p xmlns:a="http://schemas.openxmlformats.org/drawingml/2006/main">
            <a:pPr algn="ctr">
              <a:defRPr sz="1275" b="0">
                <a:solidFill>
                  <a:srgbClr val="65717B"/>
                </a:solidFill>
                <a:latin typeface="Arial"/>
                <a:ea typeface="Arial"/>
                <a:cs typeface="Arial"/>
              </a:defRPr>
            </a:pPr>
            <a:r>
              <a:rPr sz="1275" b="0">
                <a:solidFill>
                  <a:srgbClr val="65717B"/>
                </a:solidFill>
                <a:latin typeface="Arial"/>
                <a:ea typeface="Arial"/>
                <a:cs typeface="Arial"/>
              </a:rPr>
              <a:t>Results through October 11, 2026. Full sources and numerical details are in speaker notes.</a:t>
            </a:r>
          </a:p>
        </p:txBody>
      </p:sp>
    </p:spTree>
    <p:extLst>
      <p:ext uri="{BB962C8B-B14F-4D97-AF65-F5344CB8AC3E}">
        <p14:creationId xmlns:p14="http://schemas.microsoft.com/office/powerpoint/2010/main" val="1382801872"/>
      </p:ext>
    </p:extLst>
  </p:cSld>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2026-10-12T00:16:36.9770000Z</dcterms:created>
  <dcterms:modified xsi:type="dcterms:W3CDTF">2026-10-12T00:16:36.9770000Z</dcterms:modified>
</coreProperties>
</file>